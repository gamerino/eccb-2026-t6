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38"/>
    </p:embeddedFont>
    <p:embeddedFont>
      <p:font typeface="Franklin Gothic" panose="020B0603020102020204" pitchFamily="34" charset="0"/>
      <p:regular r:id="rId39"/>
      <p:bold r:id="rId40"/>
      <p:italic r:id="rId41"/>
      <p:boldItalic r:id="rId42"/>
    </p:embeddedFont>
    <p:embeddedFont>
      <p:font typeface="Libre Franklin" pitchFamily="2" charset="77"/>
      <p:regular r:id="rId43"/>
      <p:bold r:id="rId44"/>
      <p:italic r:id="rId45"/>
      <p:boldItalic r:id="rId46"/>
    </p:embeddedFont>
    <p:embeddedFont>
      <p:font typeface="Libre Franklin Medium" pitchFamily="2" charset="77"/>
      <p:regular r:id="rId47"/>
      <p:italic r:id="rId48"/>
    </p:embeddedFont>
    <p:embeddedFont>
      <p:font typeface="Libre Franklin Thin" pitchFamily="2" charset="77"/>
      <p:regular r:id="rId49"/>
      <p: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820"/>
  </p:normalViewPr>
  <p:slideViewPr>
    <p:cSldViewPr snapToGrid="0">
      <p:cViewPr varScale="1">
        <p:scale>
          <a:sx n="117" d="100"/>
          <a:sy n="117" d="100"/>
        </p:scale>
        <p:origin x="13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0e1ed9864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d0e1ed9864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0e1ed9864_0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d0e1ed9864_0_10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3d0e1ed9864_0_10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e73a761706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e73a761706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1" name="Google Shape;521;g3e73a761706_0_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6566212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f65662121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8" name="Google Shape;528;g3f65662121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65662121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f656621217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7" name="Google Shape;537;g3f656621217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65662121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656621217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7" name="Google Shape;547;g3f656621217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656621217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f656621217_0_2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6" name="Google Shape;556;g3f656621217_0_2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656621217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f656621217_0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4" name="Google Shape;564;g3f656621217_0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656621217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f656621217_0_2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3" name="Google Shape;573;g3f656621217_0_2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656621217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f656621217_0_2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2" name="Google Shape;582;g3f656621217_0_2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656621217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f656621217_0_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0" name="Google Shape;590;g3f656621217_0_2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656621217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f656621217_0_2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0" name="Google Shape;600;g3f656621217_0_2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e7315547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e7315547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ea0fdf18e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ea0fdf18e5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g3ea0fdf18e5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65662121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f656621217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3f656621217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65662121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f656621217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g3f656621217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65662121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f656621217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g3f656621217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65662121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f656621217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g3f656621217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656621217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f656621217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g3f656621217_0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656621217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f656621217_0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g3f656621217_0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65662121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656621217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3f656621217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656621217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f656621217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g3f656621217_0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f656621217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f656621217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g3f656621217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f656621217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f656621217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3f656621217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656621217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656621217_0_2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g3f656621217_0_2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656621217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f656621217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g3f656621217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65662121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f656621217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g3f656621217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65662121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f656621217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g3f656621217_0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65662121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656621217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g3f656621217_0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656621217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f656621217_0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g3f656621217_0_1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f656621217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f656621217_0_1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g3f656621217_0_1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f656621217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f656621217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g3f656621217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f656621217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f656621217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g3f656621217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656621217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f656621217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hyperlink" Target="https://www.encodeproject.org/matrix/?type=Experiment&amp;control_type!=*&amp;status=released&amp;perturbed=false" TargetMode="Externa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www.encodeproject.org/matrix/?type=Experiment&amp;control_type!=*&amp;status=released&amp;perturbed=false&amp;assay_title=DNase-seq" TargetMode="External"/><Relationship Id="rId7" Type="http://schemas.openxmlformats.org/officeDocument/2006/relationships/hyperlink" Target="https://www.encodeproject.org/search/?type=Experiment&amp;control_type!=*&amp;status=released&amp;perturbed=false&amp;assay_title=DNase-seq&amp;replicates.library.biosample.donor.organism.scientific_name=Homo+sapiens&amp;biosample_ontology.term_name=cerebellu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hyperlink" Target="https://www.encodeproject.org/matrix/?type=Experiment&amp;control_type!=*&amp;status=released&amp;perturbed=false&amp;assay_title=DNase-seq&amp;replicates.library.biosample.donor.organism.scientific_name=Homo+sapiens" TargetMode="Externa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search/?type=Experiment&amp;control_type!=*&amp;status=released&amp;perturbed=false&amp;assay_title=DNase-seq&amp;replicates.library.biosample.donor.organism.scientific_name=Homo+sapiens&amp;biosample_ontology.term_name=cerebellum&amp;replicates.library.biosample.sex=femal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search/?type=ReferenceEpigenome&amp;searchTerm=hepatocyt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search/?type=ReferenceEpigenome&amp;searchTerm=forebrain%20E13.5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reference-epigenomes/ENCSR911FI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codeproject.org/experiments/ENCSR903GM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hyperlink" Target="https://screen.wenglab.org/GRCh38/region/chr8%3A127682026-127744101/browser?open=BYegzCDGwE4BwFIwEECMAmA7ANjugDOtgLQaaYAsFq+q4QA" TargetMode="Externa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region/chr8%3A127682026-127744101/browser?open=BYegzCDGwE4BwFIwEECMAmA7ANjugDOtgLQaaYAsFq+q4QA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region/chr8%3A127682026-127744101/browser?open=BYegzCDGwE4BwFIwEECMAmA7ANjugDOtgLQaaYAsFq+q4QA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hyperlink" Target="https://screen.wenglab.org/GRCh38/region/chr8:127733504-127744051/ccres?open=BYegzCDGwE4BwFIwEECMAmA7ANjugDOtgLQaaYAsFq+q4ANKBNPAFxmZhgCs+FpWShXzc6qIA" TargetMode="Externa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region/chr8%3A127733504-127744051/browser?open=BYegzCDGwE4BwFIwEECMAmA7ANjugDOtgLQaaYAsFq+q4ANKBNPEmlpmGAKz4Wkcq+bnTBA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region/chr8%3A127733504-127744051/browser?open=BYegzCDGwE4BwFIwEECMAmA7ANjugDOtgLQaaYAsFq+q4ANKBNPEmlpmGAKz4Wkcq+bnTBA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region/chr8%3A127733504-127744051/browser?open=BYegzCDGwE4BwFIwEECMAmA7ANjugDOtgLQaaYAsFq+q4ANKBNPEmlpmGAKz4Wkcq+bnTBA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hyperlink" Target="https://screen.wenglab.org/GRCh38/region/chr8%3A127682026-127744101/browser?open=BYegzCDGwE4BwFIwEECMAmA7ANjugDOtgLQaaYAsFq+q4QA" TargetMode="Externa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region/chr8%3A127733504-127744051/browser?open=BYegzCDGwE4BwFIwEECMAmA7ANjugDOtgLQaaYAsFq+q4ANKBNPEmlpmGAKz4Wkcq+bnTBA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region/chr8%3A127733504-127744051/genes?open=BYegzCDGwE4BwFIwEECMAmA7ANjugDOtgLQaaYAsFq+q4ANKBNPEmlpmGAKz4Wkcq+bnXRA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hyperlink" Target="https://screen.wenglab.org/GRCh38/gene/MYC?open=BYegzCDGwE4BwFIwEECMAmA7ANjugDOtgLQaaYAsFq+q4ANKBNPEmlpmGAKz4Wkcq+bnXSMQdALIBNAMIh8QA" TargetMode="Externa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gene/MYC?open=BYegzCDGwE4BwFIwEECMAmA7ANjugDOtgLQaaYAsFq+q4ANKBNPEmlpmGAKz4Wkcq+bnXSMQdALIBNAMIh8Q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GRCh38/gene/MYC/ccres?open=BYegzCDGwE4BwFIwEECMAmA7ANjugDOtgLQaaYAsFq+q4ANKBNPEmlpmGAKz4Wkcq+bnXSMQdALIBNAMISgA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hyperlink" Target="https://screen.wenglab.org/mm10/region/chr6:6740753-6891103/ccres?open=LYegzCDGAWBOBsBSMBBeB2ALABkwDmwFp488BOMARkvABpQIYEAuDHdAVjGPOuwkpA" TargetMode="Externa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mm10/region/chr6%3A6740753-6891103/browser?open=LYegzCDGAWBOBsBSMBBeB2ALABnQVjAFp4AOATgEYLsIwg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mm10/region/chr6%3A6856525-6873328/browser?open=LYegzCDGAWBOBsBSMBBeB2ALABnQVjAFp4AOATgEYLsIwAaUCGBZNEvePAJj2JPTBguJcEA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mm10/region/chr6%3A6856525-6873328/browser?open=LYegzCDGAWBOBsBSMBBeB2ALABnQVjAFp4AOATgEYLsIwAaUCGBZNEvePAJj2JPTBguJcEA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8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mm10/region/chr6%3A6856525-6873328/genes?open=LYegzCDGAWBOBsBSMBBeB2ALABnQVjAFp4AOATgEYLsIwAaUCGBZNEvePAJj2JPTBguJEFyA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hyperlink" Target="https://screen.wenglab.org/mm10/gene/Dlx6?open=LYegzCDGAWBOBsBSMBBeB2ALABnQVjAFp4AOATgEYLsIwAaUCGBZNEvePAJj2JPTBguJEFwYgKIACIAbAB7wQ2IA" TargetMode="Externa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mm10/gene/Dlx6?open=LYegzCDGAWBOBsBSMBBeB2ALABnQVjAFp4AOATgEYLsIwAaUCGBZNEvePAJj2JPTBguJEFwYgKIACIAbAB7wQ2IA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screen.wenglab.org/mm10/gene/Dlx6/ccres?open=LYegzCDGAWBOBsBSMBBeB2ALABnQVjAFp4AOATgEYLsIwAaUCGBZNEvePAJj2JPTBguJEFwYgKIACIAbAB7wJQA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Multi-species Catalogues of Regulatory Elements: ENCODE</a:t>
            </a:r>
            <a:endParaRPr/>
          </a:p>
        </p:txBody>
      </p:sp>
      <p:sp>
        <p:nvSpPr>
          <p:cNvPr id="500" name="Google Shape;500;p5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2</a:t>
            </a:r>
            <a:endParaRPr/>
          </a:p>
        </p:txBody>
      </p:sp>
      <p:sp>
        <p:nvSpPr>
          <p:cNvPr id="501" name="Google Shape;501;p55"/>
          <p:cNvSpPr txBox="1"/>
          <p:nvPr/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007B53"/>
                </a:solidFill>
              </a:rPr>
              <a:t>Gabriela A. Merino</a:t>
            </a:r>
            <a:endParaRPr sz="1800" b="1" i="0" u="none" strike="noStrike" cap="non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5"/>
          <p:cNvSpPr txBox="1"/>
          <p:nvPr/>
        </p:nvSpPr>
        <p:spPr>
          <a:xfrm>
            <a:off x="640546" y="3896000"/>
            <a:ext cx="47130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 b="1">
                <a:solidFill>
                  <a:srgbClr val="000000"/>
                </a:solidFill>
              </a:rPr>
              <a:t>Senior Bioinformatician, Ensembl Regulation, EMBL-EBI</a:t>
            </a:r>
            <a:endParaRPr/>
          </a:p>
        </p:txBody>
      </p:sp>
      <p:sp>
        <p:nvSpPr>
          <p:cNvPr id="503" name="Google Shape;503;p55"/>
          <p:cNvSpPr txBox="1"/>
          <p:nvPr/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5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T6: Making the most of cis-regulatory annotations for genome-scale analysis</a:t>
            </a:r>
            <a:endParaRPr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6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510" name="Google Shape;510;p56"/>
          <p:cNvSpPr txBox="1">
            <a:spLocks noGrp="1"/>
          </p:cNvSpPr>
          <p:nvPr>
            <p:ph type="body" idx="2"/>
          </p:nvPr>
        </p:nvSpPr>
        <p:spPr>
          <a:xfrm>
            <a:off x="5870575" y="3225500"/>
            <a:ext cx="30978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ENCODE: Experimental 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517" name="Google Shape;517;p57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24" name="Google Shape;524;p58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Answer the following questions: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How many DNase-seq experiments from human cerebellum tissue from female donors are available?</a:t>
            </a:r>
            <a:endParaRPr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How many reference epigenomes for human hepatocytes are available? </a:t>
            </a:r>
            <a:endParaRPr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Using the search toolbar, query for </a:t>
            </a:r>
            <a:r>
              <a:rPr lang="en-GB" b="1" i="1"/>
              <a:t>forebrain E13.5</a:t>
            </a:r>
            <a:r>
              <a:rPr lang="en-GB"/>
              <a:t> and select the available reference epigenomes. How many experiments do they have linked? Are there any open chromatin experiments available?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31" name="Google Shape;531;p59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611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How many DNase-seq experiments from human cerebellum tissue from female donors are available?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2" name="Google Shape;532;p5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38" y="1599106"/>
            <a:ext cx="4140351" cy="248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2476" y="1949275"/>
            <a:ext cx="4360698" cy="269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40" name="Google Shape;540;p60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611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How many DNase-seq experiments from human cerebellum tissue from female donors are available?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1" name="Google Shape;541;p6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700" y="1501525"/>
            <a:ext cx="2544715" cy="333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0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9678" y="1501525"/>
            <a:ext cx="2629960" cy="333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0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64900" y="1845698"/>
            <a:ext cx="3643350" cy="234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50" name="Google Shape;550;p61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611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How many DNase-seq experiments from human cerebellum tissue from female donors are available?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1" name="Google Shape;551;p6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4514" y="1599105"/>
            <a:ext cx="5345716" cy="3449593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61"/>
          <p:cNvSpPr txBox="1"/>
          <p:nvPr/>
        </p:nvSpPr>
        <p:spPr>
          <a:xfrm>
            <a:off x="7087700" y="2858400"/>
            <a:ext cx="1596900" cy="431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24 experiments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59" name="Google Shape;559;p62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397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How many reference epigenomes for human hepatocytes are available? </a:t>
            </a:r>
            <a:endParaRPr/>
          </a:p>
        </p:txBody>
      </p:sp>
      <p:pic>
        <p:nvPicPr>
          <p:cNvPr id="560" name="Google Shape;560;p6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9325" y="1287625"/>
            <a:ext cx="5357507" cy="355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67" name="Google Shape;567;p63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397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How many reference epigenomes for human hepatocytes are available? </a:t>
            </a:r>
            <a:endParaRPr/>
          </a:p>
        </p:txBody>
      </p:sp>
      <p:pic>
        <p:nvPicPr>
          <p:cNvPr id="568" name="Google Shape;568;p6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0850" y="1255225"/>
            <a:ext cx="5152576" cy="370745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3"/>
          <p:cNvSpPr txBox="1"/>
          <p:nvPr/>
        </p:nvSpPr>
        <p:spPr>
          <a:xfrm>
            <a:off x="7330675" y="2696400"/>
            <a:ext cx="1246500" cy="677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1 reference epigenome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76" name="Google Shape;576;p64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397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Using the search toolbar, query for  </a:t>
            </a:r>
            <a:r>
              <a:rPr lang="en-GB" b="1" i="1"/>
              <a:t>forebrain E13.5</a:t>
            </a:r>
            <a:r>
              <a:rPr lang="en-GB"/>
              <a:t> and select the available reference epigenomes. How many experiments do they have linked? Are there any open chromatin experiments available? </a:t>
            </a:r>
            <a:endParaRPr/>
          </a:p>
        </p:txBody>
      </p:sp>
      <p:pic>
        <p:nvPicPr>
          <p:cNvPr id="577" name="Google Shape;577;p6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8625" y="1714512"/>
            <a:ext cx="4863201" cy="33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4"/>
          <p:cNvSpPr txBox="1"/>
          <p:nvPr/>
        </p:nvSpPr>
        <p:spPr>
          <a:xfrm>
            <a:off x="7330675" y="2696400"/>
            <a:ext cx="1246500" cy="677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1 reference epigenome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85" name="Google Shape;585;p65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397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Using the search toolbar, query for  </a:t>
            </a:r>
            <a:r>
              <a:rPr lang="en-GB" b="1" i="1"/>
              <a:t>forebrain E13.5</a:t>
            </a:r>
            <a:r>
              <a:rPr lang="en-GB"/>
              <a:t> and select the available reference epigenomes. How many experiments do they have linked? Are there any open chromatin experiments available? </a:t>
            </a:r>
            <a:endParaRPr/>
          </a:p>
        </p:txBody>
      </p:sp>
      <p:pic>
        <p:nvPicPr>
          <p:cNvPr id="586" name="Google Shape;586;p6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2912" y="1784075"/>
            <a:ext cx="5962651" cy="32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593" name="Google Shape;593;p66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397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Using the search toolbar, query for  </a:t>
            </a:r>
            <a:r>
              <a:rPr lang="en-GB" b="1" i="1"/>
              <a:t>forebrain E13.5</a:t>
            </a:r>
            <a:r>
              <a:rPr lang="en-GB"/>
              <a:t> and select the available reference epigenomes. How many experiments do they have linked? Are there any open chromatin experiments available? </a:t>
            </a:r>
            <a:endParaRPr/>
          </a:p>
        </p:txBody>
      </p:sp>
      <p:pic>
        <p:nvPicPr>
          <p:cNvPr id="594" name="Google Shape;594;p6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211" y="1729586"/>
            <a:ext cx="3978177" cy="204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6">
            <a:hlinkClick r:id="rId3"/>
          </p:cNvPr>
          <p:cNvPicPr preferRelativeResize="0"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9" y="1527270"/>
            <a:ext cx="4435801" cy="3152045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66"/>
          <p:cNvSpPr txBox="1"/>
          <p:nvPr/>
        </p:nvSpPr>
        <p:spPr>
          <a:xfrm>
            <a:off x="2227300" y="4000375"/>
            <a:ext cx="1620000" cy="431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12 experiments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Data Portal</a:t>
            </a:r>
            <a:endParaRPr/>
          </a:p>
        </p:txBody>
      </p:sp>
      <p:sp>
        <p:nvSpPr>
          <p:cNvPr id="603" name="Google Shape;603;p67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452200" cy="397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Using the search toolbar, query for  </a:t>
            </a:r>
            <a:r>
              <a:rPr lang="en-GB" b="1" i="1"/>
              <a:t>forebrain E13.5</a:t>
            </a:r>
            <a:r>
              <a:rPr lang="en-GB"/>
              <a:t> and select the available reference epigenomes. How many experiments do they have linked? Are there any open chromatin experiments available? </a:t>
            </a:r>
            <a:endParaRPr/>
          </a:p>
        </p:txBody>
      </p:sp>
      <p:sp>
        <p:nvSpPr>
          <p:cNvPr id="604" name="Google Shape;604;p67"/>
          <p:cNvSpPr txBox="1"/>
          <p:nvPr/>
        </p:nvSpPr>
        <p:spPr>
          <a:xfrm>
            <a:off x="6172850" y="2866500"/>
            <a:ext cx="2373300" cy="677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1 open chromatin (ATAC-seq) experiment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05" name="Google Shape;605;p6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772" y="1746457"/>
            <a:ext cx="4991899" cy="3397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8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611" name="Google Shape;611;p68"/>
          <p:cNvSpPr txBox="1">
            <a:spLocks noGrp="1"/>
          </p:cNvSpPr>
          <p:nvPr>
            <p:ph type="body" idx="2"/>
          </p:nvPr>
        </p:nvSpPr>
        <p:spPr>
          <a:xfrm>
            <a:off x="5870575" y="3225500"/>
            <a:ext cx="31146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ENCODE cCREs and SCREEN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9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618" name="Google Shape;618;p69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</a:t>
            </a:r>
            <a:endParaRPr/>
          </a:p>
        </p:txBody>
      </p:sp>
      <p:sp>
        <p:nvSpPr>
          <p:cNvPr id="625" name="Google Shape;625;p70"/>
          <p:cNvSpPr txBox="1"/>
          <p:nvPr/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800"/>
          </a:p>
          <a:p>
            <a:pPr marL="45720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 sz="1600"/>
              <a:t>Explore the indicated locus on SCREEN:</a:t>
            </a:r>
            <a:endParaRPr sz="1600"/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 b="1"/>
              <a:t>GRCh38, chr8:127,682,026-127,744,101</a:t>
            </a:r>
            <a:endParaRPr b="1"/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GRCm39/mm39, chr6:6,740,753-6,891,103; GRCm38/mm10 chr6:6,740,753-6,891,103</a:t>
            </a:r>
            <a:endParaRPr/>
          </a:p>
          <a:p>
            <a:pPr marL="45720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 sz="1600"/>
              <a:t>Inspect cCREs overlapping or near the indicated gene:</a:t>
            </a:r>
            <a:endParaRPr sz="1600"/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Human, MYC</a:t>
            </a:r>
            <a:endParaRPr/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Mouse, Dlx6</a:t>
            </a:r>
            <a:endParaRPr/>
          </a:p>
          <a:p>
            <a:pPr marL="45720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 sz="1600"/>
              <a:t>Review cCRE class, biosample support, and linked evidence for:</a:t>
            </a:r>
            <a:endParaRPr sz="1600"/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Human, HCT116 core collection</a:t>
            </a:r>
            <a:endParaRPr/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Mouse, Forebrain E13.5 ancillary collection</a:t>
            </a: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GRCh38 locus</a:t>
            </a:r>
            <a:endParaRPr/>
          </a:p>
        </p:txBody>
      </p:sp>
      <p:pic>
        <p:nvPicPr>
          <p:cNvPr id="632" name="Google Shape;632;p7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25" y="896525"/>
            <a:ext cx="4756501" cy="296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71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4325" y="2438401"/>
            <a:ext cx="4121448" cy="22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GRCh38 locus</a:t>
            </a:r>
            <a:endParaRPr/>
          </a:p>
        </p:txBody>
      </p:sp>
      <p:pic>
        <p:nvPicPr>
          <p:cNvPr id="640" name="Google Shape;640;p7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6900" y="2005323"/>
            <a:ext cx="4940974" cy="274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72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25" y="792251"/>
            <a:ext cx="4181901" cy="232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MYC cCREs</a:t>
            </a:r>
            <a:endParaRPr/>
          </a:p>
        </p:txBody>
      </p:sp>
      <p:pic>
        <p:nvPicPr>
          <p:cNvPr id="648" name="Google Shape;648;p7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50" y="720075"/>
            <a:ext cx="4301151" cy="240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7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5976" y="2101528"/>
            <a:ext cx="4485524" cy="263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HCT116</a:t>
            </a:r>
            <a:endParaRPr/>
          </a:p>
        </p:txBody>
      </p:sp>
      <p:pic>
        <p:nvPicPr>
          <p:cNvPr id="656" name="Google Shape;656;p7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50" y="880469"/>
            <a:ext cx="4161174" cy="2330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74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724" y="1987394"/>
            <a:ext cx="4589775" cy="257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HCT116</a:t>
            </a:r>
            <a:endParaRPr/>
          </a:p>
        </p:txBody>
      </p:sp>
      <p:pic>
        <p:nvPicPr>
          <p:cNvPr id="664" name="Google Shape;664;p7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775" y="2127657"/>
            <a:ext cx="4661999" cy="2608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50" y="840375"/>
            <a:ext cx="4257425" cy="2385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HCT116</a:t>
            </a:r>
            <a:endParaRPr/>
          </a:p>
        </p:txBody>
      </p:sp>
      <p:pic>
        <p:nvPicPr>
          <p:cNvPr id="672" name="Google Shape;672;p7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75" y="954525"/>
            <a:ext cx="4715749" cy="263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76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4725" y="2319200"/>
            <a:ext cx="4187600" cy="232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HCT116</a:t>
            </a:r>
            <a:endParaRPr/>
          </a:p>
        </p:txBody>
      </p:sp>
      <p:pic>
        <p:nvPicPr>
          <p:cNvPr id="680" name="Google Shape;680;p7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25" y="736100"/>
            <a:ext cx="4588000" cy="283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77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8150" y="1957125"/>
            <a:ext cx="4445648" cy="27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HCT116</a:t>
            </a:r>
            <a:endParaRPr/>
          </a:p>
        </p:txBody>
      </p:sp>
      <p:pic>
        <p:nvPicPr>
          <p:cNvPr id="688" name="Google Shape;688;p7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75" y="736100"/>
            <a:ext cx="4507826" cy="2558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8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941779"/>
            <a:ext cx="4467727" cy="276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HCT116</a:t>
            </a:r>
            <a:endParaRPr/>
          </a:p>
        </p:txBody>
      </p:sp>
      <p:pic>
        <p:nvPicPr>
          <p:cNvPr id="696" name="Google Shape;696;p7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00" y="792250"/>
            <a:ext cx="4539899" cy="2793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79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7487" y="1978100"/>
            <a:ext cx="4492237" cy="27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HCT116</a:t>
            </a:r>
            <a:endParaRPr/>
          </a:p>
        </p:txBody>
      </p:sp>
      <p:pic>
        <p:nvPicPr>
          <p:cNvPr id="704" name="Google Shape;704;p8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300" y="792244"/>
            <a:ext cx="5950192" cy="4046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</a:t>
            </a:r>
            <a:endParaRPr/>
          </a:p>
        </p:txBody>
      </p:sp>
      <p:sp>
        <p:nvSpPr>
          <p:cNvPr id="711" name="Google Shape;711;p81"/>
          <p:cNvSpPr txBox="1"/>
          <p:nvPr/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800"/>
          </a:p>
          <a:p>
            <a:pPr marL="45720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 sz="1600"/>
              <a:t>Explore the indicated locus on SCREEN:</a:t>
            </a:r>
            <a:endParaRPr sz="1600"/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GRCh38, chr8:127,682,026-127,744,101</a:t>
            </a:r>
            <a:endParaRPr/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 b="1"/>
              <a:t>GRCm39/mm39, chr6:6,740,753-6,891,103; GRCm38/mm10 chr6:6,740,753-6,891,103</a:t>
            </a:r>
            <a:endParaRPr b="1"/>
          </a:p>
          <a:p>
            <a:pPr marL="45720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 sz="1600"/>
              <a:t>Inspect cCREs overlapping or near the indicated gene:</a:t>
            </a:r>
            <a:endParaRPr sz="1600"/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Human, MYC</a:t>
            </a:r>
            <a:endParaRPr/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Mouse, Dlx6</a:t>
            </a:r>
            <a:endParaRPr/>
          </a:p>
          <a:p>
            <a:pPr marL="45720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600"/>
              <a:buChar char="-"/>
            </a:pPr>
            <a:r>
              <a:rPr lang="en-GB" sz="1600"/>
              <a:t>Review cCRE class, biosample support, and linked evidence for:</a:t>
            </a:r>
            <a:endParaRPr sz="1600"/>
          </a:p>
          <a:p>
            <a:pPr marL="765000" lvl="1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Human, HCT116 core collection</a:t>
            </a:r>
            <a:endParaRPr/>
          </a:p>
          <a:p>
            <a:pPr marL="7650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-"/>
            </a:pPr>
            <a:r>
              <a:rPr lang="en-GB"/>
              <a:t>Mouse, Forebrain E13.5 ancillary collection</a:t>
            </a: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mm10 locus</a:t>
            </a:r>
            <a:endParaRPr/>
          </a:p>
        </p:txBody>
      </p:sp>
      <p:pic>
        <p:nvPicPr>
          <p:cNvPr id="718" name="Google Shape;718;p8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44644"/>
            <a:ext cx="4345251" cy="2298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8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7600" y="2081500"/>
            <a:ext cx="4417975" cy="26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mm10 locus</a:t>
            </a:r>
            <a:endParaRPr/>
          </a:p>
        </p:txBody>
      </p:sp>
      <p:pic>
        <p:nvPicPr>
          <p:cNvPr id="726" name="Google Shape;726;p8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0" y="792250"/>
            <a:ext cx="4067399" cy="2366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83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7898" y="2005619"/>
            <a:ext cx="4844703" cy="2728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Dlx6 cCREs</a:t>
            </a:r>
            <a:endParaRPr/>
          </a:p>
        </p:txBody>
      </p:sp>
      <p:pic>
        <p:nvPicPr>
          <p:cNvPr id="734" name="Google Shape;73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0" y="792244"/>
            <a:ext cx="4590427" cy="260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025" y="2206260"/>
            <a:ext cx="4349276" cy="2565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5"/>
          <p:cNvSpPr txBox="1">
            <a:spLocks noGrp="1"/>
          </p:cNvSpPr>
          <p:nvPr>
            <p:ph type="title"/>
          </p:nvPr>
        </p:nvSpPr>
        <p:spPr>
          <a:xfrm>
            <a:off x="338150" y="273850"/>
            <a:ext cx="87573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Forebrain E13.5</a:t>
            </a:r>
            <a:endParaRPr/>
          </a:p>
        </p:txBody>
      </p:sp>
      <p:pic>
        <p:nvPicPr>
          <p:cNvPr id="742" name="Google Shape;742;p8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44650"/>
            <a:ext cx="4056925" cy="229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85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0300" y="2515900"/>
            <a:ext cx="4629877" cy="2218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86"/>
          <p:cNvSpPr txBox="1">
            <a:spLocks noGrp="1"/>
          </p:cNvSpPr>
          <p:nvPr>
            <p:ph type="title"/>
          </p:nvPr>
        </p:nvSpPr>
        <p:spPr>
          <a:xfrm>
            <a:off x="338150" y="273850"/>
            <a:ext cx="86601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Forebrain E13.5</a:t>
            </a:r>
            <a:endParaRPr/>
          </a:p>
        </p:txBody>
      </p:sp>
      <p:pic>
        <p:nvPicPr>
          <p:cNvPr id="750" name="Google Shape;750;p8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25" y="928450"/>
            <a:ext cx="4527175" cy="2169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3725" y="2184600"/>
            <a:ext cx="4448702" cy="252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7"/>
          <p:cNvSpPr txBox="1">
            <a:spLocks noGrp="1"/>
          </p:cNvSpPr>
          <p:nvPr>
            <p:ph type="title"/>
          </p:nvPr>
        </p:nvSpPr>
        <p:spPr>
          <a:xfrm>
            <a:off x="338150" y="273850"/>
            <a:ext cx="86034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Forebrain E13.5</a:t>
            </a:r>
            <a:endParaRPr/>
          </a:p>
        </p:txBody>
      </p:sp>
      <p:pic>
        <p:nvPicPr>
          <p:cNvPr id="758" name="Google Shape;758;p8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25" y="847450"/>
            <a:ext cx="4500575" cy="255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87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4876" y="1969525"/>
            <a:ext cx="4419598" cy="2673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8"/>
          <p:cNvSpPr txBox="1">
            <a:spLocks noGrp="1"/>
          </p:cNvSpPr>
          <p:nvPr>
            <p:ph type="title"/>
          </p:nvPr>
        </p:nvSpPr>
        <p:spPr>
          <a:xfrm>
            <a:off x="338150" y="273850"/>
            <a:ext cx="8668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Forebrain E13.5</a:t>
            </a:r>
            <a:endParaRPr/>
          </a:p>
        </p:txBody>
      </p:sp>
      <p:pic>
        <p:nvPicPr>
          <p:cNvPr id="766" name="Google Shape;766;p8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00" y="855550"/>
            <a:ext cx="4331799" cy="258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88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4200" y="1860176"/>
            <a:ext cx="4620999" cy="278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8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725" y="792244"/>
            <a:ext cx="6917378" cy="404645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89"/>
          <p:cNvSpPr txBox="1">
            <a:spLocks noGrp="1"/>
          </p:cNvSpPr>
          <p:nvPr>
            <p:ph type="title"/>
          </p:nvPr>
        </p:nvSpPr>
        <p:spPr>
          <a:xfrm>
            <a:off x="338150" y="273850"/>
            <a:ext cx="8668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ENCODE cCREs and SCREEN: Forebrain E13.5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Macintosh PowerPoint</Application>
  <PresentationFormat>On-screen Show (16:9)</PresentationFormat>
  <Paragraphs>116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Libre Franklin Medium</vt:lpstr>
      <vt:lpstr>Arial</vt:lpstr>
      <vt:lpstr>Arial Black</vt:lpstr>
      <vt:lpstr>Franklin Gothic</vt:lpstr>
      <vt:lpstr>Libre Franklin Thin</vt:lpstr>
      <vt:lpstr>Libre Franklin</vt:lpstr>
      <vt:lpstr>Custom Design</vt:lpstr>
      <vt:lpstr>Multi-species Catalogues of Regulatory Elements: ENCODE</vt:lpstr>
      <vt:lpstr>PowerPoint Presentation</vt:lpstr>
      <vt:lpstr>PowerPoint Presentation</vt:lpstr>
      <vt:lpstr>The ENCODE Data Portal</vt:lpstr>
      <vt:lpstr>The ENCODE Data Portal</vt:lpstr>
      <vt:lpstr>The ENCODE Data Portal</vt:lpstr>
      <vt:lpstr>The ENCODE Data Portal</vt:lpstr>
      <vt:lpstr>The ENCODE Data Portal</vt:lpstr>
      <vt:lpstr>The ENCODE Data Portal</vt:lpstr>
      <vt:lpstr>The ENCODE Data Portal</vt:lpstr>
      <vt:lpstr>The ENCODE Data Portal</vt:lpstr>
      <vt:lpstr>The ENCODE Data Portal</vt:lpstr>
      <vt:lpstr>The ENCODE Data Portal</vt:lpstr>
      <vt:lpstr>PowerPoint Presentation</vt:lpstr>
      <vt:lpstr>PowerPoint Presentation</vt:lpstr>
      <vt:lpstr>The ENCODE cCREs and SCREEN</vt:lpstr>
      <vt:lpstr>The ENCODE cCREs and SCREEN: GRCh38 locus</vt:lpstr>
      <vt:lpstr>The ENCODE cCREs and SCREEN: GRCh38 locus</vt:lpstr>
      <vt:lpstr>The ENCODE cCREs and SCREEN: MYC cCREs</vt:lpstr>
      <vt:lpstr>The ENCODE cCREs and SCREEN: HCT116</vt:lpstr>
      <vt:lpstr>The ENCODE cCREs and SCREEN: HCT116</vt:lpstr>
      <vt:lpstr>The ENCODE cCREs and SCREEN: HCT116</vt:lpstr>
      <vt:lpstr>The ENCODE cCREs and SCREEN: HCT116</vt:lpstr>
      <vt:lpstr>The ENCODE cCREs and SCREEN: HCT116</vt:lpstr>
      <vt:lpstr>The ENCODE cCREs and SCREEN: HCT116</vt:lpstr>
      <vt:lpstr>The ENCODE cCREs and SCREEN: HCT116</vt:lpstr>
      <vt:lpstr>The ENCODE cCREs and SCREEN</vt:lpstr>
      <vt:lpstr>The ENCODE cCREs and SCREEN: mm10 locus</vt:lpstr>
      <vt:lpstr>The ENCODE cCREs and SCREEN: mm10 locus</vt:lpstr>
      <vt:lpstr>The ENCODE cCREs and SCREEN: Dlx6 cCREs</vt:lpstr>
      <vt:lpstr>The ENCODE cCREs and SCREEN: Forebrain E13.5</vt:lpstr>
      <vt:lpstr>The ENCODE cCREs and SCREEN: Forebrain E13.5</vt:lpstr>
      <vt:lpstr>The ENCODE cCREs and SCREEN: Forebrain E13.5</vt:lpstr>
      <vt:lpstr>The ENCODE cCREs and SCREEN: Forebrain E13.5</vt:lpstr>
      <vt:lpstr>The ENCODE cCREs and SCREEN: Forebrain E13.5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Gabriela Merino</cp:lastModifiedBy>
  <cp:revision>1</cp:revision>
  <dcterms:modified xsi:type="dcterms:W3CDTF">2026-08-20T14:20:09Z</dcterms:modified>
</cp:coreProperties>
</file>