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Franklin Gothic"/>
      <p:bold r:id="rId30"/>
    </p:embeddedFon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font" Target="fonts/FranklinGothic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6683db9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f6683db9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0e1ed9864_0_10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0e1ed9864_0_10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0e1ed9864_0_10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6683db9d1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6683db9d1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6683db9d1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f6683db9d1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6683db9d1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f6683db9d1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6683db9d1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6683db9d1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6683db9d1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f6683db9d1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6683db9d1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6683db9d1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6683db9d1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6683db9d1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6683db9d1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f6683db9d1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6683db9d1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6683db9d1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6683db9d1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f6683db9d1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6683db9d1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f6683db9d1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6683db9d1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6683db9d1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6683db9d1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f6683db9d1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6683db9d1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f6683db9d1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6683db9d1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f6683db9d1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6683db9d1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f6683db9d1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6683db9d1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6683db9d1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6683db9d1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f6683db9d1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6683db9d1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f6683db9d1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6683db9d1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f6683db9d1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6683db9d1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f6683db9d1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f6683db9d1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f6683db9d1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Elements_grey">
  <p:cSld name="Title_And_Elements_gre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elements_white">
  <p:cSld name="Title_and_elements_whit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Title - South Building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Cell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4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5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7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8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9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10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TRAINING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INDUSTR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_NoImag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noImag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Staff_Associa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ff Association grey ">
  <p:cSld name="Staff Association grey 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ff Association white">
  <p:cSld name="Staff Association whit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grey">
  <p:cSld name="Two Elements_gre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2" type="body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white">
  <p:cSld name="Two Elements_whit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2" type="body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Elements_grey_green">
  <p:cSld name="Two_Elements_grey_gree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2" type="body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grey_green_right">
  <p:cSld name="Two Elements_grey_green_righ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grey_green_right">
  <p:cSld name="Three Elements_grey_green_righ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29"/>
          <p:cNvSpPr txBox="1"/>
          <p:nvPr>
            <p:ph idx="2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29"/>
          <p:cNvSpPr txBox="1"/>
          <p:nvPr>
            <p:ph idx="3" type="body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dark_grey">
  <p:cSld name="Three Elements_dark_gre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3" type="body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green_left_grey">
  <p:cSld name="Three Elements_green_left_gre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2" type="body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3" type="body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Elements_green">
  <p:cSld name="Six Elements_green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>
            <p:ph idx="2" type="pic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/>
          <p:nvPr>
            <p:ph idx="3" type="pic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/>
          <p:nvPr>
            <p:ph idx="4" type="pic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body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6" type="body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Elements_green">
  <p:cSld name="Eight Elements_green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>
            <p:ph idx="2" type="pic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/>
          <p:nvPr>
            <p:ph idx="3" type="pic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/>
          <p:nvPr>
            <p:ph idx="4" type="pic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/>
          <p:nvPr>
            <p:ph idx="5" type="pic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6" type="body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7" type="body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8" type="body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Elements_grey">
  <p:cSld name="Eight Elements_gre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/>
          <p:nvPr>
            <p:ph idx="2" type="pic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/>
          <p:nvPr>
            <p:ph idx="3" type="pic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/>
          <p:nvPr>
            <p:ph idx="4" type="pic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5" type="pic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34"/>
          <p:cNvSpPr txBox="1"/>
          <p:nvPr>
            <p:ph idx="6" type="body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34"/>
          <p:cNvSpPr txBox="1"/>
          <p:nvPr>
            <p:ph idx="7" type="body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34"/>
          <p:cNvSpPr txBox="1"/>
          <p:nvPr>
            <p:ph idx="8" type="body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with_Footer">
  <p:cSld name="Blank_with_Foot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_individual_image">
  <p:cSld name="Divider_individual_image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>
            <p:ph idx="2" type="pic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/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3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2">
  <p:cSld name="Section Headline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37"/>
          <p:cNvSpPr txBox="1"/>
          <p:nvPr>
            <p:ph idx="2" type="body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3">
  <p:cSld name="Section Headline_3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/>
          <p:nvPr>
            <p:ph idx="1" type="body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5" name="Google Shape;315;p38"/>
          <p:cNvSpPr txBox="1"/>
          <p:nvPr>
            <p:ph idx="2" type="body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4">
  <p:cSld name="Section Headline_4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/>
          <p:nvPr>
            <p:ph idx="1" type="body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idx="3" type="body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5">
  <p:cSld name="Section Headline_5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/>
          <p:nvPr>
            <p:ph idx="1" type="body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3" type="body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4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idx="3" type="body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 layout 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/>
          <p:nvPr>
            <p:ph idx="1" type="body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42"/>
          <p:cNvSpPr txBox="1"/>
          <p:nvPr>
            <p:ph idx="2" type="body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9" name="Google Shape;339;p42"/>
          <p:cNvSpPr txBox="1"/>
          <p:nvPr>
            <p:ph idx="3" type="body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0" name="Google Shape;340;p42"/>
          <p:cNvSpPr txBox="1"/>
          <p:nvPr>
            <p:ph idx="4" type="body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 layout 3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43"/>
          <p:cNvSpPr/>
          <p:nvPr>
            <p:ph idx="2" type="pic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/>
          <p:nvPr>
            <p:ph idx="3" type="pic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/>
          <p:nvPr>
            <p:ph idx="4" type="pic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/>
          <p:nvPr>
            <p:ph idx="1" type="body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5" type="body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3"/>
          <p:cNvSpPr txBox="1"/>
          <p:nvPr>
            <p:ph idx="6" type="body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3"/>
          <p:cNvSpPr txBox="1"/>
          <p:nvPr>
            <p:ph idx="7" type="body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5" name="Google Shape;355;p43"/>
          <p:cNvSpPr txBox="1"/>
          <p:nvPr>
            <p:ph idx="8" type="body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6" name="Google Shape;356;p43"/>
          <p:cNvSpPr txBox="1"/>
          <p:nvPr>
            <p:ph idx="9" type="body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 layout 6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44"/>
          <p:cNvSpPr/>
          <p:nvPr>
            <p:ph idx="2" type="pic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/>
          <p:nvPr>
            <p:ph idx="3" type="pic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/>
          <p:nvPr>
            <p:ph idx="4" type="pic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/>
          <p:nvPr>
            <p:ph idx="1" type="body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5" type="body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6" type="body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7" type="body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8" type="body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9" type="body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 layout 7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216000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2" type="body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3" type="body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4" type="body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6000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5" type="body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144000" spcFirstLastPara="1" rIns="54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8">
  <p:cSld name="custom layout 8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C4C7C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46"/>
          <p:cNvSpPr/>
          <p:nvPr>
            <p:ph idx="2" type="pic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/>
          <p:nvPr>
            <p:ph idx="3" type="pic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/>
          <p:nvPr>
            <p:ph idx="4" type="body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1" name="Google Shape;391;p4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4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custom layout 9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7"/>
          <p:cNvSpPr/>
          <p:nvPr>
            <p:ph idx="2" type="pic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/>
          <p:nvPr>
            <p:ph idx="3" type="pic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/>
          <p:nvPr>
            <p:ph idx="4" type="pic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/>
          <p:nvPr>
            <p:ph idx="5" type="pic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1" name="Google Shape;401;p47"/>
          <p:cNvSpPr txBox="1"/>
          <p:nvPr>
            <p:ph idx="6" type="body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47"/>
          <p:cNvSpPr txBox="1"/>
          <p:nvPr>
            <p:ph idx="7" type="body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3" name="Google Shape;403;p47"/>
          <p:cNvSpPr txBox="1"/>
          <p:nvPr>
            <p:ph idx="8" type="body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47"/>
          <p:cNvSpPr txBox="1"/>
          <p:nvPr>
            <p:ph idx="9" type="body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7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47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custom layout 10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/>
          <p:nvPr>
            <p:ph idx="1" type="body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0" name="Google Shape;410;p48"/>
          <p:cNvSpPr txBox="1"/>
          <p:nvPr>
            <p:ph idx="2" type="body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1" name="Google Shape;411;p48"/>
          <p:cNvSpPr txBox="1"/>
          <p:nvPr>
            <p:ph idx="3" type="body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2" name="Google Shape;412;p4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48"/>
          <p:cNvSpPr/>
          <p:nvPr>
            <p:ph idx="4" type="pic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/>
          <p:nvPr>
            <p:ph idx="5" type="pic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/>
          <p:nvPr>
            <p:ph idx="6" type="body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7" type="body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7" name="Google Shape;417;p48"/>
          <p:cNvSpPr/>
          <p:nvPr>
            <p:ph idx="8" type="pic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/>
          <p:nvPr>
            <p:ph idx="9" type="body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48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48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">
  <p:cSld name="custom layout 1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/>
          <p:nvPr>
            <p:ph idx="1" type="body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6" name="Google Shape;426;p49"/>
          <p:cNvSpPr txBox="1"/>
          <p:nvPr>
            <p:ph idx="2" type="body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7" name="Google Shape;427;p49"/>
          <p:cNvSpPr txBox="1"/>
          <p:nvPr>
            <p:ph idx="3" type="body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8" name="Google Shape;428;p49"/>
          <p:cNvSpPr txBox="1"/>
          <p:nvPr>
            <p:ph idx="4" type="body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9" name="Google Shape;429;p49"/>
          <p:cNvSpPr txBox="1"/>
          <p:nvPr>
            <p:ph idx="5" type="body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49"/>
          <p:cNvSpPr txBox="1"/>
          <p:nvPr>
            <p:ph idx="6" type="body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4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9"/>
          <p:cNvSpPr/>
          <p:nvPr>
            <p:ph idx="7" type="pic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7" name="Google Shape;437;p49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 layout 1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/>
          <p:nvPr>
            <p:ph idx="1" type="body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2" name="Google Shape;442;p50"/>
          <p:cNvSpPr txBox="1"/>
          <p:nvPr>
            <p:ph idx="2" type="body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3" name="Google Shape;443;p50"/>
          <p:cNvSpPr txBox="1"/>
          <p:nvPr>
            <p:ph idx="3" type="body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4" name="Google Shape;444;p50"/>
          <p:cNvSpPr txBox="1"/>
          <p:nvPr>
            <p:ph idx="4" type="body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5" name="Google Shape;445;p50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0"/>
          <p:cNvSpPr txBox="1"/>
          <p:nvPr>
            <p:ph idx="5" type="body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27000" spcFirstLastPara="1" rIns="54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7" name="Google Shape;447;p50"/>
          <p:cNvSpPr/>
          <p:nvPr>
            <p:ph idx="6" type="pic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7" type="pic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50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50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 layout 13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1"/>
          <p:cNvSpPr/>
          <p:nvPr>
            <p:ph idx="2" type="pic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/>
          <p:nvPr>
            <p:ph idx="1" type="body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59" name="Google Shape;459;p51"/>
          <p:cNvSpPr txBox="1"/>
          <p:nvPr>
            <p:ph idx="3" type="body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0" name="Google Shape;460;p51"/>
          <p:cNvSpPr/>
          <p:nvPr>
            <p:ph idx="4" type="pic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/>
          <p:nvPr>
            <p:ph idx="5" type="pic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5">
  <p:cSld name="custom layout 15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8" name="Google Shape;468;p52"/>
          <p:cNvSpPr/>
          <p:nvPr>
            <p:ph idx="2" type="pic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/>
          <p:nvPr>
            <p:ph idx="3" type="body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0" name="Google Shape;470;p52"/>
          <p:cNvSpPr txBox="1"/>
          <p:nvPr>
            <p:ph idx="4" type="body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1" name="Google Shape;471;p52"/>
          <p:cNvSpPr txBox="1"/>
          <p:nvPr>
            <p:ph idx="5" type="body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2" name="Google Shape;472;p52"/>
          <p:cNvSpPr txBox="1"/>
          <p:nvPr>
            <p:ph idx="6" type="body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3" name="Google Shape;473;p52"/>
          <p:cNvSpPr txBox="1"/>
          <p:nvPr>
            <p:ph idx="7" type="body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4" name="Google Shape;474;p52"/>
          <p:cNvSpPr txBox="1"/>
          <p:nvPr>
            <p:ph idx="8" type="body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75" name="Google Shape;475;p52"/>
          <p:cNvSpPr txBox="1"/>
          <p:nvPr>
            <p:ph idx="9" type="body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6" name="Google Shape;476;p52"/>
          <p:cNvSpPr txBox="1"/>
          <p:nvPr>
            <p:ph idx="13" type="body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7" name="Google Shape;477;p52"/>
          <p:cNvSpPr txBox="1"/>
          <p:nvPr>
            <p:ph idx="14" type="body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8" name="Google Shape;478;p5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6">
  <p:cSld name="custom layout 16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3"/>
          <p:cNvSpPr/>
          <p:nvPr>
            <p:ph idx="2" type="pic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/>
          <p:nvPr>
            <p:ph idx="1" type="body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27000" spcFirstLastPara="1" rIns="5400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85" name="Google Shape;485;p53"/>
          <p:cNvSpPr txBox="1"/>
          <p:nvPr>
            <p:ph idx="3" type="body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p53"/>
          <p:cNvSpPr txBox="1"/>
          <p:nvPr>
            <p:ph idx="4" type="body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7" name="Google Shape;487;p53"/>
          <p:cNvSpPr txBox="1"/>
          <p:nvPr>
            <p:ph idx="5" type="body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8" name="Google Shape;488;p5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5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3" name="Google Shape;493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4" name="Google Shape;49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9563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563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9563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9563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with Genome Browsers</a:t>
            </a:r>
            <a:endParaRPr/>
          </a:p>
        </p:txBody>
      </p:sp>
      <p:sp>
        <p:nvSpPr>
          <p:cNvPr id="500" name="Google Shape;500;p5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5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640550" y="3581000"/>
            <a:ext cx="5385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7B53"/>
                </a:solidFill>
              </a:rPr>
              <a:t>Gabriela A. Merino - Louisse Paola Mirabueno</a:t>
            </a:r>
            <a:endParaRPr b="1" i="0" sz="1800" u="none" cap="none" strike="noStrik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6405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3" name="Google Shape;503;p55"/>
          <p:cNvSpPr txBox="1"/>
          <p:nvPr/>
        </p:nvSpPr>
        <p:spPr>
          <a:xfrm>
            <a:off x="640557" y="45496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5"/>
          <p:cNvSpPr txBox="1"/>
          <p:nvPr/>
        </p:nvSpPr>
        <p:spPr>
          <a:xfrm>
            <a:off x="28539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Outreach Officer,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Ensembl Outreach,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EMBL-EBI</a:t>
            </a:r>
            <a:endParaRPr b="1" sz="1200"/>
          </a:p>
        </p:txBody>
      </p:sp>
      <p:sp>
        <p:nvSpPr>
          <p:cNvPr id="505" name="Google Shape;505;p55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T6: Making the most of cis-regulatory annotations for genome-scale analysis</a:t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6"/>
          <p:cNvSpPr txBox="1"/>
          <p:nvPr>
            <p:ph idx="1" type="body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anchorCtr="0" anchor="ctr" bIns="4570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512" name="Google Shape;512;p56"/>
          <p:cNvSpPr txBox="1"/>
          <p:nvPr>
            <p:ph idx="2" type="body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anchorCtr="0" anchor="ctr" bIns="45700" lIns="288000" spcFirstLastPara="1" rIns="91425" wrap="square" tIns="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</a:t>
            </a:r>
            <a:endParaRPr/>
          </a:p>
        </p:txBody>
      </p:sp>
      <p:sp>
        <p:nvSpPr>
          <p:cNvPr id="518" name="Google Shape;518;p57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75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Start a clean IGV session.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Select/load the correct reference genome (GRCh38/GRCm39/mm10)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Load user-defined regions, signal tracks, peak tracks and regulatory elements annotation for the indicated epigenome: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Human, HCT116 (male, 48 years old).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Mouse, Forebrain E13.5.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Rename, reorder, and color tracks by evidence layer, using the following color scale: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rgbClr val="38761D"/>
                </a:solidFill>
              </a:rPr>
              <a:t>ATAC-seq</a:t>
            </a:r>
            <a:endParaRPr b="1">
              <a:solidFill>
                <a:srgbClr val="38761D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chemeClr val="accent2"/>
                </a:solidFill>
              </a:rPr>
              <a:t>DNase-seq</a:t>
            </a:r>
            <a:endParaRPr b="1"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rgbClr val="FF0000"/>
                </a:solidFill>
              </a:rPr>
              <a:t>H3K4me3</a:t>
            </a:r>
            <a:endParaRPr b="1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Set adequate display options for signal and annotation tracks.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Inspect the custom regions: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Elements where CRE annotations are concordant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One conflict between annotation or evidence layers.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One missing-context example.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/>
              <a:t>Locus: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-GB"/>
              <a:t>GRCh38, chr8:127,361,923-127,770,942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-GB"/>
              <a:t>GRCm39/mm39, chr6:6,740,753-6,891,103; GRCm38/mm10 chr6:6,740,753-6,891,103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/>
              <a:t>Save an IGV session, screenshot, or launchable view.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7"/>
          <p:cNvSpPr txBox="1"/>
          <p:nvPr/>
        </p:nvSpPr>
        <p:spPr>
          <a:xfrm>
            <a:off x="2013600" y="2334975"/>
            <a:ext cx="3000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rgbClr val="F1C232"/>
                </a:solidFill>
              </a:rPr>
              <a:t>H3K27ac</a:t>
            </a:r>
            <a:endParaRPr b="1">
              <a:solidFill>
                <a:srgbClr val="F1C232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chemeClr val="accent3"/>
                </a:solidFill>
              </a:rPr>
              <a:t>H3K4me1</a:t>
            </a:r>
            <a:endParaRPr b="1">
              <a:solidFill>
                <a:schemeClr val="accent3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>
                <a:solidFill>
                  <a:srgbClr val="0000FF"/>
                </a:solidFill>
              </a:rPr>
              <a:t>Custom regions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 </a:t>
            </a:r>
            <a:endParaRPr/>
          </a:p>
        </p:txBody>
      </p:sp>
      <p:pic>
        <p:nvPicPr>
          <p:cNvPr id="525" name="Google Shape;52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48"/>
            <a:ext cx="574472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050" y="720500"/>
            <a:ext cx="2765105" cy="166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150" y="2476500"/>
            <a:ext cx="2682201" cy="25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8225" y="2476500"/>
            <a:ext cx="3101025" cy="25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 </a:t>
            </a:r>
            <a:endParaRPr/>
          </a:p>
        </p:txBody>
      </p:sp>
      <p:pic>
        <p:nvPicPr>
          <p:cNvPr id="534" name="Google Shape;53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0" y="824450"/>
            <a:ext cx="4419602" cy="3818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529" y="824451"/>
            <a:ext cx="4416321" cy="3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 </a:t>
            </a:r>
            <a:endParaRPr/>
          </a:p>
        </p:txBody>
      </p:sp>
      <p:pic>
        <p:nvPicPr>
          <p:cNvPr id="541" name="Google Shape;5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49"/>
            <a:ext cx="4419600" cy="3545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832" y="896701"/>
            <a:ext cx="4244918" cy="36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 </a:t>
            </a:r>
            <a:endParaRPr/>
          </a:p>
        </p:txBody>
      </p:sp>
      <p:pic>
        <p:nvPicPr>
          <p:cNvPr id="548" name="Google Shape;5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50" y="876169"/>
            <a:ext cx="4167021" cy="404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971" y="876169"/>
            <a:ext cx="4519779" cy="3886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2"/>
          <p:cNvSpPr txBox="1"/>
          <p:nvPr>
            <p:ph type="title"/>
          </p:nvPr>
        </p:nvSpPr>
        <p:spPr>
          <a:xfrm>
            <a:off x="338143" y="273850"/>
            <a:ext cx="34494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</a:t>
            </a:r>
            <a:endParaRPr/>
          </a:p>
        </p:txBody>
      </p:sp>
      <p:sp>
        <p:nvSpPr>
          <p:cNvPr id="555" name="Google Shape;555;p62"/>
          <p:cNvSpPr txBox="1"/>
          <p:nvPr/>
        </p:nvSpPr>
        <p:spPr>
          <a:xfrm>
            <a:off x="3905600" y="329950"/>
            <a:ext cx="465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GRCh38, chr8:127,361,923-127,770,942</a:t>
            </a:r>
            <a:endParaRPr/>
          </a:p>
        </p:txBody>
      </p:sp>
      <p:pic>
        <p:nvPicPr>
          <p:cNvPr id="556" name="Google Shape;55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3443" y="792250"/>
            <a:ext cx="4552786" cy="410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3"/>
          <p:cNvSpPr txBox="1"/>
          <p:nvPr>
            <p:ph type="title"/>
          </p:nvPr>
        </p:nvSpPr>
        <p:spPr>
          <a:xfrm>
            <a:off x="338143" y="273850"/>
            <a:ext cx="34494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Human</a:t>
            </a:r>
            <a:endParaRPr/>
          </a:p>
        </p:txBody>
      </p:sp>
      <p:sp>
        <p:nvSpPr>
          <p:cNvPr id="562" name="Google Shape;562;p63"/>
          <p:cNvSpPr txBox="1"/>
          <p:nvPr/>
        </p:nvSpPr>
        <p:spPr>
          <a:xfrm>
            <a:off x="3905600" y="329950"/>
            <a:ext cx="465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GRCh38, chr8:127,361,923-127,770,942</a:t>
            </a:r>
            <a:endParaRPr/>
          </a:p>
        </p:txBody>
      </p:sp>
      <p:pic>
        <p:nvPicPr>
          <p:cNvPr id="563" name="Google Shape;56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375" y="847025"/>
            <a:ext cx="4136625" cy="372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32726"/>
            <a:ext cx="4035198" cy="3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4"/>
          <p:cNvSpPr txBox="1"/>
          <p:nvPr>
            <p:ph type="title"/>
          </p:nvPr>
        </p:nvSpPr>
        <p:spPr>
          <a:xfrm>
            <a:off x="338160" y="273850"/>
            <a:ext cx="84519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 where CRE annotations are concordant</a:t>
            </a:r>
            <a:endParaRPr/>
          </a:p>
        </p:txBody>
      </p:sp>
      <p:pic>
        <p:nvPicPr>
          <p:cNvPr id="570" name="Google Shape;5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50"/>
            <a:ext cx="4189776" cy="37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4"/>
          <p:cNvSpPr/>
          <p:nvPr/>
        </p:nvSpPr>
        <p:spPr>
          <a:xfrm>
            <a:off x="1426625" y="1554750"/>
            <a:ext cx="2136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2" name="Google Shape;572;p64"/>
          <p:cNvSpPr/>
          <p:nvPr/>
        </p:nvSpPr>
        <p:spPr>
          <a:xfrm>
            <a:off x="1792600" y="1554750"/>
            <a:ext cx="4284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3" name="Google Shape;573;p64"/>
          <p:cNvSpPr/>
          <p:nvPr/>
        </p:nvSpPr>
        <p:spPr>
          <a:xfrm>
            <a:off x="2461825" y="1554750"/>
            <a:ext cx="3102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4" name="Google Shape;574;p64"/>
          <p:cNvSpPr/>
          <p:nvPr/>
        </p:nvSpPr>
        <p:spPr>
          <a:xfrm>
            <a:off x="3724750" y="1554750"/>
            <a:ext cx="6174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64"/>
          <p:cNvSpPr/>
          <p:nvPr/>
        </p:nvSpPr>
        <p:spPr>
          <a:xfrm>
            <a:off x="1023750" y="1554750"/>
            <a:ext cx="3474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6" name="Google Shape;57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964" y="944650"/>
            <a:ext cx="4221687" cy="37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4"/>
          <p:cNvSpPr/>
          <p:nvPr/>
        </p:nvSpPr>
        <p:spPr>
          <a:xfrm>
            <a:off x="6020513" y="1576700"/>
            <a:ext cx="2778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8" name="Google Shape;578;p64"/>
          <p:cNvSpPr/>
          <p:nvPr/>
        </p:nvSpPr>
        <p:spPr>
          <a:xfrm>
            <a:off x="6586625" y="1576700"/>
            <a:ext cx="3474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9" name="Google Shape;579;p64"/>
          <p:cNvSpPr/>
          <p:nvPr/>
        </p:nvSpPr>
        <p:spPr>
          <a:xfrm>
            <a:off x="7238125" y="1576700"/>
            <a:ext cx="149100" cy="17214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364" y="792250"/>
            <a:ext cx="4340912" cy="3918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5"/>
          <p:cNvSpPr txBox="1"/>
          <p:nvPr>
            <p:ph type="title"/>
          </p:nvPr>
        </p:nvSpPr>
        <p:spPr>
          <a:xfrm>
            <a:off x="338150" y="273850"/>
            <a:ext cx="86871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 where CRE annotations are discordant</a:t>
            </a:r>
            <a:endParaRPr/>
          </a:p>
        </p:txBody>
      </p:sp>
      <p:sp>
        <p:nvSpPr>
          <p:cNvPr id="586" name="Google Shape;586;p65"/>
          <p:cNvSpPr/>
          <p:nvPr/>
        </p:nvSpPr>
        <p:spPr>
          <a:xfrm>
            <a:off x="6612550" y="1434850"/>
            <a:ext cx="171000" cy="17829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7" name="Google Shape;58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325" y="792250"/>
            <a:ext cx="4385665" cy="395779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5"/>
          <p:cNvSpPr/>
          <p:nvPr/>
        </p:nvSpPr>
        <p:spPr>
          <a:xfrm>
            <a:off x="2100150" y="1404075"/>
            <a:ext cx="256800" cy="17829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9" name="Google Shape;589;p65"/>
          <p:cNvSpPr/>
          <p:nvPr/>
        </p:nvSpPr>
        <p:spPr>
          <a:xfrm>
            <a:off x="2643325" y="1404075"/>
            <a:ext cx="256800" cy="17829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6"/>
          <p:cNvSpPr txBox="1"/>
          <p:nvPr>
            <p:ph type="title"/>
          </p:nvPr>
        </p:nvSpPr>
        <p:spPr>
          <a:xfrm>
            <a:off x="338150" y="273850"/>
            <a:ext cx="86871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Discrepancy between evidence and annotation</a:t>
            </a:r>
            <a:endParaRPr/>
          </a:p>
        </p:txBody>
      </p:sp>
      <p:pic>
        <p:nvPicPr>
          <p:cNvPr id="595" name="Google Shape;59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75" y="792250"/>
            <a:ext cx="4487217" cy="4046449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6"/>
          <p:cNvSpPr txBox="1"/>
          <p:nvPr/>
        </p:nvSpPr>
        <p:spPr>
          <a:xfrm>
            <a:off x="5336425" y="1263900"/>
            <a:ext cx="3516900" cy="6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H3K4me1 not used for annotating cCREs as enhancers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97" name="Google Shape;597;p66"/>
          <p:cNvSpPr/>
          <p:nvPr/>
        </p:nvSpPr>
        <p:spPr>
          <a:xfrm>
            <a:off x="2143125" y="1410425"/>
            <a:ext cx="2540100" cy="165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792250"/>
            <a:ext cx="4511944" cy="404645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7"/>
          <p:cNvSpPr txBox="1"/>
          <p:nvPr>
            <p:ph type="title"/>
          </p:nvPr>
        </p:nvSpPr>
        <p:spPr>
          <a:xfrm>
            <a:off x="338150" y="273850"/>
            <a:ext cx="86871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Discrepancy between evidence and annotation</a:t>
            </a:r>
            <a:endParaRPr/>
          </a:p>
        </p:txBody>
      </p:sp>
      <p:sp>
        <p:nvSpPr>
          <p:cNvPr id="604" name="Google Shape;604;p67"/>
          <p:cNvSpPr txBox="1"/>
          <p:nvPr/>
        </p:nvSpPr>
        <p:spPr>
          <a:xfrm>
            <a:off x="5336425" y="1263900"/>
            <a:ext cx="3516900" cy="6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ATAC-seq and </a:t>
            </a:r>
            <a:r>
              <a:rPr lang="en-GB" sz="1600">
                <a:solidFill>
                  <a:schemeClr val="dk1"/>
                </a:solidFill>
              </a:rPr>
              <a:t>H3K4me1 not used for annotating cCREs as enhancers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05" name="Google Shape;605;p67"/>
          <p:cNvSpPr/>
          <p:nvPr/>
        </p:nvSpPr>
        <p:spPr>
          <a:xfrm>
            <a:off x="3913800" y="1447025"/>
            <a:ext cx="366300" cy="1666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8"/>
          <p:cNvSpPr txBox="1"/>
          <p:nvPr>
            <p:ph type="title"/>
          </p:nvPr>
        </p:nvSpPr>
        <p:spPr>
          <a:xfrm>
            <a:off x="338150" y="273850"/>
            <a:ext cx="86871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context example</a:t>
            </a:r>
            <a:endParaRPr/>
          </a:p>
        </p:txBody>
      </p:sp>
      <p:pic>
        <p:nvPicPr>
          <p:cNvPr id="611" name="Google Shape;61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50"/>
            <a:ext cx="4511944" cy="404645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8"/>
          <p:cNvSpPr/>
          <p:nvPr/>
        </p:nvSpPr>
        <p:spPr>
          <a:xfrm>
            <a:off x="1013550" y="1569175"/>
            <a:ext cx="1044000" cy="3004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3" name="Google Shape;613;p68"/>
          <p:cNvSpPr txBox="1"/>
          <p:nvPr/>
        </p:nvSpPr>
        <p:spPr>
          <a:xfrm>
            <a:off x="4988375" y="2790350"/>
            <a:ext cx="3516900" cy="677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No epigenomics evidence for these CREs in the explored epigenome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4" name="Google Shape;614;p68"/>
          <p:cNvSpPr/>
          <p:nvPr/>
        </p:nvSpPr>
        <p:spPr>
          <a:xfrm>
            <a:off x="2698750" y="1569175"/>
            <a:ext cx="634800" cy="29613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9"/>
          <p:cNvSpPr txBox="1"/>
          <p:nvPr>
            <p:ph type="title"/>
          </p:nvPr>
        </p:nvSpPr>
        <p:spPr>
          <a:xfrm>
            <a:off x="338150" y="273850"/>
            <a:ext cx="86871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Save session</a:t>
            </a:r>
            <a:endParaRPr/>
          </a:p>
        </p:txBody>
      </p:sp>
      <p:pic>
        <p:nvPicPr>
          <p:cNvPr id="620" name="Google Shape;62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50"/>
            <a:ext cx="5092450" cy="25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4077" y="2122775"/>
            <a:ext cx="4529000" cy="255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0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sp>
        <p:nvSpPr>
          <p:cNvPr id="627" name="Google Shape;627;p70"/>
          <p:cNvSpPr txBox="1"/>
          <p:nvPr/>
        </p:nvSpPr>
        <p:spPr>
          <a:xfrm>
            <a:off x="215550" y="860900"/>
            <a:ext cx="871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</a:rPr>
              <a:t>Before you start: ENCODE files have been generated using mm10 and Ensembl Regulation files, using GRCm39. You will need different sessions to explore the tracks!</a:t>
            </a:r>
            <a:endParaRPr b="1" sz="1600">
              <a:solidFill>
                <a:srgbClr val="FF0000"/>
              </a:solidFill>
            </a:endParaRPr>
          </a:p>
        </p:txBody>
      </p:sp>
      <p:pic>
        <p:nvPicPr>
          <p:cNvPr id="628" name="Google Shape;62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75" y="1730562"/>
            <a:ext cx="4317024" cy="28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399" y="1690400"/>
            <a:ext cx="4267201" cy="269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1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pic>
        <p:nvPicPr>
          <p:cNvPr id="635" name="Google Shape;63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50"/>
            <a:ext cx="4023950" cy="30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2750" y="1970425"/>
            <a:ext cx="4697876" cy="23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2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pic>
        <p:nvPicPr>
          <p:cNvPr id="642" name="Google Shape;64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50"/>
            <a:ext cx="4078899" cy="203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699" y="944650"/>
            <a:ext cx="4607904" cy="345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3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pic>
        <p:nvPicPr>
          <p:cNvPr id="649" name="Google Shape;6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825" y="863674"/>
            <a:ext cx="7215649" cy="3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4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pic>
        <p:nvPicPr>
          <p:cNvPr id="655" name="Google Shape;65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75" y="877500"/>
            <a:ext cx="7351575" cy="388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5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Assignment: Mouse GRCm39 - Ensembl Regulation </a:t>
            </a:r>
            <a:endParaRPr/>
          </a:p>
        </p:txBody>
      </p:sp>
      <p:pic>
        <p:nvPicPr>
          <p:cNvPr id="661" name="Google Shape;66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25" y="1353725"/>
            <a:ext cx="4500199" cy="25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149" y="952125"/>
            <a:ext cx="4186600" cy="36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6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 where CRE annotations are concordant</a:t>
            </a:r>
            <a:endParaRPr/>
          </a:p>
        </p:txBody>
      </p:sp>
      <p:pic>
        <p:nvPicPr>
          <p:cNvPr id="668" name="Google Shape;66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75" y="792250"/>
            <a:ext cx="6693350" cy="38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76"/>
          <p:cNvSpPr/>
          <p:nvPr/>
        </p:nvSpPr>
        <p:spPr>
          <a:xfrm>
            <a:off x="2118700" y="1892538"/>
            <a:ext cx="549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0" name="Google Shape;670;p76"/>
          <p:cNvSpPr/>
          <p:nvPr/>
        </p:nvSpPr>
        <p:spPr>
          <a:xfrm>
            <a:off x="3950175" y="1892538"/>
            <a:ext cx="1407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1" name="Google Shape;671;p76"/>
          <p:cNvSpPr/>
          <p:nvPr/>
        </p:nvSpPr>
        <p:spPr>
          <a:xfrm>
            <a:off x="5916000" y="1892550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2" name="Google Shape;672;p76"/>
          <p:cNvSpPr/>
          <p:nvPr/>
        </p:nvSpPr>
        <p:spPr>
          <a:xfrm>
            <a:off x="6605700" y="1892538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3" name="Google Shape;673;p76"/>
          <p:cNvSpPr/>
          <p:nvPr/>
        </p:nvSpPr>
        <p:spPr>
          <a:xfrm>
            <a:off x="7148875" y="1892538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7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 where CRE annotations are discordant</a:t>
            </a:r>
            <a:endParaRPr/>
          </a:p>
        </p:txBody>
      </p:sp>
      <p:pic>
        <p:nvPicPr>
          <p:cNvPr id="679" name="Google Shape;67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75" y="792250"/>
            <a:ext cx="6693350" cy="38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77"/>
          <p:cNvSpPr/>
          <p:nvPr/>
        </p:nvSpPr>
        <p:spPr>
          <a:xfrm>
            <a:off x="6086950" y="1892550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1" name="Google Shape;681;p77"/>
          <p:cNvSpPr/>
          <p:nvPr/>
        </p:nvSpPr>
        <p:spPr>
          <a:xfrm>
            <a:off x="6819400" y="1892550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8"/>
          <p:cNvSpPr txBox="1"/>
          <p:nvPr>
            <p:ph type="title"/>
          </p:nvPr>
        </p:nvSpPr>
        <p:spPr>
          <a:xfrm>
            <a:off x="338150" y="273850"/>
            <a:ext cx="86556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Discrepancy between evidence and annotation</a:t>
            </a:r>
            <a:endParaRPr/>
          </a:p>
        </p:txBody>
      </p:sp>
      <p:pic>
        <p:nvPicPr>
          <p:cNvPr id="687" name="Google Shape;68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75" y="792250"/>
            <a:ext cx="6693350" cy="38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8"/>
          <p:cNvSpPr/>
          <p:nvPr/>
        </p:nvSpPr>
        <p:spPr>
          <a:xfrm>
            <a:off x="6086950" y="1892550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9" name="Google Shape;689;p78"/>
          <p:cNvSpPr/>
          <p:nvPr/>
        </p:nvSpPr>
        <p:spPr>
          <a:xfrm>
            <a:off x="6819400" y="1892550"/>
            <a:ext cx="171300" cy="6777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