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2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31"/>
    </p:embeddedFont>
    <p:embeddedFont>
      <p:font typeface="Franklin Gothic" panose="020B0603020102020204" pitchFamily="34" charset="0"/>
      <p:regular r:id="rId32"/>
      <p:bold r:id="rId33"/>
      <p:italic r:id="rId34"/>
      <p:boldItalic r:id="rId35"/>
    </p:embeddedFont>
    <p:embeddedFont>
      <p:font typeface="Inter" panose="02000503000000020004" pitchFamily="2" charset="0"/>
      <p:regular r:id="rId36"/>
      <p:bold r:id="rId37"/>
      <p:italic r:id="rId38"/>
      <p:boldItalic r:id="rId39"/>
    </p:embeddedFont>
    <p:embeddedFont>
      <p:font typeface="Libre Franklin" pitchFamily="2" charset="77"/>
      <p:regular r:id="rId40"/>
      <p:bold r:id="rId41"/>
      <p:italic r:id="rId42"/>
      <p:boldItalic r:id="rId43"/>
    </p:embeddedFont>
    <p:embeddedFont>
      <p:font typeface="Libre Franklin Medium" pitchFamily="2" charset="77"/>
      <p:regular r:id="rId44"/>
      <p:italic r:id="rId45"/>
    </p:embeddedFont>
    <p:embeddedFont>
      <p:font typeface="Libre Franklin Thin" pitchFamily="2" charset="77"/>
      <p:regular r:id="rId46"/>
      <p:italic r:id="rId47"/>
    </p:embeddedFont>
    <p:embeddedFont>
      <p:font typeface="Roboto" panose="02000000000000000000" pitchFamily="2" charset="0"/>
      <p:regular r:id="rId48"/>
      <p:bold r:id="rId49"/>
      <p:italic r:id="rId50"/>
      <p:boldItalic r:id="rId51"/>
    </p:embeddedFont>
    <p:embeddedFont>
      <p:font typeface="Roboto Medium" panose="02000000000000000000" pitchFamily="2" charset="0"/>
      <p:regular r:id="rId52"/>
      <p:italic r:id="rId53"/>
    </p:embeddedFont>
    <p:embeddedFont>
      <p:font typeface="Roboto Thin" panose="02000000000000000000"/>
      <p:regular r:id="rId54"/>
      <p: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8825AA-C4DE-4C30-88E3-B08674D2A2D1}">
  <a:tblStyle styleId="{EC8825AA-C4DE-4C30-88E3-B08674D2A2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C969CF7-ADC5-4383-A8E3-20DD6302E44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/>
    <p:restoredTop sz="88562"/>
  </p:normalViewPr>
  <p:slideViewPr>
    <p:cSldViewPr snapToGrid="0">
      <p:cViewPr varScale="1">
        <p:scale>
          <a:sx n="141" d="100"/>
          <a:sy n="141" d="100"/>
        </p:scale>
        <p:origin x="200" y="2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font" Target="fonts/font20.fntdata"/><Relationship Id="rId55" Type="http://schemas.openxmlformats.org/officeDocument/2006/relationships/font" Target="fonts/font2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3" Type="http://schemas.openxmlformats.org/officeDocument/2006/relationships/font" Target="fonts/font2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2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54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font" Target="fonts/font1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efd53029d2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efd53029d2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SLIDES_API95412015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SLIDES_API95412015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📣 This is Slido interaction slide, please don't delete it.</a:t>
            </a:r>
            <a:br>
              <a:rPr lang="en-GB" dirty="0"/>
            </a:br>
            <a:r>
              <a:rPr lang="en-GB" dirty="0"/>
              <a:t>✅ Click on 'Present with Slido' and the poll will launch automatically when you get to this slide.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SLIDES_API954120159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SLIDES_API954120159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📣 This is Slido interaction slide, please don't delete it.</a:t>
            </a:r>
            <a:br>
              <a:rPr lang="en-GB" dirty="0"/>
            </a:br>
            <a:r>
              <a:rPr lang="en-GB" dirty="0"/>
              <a:t>✅ Click on 'Present with Slido' and the poll will launch automatically when you get to this slide.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SLIDES_API954120159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SLIDES_API954120159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📣 This is Slido interaction slide, please don't delete it.</a:t>
            </a:r>
            <a:br>
              <a:rPr lang="en-GB" dirty="0"/>
            </a:br>
            <a:r>
              <a:rPr lang="en-GB" dirty="0"/>
              <a:t>✅ Click on 'Present with Slido' and the poll will launch automatically when you get to this slide.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eabb553fc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eabb553fc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Common file formats you will come across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Plain text files, tab-separated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Use plain text editor to open these files (e.g. Visual Studio Code, Sublime Text)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eabb553fc7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eabb553fc7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SLIDES_API144329053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SLIDES_API144329053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Genomic intervals/features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For </a:t>
            </a:r>
            <a:r>
              <a:rPr lang="en-GB" dirty="0" err="1"/>
              <a:t>enes</a:t>
            </a:r>
            <a:r>
              <a:rPr lang="en-GB" dirty="0"/>
              <a:t>, peaks, regulatory regions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📣 This is Slido interaction slide, please don't delete it.</a:t>
            </a:r>
            <a:br>
              <a:rPr lang="en-GB" dirty="0"/>
            </a:br>
            <a:r>
              <a:rPr lang="en-GB" dirty="0"/>
              <a:t>✅ Click on 'Present with Slido' and the poll will launch automatically when you get to this slide.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eabb553fc7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eabb553fc7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eabb553fc7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eabb553fc7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eabb553fc7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eabb553fc7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GB" dirty="0"/>
              <a:t>General Feature Format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GB" dirty="0"/>
              <a:t>Gene Transfer Format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SLIDES_API39914357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SLIDES_API39914357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Genome annotations with feature relationships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For genes, transcripts, exons, CDS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📣 This is Slido interaction slide, please don't delete it.</a:t>
            </a:r>
            <a:br>
              <a:rPr lang="en-GB" dirty="0"/>
            </a:br>
            <a:r>
              <a:rPr lang="en-GB" dirty="0"/>
              <a:t>✅ Click on 'Present with Slido' and the poll will launch automatically when you get to this slide.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eabb553fc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eabb553fc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eabb553fc7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eabb553fc7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Summary of common file formats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Which format? Depends on data and tool!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eabb553fc7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eabb553fc7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[LPM]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Good practice in data management: record as much as you can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Table with information about the files provided to attendees</a:t>
            </a: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da7a473460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da7a473460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[GAM]</a:t>
            </a: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eabb553fc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eabb553fc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[GAM]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d0d3bf5493_0_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d0d3bf5493_0_4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[GAM]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Update with the test site that will remove this button</a:t>
            </a:r>
            <a:endParaRPr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Add data access screenshot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d0d3bf5493_0_5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d0d3bf5493_0_5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[GAM]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da7a473460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da7a473460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[GAM]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fabb7965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fabb7965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[GAM]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f75926e2a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f75926e2a4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[GAM]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f75926e2a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f75926e2a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[GAM]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fabb7965a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fabb7965a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da7a47346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da7a473460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g3da7a473460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efd53029d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efd53029d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ec12605dd3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ec12605dd3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ec12605dd3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ec12605dd3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grey">
  <p:cSld name="Title_And_Elements_gre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7793831" y="4557712"/>
            <a:ext cx="1143000" cy="5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white">
  <p:cSld name="Title_and_elements_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Title - South Building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53567" y="0"/>
            <a:ext cx="4275376" cy="32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Cell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3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3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4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5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6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7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8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9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0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TRAINING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INDUSTRY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6" cy="328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_NoImage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3998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noImage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Staff_Association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6925" y="4118125"/>
            <a:ext cx="2091450" cy="727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grey ">
  <p:cSld name="Staff Association grey 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3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3" name="Google Shape;183;p23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5" name="Google Shape;185;p2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white">
  <p:cSld name="Staff Association whit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2" name="Google Shape;19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">
  <p:cSld name="Two Elements_gre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5"/>
          <p:cNvSpPr/>
          <p:nvPr/>
        </p:nvSpPr>
        <p:spPr>
          <a:xfrm>
            <a:off x="0" y="869951"/>
            <a:ext cx="9144000" cy="375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5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white">
  <p:cSld name="Two Elements_whi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2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Elements_grey_green">
  <p:cSld name="Two_Elements_grey_green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7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1" name="Google Shape;211;p27"/>
          <p:cNvSpPr txBox="1">
            <a:spLocks noGrp="1"/>
          </p:cNvSpPr>
          <p:nvPr>
            <p:ph type="body" idx="1"/>
          </p:nvPr>
        </p:nvSpPr>
        <p:spPr>
          <a:xfrm>
            <a:off x="1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27"/>
          <p:cNvSpPr txBox="1">
            <a:spLocks noGrp="1"/>
          </p:cNvSpPr>
          <p:nvPr>
            <p:ph type="body" idx="2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4" name="Google Shape;214;p2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_green_right">
  <p:cSld name="Two Elements_grey_green_right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8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9" name="Google Shape;219;p28"/>
          <p:cNvSpPr txBox="1">
            <a:spLocks noGrp="1"/>
          </p:cNvSpPr>
          <p:nvPr>
            <p:ph type="body" idx="1"/>
          </p:nvPr>
        </p:nvSpPr>
        <p:spPr>
          <a:xfrm>
            <a:off x="5988844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y_green_right">
  <p:cSld name="Three Elements_grey_green_righ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9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1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dark_grey">
  <p:cSld name="Three Elements_dark_grey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36" name="Google Shape;236;p30"/>
          <p:cNvSpPr txBox="1">
            <a:spLocks noGrp="1"/>
          </p:cNvSpPr>
          <p:nvPr>
            <p:ph type="body" idx="1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body" idx="2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en_left_grey">
  <p:cSld name="Three Elements_green_left_gre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45" name="Google Shape;245;p31"/>
          <p:cNvSpPr txBox="1">
            <a:spLocks noGrp="1"/>
          </p:cNvSpPr>
          <p:nvPr>
            <p:ph type="body" idx="1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2"/>
          </p:nvPr>
        </p:nvSpPr>
        <p:spPr>
          <a:xfrm>
            <a:off x="79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body" idx="3"/>
          </p:nvPr>
        </p:nvSpPr>
        <p:spPr>
          <a:xfrm>
            <a:off x="794" y="2757758"/>
            <a:ext cx="3155100" cy="185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Elements_green">
  <p:cSld name="Six Elements_green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>
            <a:spLocks noGrp="1"/>
          </p:cNvSpPr>
          <p:nvPr>
            <p:ph type="pic" idx="2"/>
          </p:nvPr>
        </p:nvSpPr>
        <p:spPr>
          <a:xfrm>
            <a:off x="61038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2"/>
          <p:cNvSpPr>
            <a:spLocks noGrp="1"/>
          </p:cNvSpPr>
          <p:nvPr>
            <p:ph type="pic" idx="3"/>
          </p:nvPr>
        </p:nvSpPr>
        <p:spPr>
          <a:xfrm>
            <a:off x="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2"/>
          <p:cNvSpPr>
            <a:spLocks noGrp="1"/>
          </p:cNvSpPr>
          <p:nvPr>
            <p:ph type="pic" idx="4"/>
          </p:nvPr>
        </p:nvSpPr>
        <p:spPr>
          <a:xfrm>
            <a:off x="30519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32"/>
          <p:cNvSpPr txBox="1">
            <a:spLocks noGrp="1"/>
          </p:cNvSpPr>
          <p:nvPr>
            <p:ph type="body" idx="1"/>
          </p:nvPr>
        </p:nvSpPr>
        <p:spPr>
          <a:xfrm>
            <a:off x="6103144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body" idx="5"/>
          </p:nvPr>
        </p:nvSpPr>
        <p:spPr>
          <a:xfrm>
            <a:off x="1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body" idx="6"/>
          </p:nvPr>
        </p:nvSpPr>
        <p:spPr>
          <a:xfrm>
            <a:off x="3051573" y="2746675"/>
            <a:ext cx="3040800" cy="186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59" name="Google Shape;259;p32"/>
          <p:cNvCxnSpPr/>
          <p:nvPr/>
        </p:nvCxnSpPr>
        <p:spPr>
          <a:xfrm>
            <a:off x="3051573" y="2736057"/>
            <a:ext cx="0" cy="1907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0" name="Google Shape;260;p32"/>
          <p:cNvCxnSpPr/>
          <p:nvPr/>
        </p:nvCxnSpPr>
        <p:spPr>
          <a:xfrm>
            <a:off x="6097513" y="2736057"/>
            <a:ext cx="0" cy="19074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1" name="Google Shape;261;p3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en">
  <p:cSld name="Eight Elements_green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3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3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3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33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74" name="Google Shape;274;p33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5" name="Google Shape;275;p33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6" name="Google Shape;276;p33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7" name="Google Shape;277;p3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8" name="Google Shape;278;p3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y">
  <p:cSld name="Eight Elements_grey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4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34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34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4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4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34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90" name="Google Shape;290;p34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1" name="Google Shape;291;p34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2" name="Google Shape;292;p34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3" name="Google Shape;293;p3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4" name="Google Shape;294;p3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with_Footer">
  <p:cSld name="Blank_with_Footer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85">
          <p15:clr>
            <a:srgbClr val="FBAE40"/>
          </p15:clr>
        </p15:guide>
        <p15:guide id="2" pos="2160">
          <p15:clr>
            <a:srgbClr val="FBAE40"/>
          </p15:clr>
        </p15:guide>
        <p15:guide id="3" orient="horz" pos="1964">
          <p15:clr>
            <a:srgbClr val="FBAE40"/>
          </p15:clr>
        </p15:guide>
        <p15:guide id="4" orient="horz" pos="1742">
          <p15:clr>
            <a:srgbClr val="FBAE40"/>
          </p15:clr>
        </p15:guide>
        <p15:guide id="5" orient="horz" pos="1521">
          <p15:clr>
            <a:srgbClr val="FBAE40"/>
          </p15:clr>
        </p15:guide>
        <p15:guide id="6" orient="horz" pos="1300">
          <p15:clr>
            <a:srgbClr val="FBAE40"/>
          </p15:clr>
        </p15:guide>
        <p15:guide id="7" orient="horz" pos="1079">
          <p15:clr>
            <a:srgbClr val="FBAE40"/>
          </p15:clr>
        </p15:guide>
        <p15:guide id="8" orient="horz" pos="858">
          <p15:clr>
            <a:srgbClr val="FBAE40"/>
          </p15:clr>
        </p15:guide>
        <p15:guide id="9" orient="horz" pos="637">
          <p15:clr>
            <a:srgbClr val="FBAE40"/>
          </p15:clr>
        </p15:guide>
        <p15:guide id="10" orient="horz" pos="411">
          <p15:clr>
            <a:srgbClr val="FBAE40"/>
          </p15:clr>
        </p15:guide>
        <p15:guide id="11" orient="horz" pos="194">
          <p15:clr>
            <a:srgbClr val="FBAE40"/>
          </p15:clr>
        </p15:guide>
        <p15:guide id="12" pos="2381">
          <p15:clr>
            <a:srgbClr val="FBAE40"/>
          </p15:clr>
        </p15:guide>
        <p15:guide id="13" pos="2603">
          <p15:clr>
            <a:srgbClr val="FBAE40"/>
          </p15:clr>
        </p15:guide>
        <p15:guide id="14" pos="2824">
          <p15:clr>
            <a:srgbClr val="FBAE40"/>
          </p15:clr>
        </p15:guide>
        <p15:guide id="15" pos="3044">
          <p15:clr>
            <a:srgbClr val="FBAE40"/>
          </p15:clr>
        </p15:guide>
        <p15:guide id="16" pos="3266">
          <p15:clr>
            <a:srgbClr val="FBAE40"/>
          </p15:clr>
        </p15:guide>
        <p15:guide id="17" pos="3487">
          <p15:clr>
            <a:srgbClr val="FBAE40"/>
          </p15:clr>
        </p15:guide>
        <p15:guide id="18" pos="3708">
          <p15:clr>
            <a:srgbClr val="FBAE40"/>
          </p15:clr>
        </p15:guide>
        <p15:guide id="19" pos="3929">
          <p15:clr>
            <a:srgbClr val="FBAE40"/>
          </p15:clr>
        </p15:guide>
        <p15:guide id="20" pos="4151">
          <p15:clr>
            <a:srgbClr val="FBAE40"/>
          </p15:clr>
        </p15:guide>
        <p15:guide id="21" pos="1939">
          <p15:clr>
            <a:srgbClr val="FBAE40"/>
          </p15:clr>
        </p15:guide>
        <p15:guide id="22" pos="1718">
          <p15:clr>
            <a:srgbClr val="FBAE40"/>
          </p15:clr>
        </p15:guide>
        <p15:guide id="23" pos="1496">
          <p15:clr>
            <a:srgbClr val="FBAE40"/>
          </p15:clr>
        </p15:guide>
        <p15:guide id="24" pos="1276">
          <p15:clr>
            <a:srgbClr val="FBAE40"/>
          </p15:clr>
        </p15:guide>
        <p15:guide id="25" pos="1055">
          <p15:clr>
            <a:srgbClr val="FBAE40"/>
          </p15:clr>
        </p15:guide>
        <p15:guide id="26" pos="833">
          <p15:clr>
            <a:srgbClr val="FBAE40"/>
          </p15:clr>
        </p15:guide>
        <p15:guide id="27" pos="612">
          <p15:clr>
            <a:srgbClr val="FBAE40"/>
          </p15:clr>
        </p15:guide>
        <p15:guide id="28" pos="391">
          <p15:clr>
            <a:srgbClr val="FBAE40"/>
          </p15:clr>
        </p15:guide>
        <p15:guide id="29" pos="17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individual_image">
  <p:cSld name="Divider_individual_image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>
            <a:spLocks noGrp="1"/>
          </p:cNvSpPr>
          <p:nvPr>
            <p:ph type="pic" idx="2"/>
          </p:nvPr>
        </p:nvSpPr>
        <p:spPr>
          <a:xfrm>
            <a:off x="0" y="2"/>
            <a:ext cx="9144000" cy="46233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36"/>
          <p:cNvSpPr txBox="1">
            <a:spLocks noGrp="1"/>
          </p:cNvSpPr>
          <p:nvPr>
            <p:ph type="title"/>
          </p:nvPr>
        </p:nvSpPr>
        <p:spPr>
          <a:xfrm>
            <a:off x="0" y="1112941"/>
            <a:ext cx="7527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6"/>
          <p:cNvSpPr txBox="1">
            <a:spLocks noGrp="1"/>
          </p:cNvSpPr>
          <p:nvPr>
            <p:ph type="body" idx="1"/>
          </p:nvPr>
        </p:nvSpPr>
        <p:spPr>
          <a:xfrm>
            <a:off x="0" y="1638301"/>
            <a:ext cx="75354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3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5" name="Google Shape;305;p3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2">
  <p:cSld name="Section Headline_2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1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7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7"/>
          <p:cNvSpPr txBox="1">
            <a:spLocks noGrp="1"/>
          </p:cNvSpPr>
          <p:nvPr>
            <p:ph type="body" idx="2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3">
  <p:cSld name="Section Headline_3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"/>
            <a:ext cx="9143998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29804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8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38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4">
  <p:cSld name="Section Headline_4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39"/>
          <p:cNvSpPr txBox="1">
            <a:spLocks noGrp="1"/>
          </p:cNvSpPr>
          <p:nvPr>
            <p:ph type="body" idx="1"/>
          </p:nvPr>
        </p:nvSpPr>
        <p:spPr>
          <a:xfrm>
            <a:off x="1298972" y="88423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39"/>
          <p:cNvSpPr txBox="1">
            <a:spLocks noGrp="1"/>
          </p:cNvSpPr>
          <p:nvPr>
            <p:ph type="body" idx="3"/>
          </p:nvPr>
        </p:nvSpPr>
        <p:spPr>
          <a:xfrm>
            <a:off x="2230472" y="88423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5">
  <p:cSld name="Section Headline_5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0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40"/>
          <p:cNvSpPr txBox="1">
            <a:spLocks noGrp="1"/>
          </p:cNvSpPr>
          <p:nvPr>
            <p:ph type="body" idx="3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41"/>
          <p:cNvCxnSpPr/>
          <p:nvPr/>
        </p:nvCxnSpPr>
        <p:spPr>
          <a:xfrm rot="10800000">
            <a:off x="-8" y="2749548"/>
            <a:ext cx="609600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8" name="Google Shape;328;p4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41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3773100"/>
          </a:xfrm>
          <a:prstGeom prst="rect">
            <a:avLst/>
          </a:prstGeom>
          <a:solidFill>
            <a:srgbClr val="C4C7C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41"/>
          <p:cNvSpPr txBox="1">
            <a:spLocks noGrp="1"/>
          </p:cNvSpPr>
          <p:nvPr>
            <p:ph type="body" idx="2"/>
          </p:nvPr>
        </p:nvSpPr>
        <p:spPr>
          <a:xfrm>
            <a:off x="-18510" y="2759927"/>
            <a:ext cx="5981100" cy="18834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41"/>
          <p:cNvSpPr txBox="1">
            <a:spLocks noGrp="1"/>
          </p:cNvSpPr>
          <p:nvPr>
            <p:ph type="body" idx="3"/>
          </p:nvPr>
        </p:nvSpPr>
        <p:spPr>
          <a:xfrm>
            <a:off x="-18510" y="870348"/>
            <a:ext cx="5981100" cy="187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4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3" name="Google Shape;333;p4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4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 layout 2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/>
        </p:nvSpPr>
        <p:spPr>
          <a:xfrm>
            <a:off x="0" y="870348"/>
            <a:ext cx="9144000" cy="375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37" name="Google Shape;337;p42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42"/>
          <p:cNvSpPr txBox="1">
            <a:spLocks noGrp="1"/>
          </p:cNvSpPr>
          <p:nvPr>
            <p:ph type="body" idx="2"/>
          </p:nvPr>
        </p:nvSpPr>
        <p:spPr>
          <a:xfrm>
            <a:off x="5962650" y="1810044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9" name="Google Shape;339;p42"/>
          <p:cNvSpPr txBox="1">
            <a:spLocks noGrp="1"/>
          </p:cNvSpPr>
          <p:nvPr>
            <p:ph type="body" idx="3"/>
          </p:nvPr>
        </p:nvSpPr>
        <p:spPr>
          <a:xfrm>
            <a:off x="5962650" y="2749740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0" name="Google Shape;340;p42"/>
          <p:cNvSpPr txBox="1">
            <a:spLocks noGrp="1"/>
          </p:cNvSpPr>
          <p:nvPr>
            <p:ph type="body" idx="4"/>
          </p:nvPr>
        </p:nvSpPr>
        <p:spPr>
          <a:xfrm>
            <a:off x="5962650" y="3689436"/>
            <a:ext cx="3181200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 layout 3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/>
          <p:nvPr/>
        </p:nvSpPr>
        <p:spPr>
          <a:xfrm>
            <a:off x="0" y="2764154"/>
            <a:ext cx="9144000" cy="18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3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3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3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3"/>
          <p:cNvSpPr txBox="1">
            <a:spLocks noGrp="1"/>
          </p:cNvSpPr>
          <p:nvPr>
            <p:ph type="body" idx="1"/>
          </p:nvPr>
        </p:nvSpPr>
        <p:spPr>
          <a:xfrm>
            <a:off x="-1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43"/>
          <p:cNvSpPr txBox="1">
            <a:spLocks noGrp="1"/>
          </p:cNvSpPr>
          <p:nvPr>
            <p:ph type="body" idx="5"/>
          </p:nvPr>
        </p:nvSpPr>
        <p:spPr>
          <a:xfrm>
            <a:off x="6095976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3" name="Google Shape;353;p43"/>
          <p:cNvSpPr txBox="1">
            <a:spLocks noGrp="1"/>
          </p:cNvSpPr>
          <p:nvPr>
            <p:ph type="body" idx="6"/>
          </p:nvPr>
        </p:nvSpPr>
        <p:spPr>
          <a:xfrm>
            <a:off x="-1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4" name="Google Shape;354;p43"/>
          <p:cNvSpPr txBox="1">
            <a:spLocks noGrp="1"/>
          </p:cNvSpPr>
          <p:nvPr>
            <p:ph type="body" idx="7"/>
          </p:nvPr>
        </p:nvSpPr>
        <p:spPr>
          <a:xfrm>
            <a:off x="3047987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5" name="Google Shape;355;p43"/>
          <p:cNvSpPr txBox="1">
            <a:spLocks noGrp="1"/>
          </p:cNvSpPr>
          <p:nvPr>
            <p:ph type="body" idx="8"/>
          </p:nvPr>
        </p:nvSpPr>
        <p:spPr>
          <a:xfrm>
            <a:off x="6095976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body" idx="9"/>
          </p:nvPr>
        </p:nvSpPr>
        <p:spPr>
          <a:xfrm>
            <a:off x="3063239" y="2764154"/>
            <a:ext cx="3048000" cy="1980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7" name="Google Shape;357;p4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8" name="Google Shape;358;p4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4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 layout 6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44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4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44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44"/>
          <p:cNvSpPr txBox="1">
            <a:spLocks noGrp="1"/>
          </p:cNvSpPr>
          <p:nvPr>
            <p:ph type="body" idx="1"/>
          </p:nvPr>
        </p:nvSpPr>
        <p:spPr>
          <a:xfrm>
            <a:off x="-1" y="2764153"/>
            <a:ext cx="30480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6" name="Google Shape;366;p44"/>
          <p:cNvSpPr txBox="1">
            <a:spLocks noGrp="1"/>
          </p:cNvSpPr>
          <p:nvPr>
            <p:ph type="body" idx="5"/>
          </p:nvPr>
        </p:nvSpPr>
        <p:spPr>
          <a:xfrm>
            <a:off x="3048004" y="2764153"/>
            <a:ext cx="3048000" cy="45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44"/>
          <p:cNvSpPr txBox="1">
            <a:spLocks noGrp="1"/>
          </p:cNvSpPr>
          <p:nvPr>
            <p:ph type="body" idx="6"/>
          </p:nvPr>
        </p:nvSpPr>
        <p:spPr>
          <a:xfrm>
            <a:off x="-1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8" name="Google Shape;368;p44"/>
          <p:cNvSpPr txBox="1">
            <a:spLocks noGrp="1"/>
          </p:cNvSpPr>
          <p:nvPr>
            <p:ph type="body" idx="7"/>
          </p:nvPr>
        </p:nvSpPr>
        <p:spPr>
          <a:xfrm>
            <a:off x="6095993" y="2764153"/>
            <a:ext cx="3048000" cy="45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44"/>
          <p:cNvSpPr txBox="1">
            <a:spLocks noGrp="1"/>
          </p:cNvSpPr>
          <p:nvPr>
            <p:ph type="body" idx="8"/>
          </p:nvPr>
        </p:nvSpPr>
        <p:spPr>
          <a:xfrm>
            <a:off x="6095993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0" name="Google Shape;370;p44"/>
          <p:cNvSpPr txBox="1">
            <a:spLocks noGrp="1"/>
          </p:cNvSpPr>
          <p:nvPr>
            <p:ph type="body" idx="9"/>
          </p:nvPr>
        </p:nvSpPr>
        <p:spPr>
          <a:xfrm>
            <a:off x="3048004" y="3219449"/>
            <a:ext cx="3048000" cy="144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4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2" name="Google Shape;372;p4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4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 layout 7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5"/>
          <p:cNvSpPr txBox="1">
            <a:spLocks noGrp="1"/>
          </p:cNvSpPr>
          <p:nvPr>
            <p:ph type="body" idx="1"/>
          </p:nvPr>
        </p:nvSpPr>
        <p:spPr>
          <a:xfrm>
            <a:off x="5976156" y="1356109"/>
            <a:ext cx="3167700" cy="23229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6" name="Google Shape;376;p4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45"/>
          <p:cNvSpPr txBox="1">
            <a:spLocks noGrp="1"/>
          </p:cNvSpPr>
          <p:nvPr>
            <p:ph type="body" idx="2"/>
          </p:nvPr>
        </p:nvSpPr>
        <p:spPr>
          <a:xfrm>
            <a:off x="1" y="3687365"/>
            <a:ext cx="5976900" cy="94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8" name="Google Shape;378;p45"/>
          <p:cNvSpPr txBox="1">
            <a:spLocks noGrp="1"/>
          </p:cNvSpPr>
          <p:nvPr>
            <p:ph type="body" idx="3"/>
          </p:nvPr>
        </p:nvSpPr>
        <p:spPr>
          <a:xfrm>
            <a:off x="5976902" y="3687366"/>
            <a:ext cx="3167100" cy="94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9" name="Google Shape;379;p45"/>
          <p:cNvSpPr txBox="1">
            <a:spLocks noGrp="1"/>
          </p:cNvSpPr>
          <p:nvPr>
            <p:ph type="body" idx="4"/>
          </p:nvPr>
        </p:nvSpPr>
        <p:spPr>
          <a:xfrm>
            <a:off x="0" y="1338146"/>
            <a:ext cx="5962800" cy="23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0" name="Google Shape;380;p45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44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1" name="Google Shape;381;p4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2" name="Google Shape;382;p4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4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8">
  <p:cSld name="custom layout 8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86" name="Google Shape;386;p46"/>
          <p:cNvCxnSpPr/>
          <p:nvPr/>
        </p:nvCxnSpPr>
        <p:spPr>
          <a:xfrm>
            <a:off x="-1" y="868209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C4C7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7" name="Google Shape;387;p46"/>
          <p:cNvSpPr txBox="1">
            <a:spLocks noGrp="1"/>
          </p:cNvSpPr>
          <p:nvPr>
            <p:ph type="body" idx="1"/>
          </p:nvPr>
        </p:nvSpPr>
        <p:spPr>
          <a:xfrm>
            <a:off x="0" y="4156473"/>
            <a:ext cx="9144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8" name="Google Shape;388;p46"/>
          <p:cNvSpPr>
            <a:spLocks noGrp="1"/>
          </p:cNvSpPr>
          <p:nvPr>
            <p:ph type="pic" idx="2"/>
          </p:nvPr>
        </p:nvSpPr>
        <p:spPr>
          <a:xfrm>
            <a:off x="-1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46"/>
          <p:cNvSpPr>
            <a:spLocks noGrp="1"/>
          </p:cNvSpPr>
          <p:nvPr>
            <p:ph type="pic" idx="3"/>
          </p:nvPr>
        </p:nvSpPr>
        <p:spPr>
          <a:xfrm>
            <a:off x="6096004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46"/>
          <p:cNvSpPr txBox="1">
            <a:spLocks noGrp="1"/>
          </p:cNvSpPr>
          <p:nvPr>
            <p:ph type="body" idx="4"/>
          </p:nvPr>
        </p:nvSpPr>
        <p:spPr>
          <a:xfrm>
            <a:off x="3048004" y="876301"/>
            <a:ext cx="3048000" cy="3286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1" name="Google Shape;391;p4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2" name="Google Shape;392;p4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4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9">
  <p:cSld name="custom layout 9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47"/>
          <p:cNvSpPr>
            <a:spLocks noGrp="1"/>
          </p:cNvSpPr>
          <p:nvPr>
            <p:ph type="pic" idx="2"/>
          </p:nvPr>
        </p:nvSpPr>
        <p:spPr>
          <a:xfrm>
            <a:off x="6096004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47"/>
          <p:cNvSpPr>
            <a:spLocks noGrp="1"/>
          </p:cNvSpPr>
          <p:nvPr>
            <p:ph type="pic" idx="3"/>
          </p:nvPr>
        </p:nvSpPr>
        <p:spPr>
          <a:xfrm>
            <a:off x="6096004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7"/>
          <p:cNvSpPr>
            <a:spLocks noGrp="1"/>
          </p:cNvSpPr>
          <p:nvPr>
            <p:ph type="pic" idx="4"/>
          </p:nvPr>
        </p:nvSpPr>
        <p:spPr>
          <a:xfrm>
            <a:off x="3048008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7"/>
          <p:cNvSpPr>
            <a:spLocks noGrp="1"/>
          </p:cNvSpPr>
          <p:nvPr>
            <p:ph type="pic" idx="5"/>
          </p:nvPr>
        </p:nvSpPr>
        <p:spPr>
          <a:xfrm>
            <a:off x="3048008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47"/>
          <p:cNvSpPr txBox="1">
            <a:spLocks noGrp="1"/>
          </p:cNvSpPr>
          <p:nvPr>
            <p:ph type="body" idx="1"/>
          </p:nvPr>
        </p:nvSpPr>
        <p:spPr>
          <a:xfrm>
            <a:off x="-12" y="2751534"/>
            <a:ext cx="15240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1" name="Google Shape;401;p47"/>
          <p:cNvSpPr txBox="1">
            <a:spLocks noGrp="1"/>
          </p:cNvSpPr>
          <p:nvPr>
            <p:ph type="body" idx="6"/>
          </p:nvPr>
        </p:nvSpPr>
        <p:spPr>
          <a:xfrm>
            <a:off x="-1" y="879475"/>
            <a:ext cx="3048000" cy="468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2" name="Google Shape;402;p47"/>
          <p:cNvSpPr txBox="1">
            <a:spLocks noGrp="1"/>
          </p:cNvSpPr>
          <p:nvPr>
            <p:ph type="body" idx="7"/>
          </p:nvPr>
        </p:nvSpPr>
        <p:spPr>
          <a:xfrm>
            <a:off x="-1" y="1348781"/>
            <a:ext cx="3048000" cy="700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3" name="Google Shape;403;p47"/>
          <p:cNvSpPr txBox="1">
            <a:spLocks noGrp="1"/>
          </p:cNvSpPr>
          <p:nvPr>
            <p:ph type="body" idx="8"/>
          </p:nvPr>
        </p:nvSpPr>
        <p:spPr>
          <a:xfrm>
            <a:off x="-1" y="2049656"/>
            <a:ext cx="3048000" cy="6975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4" name="Google Shape;404;p47"/>
          <p:cNvSpPr txBox="1">
            <a:spLocks noGrp="1"/>
          </p:cNvSpPr>
          <p:nvPr>
            <p:ph type="body" idx="9"/>
          </p:nvPr>
        </p:nvSpPr>
        <p:spPr>
          <a:xfrm>
            <a:off x="1523999" y="2751534"/>
            <a:ext cx="1524000" cy="18720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5" name="Google Shape;405;p4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6" name="Google Shape;406;p4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4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0">
  <p:cSld name="custom layout 10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8"/>
          <p:cNvSpPr txBox="1">
            <a:spLocks noGrp="1"/>
          </p:cNvSpPr>
          <p:nvPr>
            <p:ph type="body" idx="1"/>
          </p:nvPr>
        </p:nvSpPr>
        <p:spPr>
          <a:xfrm>
            <a:off x="6857775" y="870347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body" idx="2"/>
          </p:nvPr>
        </p:nvSpPr>
        <p:spPr>
          <a:xfrm>
            <a:off x="6857775" y="2119209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body" idx="3"/>
          </p:nvPr>
        </p:nvSpPr>
        <p:spPr>
          <a:xfrm>
            <a:off x="6857775" y="3368072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4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48"/>
          <p:cNvSpPr>
            <a:spLocks noGrp="1"/>
          </p:cNvSpPr>
          <p:nvPr>
            <p:ph type="pic" idx="4"/>
          </p:nvPr>
        </p:nvSpPr>
        <p:spPr>
          <a:xfrm>
            <a:off x="0" y="879476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8"/>
          <p:cNvSpPr>
            <a:spLocks noGrp="1"/>
          </p:cNvSpPr>
          <p:nvPr>
            <p:ph type="pic" idx="5"/>
          </p:nvPr>
        </p:nvSpPr>
        <p:spPr>
          <a:xfrm>
            <a:off x="4571960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48"/>
          <p:cNvSpPr txBox="1">
            <a:spLocks noGrp="1"/>
          </p:cNvSpPr>
          <p:nvPr>
            <p:ph type="body" idx="6"/>
          </p:nvPr>
        </p:nvSpPr>
        <p:spPr>
          <a:xfrm>
            <a:off x="-1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6" name="Google Shape;416;p48"/>
          <p:cNvSpPr txBox="1">
            <a:spLocks noGrp="1"/>
          </p:cNvSpPr>
          <p:nvPr>
            <p:ph type="body" idx="7"/>
          </p:nvPr>
        </p:nvSpPr>
        <p:spPr>
          <a:xfrm>
            <a:off x="4571888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7" name="Google Shape;417;p48"/>
          <p:cNvSpPr>
            <a:spLocks noGrp="1"/>
          </p:cNvSpPr>
          <p:nvPr>
            <p:ph type="pic" idx="8"/>
          </p:nvPr>
        </p:nvSpPr>
        <p:spPr>
          <a:xfrm>
            <a:off x="2285811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8"/>
          <p:cNvSpPr txBox="1">
            <a:spLocks noGrp="1"/>
          </p:cNvSpPr>
          <p:nvPr>
            <p:ph type="body" idx="9"/>
          </p:nvPr>
        </p:nvSpPr>
        <p:spPr>
          <a:xfrm>
            <a:off x="2285811" y="4156472"/>
            <a:ext cx="2286000" cy="4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419" name="Google Shape;419;p48"/>
          <p:cNvCxnSpPr/>
          <p:nvPr/>
        </p:nvCxnSpPr>
        <p:spPr>
          <a:xfrm>
            <a:off x="6857775" y="2119209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0" name="Google Shape;420;p48"/>
          <p:cNvCxnSpPr/>
          <p:nvPr/>
        </p:nvCxnSpPr>
        <p:spPr>
          <a:xfrm>
            <a:off x="6857775" y="3371937"/>
            <a:ext cx="2286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1" name="Google Shape;421;p4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2" name="Google Shape;422;p4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4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1">
  <p:cSld name="custom layout 1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9"/>
          <p:cNvSpPr txBox="1">
            <a:spLocks noGrp="1"/>
          </p:cNvSpPr>
          <p:nvPr>
            <p:ph type="body" idx="1"/>
          </p:nvPr>
        </p:nvSpPr>
        <p:spPr>
          <a:xfrm>
            <a:off x="6443663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6" name="Google Shape;426;p49"/>
          <p:cNvSpPr txBox="1">
            <a:spLocks noGrp="1"/>
          </p:cNvSpPr>
          <p:nvPr>
            <p:ph type="body" idx="2"/>
          </p:nvPr>
        </p:nvSpPr>
        <p:spPr>
          <a:xfrm>
            <a:off x="6443663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7" name="Google Shape;427;p49"/>
          <p:cNvSpPr txBox="1">
            <a:spLocks noGrp="1"/>
          </p:cNvSpPr>
          <p:nvPr>
            <p:ph type="body" idx="3"/>
          </p:nvPr>
        </p:nvSpPr>
        <p:spPr>
          <a:xfrm>
            <a:off x="6443663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8" name="Google Shape;428;p49"/>
          <p:cNvSpPr txBox="1">
            <a:spLocks noGrp="1"/>
          </p:cNvSpPr>
          <p:nvPr>
            <p:ph type="body" idx="4"/>
          </p:nvPr>
        </p:nvSpPr>
        <p:spPr>
          <a:xfrm>
            <a:off x="0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9" name="Google Shape;429;p49"/>
          <p:cNvSpPr txBox="1">
            <a:spLocks noGrp="1"/>
          </p:cNvSpPr>
          <p:nvPr>
            <p:ph type="body" idx="5"/>
          </p:nvPr>
        </p:nvSpPr>
        <p:spPr>
          <a:xfrm>
            <a:off x="0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p49"/>
          <p:cNvSpPr txBox="1">
            <a:spLocks noGrp="1"/>
          </p:cNvSpPr>
          <p:nvPr>
            <p:ph type="body" idx="6"/>
          </p:nvPr>
        </p:nvSpPr>
        <p:spPr>
          <a:xfrm>
            <a:off x="0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1" name="Google Shape;431;p4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49"/>
          <p:cNvSpPr>
            <a:spLocks noGrp="1"/>
          </p:cNvSpPr>
          <p:nvPr>
            <p:ph type="pic" idx="7"/>
          </p:nvPr>
        </p:nvSpPr>
        <p:spPr>
          <a:xfrm>
            <a:off x="2700338" y="879475"/>
            <a:ext cx="3758100" cy="3744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33" name="Google Shape;433;p49"/>
          <p:cNvCxnSpPr/>
          <p:nvPr/>
        </p:nvCxnSpPr>
        <p:spPr>
          <a:xfrm>
            <a:off x="6443663" y="2119209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4" name="Google Shape;434;p49"/>
          <p:cNvCxnSpPr/>
          <p:nvPr/>
        </p:nvCxnSpPr>
        <p:spPr>
          <a:xfrm>
            <a:off x="6443663" y="3371937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5" name="Google Shape;435;p49"/>
          <p:cNvCxnSpPr/>
          <p:nvPr/>
        </p:nvCxnSpPr>
        <p:spPr>
          <a:xfrm>
            <a:off x="-2857" y="2119209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6" name="Google Shape;436;p49"/>
          <p:cNvCxnSpPr/>
          <p:nvPr/>
        </p:nvCxnSpPr>
        <p:spPr>
          <a:xfrm>
            <a:off x="-2857" y="3371937"/>
            <a:ext cx="27003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7" name="Google Shape;437;p4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8" name="Google Shape;438;p4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4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2">
  <p:cSld name="custom layout 12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"/>
          <p:cNvSpPr txBox="1">
            <a:spLocks noGrp="1"/>
          </p:cNvSpPr>
          <p:nvPr>
            <p:ph type="body" idx="1"/>
          </p:nvPr>
        </p:nvSpPr>
        <p:spPr>
          <a:xfrm>
            <a:off x="3047996" y="13477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2" name="Google Shape;442;p50"/>
          <p:cNvSpPr txBox="1">
            <a:spLocks noGrp="1"/>
          </p:cNvSpPr>
          <p:nvPr>
            <p:ph type="body" idx="2"/>
          </p:nvPr>
        </p:nvSpPr>
        <p:spPr>
          <a:xfrm>
            <a:off x="3047996" y="38052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3" name="Google Shape;443;p50"/>
          <p:cNvSpPr txBox="1">
            <a:spLocks noGrp="1"/>
          </p:cNvSpPr>
          <p:nvPr>
            <p:ph type="body" idx="3"/>
          </p:nvPr>
        </p:nvSpPr>
        <p:spPr>
          <a:xfrm>
            <a:off x="3047996" y="29860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4" name="Google Shape;444;p50"/>
          <p:cNvSpPr txBox="1">
            <a:spLocks noGrp="1"/>
          </p:cNvSpPr>
          <p:nvPr>
            <p:ph type="body" idx="4"/>
          </p:nvPr>
        </p:nvSpPr>
        <p:spPr>
          <a:xfrm>
            <a:off x="3047996" y="21669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5" name="Google Shape;445;p5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50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7" name="Google Shape;447;p50"/>
          <p:cNvSpPr>
            <a:spLocks noGrp="1"/>
          </p:cNvSpPr>
          <p:nvPr>
            <p:ph type="pic" idx="6"/>
          </p:nvPr>
        </p:nvSpPr>
        <p:spPr>
          <a:xfrm>
            <a:off x="-1" y="1347788"/>
            <a:ext cx="3048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0"/>
          <p:cNvSpPr>
            <a:spLocks noGrp="1"/>
          </p:cNvSpPr>
          <p:nvPr>
            <p:ph type="pic" idx="7"/>
          </p:nvPr>
        </p:nvSpPr>
        <p:spPr>
          <a:xfrm>
            <a:off x="6096004" y="1347787"/>
            <a:ext cx="3048000" cy="3276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49" name="Google Shape;449;p50"/>
          <p:cNvCxnSpPr/>
          <p:nvPr/>
        </p:nvCxnSpPr>
        <p:spPr>
          <a:xfrm>
            <a:off x="3047996" y="2137497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0" name="Google Shape;450;p50"/>
          <p:cNvCxnSpPr/>
          <p:nvPr/>
        </p:nvCxnSpPr>
        <p:spPr>
          <a:xfrm>
            <a:off x="3047996" y="298788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3047996" y="381084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2" name="Google Shape;452;p5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3" name="Google Shape;453;p5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4" name="Google Shape;454;p5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3">
  <p:cSld name="custom layout 13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51"/>
          <p:cNvSpPr>
            <a:spLocks noGrp="1"/>
          </p:cNvSpPr>
          <p:nvPr>
            <p:ph type="pic" idx="2"/>
          </p:nvPr>
        </p:nvSpPr>
        <p:spPr>
          <a:xfrm>
            <a:off x="5039917" y="879475"/>
            <a:ext cx="41040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1"/>
          <p:cNvSpPr txBox="1">
            <a:spLocks noGrp="1"/>
          </p:cNvSpPr>
          <p:nvPr>
            <p:ph type="body" idx="1"/>
          </p:nvPr>
        </p:nvSpPr>
        <p:spPr>
          <a:xfrm>
            <a:off x="1" y="879475"/>
            <a:ext cx="27003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9" name="Google Shape;459;p51"/>
          <p:cNvSpPr txBox="1">
            <a:spLocks noGrp="1"/>
          </p:cNvSpPr>
          <p:nvPr>
            <p:ph type="body" idx="3"/>
          </p:nvPr>
        </p:nvSpPr>
        <p:spPr>
          <a:xfrm>
            <a:off x="0" y="2752344"/>
            <a:ext cx="2700300" cy="187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0" name="Google Shape;460;p51"/>
          <p:cNvSpPr>
            <a:spLocks noGrp="1"/>
          </p:cNvSpPr>
          <p:nvPr>
            <p:ph type="pic" idx="4"/>
          </p:nvPr>
        </p:nvSpPr>
        <p:spPr>
          <a:xfrm>
            <a:off x="2700338" y="895692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1"/>
          <p:cNvSpPr>
            <a:spLocks noGrp="1"/>
          </p:cNvSpPr>
          <p:nvPr>
            <p:ph type="pic" idx="5"/>
          </p:nvPr>
        </p:nvSpPr>
        <p:spPr>
          <a:xfrm>
            <a:off x="2700338" y="2768544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3" name="Google Shape;463;p5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5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5">
  <p:cSld name="custom layout 15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52"/>
          <p:cNvSpPr txBox="1">
            <a:spLocks noGrp="1"/>
          </p:cNvSpPr>
          <p:nvPr>
            <p:ph type="body" idx="1"/>
          </p:nvPr>
        </p:nvSpPr>
        <p:spPr>
          <a:xfrm>
            <a:off x="1350169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8" name="Google Shape;468;p52"/>
          <p:cNvSpPr>
            <a:spLocks noGrp="1"/>
          </p:cNvSpPr>
          <p:nvPr>
            <p:ph type="pic" idx="2"/>
          </p:nvPr>
        </p:nvSpPr>
        <p:spPr>
          <a:xfrm>
            <a:off x="2700337" y="895696"/>
            <a:ext cx="3743400" cy="37287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 txBox="1">
            <a:spLocks noGrp="1"/>
          </p:cNvSpPr>
          <p:nvPr>
            <p:ph type="body" idx="3"/>
          </p:nvPr>
        </p:nvSpPr>
        <p:spPr>
          <a:xfrm>
            <a:off x="1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0" name="Google Shape;470;p52"/>
          <p:cNvSpPr txBox="1">
            <a:spLocks noGrp="1"/>
          </p:cNvSpPr>
          <p:nvPr>
            <p:ph type="body" idx="4"/>
          </p:nvPr>
        </p:nvSpPr>
        <p:spPr>
          <a:xfrm>
            <a:off x="1350169" y="2127784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1" name="Google Shape;471;p52"/>
          <p:cNvSpPr txBox="1">
            <a:spLocks noGrp="1"/>
          </p:cNvSpPr>
          <p:nvPr>
            <p:ph type="body" idx="5"/>
          </p:nvPr>
        </p:nvSpPr>
        <p:spPr>
          <a:xfrm>
            <a:off x="1" y="2127785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2" name="Google Shape;472;p52"/>
          <p:cNvSpPr txBox="1">
            <a:spLocks noGrp="1"/>
          </p:cNvSpPr>
          <p:nvPr>
            <p:ph type="body" idx="6"/>
          </p:nvPr>
        </p:nvSpPr>
        <p:spPr>
          <a:xfrm>
            <a:off x="1350169" y="3376088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3" name="Google Shape;473;p52"/>
          <p:cNvSpPr txBox="1">
            <a:spLocks noGrp="1"/>
          </p:cNvSpPr>
          <p:nvPr>
            <p:ph type="body" idx="7"/>
          </p:nvPr>
        </p:nvSpPr>
        <p:spPr>
          <a:xfrm>
            <a:off x="1" y="3376089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4" name="Google Shape;474;p52"/>
          <p:cNvSpPr txBox="1">
            <a:spLocks noGrp="1"/>
          </p:cNvSpPr>
          <p:nvPr>
            <p:ph type="body" idx="8"/>
          </p:nvPr>
        </p:nvSpPr>
        <p:spPr>
          <a:xfrm>
            <a:off x="779383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1200"/>
              <a:buChar char="•"/>
              <a:defRPr sz="1200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2000"/>
              <a:buNone/>
              <a:defRPr sz="2000"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75" name="Google Shape;475;p52"/>
          <p:cNvSpPr txBox="1">
            <a:spLocks noGrp="1"/>
          </p:cNvSpPr>
          <p:nvPr>
            <p:ph type="body" idx="9"/>
          </p:nvPr>
        </p:nvSpPr>
        <p:spPr>
          <a:xfrm>
            <a:off x="779383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6" name="Google Shape;476;p52"/>
          <p:cNvSpPr txBox="1">
            <a:spLocks noGrp="1"/>
          </p:cNvSpPr>
          <p:nvPr>
            <p:ph type="body" idx="13"/>
          </p:nvPr>
        </p:nvSpPr>
        <p:spPr>
          <a:xfrm>
            <a:off x="644366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7" name="Google Shape;477;p52"/>
          <p:cNvSpPr txBox="1">
            <a:spLocks noGrp="1"/>
          </p:cNvSpPr>
          <p:nvPr>
            <p:ph type="body" idx="14"/>
          </p:nvPr>
        </p:nvSpPr>
        <p:spPr>
          <a:xfrm>
            <a:off x="644366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8" name="Google Shape;478;p5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9" name="Google Shape;479;p5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5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6">
  <p:cSld name="custom layout 16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53"/>
          <p:cNvSpPr>
            <a:spLocks noGrp="1"/>
          </p:cNvSpPr>
          <p:nvPr>
            <p:ph type="pic" idx="2"/>
          </p:nvPr>
        </p:nvSpPr>
        <p:spPr>
          <a:xfrm>
            <a:off x="5962650" y="898538"/>
            <a:ext cx="31815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53"/>
          <p:cNvSpPr txBox="1">
            <a:spLocks noGrp="1"/>
          </p:cNvSpPr>
          <p:nvPr>
            <p:ph type="body" idx="1"/>
          </p:nvPr>
        </p:nvSpPr>
        <p:spPr>
          <a:xfrm>
            <a:off x="0" y="898538"/>
            <a:ext cx="40851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Medium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5" name="Google Shape;485;p53"/>
          <p:cNvSpPr txBox="1">
            <a:spLocks noGrp="1"/>
          </p:cNvSpPr>
          <p:nvPr>
            <p:ph type="body" idx="3"/>
          </p:nvPr>
        </p:nvSpPr>
        <p:spPr>
          <a:xfrm>
            <a:off x="0" y="1364457"/>
            <a:ext cx="4081800" cy="32790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6" name="Google Shape;486;p53"/>
          <p:cNvSpPr txBox="1">
            <a:spLocks noGrp="1"/>
          </p:cNvSpPr>
          <p:nvPr>
            <p:ph type="body" idx="4"/>
          </p:nvPr>
        </p:nvSpPr>
        <p:spPr>
          <a:xfrm>
            <a:off x="4104252" y="898538"/>
            <a:ext cx="1856100" cy="18675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7" name="Google Shape;487;p53"/>
          <p:cNvSpPr txBox="1">
            <a:spLocks noGrp="1"/>
          </p:cNvSpPr>
          <p:nvPr>
            <p:ph type="body" idx="5"/>
          </p:nvPr>
        </p:nvSpPr>
        <p:spPr>
          <a:xfrm>
            <a:off x="4104252" y="2788920"/>
            <a:ext cx="1856100" cy="18546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8" name="Google Shape;488;p5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9" name="Google Shape;489;p5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5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3" name="Google Shape;493;p5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4" name="Google Shape;49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7883544" y="4733778"/>
            <a:ext cx="928177" cy="2858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13">
          <p15:clr>
            <a:srgbClr val="F26B43"/>
          </p15:clr>
        </p15:guide>
        <p15:guide id="4" pos="5537">
          <p15:clr>
            <a:srgbClr val="F26B43"/>
          </p15:clr>
        </p15:guide>
        <p15:guide id="5" orient="horz" pos="170">
          <p15:clr>
            <a:srgbClr val="F26B43"/>
          </p15:clr>
        </p15:guide>
        <p15:guide id="6" orient="horz" pos="2925">
          <p15:clr>
            <a:srgbClr val="F26B43"/>
          </p15:clr>
        </p15:guide>
        <p15:guide id="7" pos="1988">
          <p15:clr>
            <a:srgbClr val="F26B43"/>
          </p15:clr>
        </p15:guide>
        <p15:guide id="8" pos="37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mVkZjRlNTU4LTE0MzEtNDdkNy1hNTRmLTg0NGZlMjg0MmFhOSIsInByZXNlbnRhdGlvbklkIjoiMXFXUzhza09tMm9qS1JJY2VMOEtIM0twRHNiYlFfMnk3UERiNXdxT0FPbFkiLCJzbGlkZUlkIjoiU0xJREVTX0FQSTk1NDEyMDE1OV8wIiwidGltZWxpbmUiOlt7InNob3dSZXN1bHRzIjp0cnVlLCJwb2xsUXVlc3Rpb25VdWlkIjoiYTEwNDExYWMtYzhiYy00MzY0LWI5MDAtODVjNjY0YTg3YmExIn1dLCJ0eXBlIjoiU2xpZG9Qb2xs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4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23.png"/><Relationship Id="rId4" Type="http://schemas.openxmlformats.org/officeDocument/2006/relationships/hyperlink" Target="https://www.sli.do/features-google-slides?interaction-type=TXVsdGlwbGVDaG9pY2U%3D" TargetMode="External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jcyMjNmZDY1LWU3YzEtNDFmNy1iNWUzLTI1OGNmYjhjOGUwYiIsInByZXNlbnRhdGlvbklkIjoiMXFXUzhza09tMm9qS1JJY2VMOEtIM0twRHNiYlFfMnk3UERiNXdxT0FPbFkiLCJzbGlkZUlkIjoiU0xJREVTX0FQSTk1NDEyMDE1OV8xMSIsInRpbWVsaW5lIjpbeyJwb2xsUXVlc3Rpb25VdWlkIjoiYWZmYTU2ZWUtOGMxMy00OTVlLTkxNjUtNzRkMzIyYzI2N2RiIiwic2hvd1Jlc3VsdHMiOnRydWV9XSwidHlwZSI6IlNsaWRvUG9sbCJ9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26.png"/><Relationship Id="rId4" Type="http://schemas.openxmlformats.org/officeDocument/2006/relationships/hyperlink" Target="https://www.sli.do/features-google-slides?interaction-type=V29yZENsb3Vk" TargetMode="External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jViMTE4OGFjLWVjZDktNGQ3YS1iY2FhLWY3NDMyZTM1ZDI0NiIsInByZXNlbnRhdGlvbklkIjoiMXFXUzhza09tMm9qS1JJY2VMOEtIM0twRHNiYlFfMnk3UERiNXdxT0FPbFkiLCJzbGlkZUlkIjoiU0xJREVTX0FQSTk1NDEyMDE1OV8yMiIsInRpbWVsaW5lIjpbeyJwb2xsUXVlc3Rpb25VdWlkIjoiOThjZGEzOTctZDUwNi00Y2NlLTliMTYtZGUyZmJmMGZmNGYwIiwic2hvd1Jlc3VsdHMiOnRydWV9XSwidHlwZSI6IlNsaWRvUG9sbCJ9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4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27.png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enome.ucsc.edu/goldenPath/help/bigBed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jJmNjY2YzFkLWU4MWQtNGUzOS1iNGViLTY3ZDRiZGVhNThkNiIsInByZXNlbnRhdGlvbklkIjoiMXFXUzhza09tMm9qS1JJY2VMOEtIM0twRHNiYlFfMnk3UERiNXdxT0FPbFkiLCJzbGlkZUlkIjoiU0xJREVTX0FQSTE0NDMyOTA1MzZfMCIsInRpbWVsaW5lIjpbeyJwb2xsUXVlc3Rpb25VdWlkIjoiZmY4OWY3NmUtOGFiOS00YzBhLWFjZWMtZWM2YmY0ZTA4MGM2Iiwic2hvd1Jlc3VsdHMiOnRydWV9XSwidHlwZSI6IlNsaWRvUG9sbCJ9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4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26.png"/><Relationship Id="rId4" Type="http://schemas.openxmlformats.org/officeDocument/2006/relationships/hyperlink" Target="https://www.sli.do/features-google-slides?interaction-type=V29yZENsb3Vk" TargetMode="External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rZWVwUG9sbEFjdGl2ZSI6ZmFsc2UsInBvbGxVdWlkIjoiOTQwNjhiMWMtMjRhZS00ZTU2LThhMWEtMDAxMmRjNWU3M2NlIiwicHJlc2VudGF0aW9uSWQiOiIxcVdTOHNrT20yb2pLUkljZUw4S0gzS3BEc2JiUV8yeTdQRGI1d3FPQU9sWSIsInNsaWRlSWQiOiJTTElERVNfQVBJMzk5MTQzNTc3XzAiLCJ0aW1lbGluZSI6W3sic2hvd1Jlc3VsdHMiOnRydWUsInBvbGxRdWVzdGlvblV1aWQiOiJlOGMwN2NjOS04ZjcwLTQ5NjAtOTlmOS04ZGU0MDE3MDEyODQifV0sInR5cGUiOiJTbGlkb1BvbGwifQ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4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26.png"/><Relationship Id="rId4" Type="http://schemas.openxmlformats.org/officeDocument/2006/relationships/hyperlink" Target="https://www.sli.do/features-google-slides?interaction-type=V29yZENsb3Vk" TargetMode="External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regulation.ensembl.org/data_access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Access to Regulatory Annotations</a:t>
            </a:r>
            <a:endParaRPr/>
          </a:p>
        </p:txBody>
      </p:sp>
      <p:sp>
        <p:nvSpPr>
          <p:cNvPr id="501" name="Google Shape;501;p5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Session 4</a:t>
            </a:r>
            <a:endParaRPr/>
          </a:p>
        </p:txBody>
      </p:sp>
      <p:sp>
        <p:nvSpPr>
          <p:cNvPr id="502" name="Google Shape;502;p56"/>
          <p:cNvSpPr txBox="1"/>
          <p:nvPr/>
        </p:nvSpPr>
        <p:spPr>
          <a:xfrm>
            <a:off x="640550" y="3581000"/>
            <a:ext cx="53859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800"/>
              <a:buFont typeface="Arial"/>
              <a:buNone/>
            </a:pPr>
            <a:r>
              <a:rPr lang="en-GB" sz="1800" b="1">
                <a:solidFill>
                  <a:srgbClr val="007B53"/>
                </a:solidFill>
              </a:rPr>
              <a:t>Gabriela A. Merino - Louisse Paola Mirabueno</a:t>
            </a:r>
            <a:endParaRPr sz="1800" b="1" i="0" u="none" strike="noStrike" cap="none">
              <a:solidFill>
                <a:srgbClr val="007B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6"/>
          <p:cNvSpPr txBox="1"/>
          <p:nvPr/>
        </p:nvSpPr>
        <p:spPr>
          <a:xfrm>
            <a:off x="640548" y="3896000"/>
            <a:ext cx="22596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r>
              <a:rPr lang="en-GB" sz="1200" b="1">
                <a:solidFill>
                  <a:srgbClr val="000000"/>
                </a:solidFill>
              </a:rPr>
              <a:t>Senior Bioinformatician, Ensembl Regulation, EMBL-EBI</a:t>
            </a:r>
            <a:endParaRPr/>
          </a:p>
        </p:txBody>
      </p:sp>
      <p:sp>
        <p:nvSpPr>
          <p:cNvPr id="504" name="Google Shape;504;p56"/>
          <p:cNvSpPr txBox="1"/>
          <p:nvPr/>
        </p:nvSpPr>
        <p:spPr>
          <a:xfrm>
            <a:off x="640557" y="45496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000000"/>
                </a:solidFill>
              </a:rPr>
              <a:t>03/09/2026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56"/>
          <p:cNvSpPr txBox="1"/>
          <p:nvPr/>
        </p:nvSpPr>
        <p:spPr>
          <a:xfrm>
            <a:off x="2853948" y="3896000"/>
            <a:ext cx="22596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Outreach Officer, 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Ensembl Outreach,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EMBL-EBI</a:t>
            </a:r>
            <a:endParaRPr sz="1200" b="1"/>
          </a:p>
        </p:txBody>
      </p:sp>
      <p:sp>
        <p:nvSpPr>
          <p:cNvPr id="506" name="Google Shape;506;p56"/>
          <p:cNvSpPr txBox="1"/>
          <p:nvPr/>
        </p:nvSpPr>
        <p:spPr>
          <a:xfrm>
            <a:off x="640550" y="2755532"/>
            <a:ext cx="53220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FFFFFF"/>
                </a:solidFill>
              </a:rPr>
              <a:t>T6: Making the most of cis-regulatory annotations for genome-scale analysis</a:t>
            </a:r>
            <a:endParaRPr sz="10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Session map</a:t>
            </a:r>
            <a:endParaRPr/>
          </a:p>
        </p:txBody>
      </p:sp>
      <p:grpSp>
        <p:nvGrpSpPr>
          <p:cNvPr id="512" name="Google Shape;512;p57"/>
          <p:cNvGrpSpPr/>
          <p:nvPr/>
        </p:nvGrpSpPr>
        <p:grpSpPr>
          <a:xfrm>
            <a:off x="1593000" y="2838678"/>
            <a:ext cx="5957975" cy="643500"/>
            <a:chOff x="1593000" y="2322568"/>
            <a:chExt cx="5957975" cy="643500"/>
          </a:xfrm>
        </p:grpSpPr>
        <p:sp>
          <p:nvSpPr>
            <p:cNvPr id="513" name="Google Shape;513;p5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5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5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5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Hands-on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7" name="Google Shape;517;p5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57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9" name="Google Shape;519;p57"/>
          <p:cNvGrpSpPr/>
          <p:nvPr/>
        </p:nvGrpSpPr>
        <p:grpSpPr>
          <a:xfrm>
            <a:off x="1593000" y="2183819"/>
            <a:ext cx="5957975" cy="643500"/>
            <a:chOff x="1593000" y="2322568"/>
            <a:chExt cx="5957975" cy="643500"/>
          </a:xfrm>
        </p:grpSpPr>
        <p:sp>
          <p:nvSpPr>
            <p:cNvPr id="520" name="Google Shape;520;p5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5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5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5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CREs and evidence files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4" name="Google Shape;524;p5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5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26" name="Google Shape;526;p57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How to get them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How they look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Considerations when working with multiple files and sources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7" name="Google Shape;527;p57"/>
          <p:cNvGrpSpPr/>
          <p:nvPr/>
        </p:nvGrpSpPr>
        <p:grpSpPr>
          <a:xfrm>
            <a:off x="1593000" y="1528944"/>
            <a:ext cx="5957975" cy="643500"/>
            <a:chOff x="1593000" y="2322568"/>
            <a:chExt cx="5957975" cy="643500"/>
          </a:xfrm>
        </p:grpSpPr>
        <p:sp>
          <p:nvSpPr>
            <p:cNvPr id="528" name="Google Shape;528;p5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5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5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5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File formats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2" name="Google Shape;532;p5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5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34" name="Google Shape;534;p57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Commonly-used format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Coordinates system 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8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58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41" name="Google Shape;541;p58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58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Have you used some of the regulatory annotation resources we have presented?</a:t>
            </a:r>
            <a:endParaRPr sz="34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3" name="Google Shape;543;p58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58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45" name="Google Shape;545;p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58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9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59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3" name="Google Shape;553;p59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59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If you have previously used the regulatory annotation resources, how have you used them? E.g. single, locus analysis, file, etc.</a:t>
            </a:r>
            <a:endParaRPr sz="24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5" name="Google Shape;555;p59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59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7" name="Google Shape;557;p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59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0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60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5" name="Google Shape;565;p60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60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For your future work, how do you think would be the best way to access them?</a:t>
            </a:r>
            <a:endParaRPr sz="34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7" name="Google Shape;567;p60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60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9" name="Google Shape;569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60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Commonly-used formats: BED and BigBed format</a:t>
            </a:r>
            <a:endParaRPr/>
          </a:p>
        </p:txBody>
      </p:sp>
      <p:sp>
        <p:nvSpPr>
          <p:cNvPr id="576" name="Google Shape;576;p61"/>
          <p:cNvSpPr txBox="1">
            <a:spLocks noGrp="1"/>
          </p:cNvSpPr>
          <p:nvPr>
            <p:ph type="body" idx="1"/>
          </p:nvPr>
        </p:nvSpPr>
        <p:spPr>
          <a:xfrm>
            <a:off x="338150" y="829300"/>
            <a:ext cx="8452200" cy="34248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585000" lvl="1" indent="-317500" algn="just" rtl="0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Standard format for representing genomic intervals and annotations.</a:t>
            </a:r>
            <a:endParaRPr/>
          </a:p>
          <a:p>
            <a:pPr marL="58500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It has three </a:t>
            </a:r>
            <a:r>
              <a:rPr lang="en-GB">
                <a:solidFill>
                  <a:srgbClr val="FF0000"/>
                </a:solidFill>
              </a:rPr>
              <a:t>required</a:t>
            </a:r>
            <a:r>
              <a:rPr lang="en-GB"/>
              <a:t> fields and nine </a:t>
            </a:r>
            <a:r>
              <a:rPr lang="en-GB">
                <a:solidFill>
                  <a:srgbClr val="0000FF"/>
                </a:solidFill>
              </a:rPr>
              <a:t>additional</a:t>
            </a:r>
            <a:r>
              <a:rPr lang="en-GB"/>
              <a:t> optional fields. </a:t>
            </a:r>
            <a:endParaRPr sz="1200"/>
          </a:p>
          <a:p>
            <a:pPr marL="914400" lvl="1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150"/>
              <a:buChar char="●"/>
            </a:pPr>
            <a:r>
              <a:rPr lang="en-GB" sz="1150" b="1">
                <a:solidFill>
                  <a:srgbClr val="FF0000"/>
                </a:solidFill>
                <a:highlight>
                  <a:srgbClr val="FFFFFF"/>
                </a:highlight>
              </a:rPr>
              <a:t>chrom</a:t>
            </a:r>
            <a:r>
              <a:rPr lang="en-GB" sz="1150">
                <a:highlight>
                  <a:srgbClr val="FFFFFF"/>
                </a:highlight>
              </a:rPr>
              <a:t>: e.g. chr3, Y, NC_000001.11, scaffold10671.</a:t>
            </a:r>
            <a:endParaRPr sz="1150"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150"/>
              <a:buChar char="●"/>
            </a:pPr>
            <a:r>
              <a:rPr lang="en-GB" sz="1150" b="1">
                <a:solidFill>
                  <a:srgbClr val="FF0000"/>
                </a:solidFill>
                <a:highlight>
                  <a:srgbClr val="FFFFFF"/>
                </a:highlight>
              </a:rPr>
              <a:t>chromStart</a:t>
            </a:r>
            <a:r>
              <a:rPr lang="en-GB" sz="1150">
                <a:highlight>
                  <a:srgbClr val="FFFFFF"/>
                </a:highlight>
              </a:rPr>
              <a:t>: zero-based, included in the feature.</a:t>
            </a:r>
            <a:endParaRPr sz="1150"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150"/>
              <a:buChar char="●"/>
            </a:pPr>
            <a:r>
              <a:rPr lang="en-GB" sz="1150" b="1">
                <a:solidFill>
                  <a:srgbClr val="FF0000"/>
                </a:solidFill>
                <a:highlight>
                  <a:srgbClr val="FFFFFF"/>
                </a:highlight>
              </a:rPr>
              <a:t>chromEnd</a:t>
            </a:r>
            <a:r>
              <a:rPr lang="en-GB" sz="1150">
                <a:highlight>
                  <a:srgbClr val="FFFFFF"/>
                </a:highlight>
              </a:rPr>
              <a:t>: Not included in the display of the feature.</a:t>
            </a:r>
            <a:endParaRPr sz="1150"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150"/>
              <a:buChar char="●"/>
            </a:pPr>
            <a:r>
              <a:rPr lang="en-GB" sz="1150" b="1">
                <a:solidFill>
                  <a:srgbClr val="0000FF"/>
                </a:solidFill>
                <a:highlight>
                  <a:srgbClr val="FFFFFF"/>
                </a:highlight>
              </a:rPr>
              <a:t>name</a:t>
            </a:r>
            <a:endParaRPr sz="1150"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150"/>
              <a:buChar char="●"/>
            </a:pPr>
            <a:r>
              <a:rPr lang="en-GB" sz="1150" b="1">
                <a:solidFill>
                  <a:srgbClr val="0000FF"/>
                </a:solidFill>
                <a:highlight>
                  <a:srgbClr val="FFFFFF"/>
                </a:highlight>
              </a:rPr>
              <a:t>score</a:t>
            </a:r>
            <a:r>
              <a:rPr lang="en-GB" sz="1150">
                <a:highlight>
                  <a:srgbClr val="FFFFFF"/>
                </a:highlight>
              </a:rPr>
              <a:t> </a:t>
            </a:r>
            <a:endParaRPr sz="1150"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150"/>
              <a:buChar char="●"/>
            </a:pPr>
            <a:r>
              <a:rPr lang="en-GB" sz="1150" b="1">
                <a:solidFill>
                  <a:srgbClr val="0000FF"/>
                </a:solidFill>
                <a:highlight>
                  <a:srgbClr val="FFFFFF"/>
                </a:highlight>
              </a:rPr>
              <a:t>strand</a:t>
            </a:r>
            <a:r>
              <a:rPr lang="en-GB" sz="1150">
                <a:highlight>
                  <a:srgbClr val="FFFFFF"/>
                </a:highlight>
              </a:rPr>
              <a:t>: Either "." (=no strand) or "+" or "-".</a:t>
            </a:r>
            <a:endParaRPr sz="1150"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150"/>
              <a:buChar char="●"/>
            </a:pPr>
            <a:r>
              <a:rPr lang="en-GB" sz="1150" b="1">
                <a:solidFill>
                  <a:srgbClr val="0000FF"/>
                </a:solidFill>
                <a:highlight>
                  <a:srgbClr val="FFFFFF"/>
                </a:highlight>
              </a:rPr>
              <a:t>thickStart</a:t>
            </a:r>
            <a:r>
              <a:rPr lang="en-GB" sz="1150">
                <a:highlight>
                  <a:srgbClr val="FFFFFF"/>
                </a:highlight>
              </a:rPr>
              <a:t>: The starting position at which the feature is drawn thickly (e.g., the start codon in gene displays).</a:t>
            </a:r>
            <a:endParaRPr sz="1150"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150"/>
              <a:buChar char="●"/>
            </a:pPr>
            <a:r>
              <a:rPr lang="en-GB" sz="1150" b="1">
                <a:solidFill>
                  <a:srgbClr val="0000FF"/>
                </a:solidFill>
                <a:highlight>
                  <a:srgbClr val="FFFFFF"/>
                </a:highlight>
              </a:rPr>
              <a:t>thickEnd: </a:t>
            </a:r>
            <a:r>
              <a:rPr lang="en-GB" sz="1150">
                <a:highlight>
                  <a:srgbClr val="FFFFFF"/>
                </a:highlight>
              </a:rPr>
              <a:t>The ending position at which the feature is drawn thickly.</a:t>
            </a:r>
            <a:endParaRPr sz="1150"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150"/>
              <a:buChar char="●"/>
            </a:pPr>
            <a:r>
              <a:rPr lang="en-GB" sz="1150" b="1">
                <a:solidFill>
                  <a:srgbClr val="0000FF"/>
                </a:solidFill>
                <a:highlight>
                  <a:srgbClr val="FFFFFF"/>
                </a:highlight>
              </a:rPr>
              <a:t>itemRgb</a:t>
            </a:r>
            <a:endParaRPr sz="1150"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8148"/>
              </a:buClr>
              <a:buSzPts val="1150"/>
              <a:buChar char="●"/>
            </a:pPr>
            <a:r>
              <a:rPr lang="en-GB" sz="1150" b="1">
                <a:solidFill>
                  <a:srgbClr val="0000FF"/>
                </a:solidFill>
                <a:highlight>
                  <a:srgbClr val="FFFFFF"/>
                </a:highlight>
              </a:rPr>
              <a:t>blockCount</a:t>
            </a:r>
            <a:r>
              <a:rPr lang="en-GB" sz="1150">
                <a:highlight>
                  <a:srgbClr val="FFFFFF"/>
                </a:highlight>
              </a:rPr>
              <a:t>, </a:t>
            </a:r>
            <a:r>
              <a:rPr lang="en-GB" sz="1150" b="1">
                <a:solidFill>
                  <a:srgbClr val="0000FF"/>
                </a:solidFill>
                <a:highlight>
                  <a:srgbClr val="FFFFFF"/>
                </a:highlight>
              </a:rPr>
              <a:t>blockSizes</a:t>
            </a:r>
            <a:r>
              <a:rPr lang="en-GB" sz="1150">
                <a:highlight>
                  <a:srgbClr val="FFFFFF"/>
                </a:highlight>
              </a:rPr>
              <a:t>, </a:t>
            </a:r>
            <a:r>
              <a:rPr lang="en-GB" sz="1150" b="1">
                <a:solidFill>
                  <a:srgbClr val="0000FF"/>
                </a:solidFill>
                <a:highlight>
                  <a:srgbClr val="FFFFFF"/>
                </a:highlight>
              </a:rPr>
              <a:t>blockStarts</a:t>
            </a:r>
            <a:r>
              <a:rPr lang="en-GB" sz="1150">
                <a:highlight>
                  <a:srgbClr val="FFFFFF"/>
                </a:highlight>
              </a:rPr>
              <a:t>: Blocks structure (i.e. exons)</a:t>
            </a:r>
            <a:endParaRPr sz="1150">
              <a:highlight>
                <a:srgbClr val="FFFFFF"/>
              </a:highlight>
            </a:endParaRPr>
          </a:p>
          <a:p>
            <a:pPr marL="585000" marR="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 sz="1400"/>
              <a:t>Uses 0-based, half-open coordinates:</a:t>
            </a:r>
            <a:endParaRPr sz="1400"/>
          </a:p>
        </p:txBody>
      </p:sp>
      <p:sp>
        <p:nvSpPr>
          <p:cNvPr id="577" name="Google Shape;577;p61"/>
          <p:cNvSpPr txBox="1"/>
          <p:nvPr/>
        </p:nvSpPr>
        <p:spPr>
          <a:xfrm>
            <a:off x="2842650" y="4130450"/>
            <a:ext cx="3721500" cy="89778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00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150" dirty="0" err="1">
                <a:solidFill>
                  <a:schemeClr val="dk1"/>
                </a:solidFill>
              </a:rPr>
              <a:t>E.g</a:t>
            </a:r>
            <a:r>
              <a:rPr lang="en-GB" sz="1150" dirty="0">
                <a:solidFill>
                  <a:schemeClr val="dk1"/>
                </a:solidFill>
              </a:rPr>
              <a:t>: the first 100 bases of chromosome 1 are defined as </a:t>
            </a:r>
            <a:r>
              <a:rPr lang="en-GB" sz="1150" i="1" dirty="0" err="1">
                <a:solidFill>
                  <a:schemeClr val="dk1"/>
                </a:solidFill>
              </a:rPr>
              <a:t>chrom</a:t>
            </a:r>
            <a:r>
              <a:rPr lang="en-GB" sz="1150" i="1" dirty="0">
                <a:solidFill>
                  <a:schemeClr val="dk1"/>
                </a:solidFill>
              </a:rPr>
              <a:t>=1, </a:t>
            </a:r>
            <a:r>
              <a:rPr lang="en-GB" sz="1150" i="1" dirty="0" err="1">
                <a:solidFill>
                  <a:schemeClr val="dk1"/>
                </a:solidFill>
              </a:rPr>
              <a:t>chromStart</a:t>
            </a:r>
            <a:r>
              <a:rPr lang="en-GB" sz="1150" i="1" dirty="0">
                <a:solidFill>
                  <a:schemeClr val="dk1"/>
                </a:solidFill>
              </a:rPr>
              <a:t>=0, </a:t>
            </a:r>
            <a:r>
              <a:rPr lang="en-GB" sz="1150" i="1" dirty="0" err="1">
                <a:solidFill>
                  <a:schemeClr val="dk1"/>
                </a:solidFill>
              </a:rPr>
              <a:t>chromEnd</a:t>
            </a:r>
            <a:r>
              <a:rPr lang="en-GB" sz="1150" i="1" dirty="0">
                <a:solidFill>
                  <a:schemeClr val="dk1"/>
                </a:solidFill>
              </a:rPr>
              <a:t>=100</a:t>
            </a:r>
            <a:r>
              <a:rPr lang="en-GB" sz="1150" dirty="0">
                <a:solidFill>
                  <a:schemeClr val="dk1"/>
                </a:solidFill>
              </a:rPr>
              <a:t>, and span the bases numbered 0-99.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Commonly-used formats: BED and BigBed format</a:t>
            </a:r>
            <a:endParaRPr/>
          </a:p>
        </p:txBody>
      </p:sp>
      <p:sp>
        <p:nvSpPr>
          <p:cNvPr id="583" name="Google Shape;583;p62"/>
          <p:cNvSpPr txBox="1">
            <a:spLocks noGrp="1"/>
          </p:cNvSpPr>
          <p:nvPr>
            <p:ph type="body" idx="1"/>
          </p:nvPr>
        </p:nvSpPr>
        <p:spPr>
          <a:xfrm>
            <a:off x="338150" y="829300"/>
            <a:ext cx="8452200" cy="3902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585000" lvl="1" indent="-317500" algn="just" rtl="0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The number of fields per line must be consistent throughout any single set of data in an annotation track. </a:t>
            </a:r>
            <a:endParaRPr/>
          </a:p>
          <a:p>
            <a:pPr marL="58500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The order of the optional fields is binding: lower-numbered fields must always be populated if higher-numbered fields are used.</a:t>
            </a:r>
            <a:endParaRPr/>
          </a:p>
          <a:p>
            <a:pPr marL="58500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For very large BED datasets, UCSC recommends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BigBed</a:t>
            </a:r>
            <a:r>
              <a:rPr lang="en-GB"/>
              <a:t>, which provides indexing and faster remote access.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3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63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0" name="Google Shape;590;p63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63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type of track would you expect to be available as BED format?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2" name="Google Shape;592;p63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63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4" name="Google Shape;594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63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Commonly-used formats: WIG and bigWig format</a:t>
            </a:r>
            <a:endParaRPr/>
          </a:p>
        </p:txBody>
      </p:sp>
      <p:sp>
        <p:nvSpPr>
          <p:cNvPr id="601" name="Google Shape;601;p64"/>
          <p:cNvSpPr txBox="1">
            <a:spLocks noGrp="1"/>
          </p:cNvSpPr>
          <p:nvPr>
            <p:ph type="body" idx="1"/>
          </p:nvPr>
        </p:nvSpPr>
        <p:spPr>
          <a:xfrm>
            <a:off x="338150" y="829300"/>
            <a:ext cx="8452200" cy="3902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585000" lvl="1" indent="-317500" algn="just" rtl="0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Stores and displays continuous genomic signal data displayed as graphs in genome browsers.</a:t>
            </a:r>
            <a:endParaRPr/>
          </a:p>
          <a:p>
            <a:pPr marL="58500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Designed for dense, </a:t>
            </a:r>
            <a:r>
              <a:rPr lang="en-GB" b="1"/>
              <a:t>continuous</a:t>
            </a:r>
            <a:r>
              <a:rPr lang="en-GB"/>
              <a:t> datasets with equally sized data elements.</a:t>
            </a:r>
            <a:endParaRPr/>
          </a:p>
          <a:p>
            <a:pPr marL="58500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Supports two formats:</a:t>
            </a:r>
            <a:endParaRPr/>
          </a:p>
          <a:p>
            <a:pPr marL="899999" lvl="2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50"/>
              <a:t>variableStep: irregularly spaced positions</a:t>
            </a:r>
            <a:endParaRPr sz="1250"/>
          </a:p>
          <a:p>
            <a:pPr marL="899999" lvl="2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50"/>
              <a:t>fixedStep: regularly spaced positions (more compact)</a:t>
            </a:r>
            <a:endParaRPr sz="1250"/>
          </a:p>
          <a:p>
            <a:pPr marL="585000" marR="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 sz="1400"/>
              <a:t>Structure:</a:t>
            </a:r>
            <a:endParaRPr sz="1400"/>
          </a:p>
          <a:p>
            <a:pPr marL="899999" marR="0" lvl="2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Track definition line (track type=wiggle_0)</a:t>
            </a:r>
            <a:endParaRPr/>
          </a:p>
          <a:p>
            <a:pPr marL="899999" marR="0" lvl="2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Declaration line (variableStep or fixedStep)</a:t>
            </a:r>
            <a:endParaRPr/>
          </a:p>
          <a:p>
            <a:pPr marL="899999" marR="0" lvl="2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Data values (integer or floating-point, positive or negative)</a:t>
            </a:r>
            <a:endParaRPr/>
          </a:p>
          <a:p>
            <a:pPr marL="585000" marR="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 sz="1400"/>
              <a:t>Important consideration: Unlike BED format, it uses 1-based, fully closed coordinates.</a:t>
            </a:r>
            <a:endParaRPr sz="1400"/>
          </a:p>
          <a:p>
            <a:pPr marL="585000" marR="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 sz="1400"/>
              <a:t>UCSC recommends converting WIG files to bigWig for large datasets because it is indexed, faster to display, and more scalable.</a:t>
            </a:r>
            <a:endParaRPr sz="1400"/>
          </a:p>
        </p:txBody>
      </p:sp>
      <p:sp>
        <p:nvSpPr>
          <p:cNvPr id="602" name="Google Shape;602;p64"/>
          <p:cNvSpPr txBox="1"/>
          <p:nvPr/>
        </p:nvSpPr>
        <p:spPr>
          <a:xfrm>
            <a:off x="4715675" y="2430025"/>
            <a:ext cx="3721500" cy="89778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00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sz="1150" dirty="0" err="1">
                <a:solidFill>
                  <a:schemeClr val="dk1"/>
                </a:solidFill>
              </a:rPr>
              <a:t>E.g</a:t>
            </a:r>
            <a:r>
              <a:rPr lang="en-GB" sz="1150" dirty="0">
                <a:solidFill>
                  <a:schemeClr val="dk1"/>
                </a:solidFill>
              </a:rPr>
              <a:t>: the first 100 bases of chromosome 1 are defined as </a:t>
            </a:r>
            <a:r>
              <a:rPr lang="en-GB" sz="1150" dirty="0" err="1">
                <a:solidFill>
                  <a:schemeClr val="dk1"/>
                </a:solidFill>
              </a:rPr>
              <a:t>chrom</a:t>
            </a:r>
            <a:r>
              <a:rPr lang="en-GB" sz="1150" dirty="0">
                <a:solidFill>
                  <a:schemeClr val="dk1"/>
                </a:solidFill>
              </a:rPr>
              <a:t>=1, </a:t>
            </a:r>
            <a:r>
              <a:rPr lang="en-GB" sz="1150" dirty="0" err="1">
                <a:solidFill>
                  <a:schemeClr val="dk1"/>
                </a:solidFill>
              </a:rPr>
              <a:t>chromStart</a:t>
            </a:r>
            <a:r>
              <a:rPr lang="en-GB" sz="1150" dirty="0">
                <a:solidFill>
                  <a:schemeClr val="dk1"/>
                </a:solidFill>
              </a:rPr>
              <a:t>=1, </a:t>
            </a:r>
            <a:r>
              <a:rPr lang="en-GB" sz="1150" dirty="0" err="1">
                <a:solidFill>
                  <a:schemeClr val="dk1"/>
                </a:solidFill>
              </a:rPr>
              <a:t>chromEnd</a:t>
            </a:r>
            <a:r>
              <a:rPr lang="en-GB" sz="1150" dirty="0">
                <a:solidFill>
                  <a:schemeClr val="dk1"/>
                </a:solidFill>
              </a:rPr>
              <a:t>=100, and span the bases numbered 1-100.</a:t>
            </a:r>
            <a:endParaRPr sz="115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Commonly-used formats: bedGraph format</a:t>
            </a:r>
            <a:endParaRPr/>
          </a:p>
        </p:txBody>
      </p:sp>
      <p:sp>
        <p:nvSpPr>
          <p:cNvPr id="608" name="Google Shape;608;p65"/>
          <p:cNvSpPr txBox="1">
            <a:spLocks noGrp="1"/>
          </p:cNvSpPr>
          <p:nvPr>
            <p:ph type="body" idx="1"/>
          </p:nvPr>
        </p:nvSpPr>
        <p:spPr>
          <a:xfrm>
            <a:off x="338150" y="829300"/>
            <a:ext cx="8452200" cy="3902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585000" lvl="1" indent="-317500" algn="just" rtl="0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Stores and displays continuous-valued genomic signals.</a:t>
            </a:r>
            <a:endParaRPr/>
          </a:p>
          <a:p>
            <a:pPr marL="58500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Is similar to WIG, but preserves the original data values (no internal compression or binning).</a:t>
            </a:r>
            <a:endParaRPr/>
          </a:p>
          <a:p>
            <a:pPr marL="58500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Suitable for both dense and sparse genomic signal data.</a:t>
            </a:r>
            <a:endParaRPr/>
          </a:p>
          <a:p>
            <a:pPr marL="58500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Can store integer or floating-point values, including positive and negative numbers.</a:t>
            </a:r>
            <a:endParaRPr/>
          </a:p>
          <a:p>
            <a:pPr marL="58500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Structure</a:t>
            </a:r>
            <a:endParaRPr/>
          </a:p>
          <a:p>
            <a:pPr marL="990001" lvl="2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Track definition line (track type=bedGraph)</a:t>
            </a:r>
            <a:endParaRPr/>
          </a:p>
          <a:p>
            <a:pPr marL="990001" lvl="2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Data lines with 4 columns: chrom, chromStart, chromEnd, dataValue</a:t>
            </a:r>
            <a:endParaRPr/>
          </a:p>
          <a:p>
            <a:pPr marL="58500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It uses 0-based, half-open coordinates</a:t>
            </a:r>
            <a:endParaRPr/>
          </a:p>
          <a:p>
            <a:pPr marL="58500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Large text files can become inefficient; UCSC recommends bigWig for large datasets.</a:t>
            </a:r>
            <a:endParaRPr/>
          </a:p>
        </p:txBody>
      </p:sp>
      <p:sp>
        <p:nvSpPr>
          <p:cNvPr id="609" name="Google Shape;609;p65"/>
          <p:cNvSpPr txBox="1"/>
          <p:nvPr/>
        </p:nvSpPr>
        <p:spPr>
          <a:xfrm>
            <a:off x="2823450" y="3830025"/>
            <a:ext cx="3721500" cy="89778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000" lvl="0" indent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Font typeface="Arial"/>
              <a:buNone/>
            </a:pPr>
            <a:r>
              <a:rPr lang="en-GB" sz="1150" dirty="0" err="1">
                <a:solidFill>
                  <a:schemeClr val="dk1"/>
                </a:solidFill>
              </a:rPr>
              <a:t>E.g</a:t>
            </a:r>
            <a:r>
              <a:rPr lang="en-GB" sz="1150" dirty="0">
                <a:solidFill>
                  <a:schemeClr val="dk1"/>
                </a:solidFill>
              </a:rPr>
              <a:t>: the first 100 bases of chromosome 1 are defined as </a:t>
            </a:r>
            <a:r>
              <a:rPr lang="en-GB" sz="1150" dirty="0" err="1">
                <a:solidFill>
                  <a:schemeClr val="dk1"/>
                </a:solidFill>
              </a:rPr>
              <a:t>chrom</a:t>
            </a:r>
            <a:r>
              <a:rPr lang="en-GB" sz="1150" dirty="0">
                <a:solidFill>
                  <a:schemeClr val="dk1"/>
                </a:solidFill>
              </a:rPr>
              <a:t>=1, </a:t>
            </a:r>
            <a:r>
              <a:rPr lang="en-GB" sz="1150" dirty="0" err="1">
                <a:solidFill>
                  <a:schemeClr val="dk1"/>
                </a:solidFill>
              </a:rPr>
              <a:t>chromStart</a:t>
            </a:r>
            <a:r>
              <a:rPr lang="en-GB" sz="1150" dirty="0">
                <a:solidFill>
                  <a:schemeClr val="dk1"/>
                </a:solidFill>
              </a:rPr>
              <a:t>=0, </a:t>
            </a:r>
            <a:r>
              <a:rPr lang="en-GB" sz="1150" dirty="0" err="1">
                <a:solidFill>
                  <a:schemeClr val="dk1"/>
                </a:solidFill>
              </a:rPr>
              <a:t>chromEnd</a:t>
            </a:r>
            <a:r>
              <a:rPr lang="en-GB" sz="1150" dirty="0">
                <a:solidFill>
                  <a:schemeClr val="dk1"/>
                </a:solidFill>
              </a:rPr>
              <a:t>=100, and span the bases numbered 0-99.</a:t>
            </a:r>
            <a:endParaRPr sz="115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Commonly-used formats: GFF3/GTF format</a:t>
            </a:r>
            <a:endParaRPr/>
          </a:p>
        </p:txBody>
      </p:sp>
      <p:sp>
        <p:nvSpPr>
          <p:cNvPr id="615" name="Google Shape;615;p66"/>
          <p:cNvSpPr txBox="1">
            <a:spLocks noGrp="1"/>
          </p:cNvSpPr>
          <p:nvPr>
            <p:ph type="body" idx="1"/>
          </p:nvPr>
        </p:nvSpPr>
        <p:spPr>
          <a:xfrm>
            <a:off x="338150" y="829300"/>
            <a:ext cx="8452200" cy="3902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585000" marR="0" lvl="1" indent="-317500" algn="just" rtl="0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SzPts val="1400"/>
              <a:buChar char="✓"/>
            </a:pPr>
            <a:r>
              <a:rPr lang="en-GB" sz="1400"/>
              <a:t>Standard formats for representing genome annotations, including genes, transcripts, exons, CDS regions, UTRs, and other genomic features.</a:t>
            </a:r>
            <a:endParaRPr sz="1400"/>
          </a:p>
          <a:p>
            <a:pPr marL="585000" marR="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 sz="1400"/>
              <a:t>Store both genomic coordinates and feature relationships (e.g., gene → transcript → exon).</a:t>
            </a:r>
            <a:endParaRPr sz="1400"/>
          </a:p>
          <a:p>
            <a:pPr marL="585000" marR="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 sz="1400"/>
              <a:t>Support hierarchical annotation of complex gene structures.</a:t>
            </a:r>
            <a:endParaRPr sz="1400"/>
          </a:p>
          <a:p>
            <a:pPr marL="585000" marR="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 sz="1400"/>
              <a:t>Human-readable, tab-delimited text formats</a:t>
            </a:r>
            <a:r>
              <a:rPr lang="en-GB"/>
              <a:t> containing 9 columns:</a:t>
            </a:r>
            <a:endParaRPr/>
          </a:p>
          <a:p>
            <a:pPr marL="1080000" marR="0" lvl="2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150" b="1">
                <a:solidFill>
                  <a:srgbClr val="FF0000"/>
                </a:solidFill>
                <a:highlight>
                  <a:srgbClr val="FFFFFF"/>
                </a:highlight>
              </a:rPr>
              <a:t>seqid (chromosome/scaffold)</a:t>
            </a:r>
            <a:endParaRPr sz="115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1080000" marR="0" lvl="2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150" b="1">
                <a:solidFill>
                  <a:srgbClr val="FF0000"/>
                </a:solidFill>
                <a:highlight>
                  <a:srgbClr val="FFFFFF"/>
                </a:highlight>
              </a:rPr>
              <a:t>source</a:t>
            </a:r>
            <a:endParaRPr sz="115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1080000" marR="0" lvl="2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150" b="1">
                <a:solidFill>
                  <a:srgbClr val="FF0000"/>
                </a:solidFill>
                <a:highlight>
                  <a:srgbClr val="FFFFFF"/>
                </a:highlight>
              </a:rPr>
              <a:t>type (gene, exon, CDS, etc.)</a:t>
            </a:r>
            <a:endParaRPr sz="115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1080000" marR="0" lvl="2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150" b="1">
                <a:solidFill>
                  <a:srgbClr val="FF0000"/>
                </a:solidFill>
                <a:highlight>
                  <a:srgbClr val="FFFFFF"/>
                </a:highlight>
              </a:rPr>
              <a:t>start</a:t>
            </a:r>
            <a:endParaRPr sz="115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1080000" marR="0" lvl="2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150" b="1">
                <a:solidFill>
                  <a:srgbClr val="FF0000"/>
                </a:solidFill>
                <a:highlight>
                  <a:srgbClr val="FFFFFF"/>
                </a:highlight>
              </a:rPr>
              <a:t>end</a:t>
            </a:r>
            <a:endParaRPr sz="115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1080000" marR="0" lvl="2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150" b="1">
                <a:solidFill>
                  <a:srgbClr val="FF0000"/>
                </a:solidFill>
                <a:highlight>
                  <a:srgbClr val="FFFFFF"/>
                </a:highlight>
              </a:rPr>
              <a:t>score</a:t>
            </a:r>
            <a:endParaRPr sz="115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1080000" marR="0" lvl="2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150" b="1">
                <a:solidFill>
                  <a:srgbClr val="FF0000"/>
                </a:solidFill>
                <a:highlight>
                  <a:srgbClr val="FFFFFF"/>
                </a:highlight>
              </a:rPr>
              <a:t>strand</a:t>
            </a:r>
            <a:endParaRPr sz="115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1080000" marR="0" lvl="2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150" b="1">
                <a:solidFill>
                  <a:srgbClr val="FF0000"/>
                </a:solidFill>
                <a:highlight>
                  <a:srgbClr val="FFFFFF"/>
                </a:highlight>
              </a:rPr>
              <a:t>phase</a:t>
            </a:r>
            <a:endParaRPr sz="1150" b="1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marL="1080000" marR="0" lvl="2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150" b="1">
                <a:solidFill>
                  <a:srgbClr val="FF0000"/>
                </a:solidFill>
                <a:highlight>
                  <a:srgbClr val="FFFFFF"/>
                </a:highlight>
              </a:rPr>
              <a:t>attributes</a:t>
            </a:r>
            <a:endParaRPr/>
          </a:p>
          <a:p>
            <a:pPr marL="585000" marR="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 sz="1400"/>
              <a:t>Use 1-based, fully closed coordinates.</a:t>
            </a:r>
            <a:endParaRPr sz="1400"/>
          </a:p>
        </p:txBody>
      </p:sp>
      <p:sp>
        <p:nvSpPr>
          <p:cNvPr id="616" name="Google Shape;616;p66"/>
          <p:cNvSpPr txBox="1"/>
          <p:nvPr/>
        </p:nvSpPr>
        <p:spPr>
          <a:xfrm>
            <a:off x="3059301" y="3270547"/>
            <a:ext cx="3721500" cy="89778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00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sz="1150" dirty="0" err="1">
                <a:solidFill>
                  <a:schemeClr val="dk1"/>
                </a:solidFill>
              </a:rPr>
              <a:t>E.g</a:t>
            </a:r>
            <a:r>
              <a:rPr lang="en-GB" sz="1150" dirty="0">
                <a:solidFill>
                  <a:schemeClr val="dk1"/>
                </a:solidFill>
              </a:rPr>
              <a:t>: the first 100 bases of chromosome 1 are defined as </a:t>
            </a:r>
            <a:r>
              <a:rPr lang="en-GB" sz="1150" dirty="0" err="1">
                <a:solidFill>
                  <a:schemeClr val="dk1"/>
                </a:solidFill>
              </a:rPr>
              <a:t>chrom</a:t>
            </a:r>
            <a:r>
              <a:rPr lang="en-GB" sz="1150" dirty="0">
                <a:solidFill>
                  <a:schemeClr val="dk1"/>
                </a:solidFill>
              </a:rPr>
              <a:t>=1, </a:t>
            </a:r>
            <a:r>
              <a:rPr lang="en-GB" sz="1150" dirty="0" err="1">
                <a:solidFill>
                  <a:schemeClr val="dk1"/>
                </a:solidFill>
              </a:rPr>
              <a:t>chromStart</a:t>
            </a:r>
            <a:r>
              <a:rPr lang="en-GB" sz="1150" dirty="0">
                <a:solidFill>
                  <a:schemeClr val="dk1"/>
                </a:solidFill>
              </a:rPr>
              <a:t>=1, </a:t>
            </a:r>
            <a:r>
              <a:rPr lang="en-GB" sz="1150" dirty="0" err="1">
                <a:solidFill>
                  <a:schemeClr val="dk1"/>
                </a:solidFill>
              </a:rPr>
              <a:t>chromEnd</a:t>
            </a:r>
            <a:r>
              <a:rPr lang="en-GB" sz="1150" dirty="0">
                <a:solidFill>
                  <a:schemeClr val="dk1"/>
                </a:solidFill>
              </a:rPr>
              <a:t>=100, and span the bases numbered 1-100.</a:t>
            </a:r>
            <a:endParaRPr sz="115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7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67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23" name="Google Shape;623;p67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67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type of track would you expect to be available as GFF format?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5" name="Google Shape;625;p67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67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27" name="Google Shape;627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67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8"/>
          <p:cNvSpPr txBox="1">
            <a:spLocks noGrp="1"/>
          </p:cNvSpPr>
          <p:nvPr>
            <p:ph type="body" idx="1"/>
          </p:nvPr>
        </p:nvSpPr>
        <p:spPr>
          <a:xfrm>
            <a:off x="338150" y="829300"/>
            <a:ext cx="8452200" cy="3902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585000" lvl="1" indent="-317500" algn="just" rtl="0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GTF (Gene Transfer Format)</a:t>
            </a:r>
            <a:endParaRPr/>
          </a:p>
          <a:p>
            <a:pPr marL="944999" lvl="2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50"/>
              <a:t>Simpler format derived from GFF2.</a:t>
            </a:r>
            <a:endParaRPr sz="1250"/>
          </a:p>
          <a:p>
            <a:pPr marL="944999" lvl="2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50"/>
              <a:t>Attributes typically include: gene_id, transcript_id, gene_name</a:t>
            </a:r>
            <a:endParaRPr sz="1600"/>
          </a:p>
          <a:p>
            <a:pPr marL="585000" marR="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GFF3 (General Feature Format v3)</a:t>
            </a:r>
            <a:endParaRPr/>
          </a:p>
          <a:p>
            <a:pPr marL="944999" marR="0" lvl="2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50"/>
              <a:t>More expressive and standardized than GTF.</a:t>
            </a:r>
            <a:endParaRPr sz="1250"/>
          </a:p>
          <a:p>
            <a:pPr marL="944999" marR="0" lvl="2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50"/>
              <a:t>Uses explicit parent-child relationships:</a:t>
            </a:r>
            <a:endParaRPr sz="1250"/>
          </a:p>
          <a:p>
            <a:pPr marL="1529999" marR="0" lvl="3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250"/>
              <a:t>ID=</a:t>
            </a:r>
            <a:endParaRPr sz="1250"/>
          </a:p>
          <a:p>
            <a:pPr marL="1529999" marR="0" lvl="3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250"/>
              <a:t>Parent=</a:t>
            </a:r>
            <a:endParaRPr sz="1250"/>
          </a:p>
          <a:p>
            <a:pPr marL="944999" marR="0" lvl="2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50"/>
              <a:t>Supports complex annotations, including alternative transcripts, regulatory elements, and non-coding features.</a:t>
            </a:r>
            <a:endParaRPr sz="1250"/>
          </a:p>
          <a:p>
            <a:pPr marL="944999" marR="0" lvl="2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50"/>
              <a:t>Better suited for genome annotation projects and data exchange.</a:t>
            </a:r>
            <a:endParaRPr sz="1250"/>
          </a:p>
          <a:p>
            <a:pPr marL="944999" marR="0" lvl="2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250"/>
              <a:t>Official Sequence Ontology standard.</a:t>
            </a:r>
            <a:endParaRPr sz="1250"/>
          </a:p>
        </p:txBody>
      </p:sp>
      <p:sp>
        <p:nvSpPr>
          <p:cNvPr id="634" name="Google Shape;634;p6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Commonly-used formats: GFF3/GTF format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Commonly-used formats: Summary table</a:t>
            </a:r>
            <a:endParaRPr/>
          </a:p>
        </p:txBody>
      </p:sp>
      <p:graphicFrame>
        <p:nvGraphicFramePr>
          <p:cNvPr id="640" name="Google Shape;640;p69"/>
          <p:cNvGraphicFramePr/>
          <p:nvPr/>
        </p:nvGraphicFramePr>
        <p:xfrm>
          <a:off x="566413" y="881725"/>
          <a:ext cx="8011175" cy="3655491"/>
        </p:xfrm>
        <a:graphic>
          <a:graphicData uri="http://schemas.openxmlformats.org/drawingml/2006/table">
            <a:tbl>
              <a:tblPr>
                <a:noFill/>
                <a:tableStyleId>{EC8825AA-C4DE-4C30-88E3-B08674D2A2D1}</a:tableStyleId>
              </a:tblPr>
              <a:tblGrid>
                <a:gridCol w="9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5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3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9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Format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E4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Stores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E4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Typical Use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E4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Coordinates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E4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Advantages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E4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Recommended Large-Scale Version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9E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BED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/>
                        <a:t>Genomic intervals/features</a:t>
                      </a:r>
                      <a:endParaRPr sz="9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/>
                        <a:t>Genes, peaks, regulatory regions</a:t>
                      </a:r>
                      <a:endParaRPr sz="9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0-based, half-open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Simple, compact, widely supported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bigBed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bedGraph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Quantitative signal values across intervals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/>
                        <a:t>Coverage, expression, scores</a:t>
                      </a:r>
                      <a:endParaRPr sz="9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0-based, half-open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Preserves exact values; good for sparse or dense data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bigWig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WIG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Continuous signal data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Coverage tracks, probabilities, GC content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1-based, closed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Compact representation for dense data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bigWig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GTF / GFF3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/>
                        <a:t>Genome annotations with feature relationships</a:t>
                      </a:r>
                      <a:endParaRPr sz="9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/>
                        <a:t>Genes, transcripts, exons, CDS</a:t>
                      </a:r>
                      <a:endParaRPr sz="9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1-based, closed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Rich annotation structure; supports gene models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— (text-based standard)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bigBed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Indexed binary BED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Large annotation datasets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0-based, half-open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Fast access, efficient remote visualization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Current UCSC recommendation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/>
                        <a:t>bigWig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Indexed binary WIG/bedGraph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Large signal tracks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Depends on source format during conversion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Fast retrieval, scalable, browser-friendly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dirty="0"/>
                        <a:t>Current UCSC recommendation</a:t>
                      </a:r>
                      <a:endParaRPr sz="9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0"/>
          <p:cNvSpPr txBox="1">
            <a:spLocks noGrp="1"/>
          </p:cNvSpPr>
          <p:nvPr>
            <p:ph type="title"/>
          </p:nvPr>
        </p:nvSpPr>
        <p:spPr>
          <a:xfrm>
            <a:off x="338150" y="273850"/>
            <a:ext cx="85269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Recommendations when working with multiple files</a:t>
            </a:r>
            <a:endParaRPr/>
          </a:p>
        </p:txBody>
      </p:sp>
      <p:sp>
        <p:nvSpPr>
          <p:cNvPr id="646" name="Google Shape;646;p70"/>
          <p:cNvSpPr txBox="1">
            <a:spLocks noGrp="1"/>
          </p:cNvSpPr>
          <p:nvPr>
            <p:ph type="body" idx="1"/>
          </p:nvPr>
        </p:nvSpPr>
        <p:spPr>
          <a:xfrm>
            <a:off x="338150" y="829300"/>
            <a:ext cx="4580700" cy="21345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marR="0" lvl="0" indent="-330200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 sz="1600"/>
              <a:t>Before analysis, write down:</a:t>
            </a:r>
            <a:endParaRPr/>
          </a:p>
          <a:p>
            <a:pPr marL="914400" marR="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 sz="1300"/>
              <a:t>Where each file came from</a:t>
            </a:r>
            <a:endParaRPr sz="1300"/>
          </a:p>
          <a:p>
            <a:pPr marL="914400" marR="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 sz="1300"/>
              <a:t>Which release or registry version it represents</a:t>
            </a:r>
            <a:endParaRPr sz="1300"/>
          </a:p>
          <a:p>
            <a:pPr marL="914400" marR="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 sz="1300"/>
              <a:t>Which filters were applied before download</a:t>
            </a:r>
            <a:endParaRPr sz="1300"/>
          </a:p>
          <a:p>
            <a:pPr marL="914400" marR="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 sz="1300"/>
              <a:t>Which coordinate system do the file uses</a:t>
            </a:r>
            <a:endParaRPr sz="1300"/>
          </a:p>
          <a:p>
            <a:pPr marL="914400" marR="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 sz="1300"/>
              <a:t>Which assembly has been used to produce it</a:t>
            </a:r>
            <a:endParaRPr sz="1300"/>
          </a:p>
          <a:p>
            <a:pPr marL="457200" lvl="0" indent="0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47" name="Google Shape;647;p70"/>
          <p:cNvGraphicFramePr/>
          <p:nvPr/>
        </p:nvGraphicFramePr>
        <p:xfrm>
          <a:off x="4823850" y="2298513"/>
          <a:ext cx="4041175" cy="2270580"/>
        </p:xfrm>
        <a:graphic>
          <a:graphicData uri="http://schemas.openxmlformats.org/drawingml/2006/table">
            <a:tbl>
              <a:tblPr>
                <a:noFill/>
                <a:tableStyleId>{AC969CF7-ADC5-4383-A8E3-20DD6302E44E}</a:tableStyleId>
              </a:tblPr>
              <a:tblGrid>
                <a:gridCol w="98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rgbClr val="38761D"/>
                          </a:solidFill>
                        </a:rPr>
                        <a:t>source</a:t>
                      </a:r>
                      <a:endParaRPr sz="1100" b="1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i="1"/>
                        <a:t>Ensembl / SCREEN / ENCODE / FAANG</a:t>
                      </a:r>
                      <a:endParaRPr sz="1100" i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rgbClr val="38761D"/>
                          </a:solidFill>
                        </a:rPr>
                        <a:t>version</a:t>
                      </a:r>
                      <a:endParaRPr sz="1100" b="1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i="1"/>
                        <a:t>release, registry version, retrieval date</a:t>
                      </a:r>
                      <a:endParaRPr sz="1100" i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rgbClr val="38761D"/>
                          </a:solidFill>
                        </a:rPr>
                        <a:t>assembly</a:t>
                      </a:r>
                      <a:endParaRPr sz="1100" b="1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i="1"/>
                        <a:t>GRCh38, GRCh37, mm10, ARS-UCD, etc.</a:t>
                      </a:r>
                      <a:endParaRPr sz="1100" i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rgbClr val="38761D"/>
                          </a:solidFill>
                        </a:rPr>
                        <a:t>file</a:t>
                      </a:r>
                      <a:endParaRPr sz="1100" b="1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i="1"/>
                        <a:t>URL, accession, checksum if available</a:t>
                      </a:r>
                      <a:endParaRPr sz="1100" i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rgbClr val="38761D"/>
                          </a:solidFill>
                        </a:rPr>
                        <a:t>filters</a:t>
                      </a:r>
                      <a:endParaRPr sz="1100" b="1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i="1"/>
                        <a:t>feature class, tissue, assay, status, cell type</a:t>
                      </a:r>
                      <a:endParaRPr sz="1100" i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rgbClr val="38761D"/>
                          </a:solidFill>
                        </a:rPr>
                        <a:t>coordinate system</a:t>
                      </a:r>
                      <a:endParaRPr sz="1100" b="1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i="1"/>
                        <a:t>BED or GFF convention; seqname style</a:t>
                      </a:r>
                      <a:endParaRPr sz="1100" i="1"/>
                    </a:p>
                  </a:txBody>
                  <a:tcPr marL="91425" marR="91425" marT="91425" marB="91425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ENCODE cCREs annotation file</a:t>
            </a:r>
            <a:endParaRPr/>
          </a:p>
        </p:txBody>
      </p:sp>
      <p:pic>
        <p:nvPicPr>
          <p:cNvPr id="653" name="Google Shape;65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625" y="944650"/>
            <a:ext cx="7940408" cy="369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7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ENCODE cCREs annotation file</a:t>
            </a:r>
            <a:endParaRPr/>
          </a:p>
        </p:txBody>
      </p:sp>
      <p:sp>
        <p:nvSpPr>
          <p:cNvPr id="659" name="Google Shape;659;p72"/>
          <p:cNvSpPr txBox="1"/>
          <p:nvPr/>
        </p:nvSpPr>
        <p:spPr>
          <a:xfrm>
            <a:off x="1645920" y="905199"/>
            <a:ext cx="5146186" cy="105179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head -n 6 GRCh38-cCREs.bed</a:t>
            </a:r>
            <a:endParaRPr sz="7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chr1	10033	10250	EH38D4327497	EH38E2776516	</a:t>
            </a:r>
            <a:r>
              <a:rPr lang="en-GB" sz="7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pELS</a:t>
            </a:r>
            <a:endParaRPr sz="7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chr1	10385	10713	EH38D4327498	EH38E2776517	</a:t>
            </a:r>
            <a:r>
              <a:rPr lang="en-GB" sz="7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pELS</a:t>
            </a:r>
            <a:endParaRPr sz="7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chr1	16097	16381	EH38D6144701	EH38E3951272	CA-CTCF</a:t>
            </a:r>
            <a:endParaRPr sz="7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chr1	17343	17642	EH38D6144702	EH38E3951273	CA-TF</a:t>
            </a:r>
            <a:endParaRPr sz="7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chr1	29320	29517	EH38D6144703	EH38E3951274	CA</a:t>
            </a:r>
            <a:endParaRPr sz="7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chr1	66350	66509	EH38D4327503	EH38E3951275	CA</a:t>
            </a:r>
            <a:endParaRPr sz="7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60" name="Google Shape;66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450" y="2069950"/>
            <a:ext cx="7182551" cy="280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3"/>
          <p:cNvSpPr txBox="1">
            <a:spLocks noGrp="1"/>
          </p:cNvSpPr>
          <p:nvPr>
            <p:ph type="title"/>
          </p:nvPr>
        </p:nvSpPr>
        <p:spPr>
          <a:xfrm>
            <a:off x="337788" y="269869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Regulatory Features annotation file</a:t>
            </a:r>
            <a:endParaRPr/>
          </a:p>
        </p:txBody>
      </p:sp>
      <p:pic>
        <p:nvPicPr>
          <p:cNvPr id="666" name="Google Shape;66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775" y="788269"/>
            <a:ext cx="6938854" cy="4050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7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Regulatory Features annotation file</a:t>
            </a:r>
            <a:endParaRPr/>
          </a:p>
        </p:txBody>
      </p:sp>
      <p:sp>
        <p:nvSpPr>
          <p:cNvPr id="672" name="Google Shape;672;p74"/>
          <p:cNvSpPr txBox="1"/>
          <p:nvPr/>
        </p:nvSpPr>
        <p:spPr>
          <a:xfrm>
            <a:off x="157941" y="989652"/>
            <a:ext cx="8828117" cy="124646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head -n 8 Homo_sapiens.GRCh38.regulatory_features.v116.gff3 </a:t>
            </a:r>
            <a:endParaRPr sz="6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##</a:t>
            </a:r>
            <a:r>
              <a:rPr lang="en-GB" sz="6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gff</a:t>
            </a: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-version 3</a:t>
            </a:r>
            <a:endParaRPr sz="6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# Gene IDs in promoter attributes are from </a:t>
            </a:r>
            <a:r>
              <a:rPr lang="en-GB" sz="6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Ensembl</a:t>
            </a: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 release 114</a:t>
            </a:r>
            <a:endParaRPr sz="6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1	</a:t>
            </a:r>
            <a:r>
              <a:rPr lang="en-GB" sz="6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Ensembl</a:t>
            </a: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	promoter	10936	11436	.	.	.	ID=ENSR1_958;extended_start=9953;extended_end=11436;gene_id=ENSG00000290825;gene_name=DDX11L16;gene_biotype=</a:t>
            </a:r>
            <a:r>
              <a:rPr lang="en-GB" sz="6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lncRNA;color</a:t>
            </a: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=#ff0000</a:t>
            </a:r>
            <a:endParaRPr sz="6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1	</a:t>
            </a:r>
            <a:r>
              <a:rPr lang="en-GB" sz="6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Ensembl</a:t>
            </a: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6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CTCF_binding_site</a:t>
            </a: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	11222	11243	.	+	.	ID=ENSR1_53X2;color=#40e0d0</a:t>
            </a:r>
            <a:endParaRPr sz="6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1	</a:t>
            </a:r>
            <a:r>
              <a:rPr lang="en-GB" sz="6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Ensembl</a:t>
            </a: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6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CTCF_binding_site</a:t>
            </a: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	11280	11301	.	+	.	ID=ENSR1_53X9;color=#40e0d0</a:t>
            </a:r>
            <a:endParaRPr sz="6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1	</a:t>
            </a:r>
            <a:r>
              <a:rPr lang="en-GB" sz="6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Ensembl</a:t>
            </a: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6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CTCF_binding_site</a:t>
            </a: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	11339	11360	.	+	.	ID=ENSR1_53XJ;color=#40e0d0</a:t>
            </a:r>
            <a:endParaRPr sz="6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1	</a:t>
            </a:r>
            <a:r>
              <a:rPr lang="en-GB" sz="6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Ensembl</a:t>
            </a: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	enhancer	11437	11649	.	.	.	ID=ENSR1_88N;color=#faca00</a:t>
            </a:r>
            <a:endParaRPr sz="6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1	</a:t>
            </a:r>
            <a:r>
              <a:rPr lang="en-GB" sz="6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Ensembl</a:t>
            </a:r>
            <a:r>
              <a:rPr lang="en-GB" sz="6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	enhancer	12686	14671	.	.	.	ID=ENSR1_CZ;color=#faca00</a:t>
            </a:r>
            <a:endParaRPr sz="6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73" name="Google Shape;67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4100" y="2433525"/>
            <a:ext cx="5755939" cy="24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7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Regulatory Activity file </a:t>
            </a:r>
            <a:endParaRPr/>
          </a:p>
        </p:txBody>
      </p:sp>
      <p:pic>
        <p:nvPicPr>
          <p:cNvPr id="679" name="Google Shape;679;p7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900" y="944675"/>
            <a:ext cx="8322798" cy="37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Regulatory Activity file </a:t>
            </a:r>
            <a:endParaRPr/>
          </a:p>
        </p:txBody>
      </p:sp>
      <p:sp>
        <p:nvSpPr>
          <p:cNvPr id="685" name="Google Shape;685;p76"/>
          <p:cNvSpPr txBox="1"/>
          <p:nvPr/>
        </p:nvSpPr>
        <p:spPr>
          <a:xfrm>
            <a:off x="732915" y="1058338"/>
            <a:ext cx="7678169" cy="105179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head -n 2 Homo_sapiens.GRCh38.regulatory_activity.tsv </a:t>
            </a:r>
            <a:endParaRPr sz="700" b="1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feature_id	feature_type	A549 (m, 58 y)	A673 (f, 15 y)	adrenal gland (f, 53 y)	…	vagina (f, 53 y)</a:t>
            </a:r>
            <a:endParaRPr sz="700" b="1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ENSR1_958	promoter	ACTIVE	ACTIVE	ACTIVE	…	ACTIVE</a:t>
            </a:r>
            <a:endParaRPr sz="700" b="1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ENSR1_88N	enhancer	ACTIVE	ACTIVE	ACTIVE	…	ACTIVE</a:t>
            </a:r>
            <a:endParaRPr sz="700" b="1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ENSR1_CZ		enhancer	ACTIVE	ACTIVE	ACTIVE	…	ACTIVE</a:t>
            </a:r>
            <a:endParaRPr sz="700" b="1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ENSR1_B48	enhancer	ACTIVE	INACTIVE	ACTIVE	…	ACTIVE</a:t>
            </a:r>
            <a:endParaRPr sz="700" b="1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ENSR1_986	enhancer	INACTIVE	INACTIVE	ACTIVE	…	ACTIVE</a:t>
            </a:r>
            <a:endParaRPr sz="700" b="1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86" name="Google Shape;68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625" y="2247375"/>
            <a:ext cx="7882750" cy="24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 Epigenomes Metadata</a:t>
            </a:r>
            <a:endParaRPr/>
          </a:p>
        </p:txBody>
      </p:sp>
      <p:sp>
        <p:nvSpPr>
          <p:cNvPr id="692" name="Google Shape;692;p77"/>
          <p:cNvSpPr txBox="1"/>
          <p:nvPr/>
        </p:nvSpPr>
        <p:spPr>
          <a:xfrm>
            <a:off x="1030800" y="1050025"/>
            <a:ext cx="6848000" cy="80403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head -n 4 Homo_sapiens.GRCh38.metadata.2025-12.csv</a:t>
            </a:r>
            <a:endParaRPr sz="7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epigenome,"</a:t>
            </a:r>
            <a:r>
              <a:rPr lang="en-GB" sz="7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biosample</a:t>
            </a: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7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term","tissue</a:t>
            </a: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7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group",sex,"life</a:t>
            </a: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 stage",age,"</a:t>
            </a:r>
            <a:r>
              <a:rPr lang="en-GB" sz="7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biosample</a:t>
            </a: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7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material",assays</a:t>
            </a:r>
            <a:endParaRPr sz="7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"A549 (m, 58 y)","A549","lung","male","adult","58 </a:t>
            </a:r>
            <a:r>
              <a:rPr lang="en-GB" sz="7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y","cell</a:t>
            </a: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 line","</a:t>
            </a:r>
            <a:r>
              <a:rPr lang="en-GB" sz="7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ATA</a:t>
            </a: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C-</a:t>
            </a:r>
            <a:r>
              <a:rPr lang="en-GB" sz="7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seq</a:t>
            </a: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, CTCF, H3K4me3, DNase-</a:t>
            </a:r>
            <a:r>
              <a:rPr lang="en-GB" sz="7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seq</a:t>
            </a: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7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"A673 (f, 15 y)","A673","muscle","female","child","15 </a:t>
            </a:r>
            <a:r>
              <a:rPr lang="en-GB" sz="7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y","cell</a:t>
            </a: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7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line","CTCF</a:t>
            </a: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, H3K27ac, H3K27me3, H3K4me1, H3K4me3, DNase-</a:t>
            </a:r>
            <a:r>
              <a:rPr lang="en-GB" sz="7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seq</a:t>
            </a: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7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"ACC112 (m, 70 y)","ACC112","epithelium","male","adult","70 </a:t>
            </a:r>
            <a:r>
              <a:rPr lang="en-GB" sz="700" b="1" dirty="0" err="1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y","cell</a:t>
            </a:r>
            <a:r>
              <a:rPr lang="en-GB" sz="700" b="1" dirty="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 line","H3K27ac, H3K27me3, H3K4me1, H3K4me3"</a:t>
            </a:r>
            <a:endParaRPr sz="700" b="1" dirty="0">
              <a:solidFill>
                <a:srgbClr val="FFE5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93" name="Google Shape;69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800" y="2202075"/>
            <a:ext cx="6956676" cy="2559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7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Ensembl Regulation Epigenome Peaks and Signals</a:t>
            </a:r>
            <a:endParaRPr/>
          </a:p>
        </p:txBody>
      </p:sp>
      <p:pic>
        <p:nvPicPr>
          <p:cNvPr id="699" name="Google Shape;69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62" y="1149300"/>
            <a:ext cx="8240475" cy="301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Questions?</a:t>
            </a:r>
            <a:endParaRPr/>
          </a:p>
        </p:txBody>
      </p:sp>
      <p:grpSp>
        <p:nvGrpSpPr>
          <p:cNvPr id="705" name="Google Shape;705;p79"/>
          <p:cNvGrpSpPr/>
          <p:nvPr/>
        </p:nvGrpSpPr>
        <p:grpSpPr>
          <a:xfrm>
            <a:off x="1788346" y="1314725"/>
            <a:ext cx="776475" cy="2406685"/>
            <a:chOff x="3226825" y="1139765"/>
            <a:chExt cx="776475" cy="2406685"/>
          </a:xfrm>
        </p:grpSpPr>
        <p:sp>
          <p:nvSpPr>
            <p:cNvPr id="706" name="Google Shape;706;p79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274E1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7" name="Google Shape;707;p79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274E1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8" name="Google Shape;708;p79"/>
          <p:cNvGrpSpPr/>
          <p:nvPr/>
        </p:nvGrpSpPr>
        <p:grpSpPr>
          <a:xfrm>
            <a:off x="6367779" y="1366550"/>
            <a:ext cx="776475" cy="2406685"/>
            <a:chOff x="3226825" y="1139765"/>
            <a:chExt cx="776475" cy="2406685"/>
          </a:xfrm>
        </p:grpSpPr>
        <p:sp>
          <p:nvSpPr>
            <p:cNvPr id="709" name="Google Shape;709;p79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B6D7A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0" name="Google Shape;710;p79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B6D7A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1" name="Google Shape;711;p79"/>
          <p:cNvGrpSpPr/>
          <p:nvPr/>
        </p:nvGrpSpPr>
        <p:grpSpPr>
          <a:xfrm>
            <a:off x="2933204" y="1366550"/>
            <a:ext cx="776475" cy="2406685"/>
            <a:chOff x="3226825" y="1139765"/>
            <a:chExt cx="776475" cy="2406685"/>
          </a:xfrm>
        </p:grpSpPr>
        <p:sp>
          <p:nvSpPr>
            <p:cNvPr id="712" name="Google Shape;712;p79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3" name="Google Shape;713;p79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4" name="Google Shape;714;p79"/>
          <p:cNvGrpSpPr/>
          <p:nvPr/>
        </p:nvGrpSpPr>
        <p:grpSpPr>
          <a:xfrm>
            <a:off x="4078063" y="1366550"/>
            <a:ext cx="776475" cy="2406685"/>
            <a:chOff x="3226825" y="1139765"/>
            <a:chExt cx="776475" cy="2406685"/>
          </a:xfrm>
        </p:grpSpPr>
        <p:sp>
          <p:nvSpPr>
            <p:cNvPr id="715" name="Google Shape;715;p79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6" name="Google Shape;716;p79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7" name="Google Shape;717;p79"/>
          <p:cNvGrpSpPr/>
          <p:nvPr/>
        </p:nvGrpSpPr>
        <p:grpSpPr>
          <a:xfrm>
            <a:off x="5222921" y="1366550"/>
            <a:ext cx="776475" cy="2406685"/>
            <a:chOff x="3226825" y="1139765"/>
            <a:chExt cx="776475" cy="2406685"/>
          </a:xfrm>
        </p:grpSpPr>
        <p:sp>
          <p:nvSpPr>
            <p:cNvPr id="718" name="Google Shape;718;p79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93C47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" name="Google Shape;719;p79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93C47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80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</p:spPr>
        <p:txBody>
          <a:bodyPr spcFirstLastPara="1" wrap="square" lIns="0" tIns="0" rIns="91425" bIns="45700" anchor="ctr" anchorCtr="0">
            <a:noAutofit/>
          </a:bodyPr>
          <a:lstStyle/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726" name="Google Shape;726;p80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</p:spPr>
        <p:txBody>
          <a:bodyPr spcFirstLastPara="1" wrap="square" lIns="288000" tIns="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/>
              <a:t>Hands-on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8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</a:t>
            </a:r>
            <a:endParaRPr/>
          </a:p>
        </p:txBody>
      </p:sp>
      <p:sp>
        <p:nvSpPr>
          <p:cNvPr id="732" name="Google Shape;732;p81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8511900" cy="3642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Follow the example scripts that:</a:t>
            </a:r>
            <a:endParaRPr/>
          </a:p>
          <a:p>
            <a:pPr marL="457200" marR="0" lvl="0" indent="-330200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 sz="1600"/>
              <a:t>Read Ensembl Regulatory Features and SCREEN cCREs subsets.</a:t>
            </a:r>
            <a:endParaRPr/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sz="1600"/>
              <a:t>Read user-defined regions and open chromatin peak files.</a:t>
            </a:r>
            <a:endParaRPr/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sz="1600"/>
              <a:t>Inspect loaded datasets.</a:t>
            </a:r>
            <a:endParaRPr/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sz="1600"/>
              <a:t>Overlap query regions with annotations.</a:t>
            </a:r>
            <a:endParaRPr/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sz="1600"/>
              <a:t>Filter by feature class.</a:t>
            </a:r>
            <a:endParaRPr/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sz="1600"/>
              <a:t>Identify specific features in the query regions.</a:t>
            </a:r>
            <a:endParaRPr/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 sz="1600"/>
              <a:t>Define active features using open chromatin evidence peaks.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33" name="Google Shape;733;p81"/>
          <p:cNvPicPr preferRelativeResize="0"/>
          <p:nvPr/>
        </p:nvPicPr>
        <p:blipFill rotWithShape="1">
          <a:blip r:embed="rId3">
            <a:alphaModFix/>
          </a:blip>
          <a:srcRect t="14858" b="13570"/>
          <a:stretch/>
        </p:blipFill>
        <p:spPr>
          <a:xfrm>
            <a:off x="7300425" y="0"/>
            <a:ext cx="1843575" cy="13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8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 packages you must</a:t>
            </a:r>
            <a:endParaRPr/>
          </a:p>
        </p:txBody>
      </p:sp>
      <p:sp>
        <p:nvSpPr>
          <p:cNvPr id="739" name="Google Shape;739;p82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4948200" cy="3642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GB" b="1">
                <a:latin typeface="Courier New"/>
                <a:ea typeface="Courier New"/>
                <a:cs typeface="Courier New"/>
                <a:sym typeface="Courier New"/>
              </a:rPr>
              <a:t>Rtracklayer:</a:t>
            </a:r>
            <a:r>
              <a:rPr lang="en-GB"/>
              <a:t> Importing BED/GFF/GFF3 files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GB" b="1">
                <a:latin typeface="Courier New"/>
                <a:ea typeface="Courier New"/>
                <a:cs typeface="Courier New"/>
                <a:sym typeface="Courier New"/>
              </a:rPr>
              <a:t>GRanges:</a:t>
            </a:r>
            <a:r>
              <a:rPr lang="en-GB"/>
              <a:t> Storing, manipulating, and analyzing genomic intervals.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GB" b="1">
                <a:latin typeface="Courier New"/>
                <a:ea typeface="Courier New"/>
                <a:cs typeface="Courier New"/>
                <a:sym typeface="Courier New"/>
              </a:rPr>
              <a:t>findOverlaps:</a:t>
            </a:r>
            <a:r>
              <a:rPr lang="en-GB"/>
              <a:t> For variant or region intersection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GB" b="1">
                <a:latin typeface="Courier New"/>
                <a:ea typeface="Courier New"/>
                <a:cs typeface="Courier New"/>
                <a:sym typeface="Courier New"/>
              </a:rPr>
              <a:t>dplyr, stringr:</a:t>
            </a:r>
            <a:r>
              <a:rPr lang="en-GB"/>
              <a:t> Data manipulation with functions for filtering, selecting, summarizing, and arranging data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GB" b="1">
                <a:latin typeface="Courier New"/>
                <a:ea typeface="Courier New"/>
                <a:cs typeface="Courier New"/>
                <a:sym typeface="Courier New"/>
              </a:rPr>
              <a:t>ggplot2:</a:t>
            </a:r>
            <a:r>
              <a:rPr lang="en-GB">
                <a:highlight>
                  <a:srgbClr val="FFFFFF"/>
                </a:highlight>
              </a:rPr>
              <a:t> highly-customizable data visualization</a:t>
            </a:r>
            <a:endParaRPr/>
          </a:p>
        </p:txBody>
      </p:sp>
      <p:pic>
        <p:nvPicPr>
          <p:cNvPr id="740" name="Google Shape;740;p82" title="R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2150" y="1488424"/>
            <a:ext cx="2895398" cy="223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8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Python packages you must</a:t>
            </a:r>
            <a:endParaRPr/>
          </a:p>
        </p:txBody>
      </p:sp>
      <p:sp>
        <p:nvSpPr>
          <p:cNvPr id="746" name="Google Shape;746;p83"/>
          <p:cNvSpPr txBox="1">
            <a:spLocks noGrp="1"/>
          </p:cNvSpPr>
          <p:nvPr>
            <p:ph type="body" idx="1"/>
          </p:nvPr>
        </p:nvSpPr>
        <p:spPr>
          <a:xfrm>
            <a:off x="338150" y="889825"/>
            <a:ext cx="4948200" cy="3642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</a:pPr>
            <a:r>
              <a:rPr lang="en-GB" b="1">
                <a:latin typeface="Courier New"/>
                <a:ea typeface="Courier New"/>
                <a:cs typeface="Courier New"/>
                <a:sym typeface="Courier New"/>
              </a:rPr>
              <a:t>PyRanges: </a:t>
            </a:r>
            <a:r>
              <a:rPr lang="en-GB"/>
              <a:t>Storing, manipulating, and analyzing genomic intervals.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GB" b="1">
                <a:latin typeface="Courier New"/>
                <a:ea typeface="Courier New"/>
                <a:cs typeface="Courier New"/>
                <a:sym typeface="Courier New"/>
              </a:rPr>
              <a:t>pandas, re: </a:t>
            </a:r>
            <a:r>
              <a:rPr lang="en-GB"/>
              <a:t>Data manipulation and annotation parsing.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GB" b="1">
                <a:latin typeface="Courier New"/>
                <a:ea typeface="Courier New"/>
                <a:cs typeface="Courier New"/>
                <a:sym typeface="Courier New"/>
              </a:rPr>
              <a:t>gffutils:</a:t>
            </a:r>
            <a:r>
              <a:rPr lang="en-GB"/>
              <a:t> Efficient querying and management of GFF/GFF3 feature annotations.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GB" b="1">
                <a:latin typeface="Courier New"/>
                <a:ea typeface="Courier New"/>
                <a:cs typeface="Courier New"/>
                <a:sym typeface="Courier New"/>
              </a:rPr>
              <a:t>matplotlib, seaborn: </a:t>
            </a:r>
            <a:r>
              <a:rPr lang="en-GB"/>
              <a:t>Highly customizable data visualization.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47" name="Google Shape;747;p83" title="python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6425" y="1385448"/>
            <a:ext cx="2452100" cy="245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EMBL template">
      <a:dk1>
        <a:srgbClr val="000000"/>
      </a:dk1>
      <a:lt1>
        <a:srgbClr val="FFFFFF"/>
      </a:lt1>
      <a:dk2>
        <a:srgbClr val="007B53"/>
      </a:dk2>
      <a:lt2>
        <a:srgbClr val="707372"/>
      </a:lt2>
      <a:accent1>
        <a:srgbClr val="18974C"/>
      </a:accent1>
      <a:accent2>
        <a:srgbClr val="A1BE1F"/>
      </a:accent2>
      <a:accent3>
        <a:srgbClr val="F49E17"/>
      </a:accent3>
      <a:accent4>
        <a:srgbClr val="F4C61F"/>
      </a:accent4>
      <a:accent5>
        <a:srgbClr val="D41645"/>
      </a:accent5>
      <a:accent6>
        <a:srgbClr val="3B6FB6"/>
      </a:accent6>
      <a:hlink>
        <a:srgbClr val="2A57A3"/>
      </a:hlink>
      <a:folHlink>
        <a:srgbClr val="7345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2328</Words>
  <Application>Microsoft Macintosh PowerPoint</Application>
  <PresentationFormat>On-screen Show (16:9)</PresentationFormat>
  <Paragraphs>276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Arial Black</vt:lpstr>
      <vt:lpstr>Roboto</vt:lpstr>
      <vt:lpstr>Roboto Thin</vt:lpstr>
      <vt:lpstr>Courier New</vt:lpstr>
      <vt:lpstr>Libre Franklin Thin</vt:lpstr>
      <vt:lpstr>Libre Franklin Medium</vt:lpstr>
      <vt:lpstr>Arial</vt:lpstr>
      <vt:lpstr>Franklin Gothic</vt:lpstr>
      <vt:lpstr>Inter</vt:lpstr>
      <vt:lpstr>Libre Franklin</vt:lpstr>
      <vt:lpstr>Roboto Medium</vt:lpstr>
      <vt:lpstr>Custom Design</vt:lpstr>
      <vt:lpstr>Alternative Access to Regulatory Annotations</vt:lpstr>
      <vt:lpstr>Session map</vt:lpstr>
      <vt:lpstr>PowerPoint Presentation</vt:lpstr>
      <vt:lpstr>PowerPoint Presentation</vt:lpstr>
      <vt:lpstr>PowerPoint Presentation</vt:lpstr>
      <vt:lpstr>Commonly-used formats: BED and BigBed format</vt:lpstr>
      <vt:lpstr>Commonly-used formats: BED and BigBed format</vt:lpstr>
      <vt:lpstr>PowerPoint Presentation</vt:lpstr>
      <vt:lpstr>Commonly-used formats: WIG and bigWig format</vt:lpstr>
      <vt:lpstr>Commonly-used formats: bedGraph format</vt:lpstr>
      <vt:lpstr>Commonly-used formats: GFF3/GTF format</vt:lpstr>
      <vt:lpstr>PowerPoint Presentation</vt:lpstr>
      <vt:lpstr>Commonly-used formats: GFF3/GTF format</vt:lpstr>
      <vt:lpstr>Commonly-used formats: Summary table</vt:lpstr>
      <vt:lpstr>Recommendations when working with multiple files</vt:lpstr>
      <vt:lpstr>ENCODE cCREs annotation file</vt:lpstr>
      <vt:lpstr>ENCODE cCREs annotation file</vt:lpstr>
      <vt:lpstr>Ensembl Regulatory Features annotation file</vt:lpstr>
      <vt:lpstr>Ensembl Regulatory Features annotation file</vt:lpstr>
      <vt:lpstr>Ensembl Regulatory Activity file </vt:lpstr>
      <vt:lpstr>Ensembl Regulatory Activity file </vt:lpstr>
      <vt:lpstr>Ensembl Regulation Epigenomes Metadata</vt:lpstr>
      <vt:lpstr>Ensembl Regulation Epigenome Peaks and Signals</vt:lpstr>
      <vt:lpstr>Questions?</vt:lpstr>
      <vt:lpstr>PowerPoint Presentation</vt:lpstr>
      <vt:lpstr>Activity</vt:lpstr>
      <vt:lpstr>R packages you must</vt:lpstr>
      <vt:lpstr>Python packages you must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Louisse Paola Mirabueno</cp:lastModifiedBy>
  <cp:revision>6</cp:revision>
  <dcterms:modified xsi:type="dcterms:W3CDTF">2026-09-02T22:41:01Z</dcterms:modified>
</cp:coreProperties>
</file>