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703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0"/>
    </p:embeddedFont>
    <p:embeddedFont>
      <p:font typeface="Franklin Gothic" panose="020B0603020102020204" pitchFamily="34" charset="0"/>
      <p:regular r:id="rId11"/>
      <p:bold r:id="rId12"/>
      <p:italic r:id="rId13"/>
      <p:boldItalic r:id="rId14"/>
    </p:embeddedFont>
    <p:embeddedFont>
      <p:font typeface="Libre Franklin" pitchFamily="2" charset="77"/>
      <p:regular r:id="rId15"/>
      <p:bold r:id="rId16"/>
      <p:italic r:id="rId17"/>
      <p:boldItalic r:id="rId18"/>
    </p:embeddedFont>
    <p:embeddedFont>
      <p:font typeface="Libre Franklin Medium" pitchFamily="2" charset="77"/>
      <p:regular r:id="rId19"/>
      <p:italic r:id="rId20"/>
    </p:embeddedFont>
    <p:embeddedFont>
      <p:font typeface="Libre Franklin Thin" pitchFamily="2" charset="77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6VwyOKqKQ/QkyIBHPgU0qaple/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893089-5CFA-E5D7-08F8-CFD3685E3B45}" name="Louisse Paola Mirabueno" initials="LPM" userId="Louisse Paola Mirabuen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58"/>
  </p:normalViewPr>
  <p:slideViewPr>
    <p:cSldViewPr snapToGrid="0">
      <p:cViewPr>
        <p:scale>
          <a:sx n="104" d="100"/>
          <a:sy n="104" d="100"/>
        </p:scale>
        <p:origin x="1088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customschemas.google.com/relationships/presentationmetadata" Target="metadata"/><Relationship Id="rId28" Type="http://schemas.microsoft.com/office/2018/10/relationships/authors" Target="author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2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2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6" name="Google Shape;8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4" name="Google Shape;894;p155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5" name="Google Shape;895;p1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4" name="Google Shape;904;p156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5" name="Google Shape;905;p1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1" name="Google Shape;911;p157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You can also host your own Ensembl training course by inviting an Ensembl colleague to deliver Ensembl training at your institute. We can deliver these courses both remotely or in-person. You can find more information on the Ensembl Training website, or by emailing us directly at helpdesk@ensembl.org</a:t>
            </a:r>
            <a:endParaRPr/>
          </a:p>
        </p:txBody>
      </p:sp>
      <p:sp>
        <p:nvSpPr>
          <p:cNvPr id="912" name="Google Shape;912;p1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1" name="Google Shape;921;p158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2" name="Google Shape;922;p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p159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8" name="Google Shape;948;p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png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6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6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6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6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5" name="Google Shape;25;p16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4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5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6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16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6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6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6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6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3_Title_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6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6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4_Title_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6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6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6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6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6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6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5_Title_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6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6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6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6_Title_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7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7_Title_Slid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7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7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7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7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8_Title_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7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7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7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9_Title_Slid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7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7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0_Title_Slid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7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7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7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1_Title_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7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7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7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7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2_Title_Slid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7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7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7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7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3_Title_Slid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7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7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7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7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4_Title_Slide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7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7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7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7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5_Title_Slide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7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7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7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7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6_Title_Slid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18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8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8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18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6" name="Google Shape;166;p1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7_Title_Slid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8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8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8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8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4" name="Google Shape;174;p1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8_Title_Slid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18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8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18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2" name="Google Shape;182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8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7" name="Google Shape;187;p18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18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18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0" name="Google Shape;190;p1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8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18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18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6" name="Google Shape;196;p1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8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8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18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18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18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" name="Google Shape;204;p18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8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18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18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18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8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5" name="Google Shape;215;p18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18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18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18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" name="Google Shape;219;p18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8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3" name="Google Shape;223;p18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18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18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18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18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8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1" name="Google Shape;231;p18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18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18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18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18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" name="Google Shape;236;p18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9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0" name="Google Shape;240;p19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19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19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19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4" name="Google Shape;244;p19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19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9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9" name="Google Shape;249;p19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19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19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19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3" name="Google Shape;253;p19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" name="Google Shape;254;p19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19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19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19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19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9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19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63" name="Google Shape;263;p19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64" name="Google Shape;264;p19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65" name="Google Shape;265;p19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6" name="Google Shape;266;p19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19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19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19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19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19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9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19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19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19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8" name="Google Shape;278;p19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79" name="Google Shape;279;p19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80" name="Google Shape;280;p19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1" name="Google Shape;281;p19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" name="Google Shape;282;p19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19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19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19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19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19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9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19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19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19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4" name="Google Shape;294;p19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5" name="Google Shape;295;p19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6" name="Google Shape;296;p19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97" name="Google Shape;297;p19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19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19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2" name="Google Shape;302;p19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19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19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9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19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9" name="Google Shape;309;p19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0" name="Google Shape;310;p19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9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19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19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19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19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0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0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20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1" name="Google Shape;331;p20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2" name="Google Shape;332;p20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20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20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20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7" name="Google Shape;337;p20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8" name="Google Shape;338;p20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41" name="Google Shape;341;p20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20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20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20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20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20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7" name="Google Shape;347;p20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8" name="Google Shape;348;p20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20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20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0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20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20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20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20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20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20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20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2" name="Google Shape;362;p20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3" name="Google Shape;363;p20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0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20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20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20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20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20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20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20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20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20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6" name="Google Shape;376;p20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7" name="Google Shape;377;p20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20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20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20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20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20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20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6" name="Google Shape;386;p20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20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0" name="Google Shape;390;p20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1" name="Google Shape;391;p20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2" name="Google Shape;392;p20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20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20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p20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6" name="Google Shape;396;p20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7" name="Google Shape;397;p20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0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20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20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20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20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20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6" name="Google Shape;406;p20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7" name="Google Shape;407;p20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8" name="Google Shape;408;p20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20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0" name="Google Shape;410;p20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p20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20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20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20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0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20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20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0" name="Google Shape;420;p20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1" name="Google Shape;421;p20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20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23" name="Google Shape;423;p20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24" name="Google Shape;424;p20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5" name="Google Shape;425;p20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6" name="Google Shape;426;p20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7" name="Google Shape;427;p20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20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20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2" name="Google Shape;432;p20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3" name="Google Shape;433;p20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4" name="Google Shape;434;p20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5" name="Google Shape;435;p20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0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7" name="Google Shape;437;p20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8" name="Google Shape;438;p20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9" name="Google Shape;439;p20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40" name="Google Shape;440;p20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41" name="Google Shape;441;p20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2" name="Google Shape;442;p20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3" name="Google Shape;443;p20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1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21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21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21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9" name="Google Shape;449;p21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21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1" name="Google Shape;451;p21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21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3" name="Google Shape;453;p21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54" name="Google Shape;454;p21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55" name="Google Shape;455;p21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6" name="Google Shape;456;p21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7" name="Google Shape;457;p21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8" name="Google Shape;458;p21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1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1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21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3" name="Google Shape;463;p21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4" name="Google Shape;464;p21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21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21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7" name="Google Shape;467;p21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8" name="Google Shape;468;p21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1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21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21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21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21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5" name="Google Shape;475;p21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21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21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21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9" name="Google Shape;479;p21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0" name="Google Shape;480;p21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21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2" name="Google Shape;482;p21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3" name="Google Shape;483;p21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21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1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21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21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9" name="Google Shape;489;p21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0" name="Google Shape;490;p21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21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2" name="Google Shape;492;p21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3" name="Google Shape;493;p21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4" name="Google Shape;494;p21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7" name="Google Shape;497;p2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8" name="Google Shape;498;p2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6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511" name="Google Shape;511;p60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47" cy="37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429ED6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2" name="Google Shape;512;p6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3" name="Google Shape;513;p6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6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- grey">
  <p:cSld name="Staff Association white_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517" name="Google Shape;517;p5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58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9" name="Google Shape;519;p5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2 - grey">
  <p:cSld name="Two Elements_grey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66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4" name="Google Shape;524;p6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5" name="Google Shape;525;p6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6" name="Google Shape;526;p6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- white">
  <p:cSld name="Staff Association whit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57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31" name="Google Shape;531;p5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_Ensembl">
  <p:cSld name="2_Title_Slide_Ensembl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6" name="Google Shape;536;p69"/>
          <p:cNvSpPr txBox="1">
            <a:spLocks noGrp="1"/>
          </p:cNvSpPr>
          <p:nvPr>
            <p:ph type="body" idx="2"/>
          </p:nvPr>
        </p:nvSpPr>
        <p:spPr>
          <a:xfrm>
            <a:off x="640557" y="3896004"/>
            <a:ext cx="3037200" cy="40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400" b="1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537" name="Google Shape;537;p6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49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538" name="Google Shape;538;p69"/>
          <p:cNvSpPr txBox="1">
            <a:spLocks noGrp="1"/>
          </p:cNvSpPr>
          <p:nvPr>
            <p:ph type="body" idx="4"/>
          </p:nvPr>
        </p:nvSpPr>
        <p:spPr>
          <a:xfrm>
            <a:off x="640557" y="2310298"/>
            <a:ext cx="4867800" cy="686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9" name="Google Shape;539;p6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40" name="Google Shape;540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6" y="-5821"/>
            <a:ext cx="4281513" cy="328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7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6" name="Google Shape;546;p7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7" name="Google Shape;547;p7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8" name="Google Shape;548;p7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9" name="Google Shape;549;p7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0" name="Google Shape;550;p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5" y="-5821"/>
            <a:ext cx="4281517" cy="328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6" name="Google Shape;556;p7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7" name="Google Shape;557;p7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8" name="Google Shape;558;p7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9" name="Google Shape;559;p7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0" name="Google Shape;560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6" y="-5821"/>
            <a:ext cx="4281513" cy="328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6" name="Google Shape;566;p7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7" name="Google Shape;567;p7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8" name="Google Shape;568;p7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9" name="Google Shape;569;p7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0" name="Google Shape;570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6" y="-5821"/>
            <a:ext cx="4281513" cy="328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7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6" name="Google Shape;576;p7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7" name="Google Shape;577;p7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8" name="Google Shape;578;p7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9" name="Google Shape;579;p7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80" name="Google Shape;580;p7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6" y="-5821"/>
            <a:ext cx="4281513" cy="328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7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6" name="Google Shape;586;p7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7" name="Google Shape;587;p7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8" name="Google Shape;588;p7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9" name="Google Shape;589;p7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90" name="Google Shape;590;p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6" y="-5821"/>
            <a:ext cx="4281509" cy="328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7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6" name="Google Shape;596;p7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7" name="Google Shape;597;p7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8" name="Google Shape;598;p7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9" name="Google Shape;599;p7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0" name="Google Shape;600;p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6" y="-5821"/>
            <a:ext cx="4281509" cy="328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7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6" name="Google Shape;606;p7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7" name="Google Shape;607;p7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8" name="Google Shape;608;p7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9" name="Google Shape;609;p7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6" y="-5821"/>
            <a:ext cx="4281509" cy="328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6" name="Google Shape;616;p7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7" name="Google Shape;617;p7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8" name="Google Shape;618;p7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9" name="Google Shape;619;p7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20" name="Google Shape;620;p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7" y="-5821"/>
            <a:ext cx="4281509" cy="328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7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7" name="Google Shape;627;p7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8" name="Google Shape;628;p7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9" name="Google Shape;629;p7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30" name="Google Shape;630;p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7" y="-5821"/>
            <a:ext cx="4281509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8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8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7" name="Google Shape;637;p8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8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8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0" name="Google Shape;640;p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5" y="-5821"/>
            <a:ext cx="4281517" cy="328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8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6" name="Google Shape;646;p8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7" name="Google Shape;647;p8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8" name="Google Shape;648;p8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9" name="Google Shape;649;p8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0" name="Google Shape;650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7" y="-5821"/>
            <a:ext cx="4281509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8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6" name="Google Shape;656;p8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7" name="Google Shape;657;p8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8" name="Google Shape;658;p8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9" name="Google Shape;659;p8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0" name="Google Shape;660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2487" y="-5821"/>
            <a:ext cx="4281505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8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6" name="Google Shape;666;p8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7" name="Google Shape;667;p8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8" name="Google Shape;668;p8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9" name="Google Shape;669;p8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70" name="Google Shape;670;p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84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4" name="Google Shape;674;p84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5" name="Google Shape;675;p8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84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7" name="Google Shape;677;p84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78" name="Google Shape;678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85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3" name="Google Shape;683;p85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4" name="Google Shape;684;p8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85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6" name="Google Shape;686;p85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87" name="Google Shape;68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6625" y="4104362"/>
            <a:ext cx="2822390" cy="8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p86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92" name="Google Shape;692;p86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3" name="Google Shape;693;p86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4" name="Google Shape;694;p86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5" name="Google Shape;695;p8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6" name="Google Shape;696;p8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8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8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01" name="Google Shape;701;p87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2" name="Google Shape;702;p87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3" name="Google Shape;703;p87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4" name="Google Shape;704;p8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5" name="Google Shape;705;p8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8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8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10" name="Google Shape;710;p88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1" name="Google Shape;711;p88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2" name="Google Shape;712;p88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3" name="Google Shape;713;p8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4" name="Google Shape;714;p8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8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9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718" name="Google Shape;718;p89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89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0" name="Google Shape;720;p8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1" name="Google Shape;721;p8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8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9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6" name="Google Shape;726;p90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9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41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91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1" name="Google Shape;731;p91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9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p92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6" name="Google Shape;736;p92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9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0" name="Google Shape;740;p93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1" name="Google Shape;741;p93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3" name="Google Shape;743;p94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4" name="Google Shape;744;p9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94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6" name="Google Shape;746;p94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7" name="Google Shape;747;p94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8" name="Google Shape;748;p9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9" name="Google Shape;749;p9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9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5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53" name="Google Shape;753;p95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4" name="Google Shape;754;p95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5" name="Google Shape;755;p95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6" name="Google Shape;756;p95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7" name="Google Shape;757;p9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8" name="Google Shape;758;p9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9" name="Google Shape;759;p9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9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6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9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96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765" name="Google Shape;765;p96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766" name="Google Shape;766;p96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767" name="Google Shape;767;p96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68" name="Google Shape;768;p96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69" name="Google Shape;769;p96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0" name="Google Shape;770;p96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1" name="Google Shape;771;p96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2" name="Google Shape;772;p96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3" name="Google Shape;773;p9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4" name="Google Shape;774;p9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9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98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8" name="Google Shape;778;p9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9" name="Google Shape;779;p98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0" name="Google Shape;780;p98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1" name="Google Shape;781;p98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2" name="Google Shape;782;p98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3" name="Google Shape;783;p9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4" name="Google Shape;784;p9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9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88" name="Google Shape;788;p99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9" name="Google Shape;789;p99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0" name="Google Shape;790;p99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791" name="Google Shape;791;p99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792" name="Google Shape;792;p99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3" name="Google Shape;793;p9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4" name="Google Shape;794;p9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9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0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100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799" name="Google Shape;799;p100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800" name="Google Shape;800;p100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801" name="Google Shape;801;p100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802" name="Google Shape;802;p100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3" name="Google Shape;803;p100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4" name="Google Shape;804;p100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5" name="Google Shape;805;p100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6" name="Google Shape;806;p100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7" name="Google Shape;807;p10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8" name="Google Shape;808;p10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10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1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2" name="Google Shape;812;p101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3" name="Google Shape;813;p101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4" name="Google Shape;814;p10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1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816" name="Google Shape;816;p101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817" name="Google Shape;817;p101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8" name="Google Shape;818;p101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9" name="Google Shape;819;p101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820" name="Google Shape;820;p101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821" name="Google Shape;821;p101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2" name="Google Shape;822;p101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23" name="Google Shape;823;p10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4" name="Google Shape;824;p10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10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2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8" name="Google Shape;828;p102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9" name="Google Shape;829;p102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0" name="Google Shape;830;p102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1" name="Google Shape;831;p10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2" name="Google Shape;832;p102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3" name="Google Shape;833;p102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834" name="Google Shape;834;p102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35" name="Google Shape;835;p102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36" name="Google Shape;836;p102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37" name="Google Shape;837;p102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38" name="Google Shape;838;p10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9" name="Google Shape;839;p10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0" name="Google Shape;840;p10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103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844" name="Google Shape;844;p103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5" name="Google Shape;845;p103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6" name="Google Shape;846;p103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103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10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49" name="Google Shape;849;p10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0" name="Google Shape;850;p10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0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104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4" name="Google Shape;854;p104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104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6" name="Google Shape;856;p104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7" name="Google Shape;857;p104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8" name="Google Shape;858;p104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9" name="Google Shape;859;p104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0" name="Google Shape;860;p104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61" name="Google Shape;861;p104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2" name="Google Shape;862;p104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3" name="Google Shape;863;p104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4" name="Google Shape;864;p10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5" name="Google Shape;865;p10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6" name="Google Shape;866;p10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0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9" name="Google Shape;869;p105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870" name="Google Shape;870;p105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1" name="Google Shape;871;p105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2" name="Google Shape;872;p105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3" name="Google Shape;873;p105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4" name="Google Shape;874;p10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5" name="Google Shape;875;p10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10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2 - white">
  <p:cSld name="Default 2 - white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162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0" name="Google Shape;880;p162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1" name="Google Shape;881;p16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2" name="Google Shape;882;p16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16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39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88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3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85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9.xml"/><Relationship Id="rId43" Type="http://schemas.openxmlformats.org/officeDocument/2006/relationships/hyperlink" Target="https://gitlab.ebi.ac.uk/ensembl-regulation/ECCB-2026-T6" TargetMode="External"/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0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160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2" name="Google Shape;502;p55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3" name="Google Shape;503;p55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5" name="Google Shape;505;p5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5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55"/>
          <p:cNvSpPr txBox="1"/>
          <p:nvPr/>
        </p:nvSpPr>
        <p:spPr>
          <a:xfrm>
            <a:off x="2016369" y="4696375"/>
            <a:ext cx="5095762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3"/>
              </a:rPr>
              <a:t>https://gitlab.ebi.ac.uk/ensembl-regulation/ECCB-2026-T6</a:t>
            </a:r>
            <a:r>
              <a:rPr lang="en-GB" sz="10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38.png"/><Relationship Id="rId4" Type="http://schemas.openxmlformats.org/officeDocument/2006/relationships/hyperlink" Target="https://forms.gle/fecyeqWAAHK17Fhz7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help/citing-encod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6.xml"/><Relationship Id="rId6" Type="http://schemas.openxmlformats.org/officeDocument/2006/relationships/hyperlink" Target="https://europepmc.org/article/MED/41296548" TargetMode="External"/><Relationship Id="rId5" Type="http://schemas.openxmlformats.org/officeDocument/2006/relationships/hyperlink" Target="https://www.researchsquare.com/article/rs-8007521/v1" TargetMode="External"/><Relationship Id="rId4" Type="http://schemas.openxmlformats.org/officeDocument/2006/relationships/hyperlink" Target="https://igv.org/doc/deskto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raining.ensembl.org/host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39.jpg"/><Relationship Id="rId4" Type="http://schemas.openxmlformats.org/officeDocument/2006/relationships/hyperlink" Target="mailto:helpdesk@ensembl.org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51.png"/><Relationship Id="rId4" Type="http://schemas.openxmlformats.org/officeDocument/2006/relationships/hyperlink" Target="https://gitlab.ebi.ac.uk/ensembl-regulation/ECCB-2026-T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</a:pPr>
            <a:r>
              <a:rPr lang="en-GB"/>
              <a:t>T6: Making the most of cis-regulatory annotations for genome-scale analysis</a:t>
            </a:r>
            <a:endParaRPr/>
          </a:p>
        </p:txBody>
      </p:sp>
      <p:sp>
        <p:nvSpPr>
          <p:cNvPr id="889" name="Google Shape;889;p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GB"/>
              <a:t>ECCB 2026 Tutorial</a:t>
            </a:r>
            <a:endParaRPr/>
          </a:p>
        </p:txBody>
      </p:sp>
      <p:sp>
        <p:nvSpPr>
          <p:cNvPr id="890" name="Google Shape;890;p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rPr lang="en-GB"/>
              <a:t>03/09/2026</a:t>
            </a:r>
            <a:endParaRPr/>
          </a:p>
        </p:txBody>
      </p:sp>
      <p:sp>
        <p:nvSpPr>
          <p:cNvPr id="891" name="Google Shape;891;p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-GB" sz="1400"/>
              <a:t>A practical day for moving from epigenomic evidence to reusable regulatory annotation workflows.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5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Feedback survey</a:t>
            </a:r>
            <a:endParaRPr/>
          </a:p>
        </p:txBody>
      </p:sp>
      <p:sp>
        <p:nvSpPr>
          <p:cNvPr id="898" name="Google Shape;898;p155"/>
          <p:cNvSpPr txBox="1">
            <a:spLocks noGrp="1"/>
          </p:cNvSpPr>
          <p:nvPr>
            <p:ph type="body" idx="1"/>
          </p:nvPr>
        </p:nvSpPr>
        <p:spPr>
          <a:xfrm>
            <a:off x="2173858" y="792333"/>
            <a:ext cx="4780808" cy="37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/>
              <a:t>We appreciate your honest feedback – they help us improve our courses for future participants!</a:t>
            </a:r>
            <a:endParaRPr/>
          </a:p>
        </p:txBody>
      </p:sp>
      <p:pic>
        <p:nvPicPr>
          <p:cNvPr id="899" name="Google Shape;899;p155" descr="Range of moods sticky notes"/>
          <p:cNvPicPr preferRelativeResize="0"/>
          <p:nvPr/>
        </p:nvPicPr>
        <p:blipFill rotWithShape="1">
          <a:blip r:embed="rId3">
            <a:alphaModFix/>
          </a:blip>
          <a:srcRect l="1393" t="1393" r="1393" b="1393"/>
          <a:stretch/>
        </p:blipFill>
        <p:spPr>
          <a:xfrm>
            <a:off x="3059826" y="2017475"/>
            <a:ext cx="3024348" cy="2017151"/>
          </a:xfrm>
          <a:prstGeom prst="rect">
            <a:avLst/>
          </a:prstGeom>
          <a:noFill/>
          <a:ln>
            <a:noFill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00" name="Google Shape;900;p155"/>
          <p:cNvSpPr txBox="1"/>
          <p:nvPr/>
        </p:nvSpPr>
        <p:spPr>
          <a:xfrm>
            <a:off x="1974900" y="4696200"/>
            <a:ext cx="5178600" cy="44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sng" strike="noStrike" cap="none">
                <a:solidFill>
                  <a:srgbClr val="18974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to complete the feedback survey</a:t>
            </a:r>
            <a:r>
              <a:rPr lang="en-GB" sz="1000" b="0" i="0" u="none" strike="noStrike" cap="none">
                <a:solidFill>
                  <a:srgbClr val="18974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 b="0" i="0" u="none" strike="noStrike" cap="none">
              <a:solidFill>
                <a:srgbClr val="18974C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" name="Google Shape;901;p1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92720" y="0"/>
            <a:ext cx="1351280" cy="135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5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Citing the resources</a:t>
            </a:r>
            <a:endParaRPr/>
          </a:p>
        </p:txBody>
      </p:sp>
      <p:sp>
        <p:nvSpPr>
          <p:cNvPr id="908" name="Google Shape;908;p156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</a:pPr>
            <a:r>
              <a:rPr lang="en-GB" dirty="0"/>
              <a:t>Follow the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ENCODE citation guidelines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</a:pPr>
            <a:r>
              <a:rPr lang="en-GB" dirty="0"/>
              <a:t>Follow the </a:t>
            </a:r>
            <a:r>
              <a:rPr lang="en-GB" u="sng" dirty="0">
                <a:solidFill>
                  <a:schemeClr val="hlink"/>
                </a:solidFill>
                <a:hlinkClick r:id="rId4"/>
              </a:rPr>
              <a:t>IGV citation guidelines</a:t>
            </a:r>
            <a:endParaRPr lang="en-GB" u="sng" dirty="0">
              <a:solidFill>
                <a:schemeClr val="hlink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</a:pPr>
            <a:r>
              <a:rPr lang="en-GB" dirty="0"/>
              <a:t>Ensembl Regulation pre-print: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</a:pPr>
            <a:r>
              <a:rPr lang="en-GB" dirty="0"/>
              <a:t>Ilsley, G.R., Branco Lins, P.R., Merino, G.A., Urbina-Gómez, D., Harrison, P.W., 2026. </a:t>
            </a:r>
            <a:r>
              <a:rPr lang="en-GB" dirty="0">
                <a:hlinkClick r:id="rId5"/>
              </a:rPr>
              <a:t>Ensembl’s regulatory annotation for human, mouse, livestock, and aquaculture species</a:t>
            </a:r>
            <a:r>
              <a:rPr lang="en-GB" dirty="0"/>
              <a:t>. https://</a:t>
            </a:r>
            <a:r>
              <a:rPr lang="en-GB" dirty="0" err="1"/>
              <a:t>doi.org</a:t>
            </a:r>
            <a:r>
              <a:rPr lang="en-GB" dirty="0"/>
              <a:t>/10.21203/rs.3.rs-8007521/v1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</a:pPr>
            <a:r>
              <a:rPr lang="en-GB" dirty="0"/>
              <a:t>Cite Ensembl’s most recent paper:</a:t>
            </a:r>
            <a:br>
              <a:rPr lang="en-GB" dirty="0"/>
            </a:br>
            <a:r>
              <a:rPr lang="en-GB" dirty="0"/>
              <a:t>Yates AD, Austine-</a:t>
            </a:r>
            <a:r>
              <a:rPr lang="en-GB" dirty="0" err="1"/>
              <a:t>Orimoloye</a:t>
            </a:r>
            <a:r>
              <a:rPr lang="en-GB" dirty="0"/>
              <a:t> O, Azov AG, et al. </a:t>
            </a:r>
            <a:r>
              <a:rPr lang="en-GB" u="sng" dirty="0">
                <a:solidFill>
                  <a:schemeClr val="hlink"/>
                </a:solidFill>
                <a:hlinkClick r:id="rId6"/>
              </a:rPr>
              <a:t>Ensembl 2026</a:t>
            </a:r>
            <a:r>
              <a:rPr lang="en-GB" dirty="0"/>
              <a:t>. Nucleic Acids Research. 2025 Nov;gkaf1239. DOI: 10.1093/</a:t>
            </a:r>
            <a:r>
              <a:rPr lang="en-GB" dirty="0" err="1"/>
              <a:t>nar</a:t>
            </a:r>
            <a:r>
              <a:rPr lang="en-GB" dirty="0"/>
              <a:t>/gkaf1239. PMID: 41296548. 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5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Hosting an Ensembl-specific training course</a:t>
            </a:r>
            <a:endParaRPr/>
          </a:p>
        </p:txBody>
      </p:sp>
      <p:sp>
        <p:nvSpPr>
          <p:cNvPr id="915" name="Google Shape;915;p157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accent1"/>
                </a:solidFill>
              </a:rPr>
              <a:t>Browser course</a:t>
            </a:r>
            <a:br>
              <a:rPr lang="en-GB"/>
            </a:br>
            <a:r>
              <a:rPr lang="en-GB"/>
              <a:t>One-day course on the Ensembl browser, aimed at wet-lab scientists.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"/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>
                <a:solidFill>
                  <a:schemeClr val="accent1"/>
                </a:solidFill>
              </a:rPr>
              <a:t>Train-the-trainer course</a:t>
            </a:r>
            <a:br>
              <a:rPr lang="en-GB">
                <a:solidFill>
                  <a:srgbClr val="0099FF"/>
                </a:solidFill>
              </a:rPr>
            </a:br>
            <a:r>
              <a:rPr lang="en-GB"/>
              <a:t>One-day course on delivering bioinformatics training and teaching your own Ensembl browser course.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00"/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 the </a:t>
            </a:r>
            <a:r>
              <a:rPr lang="en-GB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Ensembl Training website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GB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 us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more information.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916" name="Google Shape;916;p157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/>
              <a:t>We can teach an Ensembl course at any institute for free (plus trainers’ expenses in high-income countries).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917" name="Google Shape;917;p157" descr="A group of people in a room with computer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29167" y="2396983"/>
            <a:ext cx="2913565" cy="1942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8627"/>
              </a:srgbClr>
            </a:outerShdw>
          </a:effectLst>
        </p:spPr>
      </p:pic>
      <p:sp>
        <p:nvSpPr>
          <p:cNvPr id="918" name="Google Shape;918;p157"/>
          <p:cNvSpPr txBox="1"/>
          <p:nvPr/>
        </p:nvSpPr>
        <p:spPr>
          <a:xfrm>
            <a:off x="1967125" y="4696200"/>
            <a:ext cx="5194200" cy="44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https://training.ensembl.org/hosting</a:t>
            </a:r>
            <a:r>
              <a:rPr lang="en-GB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58"/>
          <p:cNvSpPr/>
          <p:nvPr/>
        </p:nvSpPr>
        <p:spPr>
          <a:xfrm>
            <a:off x="0" y="4451848"/>
            <a:ext cx="9144000" cy="69165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58"/>
          <p:cNvSpPr/>
          <p:nvPr/>
        </p:nvSpPr>
        <p:spPr>
          <a:xfrm>
            <a:off x="0" y="893028"/>
            <a:ext cx="9144000" cy="328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6" name="Google Shape;926;p158" descr="rgb_logo_2006_300dp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0629" y="3864148"/>
            <a:ext cx="1168126" cy="493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7" name="Google Shape;927;p158"/>
          <p:cNvGrpSpPr/>
          <p:nvPr/>
        </p:nvGrpSpPr>
        <p:grpSpPr>
          <a:xfrm>
            <a:off x="460261" y="3299456"/>
            <a:ext cx="2944491" cy="457574"/>
            <a:chOff x="165150" y="3284751"/>
            <a:chExt cx="2944491" cy="457574"/>
          </a:xfrm>
        </p:grpSpPr>
        <p:pic>
          <p:nvPicPr>
            <p:cNvPr id="928" name="Google Shape;928;p15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5150" y="3293300"/>
              <a:ext cx="619187" cy="449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158"/>
            <p:cNvSpPr txBox="1"/>
            <p:nvPr/>
          </p:nvSpPr>
          <p:spPr>
            <a:xfrm>
              <a:off x="772574" y="3284751"/>
              <a:ext cx="2337067" cy="4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Funded by the European Union</a:t>
              </a: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Horizon 2020</a:t>
              </a: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Horizon Europe Programme</a:t>
              </a: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0" name="Google Shape;930;p158" descr="A picture containing font, logo, graphics, de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50328" y="2542261"/>
            <a:ext cx="645200" cy="44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158"/>
          <p:cNvPicPr preferRelativeResize="0"/>
          <p:nvPr/>
        </p:nvPicPr>
        <p:blipFill rotWithShape="1">
          <a:blip r:embed="rId6">
            <a:alphaModFix/>
          </a:blip>
          <a:srcRect l="9346" t="3766" r="19368" b="1859"/>
          <a:stretch/>
        </p:blipFill>
        <p:spPr>
          <a:xfrm>
            <a:off x="3587691" y="1015117"/>
            <a:ext cx="5480975" cy="323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158" title="UKRI_BBSRC_Horizontal_RGB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9606" y="1139374"/>
            <a:ext cx="1973796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1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076" y="4473411"/>
            <a:ext cx="964800" cy="57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158"/>
          <p:cNvSpPr txBox="1"/>
          <p:nvPr/>
        </p:nvSpPr>
        <p:spPr>
          <a:xfrm>
            <a:off x="1039876" y="4343504"/>
            <a:ext cx="721234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would like to acknowledge the National Genome Research Institute (NHGRI) for funding the following grants supporting the creation of the human pangenome reference: U41HG010972, U01HG010971, U01HG013760, U01HG013755, U01HG013748, U01HG013744, R01HG011274, and the Human Pangenome Reference Consortium (BioProject ID: PRJNA730823) as well as  2U24HG007497-09 which supports the creation of HGSVC resources</a:t>
            </a:r>
            <a:endParaRPr sz="105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" name="Google Shape;937;p158"/>
          <p:cNvGrpSpPr/>
          <p:nvPr/>
        </p:nvGrpSpPr>
        <p:grpSpPr>
          <a:xfrm>
            <a:off x="75335" y="1116941"/>
            <a:ext cx="1282829" cy="554100"/>
            <a:chOff x="238337" y="1072175"/>
            <a:chExt cx="1282829" cy="554100"/>
          </a:xfrm>
        </p:grpSpPr>
        <p:pic>
          <p:nvPicPr>
            <p:cNvPr id="938" name="Google Shape;938;p158" descr="wellcome-logo-blu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38337" y="1102640"/>
              <a:ext cx="493150" cy="49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158"/>
            <p:cNvSpPr txBox="1"/>
            <p:nvPr/>
          </p:nvSpPr>
          <p:spPr>
            <a:xfrm>
              <a:off x="714025" y="1072175"/>
              <a:ext cx="807141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Funded by Wellcome</a:t>
              </a:r>
              <a:endParaRPr sz="8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0" name="Google Shape;940;p158" descr="Human Pangenome Reference Consortium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20872" y="4419230"/>
            <a:ext cx="887900" cy="682031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15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dirty="0"/>
              <a:t>Acknowledgements and funding</a:t>
            </a:r>
            <a:endParaRPr dirty="0"/>
          </a:p>
        </p:txBody>
      </p:sp>
      <p:pic>
        <p:nvPicPr>
          <p:cNvPr id="2" name="Picture 1" descr="Home - EuroFAANG">
            <a:extLst>
              <a:ext uri="{FF2B5EF4-FFF2-40B4-BE49-F238E27FC236}">
                <a16:creationId xmlns:a16="http://schemas.microsoft.com/office/drawing/2014/main" id="{ED0B6DC8-0392-38DF-83F8-1F1AC6E368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72" y="1730206"/>
            <a:ext cx="1553551" cy="506725"/>
          </a:xfrm>
          <a:prstGeom prst="rect">
            <a:avLst/>
          </a:prstGeom>
        </p:spPr>
      </p:pic>
      <p:pic>
        <p:nvPicPr>
          <p:cNvPr id="3" name="Picture 2" descr="EuroFAANG - Gene-Switch">
            <a:extLst>
              <a:ext uri="{FF2B5EF4-FFF2-40B4-BE49-F238E27FC236}">
                <a16:creationId xmlns:a16="http://schemas.microsoft.com/office/drawing/2014/main" id="{C6A68479-39DB-0A7B-63B4-9FA0125AAB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7081" y="1730206"/>
            <a:ext cx="1586321" cy="562423"/>
          </a:xfrm>
          <a:prstGeom prst="rect">
            <a:avLst/>
          </a:prstGeom>
        </p:spPr>
      </p:pic>
      <p:pic>
        <p:nvPicPr>
          <p:cNvPr id="4" name="Picture 3" descr="ECCB 2026 | SIB Swiss Institute of Bioinformatics">
            <a:extLst>
              <a:ext uri="{FF2B5EF4-FFF2-40B4-BE49-F238E27FC236}">
                <a16:creationId xmlns:a16="http://schemas.microsoft.com/office/drawing/2014/main" id="{8651BE53-8682-BD4C-C049-E488288F8CD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189" y="2334881"/>
            <a:ext cx="1382065" cy="863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5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Training materials</a:t>
            </a:r>
            <a:endParaRPr/>
          </a:p>
        </p:txBody>
      </p:sp>
      <p:sp>
        <p:nvSpPr>
          <p:cNvPr id="951" name="Google Shape;951;p159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6797448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</a:pPr>
            <a:r>
              <a:rPr lang="en-GB"/>
              <a:t>Ensembl training materials are protected by a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CC BY licence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</a:pPr>
            <a:r>
              <a:rPr lang="en-GB"/>
              <a:t>If you use these materials in teaching or training, please cite the repository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https://gitlab.ebi.ac.uk/ensembl-regulation/ECCB-2026-T6</a:t>
            </a:r>
            <a:r>
              <a:rPr lang="en-GB"/>
              <a:t> and acknowledge the </a:t>
            </a:r>
            <a:r>
              <a:rPr lang="en-GB">
                <a:solidFill>
                  <a:schemeClr val="accent1"/>
                </a:solidFill>
              </a:rPr>
              <a:t>ECCB 2026 Tutorial</a:t>
            </a:r>
            <a:br>
              <a:rPr lang="en-GB"/>
            </a:br>
            <a:endParaRPr>
              <a:solidFill>
                <a:schemeClr val="accent1"/>
              </a:solidFill>
            </a:endParaRPr>
          </a:p>
        </p:txBody>
      </p:sp>
      <p:pic>
        <p:nvPicPr>
          <p:cNvPr id="952" name="Google Shape;952;p1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8326" y="986901"/>
            <a:ext cx="1481662" cy="5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MBL-EBI (Ensembl LPM)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5C85C4"/>
      </a:accent6>
      <a:hlink>
        <a:srgbClr val="18974C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438</Words>
  <Application>Microsoft Macintosh PowerPoint</Application>
  <PresentationFormat>On-screen Show 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Calibri</vt:lpstr>
      <vt:lpstr>Franklin Gothic</vt:lpstr>
      <vt:lpstr>Libre Franklin Medium</vt:lpstr>
      <vt:lpstr>Libre Franklin</vt:lpstr>
      <vt:lpstr>Arial</vt:lpstr>
      <vt:lpstr>Libre Franklin Thin</vt:lpstr>
      <vt:lpstr>Arial Black</vt:lpstr>
      <vt:lpstr>Custom Design</vt:lpstr>
      <vt:lpstr>EMBL-EBI (Ensembl LPM)</vt:lpstr>
      <vt:lpstr>T6: Making the most of cis-regulatory annotations for genome-scale analysis</vt:lpstr>
      <vt:lpstr>Feedback survey</vt:lpstr>
      <vt:lpstr>Citing the resources</vt:lpstr>
      <vt:lpstr>Hosting an Ensembl-specific training course</vt:lpstr>
      <vt:lpstr>Acknowledgements and funding</vt:lpstr>
      <vt:lpstr>Training materials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Louisse Paola Mirabueno</cp:lastModifiedBy>
  <cp:revision>2</cp:revision>
  <dcterms:modified xsi:type="dcterms:W3CDTF">2026-09-03T06:33:10Z</dcterms:modified>
</cp:coreProperties>
</file>