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Roboto"/>
      <p:regular r:id="rId17"/>
      <p:bold r:id="rId18"/>
      <p:italic r:id="rId19"/>
      <p:boldItalic r:id="rId20"/>
    </p:embeddedFont>
    <p:embeddedFont>
      <p:font typeface="Franklin Gothic"/>
      <p:bold r:id="rId21"/>
    </p:embeddedFont>
    <p:embeddedFont>
      <p:font typeface="Arial Black"/>
      <p:regular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Gabriela Merino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20" Type="http://schemas.openxmlformats.org/officeDocument/2006/relationships/font" Target="fonts/Roboto-boldItalic.fntdata"/><Relationship Id="rId22" Type="http://schemas.openxmlformats.org/officeDocument/2006/relationships/font" Target="fonts/ArialBlack-regular.fntdata"/><Relationship Id="rId21" Type="http://schemas.openxmlformats.org/officeDocument/2006/relationships/font" Target="fonts/FranklinGothic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Roboto-regular.fntdata"/><Relationship Id="rId16" Type="http://schemas.openxmlformats.org/officeDocument/2006/relationships/slide" Target="slides/slide10.xml"/><Relationship Id="rId19" Type="http://schemas.openxmlformats.org/officeDocument/2006/relationships/font" Target="fonts/Roboto-italic.fntdata"/><Relationship Id="rId18" Type="http://schemas.openxmlformats.org/officeDocument/2006/relationships/font" Target="fonts/Roboto-bold.fntdata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8-14T10:37:55.749">
    <p:pos x="3567" y="1915"/>
    <p:text>@lpmirabueno@ebi.ac.uk
_Assigned to Louisse Paola Mirabueno_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d0d3bf5493_0_4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d0d3bf5493_0_4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ed076786f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ed076786f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ed076786f6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3ed076786f6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e17cb815a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e17cb815a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d0d3bf5493_0_5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4" name="Google Shape;534;g3d0d3bf5493_0_5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e17cb815a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3e17cb815a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f75a9cef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3f75a9cef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d0d3bf5493_0_5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d0d3bf5493_0_5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e17cb815a8_0_1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e17cb815a8_0_1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Elements_grey">
  <p:cSld name="Title_And_Elements_gre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2" name="Google Shape;12;p2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793831" y="4557712"/>
            <a:ext cx="1143000" cy="52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elements_white">
  <p:cSld name="Title_and_elements_whit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Title - South Building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Cell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3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9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4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5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1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6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2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7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13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3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3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3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8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14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14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4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4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9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15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1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1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10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16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16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6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16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11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7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17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17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17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TRAINING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8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18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18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5" name="Google Shape;145;p18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INDUSTRY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9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19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19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4" name="Google Shape;154;p19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_NoImage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3998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20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9" name="Google Shape;159;p20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0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1" name="Google Shape;161;p20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62" name="Google Shape;16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noImage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21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1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21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21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Staff_Association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22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2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2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16925" y="4118125"/>
            <a:ext cx="2091450" cy="727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ff Association grey ">
  <p:cSld name="Staff Association grey 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3" name="Google Shape;183;p23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5" name="Google Shape;185;p2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ff Association white">
  <p:cSld name="Staff Association white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1" name="Google Shape;191;p2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2" name="Google Shape;192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grey">
  <p:cSld name="Two Elements_grey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25"/>
          <p:cNvSpPr/>
          <p:nvPr/>
        </p:nvSpPr>
        <p:spPr>
          <a:xfrm>
            <a:off x="0" y="869951"/>
            <a:ext cx="9144000" cy="375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>
            <p:ph idx="1" type="body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25"/>
          <p:cNvSpPr txBox="1"/>
          <p:nvPr>
            <p:ph idx="2" type="body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2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9" name="Google Shape;199;p2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white">
  <p:cSld name="Two Elements_white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26"/>
          <p:cNvSpPr txBox="1"/>
          <p:nvPr>
            <p:ph idx="1" type="body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26"/>
          <p:cNvSpPr txBox="1"/>
          <p:nvPr>
            <p:ph idx="2" type="body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2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_Elements_grey_green">
  <p:cSld name="Two_Elements_grey_green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1" name="Google Shape;211;p27"/>
          <p:cNvSpPr txBox="1"/>
          <p:nvPr>
            <p:ph idx="1" type="body"/>
          </p:nvPr>
        </p:nvSpPr>
        <p:spPr>
          <a:xfrm>
            <a:off x="1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12" name="Google Shape;212;p27"/>
          <p:cNvSpPr txBox="1"/>
          <p:nvPr>
            <p:ph idx="2" type="body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13" name="Google Shape;213;p27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4" name="Google Shape;214;p27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grey_green_right">
  <p:cSld name="Two Elements_grey_green_right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5988844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1" name="Google Shape;221;p28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2" name="Google Shape;222;p28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8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grey_green_right">
  <p:cSld name="Three Elements_grey_green_right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7" name="Google Shape;227;p29"/>
          <p:cNvSpPr txBox="1"/>
          <p:nvPr>
            <p:ph idx="1" type="body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8" name="Google Shape;228;p29"/>
          <p:cNvSpPr txBox="1"/>
          <p:nvPr>
            <p:ph idx="2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9" name="Google Shape;229;p29"/>
          <p:cNvSpPr txBox="1"/>
          <p:nvPr>
            <p:ph idx="3" type="body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p29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29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dark_grey">
  <p:cSld name="Three Elements_dark_grey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6" name="Google Shape;236;p30"/>
          <p:cNvSpPr txBox="1"/>
          <p:nvPr>
            <p:ph idx="1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30"/>
          <p:cNvSpPr txBox="1"/>
          <p:nvPr>
            <p:ph idx="2" type="body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3" type="body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0" name="Google Shape;240;p30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green_left_grey">
  <p:cSld name="Three Elements_green_left_grey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5" name="Google Shape;245;p31"/>
          <p:cNvSpPr txBox="1"/>
          <p:nvPr>
            <p:ph idx="1" type="body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p31"/>
          <p:cNvSpPr txBox="1"/>
          <p:nvPr>
            <p:ph idx="2" type="body"/>
          </p:nvPr>
        </p:nvSpPr>
        <p:spPr>
          <a:xfrm>
            <a:off x="79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3" type="body"/>
          </p:nvPr>
        </p:nvSpPr>
        <p:spPr>
          <a:xfrm>
            <a:off x="794" y="2757758"/>
            <a:ext cx="3155100" cy="1856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8" name="Google Shape;248;p3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9" name="Google Shape;249;p3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3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Elements_green">
  <p:cSld name="Six Elements_green"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"/>
          <p:cNvSpPr/>
          <p:nvPr>
            <p:ph idx="2" type="pic"/>
          </p:nvPr>
        </p:nvSpPr>
        <p:spPr>
          <a:xfrm>
            <a:off x="61038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2"/>
          <p:cNvSpPr/>
          <p:nvPr>
            <p:ph idx="3" type="pic"/>
          </p:nvPr>
        </p:nvSpPr>
        <p:spPr>
          <a:xfrm>
            <a:off x="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2"/>
          <p:cNvSpPr/>
          <p:nvPr>
            <p:ph idx="4" type="pic"/>
          </p:nvPr>
        </p:nvSpPr>
        <p:spPr>
          <a:xfrm>
            <a:off x="30519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32"/>
          <p:cNvSpPr txBox="1"/>
          <p:nvPr>
            <p:ph idx="1" type="body"/>
          </p:nvPr>
        </p:nvSpPr>
        <p:spPr>
          <a:xfrm>
            <a:off x="6103144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6" name="Google Shape;256;p3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32"/>
          <p:cNvSpPr txBox="1"/>
          <p:nvPr>
            <p:ph idx="5" type="body"/>
          </p:nvPr>
        </p:nvSpPr>
        <p:spPr>
          <a:xfrm>
            <a:off x="1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p32"/>
          <p:cNvSpPr txBox="1"/>
          <p:nvPr>
            <p:ph idx="6" type="body"/>
          </p:nvPr>
        </p:nvSpPr>
        <p:spPr>
          <a:xfrm>
            <a:off x="3051573" y="2746675"/>
            <a:ext cx="3040800" cy="1864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59" name="Google Shape;259;p32"/>
          <p:cNvCxnSpPr/>
          <p:nvPr/>
        </p:nvCxnSpPr>
        <p:spPr>
          <a:xfrm>
            <a:off x="3051573" y="2736057"/>
            <a:ext cx="0" cy="1907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6097513" y="2736057"/>
            <a:ext cx="0" cy="1907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1" name="Google Shape;261;p3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2" name="Google Shape;262;p3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3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ight Elements_green">
  <p:cSld name="Eight Elements_green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3"/>
          <p:cNvSpPr/>
          <p:nvPr>
            <p:ph idx="2" type="pic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3"/>
          <p:cNvSpPr/>
          <p:nvPr>
            <p:ph idx="3" type="pic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3"/>
          <p:cNvSpPr/>
          <p:nvPr>
            <p:ph idx="4" type="pic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3"/>
          <p:cNvSpPr/>
          <p:nvPr>
            <p:ph idx="5" type="pic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9" name="Google Shape;269;p3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0" name="Google Shape;270;p33"/>
          <p:cNvSpPr txBox="1"/>
          <p:nvPr>
            <p:ph idx="1" type="body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p33"/>
          <p:cNvSpPr txBox="1"/>
          <p:nvPr>
            <p:ph idx="6" type="body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2" name="Google Shape;272;p33"/>
          <p:cNvSpPr txBox="1"/>
          <p:nvPr>
            <p:ph idx="7" type="body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3" name="Google Shape;273;p33"/>
          <p:cNvSpPr txBox="1"/>
          <p:nvPr>
            <p:ph idx="8" type="body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74" name="Google Shape;274;p33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5" name="Google Shape;275;p33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6" name="Google Shape;276;p33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77" name="Google Shape;277;p3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8" name="Google Shape;278;p3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3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ight Elements_grey">
  <p:cSld name="Eight Elements_grey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4"/>
          <p:cNvSpPr/>
          <p:nvPr>
            <p:ph idx="2" type="pic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4"/>
          <p:cNvSpPr/>
          <p:nvPr>
            <p:ph idx="3" type="pic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4"/>
          <p:cNvSpPr/>
          <p:nvPr>
            <p:ph idx="4" type="pic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34"/>
          <p:cNvSpPr/>
          <p:nvPr>
            <p:ph idx="5" type="pic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3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4"/>
          <p:cNvSpPr txBox="1"/>
          <p:nvPr>
            <p:ph idx="1" type="body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7" name="Google Shape;287;p34"/>
          <p:cNvSpPr txBox="1"/>
          <p:nvPr>
            <p:ph idx="6" type="body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8" name="Google Shape;288;p34"/>
          <p:cNvSpPr txBox="1"/>
          <p:nvPr>
            <p:ph idx="7" type="body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9" name="Google Shape;289;p34"/>
          <p:cNvSpPr txBox="1"/>
          <p:nvPr>
            <p:ph idx="8" type="body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90" name="Google Shape;290;p34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1" name="Google Shape;291;p34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2" name="Google Shape;292;p34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93" name="Google Shape;293;p3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4" name="Google Shape;294;p3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3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with_Footer">
  <p:cSld name="Blank_with_Footer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9" name="Google Shape;299;p3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_individual_image">
  <p:cSld name="Divider_individual_image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6"/>
          <p:cNvSpPr/>
          <p:nvPr>
            <p:ph idx="2" type="pic"/>
          </p:nvPr>
        </p:nvSpPr>
        <p:spPr>
          <a:xfrm>
            <a:off x="0" y="2"/>
            <a:ext cx="9144000" cy="46233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6"/>
          <p:cNvSpPr txBox="1"/>
          <p:nvPr>
            <p:ph type="title"/>
          </p:nvPr>
        </p:nvSpPr>
        <p:spPr>
          <a:xfrm>
            <a:off x="0" y="1112941"/>
            <a:ext cx="75276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3" name="Google Shape;303;p36"/>
          <p:cNvSpPr txBox="1"/>
          <p:nvPr>
            <p:ph idx="1" type="body"/>
          </p:nvPr>
        </p:nvSpPr>
        <p:spPr>
          <a:xfrm>
            <a:off x="0" y="1638301"/>
            <a:ext cx="7535400" cy="9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3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5" name="Google Shape;305;p3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6" name="Google Shape;306;p3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2">
  <p:cSld name="Section Headline_2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7"/>
          <p:cNvSpPr txBox="1"/>
          <p:nvPr>
            <p:ph idx="1" type="body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37"/>
          <p:cNvSpPr txBox="1"/>
          <p:nvPr>
            <p:ph idx="2" type="body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3">
  <p:cSld name="Section Headline_3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"/>
            <a:ext cx="9143998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8"/>
          <p:cNvSpPr txBox="1"/>
          <p:nvPr>
            <p:ph idx="1" type="body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5" name="Google Shape;315;p38"/>
          <p:cNvSpPr txBox="1"/>
          <p:nvPr>
            <p:ph idx="2" type="body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4">
  <p:cSld name="Section Headline_4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9"/>
          <p:cNvSpPr txBox="1"/>
          <p:nvPr>
            <p:ph idx="1" type="body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0" name="Google Shape;320;p39"/>
          <p:cNvSpPr txBox="1"/>
          <p:nvPr>
            <p:ph idx="3" type="body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5">
  <p:cSld name="Section Headline_5"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0"/>
          <p:cNvSpPr txBox="1"/>
          <p:nvPr>
            <p:ph idx="1" type="body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5" name="Google Shape;325;p40"/>
          <p:cNvSpPr txBox="1"/>
          <p:nvPr>
            <p:ph idx="3" type="body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8" name="Google Shape;328;p4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9" name="Google Shape;329;p41"/>
          <p:cNvSpPr txBox="1"/>
          <p:nvPr>
            <p:ph idx="1" type="body"/>
          </p:nvPr>
        </p:nvSpPr>
        <p:spPr>
          <a:xfrm>
            <a:off x="5962650" y="870348"/>
            <a:ext cx="3181200" cy="377310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0" name="Google Shape;330;p41"/>
          <p:cNvSpPr txBox="1"/>
          <p:nvPr>
            <p:ph idx="2" type="body"/>
          </p:nvPr>
        </p:nvSpPr>
        <p:spPr>
          <a:xfrm>
            <a:off x="-18510" y="2759927"/>
            <a:ext cx="5981100" cy="18834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41"/>
          <p:cNvSpPr txBox="1"/>
          <p:nvPr>
            <p:ph idx="3" type="body"/>
          </p:nvPr>
        </p:nvSpPr>
        <p:spPr>
          <a:xfrm>
            <a:off x="-18510" y="870348"/>
            <a:ext cx="5981100" cy="187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2" name="Google Shape;332;p4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4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4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">
  <p:cSld name="custom layout 2"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37" name="Google Shape;337;p42"/>
          <p:cNvSpPr txBox="1"/>
          <p:nvPr>
            <p:ph idx="1" type="body"/>
          </p:nvPr>
        </p:nvSpPr>
        <p:spPr>
          <a:xfrm>
            <a:off x="5962650" y="870348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8" name="Google Shape;338;p42"/>
          <p:cNvSpPr txBox="1"/>
          <p:nvPr>
            <p:ph idx="2" type="body"/>
          </p:nvPr>
        </p:nvSpPr>
        <p:spPr>
          <a:xfrm>
            <a:off x="5962650" y="1810044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9" name="Google Shape;339;p42"/>
          <p:cNvSpPr txBox="1"/>
          <p:nvPr>
            <p:ph idx="3" type="body"/>
          </p:nvPr>
        </p:nvSpPr>
        <p:spPr>
          <a:xfrm>
            <a:off x="5962650" y="2749740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40" name="Google Shape;340;p42"/>
          <p:cNvSpPr txBox="1"/>
          <p:nvPr>
            <p:ph idx="4" type="body"/>
          </p:nvPr>
        </p:nvSpPr>
        <p:spPr>
          <a:xfrm>
            <a:off x="5962650" y="3689436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41" name="Google Shape;341;p4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4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3" name="Google Shape;343;p4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4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3">
  <p:cSld name="custom layout 3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3"/>
          <p:cNvSpPr/>
          <p:nvPr/>
        </p:nvSpPr>
        <p:spPr>
          <a:xfrm>
            <a:off x="0" y="2764154"/>
            <a:ext cx="9144000" cy="18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8" name="Google Shape;348;p43"/>
          <p:cNvSpPr/>
          <p:nvPr>
            <p:ph idx="2" type="pic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43"/>
          <p:cNvSpPr/>
          <p:nvPr>
            <p:ph idx="3" type="pic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3"/>
          <p:cNvSpPr/>
          <p:nvPr>
            <p:ph idx="4" type="pic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3"/>
          <p:cNvSpPr txBox="1"/>
          <p:nvPr>
            <p:ph idx="1" type="body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2" name="Google Shape;352;p43"/>
          <p:cNvSpPr txBox="1"/>
          <p:nvPr>
            <p:ph idx="5" type="body"/>
          </p:nvPr>
        </p:nvSpPr>
        <p:spPr>
          <a:xfrm>
            <a:off x="6095976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3" name="Google Shape;353;p43"/>
          <p:cNvSpPr txBox="1"/>
          <p:nvPr>
            <p:ph idx="6" type="body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4" name="Google Shape;354;p43"/>
          <p:cNvSpPr txBox="1"/>
          <p:nvPr>
            <p:ph idx="7" type="body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5" name="Google Shape;355;p43"/>
          <p:cNvSpPr txBox="1"/>
          <p:nvPr>
            <p:ph idx="8" type="body"/>
          </p:nvPr>
        </p:nvSpPr>
        <p:spPr>
          <a:xfrm>
            <a:off x="6095976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6" name="Google Shape;356;p43"/>
          <p:cNvSpPr txBox="1"/>
          <p:nvPr>
            <p:ph idx="9" type="body"/>
          </p:nvPr>
        </p:nvSpPr>
        <p:spPr>
          <a:xfrm>
            <a:off x="3063239" y="2764154"/>
            <a:ext cx="3048000" cy="19800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7" name="Google Shape;357;p4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8" name="Google Shape;358;p4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4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6">
  <p:cSld name="custom layout 6"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2" name="Google Shape;362;p44"/>
          <p:cNvSpPr/>
          <p:nvPr>
            <p:ph idx="2" type="pic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44"/>
          <p:cNvSpPr/>
          <p:nvPr>
            <p:ph idx="3" type="pic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44"/>
          <p:cNvSpPr/>
          <p:nvPr>
            <p:ph idx="4" type="pic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5" name="Google Shape;365;p44"/>
          <p:cNvSpPr txBox="1"/>
          <p:nvPr>
            <p:ph idx="1" type="body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6" name="Google Shape;366;p44"/>
          <p:cNvSpPr txBox="1"/>
          <p:nvPr>
            <p:ph idx="5" type="body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7" name="Google Shape;367;p44"/>
          <p:cNvSpPr txBox="1"/>
          <p:nvPr>
            <p:ph idx="6" type="body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8" name="Google Shape;368;p44"/>
          <p:cNvSpPr txBox="1"/>
          <p:nvPr>
            <p:ph idx="7" type="body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9" name="Google Shape;369;p44"/>
          <p:cNvSpPr txBox="1"/>
          <p:nvPr>
            <p:ph idx="8" type="body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0" name="Google Shape;370;p44"/>
          <p:cNvSpPr txBox="1"/>
          <p:nvPr>
            <p:ph idx="9" type="body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1" name="Google Shape;371;p4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2" name="Google Shape;372;p4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3" name="Google Shape;373;p4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7">
  <p:cSld name="custom layout 7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5"/>
          <p:cNvSpPr txBox="1"/>
          <p:nvPr>
            <p:ph idx="1" type="body"/>
          </p:nvPr>
        </p:nvSpPr>
        <p:spPr>
          <a:xfrm>
            <a:off x="5976156" y="1356109"/>
            <a:ext cx="3167700" cy="23229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216000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4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7" name="Google Shape;377;p45"/>
          <p:cNvSpPr txBox="1"/>
          <p:nvPr>
            <p:ph idx="2" type="body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8" name="Google Shape;378;p45"/>
          <p:cNvSpPr txBox="1"/>
          <p:nvPr>
            <p:ph idx="3" type="body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9" name="Google Shape;379;p45"/>
          <p:cNvSpPr txBox="1"/>
          <p:nvPr>
            <p:ph idx="4" type="body"/>
          </p:nvPr>
        </p:nvSpPr>
        <p:spPr>
          <a:xfrm>
            <a:off x="0" y="1338146"/>
            <a:ext cx="5962800" cy="234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16000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80" name="Google Shape;380;p45"/>
          <p:cNvSpPr txBox="1"/>
          <p:nvPr>
            <p:ph idx="5" type="body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144000" spcFirstLastPara="1" rIns="5400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81" name="Google Shape;381;p4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2" name="Google Shape;382;p4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3" name="Google Shape;383;p4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8">
  <p:cSld name="custom layout 8"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86" name="Google Shape;386;p46"/>
          <p:cNvCxnSpPr/>
          <p:nvPr/>
        </p:nvCxnSpPr>
        <p:spPr>
          <a:xfrm>
            <a:off x="-1" y="868209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C4C7C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87" name="Google Shape;387;p46"/>
          <p:cNvSpPr txBox="1"/>
          <p:nvPr>
            <p:ph idx="1" type="body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88" name="Google Shape;388;p46"/>
          <p:cNvSpPr/>
          <p:nvPr>
            <p:ph idx="2" type="pic"/>
          </p:nvPr>
        </p:nvSpPr>
        <p:spPr>
          <a:xfrm>
            <a:off x="-1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46"/>
          <p:cNvSpPr/>
          <p:nvPr>
            <p:ph idx="3" type="pic"/>
          </p:nvPr>
        </p:nvSpPr>
        <p:spPr>
          <a:xfrm>
            <a:off x="6096004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6"/>
          <p:cNvSpPr txBox="1"/>
          <p:nvPr>
            <p:ph idx="4" type="body"/>
          </p:nvPr>
        </p:nvSpPr>
        <p:spPr>
          <a:xfrm>
            <a:off x="3048004" y="876301"/>
            <a:ext cx="3048000" cy="3286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91" name="Google Shape;391;p4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2" name="Google Shape;392;p4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3" name="Google Shape;393;p4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9">
  <p:cSld name="custom layout 9"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6" name="Google Shape;396;p47"/>
          <p:cNvSpPr/>
          <p:nvPr>
            <p:ph idx="2" type="pic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47"/>
          <p:cNvSpPr/>
          <p:nvPr>
            <p:ph idx="3" type="pic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47"/>
          <p:cNvSpPr/>
          <p:nvPr>
            <p:ph idx="4" type="pic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47"/>
          <p:cNvSpPr/>
          <p:nvPr>
            <p:ph idx="5" type="pic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47"/>
          <p:cNvSpPr txBox="1"/>
          <p:nvPr>
            <p:ph idx="1" type="body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1" name="Google Shape;401;p47"/>
          <p:cNvSpPr txBox="1"/>
          <p:nvPr>
            <p:ph idx="6" type="body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2" name="Google Shape;402;p47"/>
          <p:cNvSpPr txBox="1"/>
          <p:nvPr>
            <p:ph idx="7" type="body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3" name="Google Shape;403;p47"/>
          <p:cNvSpPr txBox="1"/>
          <p:nvPr>
            <p:ph idx="8" type="body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4" name="Google Shape;404;p47"/>
          <p:cNvSpPr txBox="1"/>
          <p:nvPr>
            <p:ph idx="9" type="body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5" name="Google Shape;405;p47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6" name="Google Shape;406;p47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7" name="Google Shape;407;p47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0">
  <p:cSld name="custom layout 10"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8"/>
          <p:cNvSpPr txBox="1"/>
          <p:nvPr>
            <p:ph idx="1" type="body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0" name="Google Shape;410;p48"/>
          <p:cNvSpPr txBox="1"/>
          <p:nvPr>
            <p:ph idx="2" type="body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1" name="Google Shape;411;p48"/>
          <p:cNvSpPr txBox="1"/>
          <p:nvPr>
            <p:ph idx="3" type="body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2" name="Google Shape;412;p4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48"/>
          <p:cNvSpPr/>
          <p:nvPr>
            <p:ph idx="4" type="pic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8"/>
          <p:cNvSpPr/>
          <p:nvPr>
            <p:ph idx="5" type="pic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48"/>
          <p:cNvSpPr txBox="1"/>
          <p:nvPr>
            <p:ph idx="6" type="body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6" name="Google Shape;416;p48"/>
          <p:cNvSpPr txBox="1"/>
          <p:nvPr>
            <p:ph idx="7" type="body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7" name="Google Shape;417;p48"/>
          <p:cNvSpPr/>
          <p:nvPr>
            <p:ph idx="8" type="pic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 txBox="1"/>
          <p:nvPr>
            <p:ph idx="9" type="body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cxnSp>
        <p:nvCxnSpPr>
          <p:cNvPr id="419" name="Google Shape;419;p48"/>
          <p:cNvCxnSpPr/>
          <p:nvPr/>
        </p:nvCxnSpPr>
        <p:spPr>
          <a:xfrm>
            <a:off x="6857775" y="2119209"/>
            <a:ext cx="2286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48"/>
          <p:cNvCxnSpPr/>
          <p:nvPr/>
        </p:nvCxnSpPr>
        <p:spPr>
          <a:xfrm>
            <a:off x="6857775" y="3371937"/>
            <a:ext cx="2286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21" name="Google Shape;421;p48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2" name="Google Shape;422;p48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3" name="Google Shape;423;p48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1">
  <p:cSld name="custom layout 11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/>
          <p:nvPr>
            <p:ph idx="1" type="body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6" name="Google Shape;426;p49"/>
          <p:cNvSpPr txBox="1"/>
          <p:nvPr>
            <p:ph idx="2" type="body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7" name="Google Shape;427;p49"/>
          <p:cNvSpPr txBox="1"/>
          <p:nvPr>
            <p:ph idx="3" type="body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8" name="Google Shape;428;p49"/>
          <p:cNvSpPr txBox="1"/>
          <p:nvPr>
            <p:ph idx="4" type="body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9" name="Google Shape;429;p49"/>
          <p:cNvSpPr txBox="1"/>
          <p:nvPr>
            <p:ph idx="5" type="body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30" name="Google Shape;430;p49"/>
          <p:cNvSpPr txBox="1"/>
          <p:nvPr>
            <p:ph idx="6" type="body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31" name="Google Shape;431;p4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2" name="Google Shape;432;p49"/>
          <p:cNvSpPr/>
          <p:nvPr>
            <p:ph idx="7" type="pic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3" name="Google Shape;433;p49"/>
          <p:cNvCxnSpPr/>
          <p:nvPr/>
        </p:nvCxnSpPr>
        <p:spPr>
          <a:xfrm>
            <a:off x="6443663" y="2119209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4" name="Google Shape;434;p49"/>
          <p:cNvCxnSpPr/>
          <p:nvPr/>
        </p:nvCxnSpPr>
        <p:spPr>
          <a:xfrm>
            <a:off x="6443663" y="3371937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5" name="Google Shape;435;p49"/>
          <p:cNvCxnSpPr/>
          <p:nvPr/>
        </p:nvCxnSpPr>
        <p:spPr>
          <a:xfrm>
            <a:off x="-2857" y="2119209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6" name="Google Shape;436;p49"/>
          <p:cNvCxnSpPr/>
          <p:nvPr/>
        </p:nvCxnSpPr>
        <p:spPr>
          <a:xfrm>
            <a:off x="-2857" y="3371937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37" name="Google Shape;437;p49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8" name="Google Shape;438;p49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9" name="Google Shape;439;p49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2">
  <p:cSld name="custom layout 12"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/>
          <p:nvPr>
            <p:ph idx="1" type="body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2" name="Google Shape;442;p50"/>
          <p:cNvSpPr txBox="1"/>
          <p:nvPr>
            <p:ph idx="2" type="body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3" name="Google Shape;443;p50"/>
          <p:cNvSpPr txBox="1"/>
          <p:nvPr>
            <p:ph idx="3" type="body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4" name="Google Shape;444;p50"/>
          <p:cNvSpPr txBox="1"/>
          <p:nvPr>
            <p:ph idx="4" type="body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5" name="Google Shape;445;p5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6" name="Google Shape;446;p50"/>
          <p:cNvSpPr txBox="1"/>
          <p:nvPr>
            <p:ph idx="5" type="body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27000" spcFirstLastPara="1" rIns="5400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7" name="Google Shape;447;p50"/>
          <p:cNvSpPr/>
          <p:nvPr>
            <p:ph idx="6" type="pic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50"/>
          <p:cNvSpPr/>
          <p:nvPr>
            <p:ph idx="7" type="pic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49" name="Google Shape;449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50" name="Google Shape;450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52" name="Google Shape;452;p50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3" name="Google Shape;453;p50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4" name="Google Shape;454;p50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3">
  <p:cSld name="custom layout 13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7" name="Google Shape;457;p51"/>
          <p:cNvSpPr/>
          <p:nvPr>
            <p:ph idx="2" type="pic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1"/>
          <p:cNvSpPr txBox="1"/>
          <p:nvPr>
            <p:ph idx="1" type="body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59" name="Google Shape;459;p51"/>
          <p:cNvSpPr txBox="1"/>
          <p:nvPr>
            <p:ph idx="3" type="body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60" name="Google Shape;460;p51"/>
          <p:cNvSpPr/>
          <p:nvPr>
            <p:ph idx="4" type="pic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1"/>
          <p:cNvSpPr/>
          <p:nvPr>
            <p:ph idx="5" type="pic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3" name="Google Shape;463;p5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4" name="Google Shape;464;p5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5">
  <p:cSld name="custom layout 15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7" name="Google Shape;467;p52"/>
          <p:cNvSpPr txBox="1"/>
          <p:nvPr>
            <p:ph idx="1" type="body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68" name="Google Shape;468;p52"/>
          <p:cNvSpPr/>
          <p:nvPr>
            <p:ph idx="2" type="pic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 txBox="1"/>
          <p:nvPr>
            <p:ph idx="3" type="body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0" name="Google Shape;470;p52"/>
          <p:cNvSpPr txBox="1"/>
          <p:nvPr>
            <p:ph idx="4" type="body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1" name="Google Shape;471;p52"/>
          <p:cNvSpPr txBox="1"/>
          <p:nvPr>
            <p:ph idx="5" type="body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2" name="Google Shape;472;p52"/>
          <p:cNvSpPr txBox="1"/>
          <p:nvPr>
            <p:ph idx="6" type="body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3" name="Google Shape;473;p52"/>
          <p:cNvSpPr txBox="1"/>
          <p:nvPr>
            <p:ph idx="7" type="body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4" name="Google Shape;474;p52"/>
          <p:cNvSpPr txBox="1"/>
          <p:nvPr>
            <p:ph idx="8" type="body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048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475" name="Google Shape;475;p52"/>
          <p:cNvSpPr txBox="1"/>
          <p:nvPr>
            <p:ph idx="9" type="body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6" name="Google Shape;476;p52"/>
          <p:cNvSpPr txBox="1"/>
          <p:nvPr>
            <p:ph idx="13" type="body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7" name="Google Shape;477;p52"/>
          <p:cNvSpPr txBox="1"/>
          <p:nvPr>
            <p:ph idx="14" type="body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8" name="Google Shape;478;p5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79" name="Google Shape;479;p5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0" name="Google Shape;480;p5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6">
  <p:cSld name="custom layout 16"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3" name="Google Shape;483;p53"/>
          <p:cNvSpPr/>
          <p:nvPr>
            <p:ph idx="2" type="pic"/>
          </p:nvPr>
        </p:nvSpPr>
        <p:spPr>
          <a:xfrm>
            <a:off x="5962650" y="898538"/>
            <a:ext cx="31815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53"/>
          <p:cNvSpPr txBox="1"/>
          <p:nvPr>
            <p:ph idx="1" type="body"/>
          </p:nvPr>
        </p:nvSpPr>
        <p:spPr>
          <a:xfrm>
            <a:off x="0" y="898538"/>
            <a:ext cx="40851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27000" spcFirstLastPara="1" rIns="5400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85" name="Google Shape;485;p53"/>
          <p:cNvSpPr txBox="1"/>
          <p:nvPr>
            <p:ph idx="3" type="body"/>
          </p:nvPr>
        </p:nvSpPr>
        <p:spPr>
          <a:xfrm>
            <a:off x="0" y="1364457"/>
            <a:ext cx="4081800" cy="32790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6" name="Google Shape;486;p53"/>
          <p:cNvSpPr txBox="1"/>
          <p:nvPr>
            <p:ph idx="4" type="body"/>
          </p:nvPr>
        </p:nvSpPr>
        <p:spPr>
          <a:xfrm>
            <a:off x="4104252" y="898538"/>
            <a:ext cx="1856100" cy="18675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indent="-2921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indent="-2921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indent="-2921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7" name="Google Shape;487;p53"/>
          <p:cNvSpPr txBox="1"/>
          <p:nvPr>
            <p:ph idx="5" type="body"/>
          </p:nvPr>
        </p:nvSpPr>
        <p:spPr>
          <a:xfrm>
            <a:off x="4104252" y="2788920"/>
            <a:ext cx="1856100" cy="18546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indent="-2921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indent="-2921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indent="-2921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8" name="Google Shape;488;p5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9" name="Google Shape;489;p5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0" name="Google Shape;490;p5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93" name="Google Shape;493;p5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94" name="Google Shape;494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9.xml"/><Relationship Id="rId42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40.xml"/><Relationship Id="rId44" Type="http://schemas.openxmlformats.org/officeDocument/2006/relationships/slideLayout" Target="../slideLayouts/slideLayout43.xml"/><Relationship Id="rId43" Type="http://schemas.openxmlformats.org/officeDocument/2006/relationships/slideLayout" Target="../slideLayouts/slideLayout42.xml"/><Relationship Id="rId46" Type="http://schemas.openxmlformats.org/officeDocument/2006/relationships/slideLayout" Target="../slideLayouts/slideLayout45.xml"/><Relationship Id="rId45" Type="http://schemas.openxmlformats.org/officeDocument/2006/relationships/slideLayout" Target="../slideLayouts/slideLayout44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48" Type="http://schemas.openxmlformats.org/officeDocument/2006/relationships/slideLayout" Target="../slideLayouts/slideLayout47.xml"/><Relationship Id="rId47" Type="http://schemas.openxmlformats.org/officeDocument/2006/relationships/slideLayout" Target="../slideLayouts/slideLayout46.xml"/><Relationship Id="rId49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2.xml"/><Relationship Id="rId32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4.xml"/><Relationship Id="rId34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6.xml"/><Relationship Id="rId36" Type="http://schemas.openxmlformats.org/officeDocument/2006/relationships/slideLayout" Target="../slideLayouts/slideLayout35.xml"/><Relationship Id="rId39" Type="http://schemas.openxmlformats.org/officeDocument/2006/relationships/slideLayout" Target="../slideLayouts/slideLayout38.xml"/><Relationship Id="rId38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20.xml"/><Relationship Id="rId24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29" Type="http://schemas.openxmlformats.org/officeDocument/2006/relationships/slideLayout" Target="../slideLayouts/slideLayout28.xml"/><Relationship Id="rId51" Type="http://schemas.openxmlformats.org/officeDocument/2006/relationships/slideLayout" Target="../slideLayouts/slideLayout50.xml"/><Relationship Id="rId50" Type="http://schemas.openxmlformats.org/officeDocument/2006/relationships/slideLayout" Target="../slideLayouts/slideLayout49.xml"/><Relationship Id="rId53" Type="http://schemas.openxmlformats.org/officeDocument/2006/relationships/slideLayout" Target="../slideLayouts/slideLayout52.xml"/><Relationship Id="rId52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10.xml"/><Relationship Id="rId55" Type="http://schemas.openxmlformats.org/officeDocument/2006/relationships/theme" Target="../theme/theme1.xml"/><Relationship Id="rId10" Type="http://schemas.openxmlformats.org/officeDocument/2006/relationships/slideLayout" Target="../slideLayouts/slideLayout9.xml"/><Relationship Id="rId54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38138" y="889824"/>
            <a:ext cx="8452200" cy="37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9563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9563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9563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9563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  <p:sldLayoutId id="2147483671" r:id="rId25"/>
    <p:sldLayoutId id="2147483672" r:id="rId26"/>
    <p:sldLayoutId id="2147483673" r:id="rId27"/>
    <p:sldLayoutId id="2147483674" r:id="rId28"/>
    <p:sldLayoutId id="2147483675" r:id="rId29"/>
    <p:sldLayoutId id="2147483676" r:id="rId30"/>
    <p:sldLayoutId id="2147483677" r:id="rId31"/>
    <p:sldLayoutId id="2147483678" r:id="rId32"/>
    <p:sldLayoutId id="2147483679" r:id="rId33"/>
    <p:sldLayoutId id="2147483680" r:id="rId34"/>
    <p:sldLayoutId id="2147483681" r:id="rId35"/>
    <p:sldLayoutId id="2147483682" r:id="rId36"/>
    <p:sldLayoutId id="2147483683" r:id="rId37"/>
    <p:sldLayoutId id="2147483684" r:id="rId38"/>
    <p:sldLayoutId id="2147483685" r:id="rId39"/>
    <p:sldLayoutId id="2147483686" r:id="rId40"/>
    <p:sldLayoutId id="2147483687" r:id="rId41"/>
    <p:sldLayoutId id="2147483688" r:id="rId42"/>
    <p:sldLayoutId id="2147483689" r:id="rId43"/>
    <p:sldLayoutId id="2147483690" r:id="rId44"/>
    <p:sldLayoutId id="2147483691" r:id="rId45"/>
    <p:sldLayoutId id="2147483692" r:id="rId46"/>
    <p:sldLayoutId id="2147483693" r:id="rId47"/>
    <p:sldLayoutId id="2147483694" r:id="rId48"/>
    <p:sldLayoutId id="2147483695" r:id="rId49"/>
    <p:sldLayoutId id="2147483696" r:id="rId50"/>
    <p:sldLayoutId id="2147483697" r:id="rId51"/>
    <p:sldLayoutId id="2147483698" r:id="rId52"/>
    <p:sldLayoutId id="2147483699" r:id="rId53"/>
    <p:sldLayoutId id="2147483700" r:id="rId5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omments" Target="../comments/comment1.xml"/><Relationship Id="rId4" Type="http://schemas.openxmlformats.org/officeDocument/2006/relationships/image" Target="../media/image26.png"/><Relationship Id="rId5" Type="http://schemas.openxmlformats.org/officeDocument/2006/relationships/image" Target="../media/image23.png"/><Relationship Id="rId6" Type="http://schemas.openxmlformats.org/officeDocument/2006/relationships/image" Target="../media/image2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lab.ebi.ac.uk/ensembl-regulation/ECCB-2026-T6/-/tree/main?ref_type=heads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5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T6: </a:t>
            </a:r>
            <a:r>
              <a:rPr lang="en-GB"/>
              <a:t>Making the most of cis-regulatory annotations for genome-scale analysis</a:t>
            </a:r>
            <a:endParaRPr/>
          </a:p>
        </p:txBody>
      </p:sp>
      <p:sp>
        <p:nvSpPr>
          <p:cNvPr id="500" name="Google Shape;500;p5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ECCB 2026 Tutorial</a:t>
            </a:r>
            <a:endParaRPr/>
          </a:p>
        </p:txBody>
      </p:sp>
      <p:sp>
        <p:nvSpPr>
          <p:cNvPr id="501" name="Google Shape;501;p5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03/09/2026</a:t>
            </a:r>
            <a:endParaRPr/>
          </a:p>
        </p:txBody>
      </p:sp>
      <p:sp>
        <p:nvSpPr>
          <p:cNvPr id="502" name="Google Shape;502;p5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 sz="1400"/>
              <a:t>A practical day for moving from epigenomic evidence to reusable regulatory annotation workflows.</a:t>
            </a:r>
            <a:endParaRPr sz="1400"/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Tutorial Instructors</a:t>
            </a:r>
            <a:endParaRPr/>
          </a:p>
        </p:txBody>
      </p:sp>
      <p:pic>
        <p:nvPicPr>
          <p:cNvPr id="508" name="Google Shape;508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900" y="944644"/>
            <a:ext cx="20955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9" name="Google Shape;509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82450" y="1811619"/>
            <a:ext cx="2095500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56"/>
          <p:cNvSpPr txBox="1"/>
          <p:nvPr/>
        </p:nvSpPr>
        <p:spPr>
          <a:xfrm>
            <a:off x="33875" y="3040150"/>
            <a:ext cx="3163200" cy="12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dk1"/>
                </a:solidFill>
              </a:rPr>
              <a:t>Garth Ilsley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Project Leader, Ensembl Regulation, EMBL-EBI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solidFill>
                <a:schemeClr val="dk1"/>
              </a:solidFill>
            </a:endParaRPr>
          </a:p>
          <a:p>
            <a:pPr indent="-153500" lvl="0" marL="269999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Regulatory genome annotation at scale</a:t>
            </a:r>
            <a:endParaRPr sz="1000">
              <a:solidFill>
                <a:schemeClr val="dk1"/>
              </a:solidFill>
            </a:endParaRPr>
          </a:p>
          <a:p>
            <a:pPr indent="-153500" lvl="0" marL="269999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Enhancer biology, reproducible analysis and community resources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511" name="Google Shape;511;p56"/>
          <p:cNvSpPr txBox="1"/>
          <p:nvPr/>
        </p:nvSpPr>
        <p:spPr>
          <a:xfrm>
            <a:off x="2709733" y="3942900"/>
            <a:ext cx="36945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dk1"/>
                </a:solidFill>
              </a:rPr>
              <a:t>Gabriela Merino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Senior Bioinformatician</a:t>
            </a:r>
            <a:r>
              <a:rPr lang="en-GB" sz="1000">
                <a:solidFill>
                  <a:schemeClr val="dk1"/>
                </a:solidFill>
              </a:rPr>
              <a:t>, Ensembl Regulation, EMBL-EBI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solidFill>
                <a:schemeClr val="dk1"/>
              </a:solidFill>
            </a:endParaRPr>
          </a:p>
          <a:p>
            <a:pPr indent="-153500" lvl="0" marL="269999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Regulatory annotation pipelines and quality assessment</a:t>
            </a:r>
            <a:endParaRPr sz="1000">
              <a:solidFill>
                <a:schemeClr val="dk1"/>
              </a:solidFill>
            </a:endParaRPr>
          </a:p>
          <a:p>
            <a:pPr indent="-153500" lvl="0" marL="269999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R, statistics, data integration, and training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512" name="Google Shape;512;p56"/>
          <p:cNvSpPr txBox="1"/>
          <p:nvPr/>
        </p:nvSpPr>
        <p:spPr>
          <a:xfrm>
            <a:off x="5663325" y="3040150"/>
            <a:ext cx="34353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dk1"/>
                </a:solidFill>
              </a:rPr>
              <a:t>Louisse Paola Mirabueno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Ensembl Outreach Officer</a:t>
            </a:r>
            <a:r>
              <a:rPr lang="en-GB" sz="1000">
                <a:solidFill>
                  <a:schemeClr val="dk1"/>
                </a:solidFill>
              </a:rPr>
              <a:t>, Ensembl Outreach, EMBL-EBI</a:t>
            </a:r>
            <a:endParaRPr sz="1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</p:txBody>
      </p:sp>
      <p:pic>
        <p:nvPicPr>
          <p:cNvPr id="513" name="Google Shape;513;p5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33225" y="944650"/>
            <a:ext cx="2095500" cy="209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Join at slido.com</a:t>
            </a:r>
            <a:endParaRPr/>
          </a:p>
        </p:txBody>
      </p:sp>
      <p:sp>
        <p:nvSpPr>
          <p:cNvPr id="519" name="Google Shape;519;p57"/>
          <p:cNvSpPr/>
          <p:nvPr/>
        </p:nvSpPr>
        <p:spPr>
          <a:xfrm>
            <a:off x="3458050" y="1751675"/>
            <a:ext cx="1315224" cy="941004"/>
          </a:xfrm>
          <a:prstGeom prst="cloud">
            <a:avLst/>
          </a:prstGeom>
          <a:solidFill>
            <a:srgbClr val="6FA8DC"/>
          </a:solidFill>
          <a:ln cap="flat" cmpd="sng" w="3810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8"/>
          <p:cNvSpPr txBox="1"/>
          <p:nvPr>
            <p:ph idx="1" type="body"/>
          </p:nvPr>
        </p:nvSpPr>
        <p:spPr>
          <a:xfrm>
            <a:off x="338150" y="1867550"/>
            <a:ext cx="8452200" cy="11022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400"/>
              <a:t>What would you like to gain</a:t>
            </a:r>
            <a:endParaRPr b="1" sz="24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400"/>
              <a:t>from the workshop today?</a:t>
            </a:r>
            <a:endParaRPr b="1" sz="2600"/>
          </a:p>
        </p:txBody>
      </p:sp>
      <p:sp>
        <p:nvSpPr>
          <p:cNvPr id="525" name="Google Shape;525;p58"/>
          <p:cNvSpPr/>
          <p:nvPr/>
        </p:nvSpPr>
        <p:spPr>
          <a:xfrm>
            <a:off x="3837875" y="3055525"/>
            <a:ext cx="1315224" cy="941004"/>
          </a:xfrm>
          <a:prstGeom prst="cloud">
            <a:avLst/>
          </a:prstGeom>
          <a:solidFill>
            <a:srgbClr val="6FA8DC"/>
          </a:solidFill>
          <a:ln cap="flat" cmpd="sng" w="3810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59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30200" lvl="0" marL="45720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Regulatory annotations are powerful because they compress messy evidence into usable genomic features.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The challenge is not access. The challenge is interpretation: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Multiple repositories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Different annotation frameworks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Cell-type and species context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Files, browsers, and programmatic workflows</a:t>
            </a:r>
            <a:endParaRPr/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5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Tutorial Goals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60"/>
          <p:cNvSpPr txBox="1"/>
          <p:nvPr>
            <p:ph idx="1" type="body"/>
          </p:nvPr>
        </p:nvSpPr>
        <p:spPr>
          <a:xfrm>
            <a:off x="338150" y="889825"/>
            <a:ext cx="8452200" cy="360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30200" lvl="0" marL="457200" rtl="0" algn="l"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By the end of the day you should leave with three practical moves</a:t>
            </a:r>
            <a:endParaRPr/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6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Tutorial Goals</a:t>
            </a:r>
            <a:endParaRPr/>
          </a:p>
        </p:txBody>
      </p:sp>
      <p:grpSp>
        <p:nvGrpSpPr>
          <p:cNvPr id="538" name="Google Shape;538;p60"/>
          <p:cNvGrpSpPr/>
          <p:nvPr/>
        </p:nvGrpSpPr>
        <p:grpSpPr>
          <a:xfrm>
            <a:off x="376548" y="1432139"/>
            <a:ext cx="8370968" cy="3148854"/>
            <a:chOff x="486701" y="1432139"/>
            <a:chExt cx="8370968" cy="3148854"/>
          </a:xfrm>
        </p:grpSpPr>
        <p:grpSp>
          <p:nvGrpSpPr>
            <p:cNvPr id="539" name="Google Shape;539;p60"/>
            <p:cNvGrpSpPr/>
            <p:nvPr/>
          </p:nvGrpSpPr>
          <p:grpSpPr>
            <a:xfrm>
              <a:off x="486701" y="3543864"/>
              <a:ext cx="8370955" cy="1037129"/>
              <a:chOff x="1593000" y="2322568"/>
              <a:chExt cx="5957975" cy="643500"/>
            </a:xfrm>
          </p:grpSpPr>
          <p:sp>
            <p:nvSpPr>
              <p:cNvPr id="540" name="Google Shape;540;p60"/>
              <p:cNvSpPr/>
              <p:nvPr/>
            </p:nvSpPr>
            <p:spPr>
              <a:xfrm>
                <a:off x="3728375" y="2322568"/>
                <a:ext cx="3822600" cy="643500"/>
              </a:xfrm>
              <a:prstGeom prst="rect">
                <a:avLst/>
              </a:prstGeom>
              <a:solidFill>
                <a:srgbClr val="B6D7A8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1" name="Google Shape;541;p60"/>
              <p:cNvSpPr/>
              <p:nvPr/>
            </p:nvSpPr>
            <p:spPr>
              <a:xfrm flipH="1">
                <a:off x="2283025" y="2322575"/>
                <a:ext cx="1844400" cy="642600"/>
              </a:xfrm>
              <a:prstGeom prst="rect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2" name="Google Shape;542;p60"/>
              <p:cNvSpPr/>
              <p:nvPr/>
            </p:nvSpPr>
            <p:spPr>
              <a:xfrm rot="-5400000">
                <a:off x="3650635" y="1785613"/>
                <a:ext cx="643342" cy="1717264"/>
              </a:xfrm>
              <a:prstGeom prst="flowChartOffpageConnector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" name="Google Shape;543;p60"/>
              <p:cNvSpPr/>
              <p:nvPr/>
            </p:nvSpPr>
            <p:spPr>
              <a:xfrm>
                <a:off x="2342618" y="2399946"/>
                <a:ext cx="21693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GB" sz="1443">
                    <a:solidFill>
                      <a:srgbClr val="FFFFFF"/>
                    </a:solidFill>
                  </a:rPr>
                  <a:t>REUSE</a:t>
                </a:r>
                <a:endParaRPr b="1" sz="1443">
                  <a:solidFill>
                    <a:srgbClr val="FFFFFF"/>
                  </a:solidFill>
                </a:endParaRPr>
              </a:p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43">
                    <a:solidFill>
                      <a:srgbClr val="FFFFFF"/>
                    </a:solidFill>
                  </a:rPr>
                  <a:t>Bring annotations into your own genomic regions, variants, and browser sessions.</a:t>
                </a:r>
                <a:endParaRPr sz="1143">
                  <a:solidFill>
                    <a:srgbClr val="FFFFFF"/>
                  </a:solidFill>
                </a:endParaRPr>
              </a:p>
            </p:txBody>
          </p:sp>
          <p:sp>
            <p:nvSpPr>
              <p:cNvPr id="544" name="Google Shape;544;p60"/>
              <p:cNvSpPr/>
              <p:nvPr/>
            </p:nvSpPr>
            <p:spPr>
              <a:xfrm>
                <a:off x="1593000" y="2322568"/>
                <a:ext cx="690000" cy="642300"/>
              </a:xfrm>
              <a:prstGeom prst="rect">
                <a:avLst/>
              </a:prstGeom>
              <a:solidFill>
                <a:srgbClr val="B02B20"/>
              </a:solidFill>
              <a:ln>
                <a:noFill/>
              </a:ln>
              <a:effectLst>
                <a:outerShdw blurRad="103054" rotWithShape="0" algn="bl" dir="2700000" dist="41221">
                  <a:srgbClr val="000000">
                    <a:alpha val="17000"/>
                  </a:srgbClr>
                </a:outerShdw>
              </a:effectLst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" name="Google Shape;545;p60"/>
              <p:cNvSpPr/>
              <p:nvPr/>
            </p:nvSpPr>
            <p:spPr>
              <a:xfrm>
                <a:off x="1593000" y="2322575"/>
                <a:ext cx="690000" cy="642600"/>
              </a:xfrm>
              <a:prstGeom prst="rect">
                <a:avLst/>
              </a:prstGeom>
              <a:solidFill>
                <a:srgbClr val="38761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3751">
                  <a:solidFill>
                    <a:srgbClr val="FFFFFF"/>
                  </a:solidFill>
                </a:endParaRPr>
              </a:p>
            </p:txBody>
          </p:sp>
          <p:sp>
            <p:nvSpPr>
              <p:cNvPr id="546" name="Google Shape;546;p60"/>
              <p:cNvSpPr/>
              <p:nvPr/>
            </p:nvSpPr>
            <p:spPr>
              <a:xfrm>
                <a:off x="4658992" y="2322574"/>
                <a:ext cx="2689800" cy="64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R/GenomicRanges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Python/Pandas/PyRanges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IGV and user-defined regions</a:t>
                </a:r>
                <a:endParaRPr sz="1154">
                  <a:solidFill>
                    <a:srgbClr val="274E13"/>
                  </a:solidFill>
                </a:endParaRPr>
              </a:p>
            </p:txBody>
          </p:sp>
        </p:grpSp>
        <p:grpSp>
          <p:nvGrpSpPr>
            <p:cNvPr id="547" name="Google Shape;547;p60"/>
            <p:cNvGrpSpPr/>
            <p:nvPr/>
          </p:nvGrpSpPr>
          <p:grpSpPr>
            <a:xfrm>
              <a:off x="486701" y="2487938"/>
              <a:ext cx="8370955" cy="1037140"/>
              <a:chOff x="1593000" y="2322561"/>
              <a:chExt cx="5957975" cy="643507"/>
            </a:xfrm>
          </p:grpSpPr>
          <p:sp>
            <p:nvSpPr>
              <p:cNvPr id="548" name="Google Shape;548;p60"/>
              <p:cNvSpPr/>
              <p:nvPr/>
            </p:nvSpPr>
            <p:spPr>
              <a:xfrm>
                <a:off x="3728375" y="2322568"/>
                <a:ext cx="3822600" cy="643500"/>
              </a:xfrm>
              <a:prstGeom prst="rect">
                <a:avLst/>
              </a:prstGeom>
              <a:solidFill>
                <a:srgbClr val="B6D7A8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9" name="Google Shape;549;p60"/>
              <p:cNvSpPr/>
              <p:nvPr/>
            </p:nvSpPr>
            <p:spPr>
              <a:xfrm flipH="1">
                <a:off x="2283025" y="2322575"/>
                <a:ext cx="1844400" cy="642600"/>
              </a:xfrm>
              <a:prstGeom prst="rect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0" name="Google Shape;550;p60"/>
              <p:cNvSpPr/>
              <p:nvPr/>
            </p:nvSpPr>
            <p:spPr>
              <a:xfrm rot="-5400000">
                <a:off x="3650628" y="1785608"/>
                <a:ext cx="643358" cy="1717264"/>
              </a:xfrm>
              <a:prstGeom prst="flowChartOffpageConnector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1" name="Google Shape;551;p60"/>
              <p:cNvSpPr/>
              <p:nvPr/>
            </p:nvSpPr>
            <p:spPr>
              <a:xfrm>
                <a:off x="2342618" y="2399948"/>
                <a:ext cx="21648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GB" sz="1443">
                    <a:solidFill>
                      <a:srgbClr val="FFFFFF"/>
                    </a:solidFill>
                  </a:rPr>
                  <a:t>INTERPRET</a:t>
                </a:r>
                <a:endParaRPr b="1" sz="1443">
                  <a:solidFill>
                    <a:srgbClr val="FFFFFF"/>
                  </a:solidFill>
                </a:endParaRPr>
              </a:p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43">
                    <a:solidFill>
                      <a:srgbClr val="FFFFFF"/>
                    </a:solidFill>
                  </a:rPr>
                  <a:t>Understand what the annotation is saying, </a:t>
                </a:r>
                <a:r>
                  <a:rPr lang="en-GB" sz="1143">
                    <a:solidFill>
                      <a:srgbClr val="FFFFFF"/>
                    </a:solidFill>
                  </a:rPr>
                  <a:t>which</a:t>
                </a:r>
                <a:r>
                  <a:rPr lang="en-GB" sz="1143">
                    <a:solidFill>
                      <a:srgbClr val="FFFFFF"/>
                    </a:solidFill>
                  </a:rPr>
                  <a:t> evidence supports it, and where limitations remain.</a:t>
                </a:r>
                <a:endParaRPr sz="1143">
                  <a:solidFill>
                    <a:srgbClr val="FFFFFF"/>
                  </a:solidFill>
                </a:endParaRPr>
              </a:p>
            </p:txBody>
          </p:sp>
          <p:sp>
            <p:nvSpPr>
              <p:cNvPr id="552" name="Google Shape;552;p60"/>
              <p:cNvSpPr/>
              <p:nvPr/>
            </p:nvSpPr>
            <p:spPr>
              <a:xfrm>
                <a:off x="1593000" y="2322568"/>
                <a:ext cx="690000" cy="642300"/>
              </a:xfrm>
              <a:prstGeom prst="rect">
                <a:avLst/>
              </a:prstGeom>
              <a:solidFill>
                <a:srgbClr val="B02B20"/>
              </a:solidFill>
              <a:ln>
                <a:noFill/>
              </a:ln>
              <a:effectLst>
                <a:outerShdw blurRad="103054" rotWithShape="0" algn="bl" dir="2700000" dist="41221">
                  <a:srgbClr val="000000">
                    <a:alpha val="17000"/>
                  </a:srgbClr>
                </a:outerShdw>
              </a:effectLst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3" name="Google Shape;553;p60"/>
              <p:cNvSpPr/>
              <p:nvPr/>
            </p:nvSpPr>
            <p:spPr>
              <a:xfrm>
                <a:off x="1593000" y="2322575"/>
                <a:ext cx="690000" cy="642600"/>
              </a:xfrm>
              <a:prstGeom prst="rect">
                <a:avLst/>
              </a:prstGeom>
              <a:solidFill>
                <a:srgbClr val="38761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3751">
                  <a:solidFill>
                    <a:srgbClr val="FFFFFF"/>
                  </a:solidFill>
                </a:endParaRPr>
              </a:p>
            </p:txBody>
          </p:sp>
          <p:sp>
            <p:nvSpPr>
              <p:cNvPr id="554" name="Google Shape;554;p60"/>
              <p:cNvSpPr/>
              <p:nvPr/>
            </p:nvSpPr>
            <p:spPr>
              <a:xfrm>
                <a:off x="4655769" y="2323756"/>
                <a:ext cx="2703300" cy="64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Regulatory features vs supporting evidence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cCREs and classification schemes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Cell-type and species context</a:t>
                </a:r>
                <a:endParaRPr sz="1154">
                  <a:solidFill>
                    <a:srgbClr val="274E13"/>
                  </a:solidFill>
                </a:endParaRPr>
              </a:p>
            </p:txBody>
          </p:sp>
        </p:grpSp>
        <p:grpSp>
          <p:nvGrpSpPr>
            <p:cNvPr id="555" name="Google Shape;555;p60"/>
            <p:cNvGrpSpPr/>
            <p:nvPr/>
          </p:nvGrpSpPr>
          <p:grpSpPr>
            <a:xfrm>
              <a:off x="486715" y="1432139"/>
              <a:ext cx="8370955" cy="1037129"/>
              <a:chOff x="1593000" y="2322568"/>
              <a:chExt cx="5957975" cy="643500"/>
            </a:xfrm>
          </p:grpSpPr>
          <p:sp>
            <p:nvSpPr>
              <p:cNvPr id="556" name="Google Shape;556;p60"/>
              <p:cNvSpPr/>
              <p:nvPr/>
            </p:nvSpPr>
            <p:spPr>
              <a:xfrm>
                <a:off x="3728375" y="2322568"/>
                <a:ext cx="3822600" cy="643500"/>
              </a:xfrm>
              <a:prstGeom prst="rect">
                <a:avLst/>
              </a:prstGeom>
              <a:solidFill>
                <a:srgbClr val="B6D7A8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7" name="Google Shape;557;p60"/>
              <p:cNvSpPr/>
              <p:nvPr/>
            </p:nvSpPr>
            <p:spPr>
              <a:xfrm flipH="1">
                <a:off x="2283025" y="2322575"/>
                <a:ext cx="1844400" cy="642600"/>
              </a:xfrm>
              <a:prstGeom prst="rect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" name="Google Shape;558;p60"/>
              <p:cNvSpPr/>
              <p:nvPr/>
            </p:nvSpPr>
            <p:spPr>
              <a:xfrm rot="-5400000">
                <a:off x="3643895" y="1792353"/>
                <a:ext cx="643358" cy="1703799"/>
              </a:xfrm>
              <a:prstGeom prst="flowChartOffpageConnector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" name="Google Shape;559;p60"/>
              <p:cNvSpPr/>
              <p:nvPr/>
            </p:nvSpPr>
            <p:spPr>
              <a:xfrm>
                <a:off x="2342618" y="2399945"/>
                <a:ext cx="21291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GB" sz="1443">
                    <a:solidFill>
                      <a:srgbClr val="FFFFFF"/>
                    </a:solidFill>
                  </a:rPr>
                  <a:t>FIND</a:t>
                </a:r>
                <a:endParaRPr b="1" sz="1443">
                  <a:solidFill>
                    <a:srgbClr val="FFFFFF"/>
                  </a:solidFill>
                </a:endParaRPr>
              </a:p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43">
                    <a:solidFill>
                      <a:srgbClr val="FFFFFF"/>
                    </a:solidFill>
                  </a:rPr>
                  <a:t>Explore raw and processed epigenomic resources without getting lost in repository details</a:t>
                </a:r>
                <a:endParaRPr sz="1143">
                  <a:solidFill>
                    <a:srgbClr val="FFFFFF"/>
                  </a:solidFill>
                </a:endParaRPr>
              </a:p>
            </p:txBody>
          </p:sp>
          <p:sp>
            <p:nvSpPr>
              <p:cNvPr id="560" name="Google Shape;560;p60"/>
              <p:cNvSpPr/>
              <p:nvPr/>
            </p:nvSpPr>
            <p:spPr>
              <a:xfrm>
                <a:off x="1593000" y="2322568"/>
                <a:ext cx="690000" cy="642300"/>
              </a:xfrm>
              <a:prstGeom prst="rect">
                <a:avLst/>
              </a:prstGeom>
              <a:solidFill>
                <a:srgbClr val="B02B20"/>
              </a:solidFill>
              <a:ln>
                <a:noFill/>
              </a:ln>
              <a:effectLst>
                <a:outerShdw blurRad="103054" rotWithShape="0" algn="bl" dir="2700000" dist="41221">
                  <a:srgbClr val="000000">
                    <a:alpha val="17000"/>
                  </a:srgbClr>
                </a:outerShdw>
              </a:effectLst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" name="Google Shape;561;p60"/>
              <p:cNvSpPr/>
              <p:nvPr/>
            </p:nvSpPr>
            <p:spPr>
              <a:xfrm>
                <a:off x="1593000" y="2322575"/>
                <a:ext cx="690000" cy="642600"/>
              </a:xfrm>
              <a:prstGeom prst="rect">
                <a:avLst/>
              </a:prstGeom>
              <a:solidFill>
                <a:srgbClr val="38761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3751">
                  <a:solidFill>
                    <a:srgbClr val="FFFFFF"/>
                  </a:solidFill>
                </a:endParaRPr>
              </a:p>
            </p:txBody>
          </p:sp>
          <p:sp>
            <p:nvSpPr>
              <p:cNvPr id="562" name="Google Shape;562;p60"/>
              <p:cNvSpPr/>
              <p:nvPr/>
            </p:nvSpPr>
            <p:spPr>
              <a:xfrm>
                <a:off x="4655769" y="2323752"/>
                <a:ext cx="2703300" cy="64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Ensembl Genome Browser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Ensembl Regulation subsite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ENCODE and FAANG Data Portal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ENCODE SCREEN</a:t>
                </a:r>
                <a:endParaRPr sz="1154">
                  <a:solidFill>
                    <a:srgbClr val="274E13"/>
                  </a:solidFill>
                </a:endParaRPr>
              </a:p>
            </p:txBody>
          </p:sp>
        </p:grpSp>
        <p:sp>
          <p:nvSpPr>
            <p:cNvPr id="563" name="Google Shape;563;p60"/>
            <p:cNvSpPr/>
            <p:nvPr/>
          </p:nvSpPr>
          <p:spPr>
            <a:xfrm>
              <a:off x="686825" y="1676038"/>
              <a:ext cx="549300" cy="549300"/>
            </a:xfrm>
            <a:prstGeom prst="star4">
              <a:avLst>
                <a:gd fmla="val 12500" name="adj"/>
              </a:avLst>
            </a:pr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564" name="Google Shape;564;p60"/>
            <p:cNvSpPr/>
            <p:nvPr/>
          </p:nvSpPr>
          <p:spPr>
            <a:xfrm>
              <a:off x="686825" y="2731888"/>
              <a:ext cx="549300" cy="549300"/>
            </a:xfrm>
            <a:prstGeom prst="star4">
              <a:avLst>
                <a:gd fmla="val 12500" name="adj"/>
              </a:avLst>
            </a:pr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565" name="Google Shape;565;p60"/>
            <p:cNvSpPr/>
            <p:nvPr/>
          </p:nvSpPr>
          <p:spPr>
            <a:xfrm>
              <a:off x="686825" y="3879338"/>
              <a:ext cx="549300" cy="549300"/>
            </a:xfrm>
            <a:prstGeom prst="star4">
              <a:avLst>
                <a:gd fmla="val 12500" name="adj"/>
              </a:avLst>
            </a:pr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0" name="Google Shape;570;p61"/>
          <p:cNvCxnSpPr/>
          <p:nvPr/>
        </p:nvCxnSpPr>
        <p:spPr>
          <a:xfrm rot="10800000">
            <a:off x="4191854" y="1129159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1" name="Google Shape;571;p61"/>
          <p:cNvCxnSpPr/>
          <p:nvPr/>
        </p:nvCxnSpPr>
        <p:spPr>
          <a:xfrm rot="10800000">
            <a:off x="4191854" y="2286428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2" name="Google Shape;572;p61"/>
          <p:cNvCxnSpPr/>
          <p:nvPr/>
        </p:nvCxnSpPr>
        <p:spPr>
          <a:xfrm rot="10800000">
            <a:off x="4191840" y="3770591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3" name="Google Shape;573;p61"/>
          <p:cNvSpPr txBox="1"/>
          <p:nvPr>
            <p:ph type="title"/>
          </p:nvPr>
        </p:nvSpPr>
        <p:spPr>
          <a:xfrm>
            <a:off x="338140" y="273850"/>
            <a:ext cx="16713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Agenda</a:t>
            </a:r>
            <a:endParaRPr/>
          </a:p>
        </p:txBody>
      </p:sp>
      <p:grpSp>
        <p:nvGrpSpPr>
          <p:cNvPr id="574" name="Google Shape;574;p61"/>
          <p:cNvGrpSpPr/>
          <p:nvPr/>
        </p:nvGrpSpPr>
        <p:grpSpPr>
          <a:xfrm>
            <a:off x="3128709" y="55386"/>
            <a:ext cx="5768054" cy="1042748"/>
            <a:chOff x="3562347" y="909418"/>
            <a:chExt cx="4094303" cy="857382"/>
          </a:xfrm>
        </p:grpSpPr>
        <p:sp>
          <p:nvSpPr>
            <p:cNvPr id="575" name="Google Shape;575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Welcome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61"/>
            <p:cNvSpPr txBox="1"/>
            <p:nvPr/>
          </p:nvSpPr>
          <p:spPr>
            <a:xfrm>
              <a:off x="3562347" y="934021"/>
              <a:ext cx="792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09:00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78" name="Google Shape;578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79" name="Google Shape;579;p61"/>
          <p:cNvGrpSpPr/>
          <p:nvPr/>
        </p:nvGrpSpPr>
        <p:grpSpPr>
          <a:xfrm>
            <a:off x="3128709" y="218435"/>
            <a:ext cx="5768054" cy="1042748"/>
            <a:chOff x="3562347" y="909418"/>
            <a:chExt cx="4094303" cy="857382"/>
          </a:xfrm>
        </p:grpSpPr>
        <p:sp>
          <p:nvSpPr>
            <p:cNvPr id="580" name="Google Shape;580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Regulatory genomics evidence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1" name="Google Shape;581;p61"/>
            <p:cNvSpPr txBox="1"/>
            <p:nvPr/>
          </p:nvSpPr>
          <p:spPr>
            <a:xfrm>
              <a:off x="4928450" y="1064660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Assays, signals and peaks, CREs inference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61"/>
            <p:cNvSpPr txBox="1"/>
            <p:nvPr/>
          </p:nvSpPr>
          <p:spPr>
            <a:xfrm>
              <a:off x="3562347" y="934015"/>
              <a:ext cx="792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09:15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84" name="Google Shape;584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85" name="Google Shape;585;p61"/>
          <p:cNvGrpSpPr/>
          <p:nvPr/>
        </p:nvGrpSpPr>
        <p:grpSpPr>
          <a:xfrm>
            <a:off x="3128709" y="615431"/>
            <a:ext cx="5768054" cy="1184052"/>
            <a:chOff x="3562347" y="934029"/>
            <a:chExt cx="4094303" cy="973567"/>
          </a:xfrm>
        </p:grpSpPr>
        <p:sp>
          <p:nvSpPr>
            <p:cNvPr id="586" name="Google Shape;586;p61"/>
            <p:cNvSpPr txBox="1"/>
            <p:nvPr/>
          </p:nvSpPr>
          <p:spPr>
            <a:xfrm>
              <a:off x="4928450" y="950506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ENCODE: Experimental Data, cCREs, and SCREEN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7" name="Google Shape;587;p61"/>
            <p:cNvSpPr txBox="1"/>
            <p:nvPr/>
          </p:nvSpPr>
          <p:spPr>
            <a:xfrm>
              <a:off x="4928450" y="1109850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The ENCODE Data Portal. </a:t>
              </a: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Available assays, metadata and methods. Reference epigenomes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50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cCREs annotation and the SCREEN portal.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8" name="Google Shape;588;p61"/>
            <p:cNvSpPr txBox="1"/>
            <p:nvPr/>
          </p:nvSpPr>
          <p:spPr>
            <a:xfrm>
              <a:off x="3562347" y="934029"/>
              <a:ext cx="786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10:00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61"/>
            <p:cNvSpPr/>
            <p:nvPr/>
          </p:nvSpPr>
          <p:spPr>
            <a:xfrm>
              <a:off x="4517125" y="1226896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90" name="Google Shape;590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91" name="Google Shape;591;p61"/>
          <p:cNvGrpSpPr/>
          <p:nvPr/>
        </p:nvGrpSpPr>
        <p:grpSpPr>
          <a:xfrm>
            <a:off x="3128709" y="1477615"/>
            <a:ext cx="5768054" cy="1414938"/>
            <a:chOff x="3562347" y="909418"/>
            <a:chExt cx="4094303" cy="1163409"/>
          </a:xfrm>
        </p:grpSpPr>
        <p:sp>
          <p:nvSpPr>
            <p:cNvPr id="592" name="Google Shape;592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Ensembl Regulation: Regulatory Builds and Evidence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61"/>
            <p:cNvSpPr txBox="1"/>
            <p:nvPr/>
          </p:nvSpPr>
          <p:spPr>
            <a:xfrm>
              <a:off x="4928450" y="1076966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The Ensembl Project. Ensembl Regulation pipelines. Regulatory data, activity and features. The Ensembl Regulation subsite. Comparison of regulatory </a:t>
              </a: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annotation</a:t>
              </a: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 frameworks.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4" name="Google Shape;594;p61"/>
            <p:cNvSpPr txBox="1"/>
            <p:nvPr/>
          </p:nvSpPr>
          <p:spPr>
            <a:xfrm>
              <a:off x="3562347" y="934023"/>
              <a:ext cx="792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11:30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5" name="Google Shape;595;p61"/>
            <p:cNvSpPr/>
            <p:nvPr/>
          </p:nvSpPr>
          <p:spPr>
            <a:xfrm>
              <a:off x="4517124" y="1147628"/>
              <a:ext cx="133500" cy="9252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96" name="Google Shape;596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97" name="Google Shape;597;p61"/>
          <p:cNvGrpSpPr/>
          <p:nvPr/>
        </p:nvGrpSpPr>
        <p:grpSpPr>
          <a:xfrm>
            <a:off x="3128709" y="2629905"/>
            <a:ext cx="5768054" cy="1042748"/>
            <a:chOff x="3562347" y="909418"/>
            <a:chExt cx="4094303" cy="857382"/>
          </a:xfrm>
        </p:grpSpPr>
        <p:sp>
          <p:nvSpPr>
            <p:cNvPr id="598" name="Google Shape;598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Alternative Access to Regulatory Annotations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61"/>
            <p:cNvSpPr txBox="1"/>
            <p:nvPr/>
          </p:nvSpPr>
          <p:spPr>
            <a:xfrm>
              <a:off x="4928450" y="1089272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CREs repositories and files. File formats. Data analysis in Python/R.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61"/>
            <p:cNvSpPr txBox="1"/>
            <p:nvPr/>
          </p:nvSpPr>
          <p:spPr>
            <a:xfrm>
              <a:off x="3562347" y="934017"/>
              <a:ext cx="786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13:45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1" name="Google Shape;601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02" name="Google Shape;602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603" name="Google Shape;603;p61"/>
          <p:cNvGrpSpPr/>
          <p:nvPr/>
        </p:nvGrpSpPr>
        <p:grpSpPr>
          <a:xfrm>
            <a:off x="3128709" y="3195418"/>
            <a:ext cx="5768054" cy="1022792"/>
            <a:chOff x="3562347" y="925826"/>
            <a:chExt cx="4094303" cy="840974"/>
          </a:xfrm>
        </p:grpSpPr>
        <p:sp>
          <p:nvSpPr>
            <p:cNvPr id="604" name="Google Shape;604;p61"/>
            <p:cNvSpPr txBox="1"/>
            <p:nvPr/>
          </p:nvSpPr>
          <p:spPr>
            <a:xfrm>
              <a:off x="4928450" y="925826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Visualization with Genome Browsers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5" name="Google Shape;605;p61"/>
            <p:cNvSpPr txBox="1"/>
            <p:nvPr/>
          </p:nvSpPr>
          <p:spPr>
            <a:xfrm>
              <a:off x="4928450" y="1105680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IGV for integrating epigenomics evidence and CREs annotation. Customisation alternatives and interpretation 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6" name="Google Shape;606;p61"/>
            <p:cNvSpPr txBox="1"/>
            <p:nvPr/>
          </p:nvSpPr>
          <p:spPr>
            <a:xfrm>
              <a:off x="3562347" y="934031"/>
              <a:ext cx="798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14:45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7" name="Google Shape;607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08" name="Google Shape;608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609" name="Google Shape;609;p61"/>
          <p:cNvGrpSpPr/>
          <p:nvPr/>
        </p:nvGrpSpPr>
        <p:grpSpPr>
          <a:xfrm>
            <a:off x="3128709" y="3768950"/>
            <a:ext cx="5768054" cy="1061743"/>
            <a:chOff x="3562347" y="1096748"/>
            <a:chExt cx="4094303" cy="873000"/>
          </a:xfrm>
        </p:grpSpPr>
        <p:sp>
          <p:nvSpPr>
            <p:cNvPr id="610" name="Google Shape;610;p61"/>
            <p:cNvSpPr txBox="1"/>
            <p:nvPr/>
          </p:nvSpPr>
          <p:spPr>
            <a:xfrm>
              <a:off x="4928450" y="1101523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Case Study: Non-coding Variant Interpretation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11" name="Google Shape;611;p61"/>
            <p:cNvSpPr txBox="1"/>
            <p:nvPr/>
          </p:nvSpPr>
          <p:spPr>
            <a:xfrm>
              <a:off x="4928450" y="1281377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Conceptual interpretation, resources navigation and utilization, file analysis workflows and genome visualization.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12" name="Google Shape;612;p61"/>
            <p:cNvSpPr txBox="1"/>
            <p:nvPr/>
          </p:nvSpPr>
          <p:spPr>
            <a:xfrm>
              <a:off x="3562347" y="1105626"/>
              <a:ext cx="798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15:30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13" name="Google Shape;613;p61"/>
            <p:cNvSpPr/>
            <p:nvPr/>
          </p:nvSpPr>
          <p:spPr>
            <a:xfrm>
              <a:off x="4517124" y="1096748"/>
              <a:ext cx="133500" cy="8730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14" name="Google Shape;614;p61"/>
            <p:cNvCxnSpPr/>
            <p:nvPr/>
          </p:nvCxnSpPr>
          <p:spPr>
            <a:xfrm rot="10800000">
              <a:off x="4318975" y="1255045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15" name="Google Shape;615;p61"/>
          <p:cNvSpPr txBox="1"/>
          <p:nvPr/>
        </p:nvSpPr>
        <p:spPr>
          <a:xfrm>
            <a:off x="2611250" y="950719"/>
            <a:ext cx="84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</a:rPr>
              <a:t>Coffee break</a:t>
            </a:r>
            <a:endParaRPr b="1" sz="800">
              <a:solidFill>
                <a:schemeClr val="dk1"/>
              </a:solidFill>
            </a:endParaRPr>
          </a:p>
        </p:txBody>
      </p:sp>
      <p:sp>
        <p:nvSpPr>
          <p:cNvPr id="616" name="Google Shape;616;p61"/>
          <p:cNvSpPr txBox="1"/>
          <p:nvPr/>
        </p:nvSpPr>
        <p:spPr>
          <a:xfrm>
            <a:off x="2631225" y="2115430"/>
            <a:ext cx="84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</a:rPr>
              <a:t>Lunch</a:t>
            </a:r>
            <a:r>
              <a:rPr b="1" lang="en-GB" sz="800">
                <a:solidFill>
                  <a:schemeClr val="dk1"/>
                </a:solidFill>
              </a:rPr>
              <a:t> break</a:t>
            </a:r>
            <a:endParaRPr b="1" sz="800">
              <a:solidFill>
                <a:schemeClr val="dk1"/>
              </a:solidFill>
            </a:endParaRPr>
          </a:p>
        </p:txBody>
      </p:sp>
      <p:sp>
        <p:nvSpPr>
          <p:cNvPr id="617" name="Google Shape;617;p61"/>
          <p:cNvSpPr txBox="1"/>
          <p:nvPr/>
        </p:nvSpPr>
        <p:spPr>
          <a:xfrm>
            <a:off x="2631225" y="3603787"/>
            <a:ext cx="84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</a:rPr>
              <a:t>Coffee break</a:t>
            </a:r>
            <a:endParaRPr b="1" sz="800">
              <a:solidFill>
                <a:schemeClr val="dk1"/>
              </a:solidFill>
            </a:endParaRPr>
          </a:p>
        </p:txBody>
      </p:sp>
      <p:grpSp>
        <p:nvGrpSpPr>
          <p:cNvPr id="618" name="Google Shape;618;p61"/>
          <p:cNvGrpSpPr/>
          <p:nvPr/>
        </p:nvGrpSpPr>
        <p:grpSpPr>
          <a:xfrm>
            <a:off x="3128709" y="4615919"/>
            <a:ext cx="5768054" cy="409634"/>
            <a:chOff x="3562347" y="905316"/>
            <a:chExt cx="4094303" cy="336815"/>
          </a:xfrm>
        </p:grpSpPr>
        <p:sp>
          <p:nvSpPr>
            <p:cNvPr id="619" name="Google Shape;619;p61"/>
            <p:cNvSpPr txBox="1"/>
            <p:nvPr/>
          </p:nvSpPr>
          <p:spPr>
            <a:xfrm>
              <a:off x="4928450" y="905316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Wrap-up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0" name="Google Shape;620;p61"/>
            <p:cNvSpPr txBox="1"/>
            <p:nvPr/>
          </p:nvSpPr>
          <p:spPr>
            <a:xfrm>
              <a:off x="3562347" y="934031"/>
              <a:ext cx="798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17:15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21" name="Google Shape;621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622" name="Google Shape;622;p61"/>
          <p:cNvCxnSpPr/>
          <p:nvPr/>
        </p:nvCxnSpPr>
        <p:spPr>
          <a:xfrm rot="10800000">
            <a:off x="4191847" y="1308568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3" name="Google Shape;623;p61"/>
          <p:cNvSpPr txBox="1"/>
          <p:nvPr/>
        </p:nvSpPr>
        <p:spPr>
          <a:xfrm>
            <a:off x="3128709" y="1139344"/>
            <a:ext cx="1107600" cy="3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10:45</a:t>
            </a:r>
            <a:endParaRPr sz="973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61"/>
          <p:cNvSpPr txBox="1"/>
          <p:nvPr/>
        </p:nvSpPr>
        <p:spPr>
          <a:xfrm>
            <a:off x="3128700" y="950713"/>
            <a:ext cx="1107600" cy="2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10:30</a:t>
            </a:r>
            <a:endParaRPr sz="97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61"/>
          <p:cNvSpPr txBox="1"/>
          <p:nvPr/>
        </p:nvSpPr>
        <p:spPr>
          <a:xfrm>
            <a:off x="3128700" y="2107981"/>
            <a:ext cx="1107600" cy="2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12:45</a:t>
            </a:r>
            <a:endParaRPr sz="97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61"/>
          <p:cNvSpPr txBox="1"/>
          <p:nvPr/>
        </p:nvSpPr>
        <p:spPr>
          <a:xfrm>
            <a:off x="3671800" y="3578832"/>
            <a:ext cx="591600" cy="2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15:15</a:t>
            </a:r>
            <a:endParaRPr sz="97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62"/>
          <p:cNvSpPr txBox="1"/>
          <p:nvPr>
            <p:ph idx="1" type="body"/>
          </p:nvPr>
        </p:nvSpPr>
        <p:spPr>
          <a:xfrm>
            <a:off x="338150" y="889825"/>
            <a:ext cx="8697000" cy="3711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rPr lang="en-GB" sz="2000" u="sng">
                <a:solidFill>
                  <a:schemeClr val="hlink"/>
                </a:solidFill>
                <a:hlinkClick r:id="rId3"/>
              </a:rPr>
              <a:t>ECCB-2026-T6 GitLab repository</a:t>
            </a:r>
            <a:endParaRPr sz="2000"/>
          </a:p>
          <a:p>
            <a:pPr indent="0" lvl="0" marL="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400">
                <a:latin typeface="Courier New"/>
                <a:ea typeface="Courier New"/>
                <a:cs typeface="Courier New"/>
                <a:sym typeface="Courier New"/>
              </a:rPr>
              <a:t>├── data/                      Tutorial datasets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400">
                <a:latin typeface="Courier New"/>
                <a:ea typeface="Courier New"/>
                <a:cs typeface="Courier New"/>
                <a:sym typeface="Courier New"/>
              </a:rPr>
              <a:t>├── docs/                      Installation guides and additional documentation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400">
                <a:latin typeface="Courier New"/>
                <a:ea typeface="Courier New"/>
                <a:cs typeface="Courier New"/>
                <a:sym typeface="Courier New"/>
              </a:rPr>
              <a:t>├── hands-on-solutions/        Presentations with hands-on exercises solutions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400">
                <a:latin typeface="Courier New"/>
                <a:ea typeface="Courier New"/>
                <a:cs typeface="Courier New"/>
                <a:sym typeface="Courier New"/>
              </a:rPr>
              <a:t>├── notebooks/                 Google Colab notebooks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400">
                <a:latin typeface="Courier New"/>
                <a:ea typeface="Courier New"/>
                <a:cs typeface="Courier New"/>
                <a:sym typeface="Courier New"/>
              </a:rPr>
              <a:t>├── scripts/                   R, Python and shell scripts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400">
                <a:latin typeface="Courier New"/>
                <a:ea typeface="Courier New"/>
                <a:cs typeface="Courier New"/>
                <a:sym typeface="Courier New"/>
              </a:rPr>
              <a:t>├── slides/                    Presentation slides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400">
                <a:latin typeface="Courier New"/>
                <a:ea typeface="Courier New"/>
                <a:cs typeface="Courier New"/>
                <a:sym typeface="Courier New"/>
              </a:rPr>
              <a:t>└── tutorial_information/      Tutorial programme and schedule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32" name="Google Shape;632;p6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Tutorial repository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63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Internet access</a:t>
            </a:r>
            <a:endParaRPr sz="20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Web browsers:</a:t>
            </a:r>
            <a:endParaRPr sz="2000"/>
          </a:p>
          <a:p>
            <a:pPr indent="-3429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GB" sz="1800"/>
              <a:t>Ensembl</a:t>
            </a:r>
            <a:endParaRPr sz="1800"/>
          </a:p>
          <a:p>
            <a:pPr indent="-3429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GB" sz="1800"/>
              <a:t>Ensembl Regulation</a:t>
            </a:r>
            <a:endParaRPr sz="1800"/>
          </a:p>
          <a:p>
            <a:pPr indent="-3429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GB" sz="1800"/>
              <a:t>ENCODE SCREEN</a:t>
            </a:r>
            <a:endParaRPr sz="18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IGV</a:t>
            </a:r>
            <a:endParaRPr sz="20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Google Account - Google Colab</a:t>
            </a:r>
            <a:endParaRPr sz="20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Access to the tutorial material</a:t>
            </a:r>
            <a:endParaRPr sz="2000"/>
          </a:p>
        </p:txBody>
      </p:sp>
      <p:sp>
        <p:nvSpPr>
          <p:cNvPr id="638" name="Google Shape;638;p6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Setup checks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6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644" name="Google Shape;644;p64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645" name="Google Shape;645;p64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274E13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46" name="Google Shape;646;p64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274E13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47" name="Google Shape;647;p64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648" name="Google Shape;648;p64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B6D7A8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49" name="Google Shape;649;p64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B6D7A8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50" name="Google Shape;650;p64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651" name="Google Shape;651;p64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38761D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52" name="Google Shape;652;p64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38761D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53" name="Google Shape;653;p64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654" name="Google Shape;654;p64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6AA84F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55" name="Google Shape;655;p64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6AA84F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56" name="Google Shape;656;p64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657" name="Google Shape;657;p64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93C47D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58" name="Google Shape;658;p64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93C47D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