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3"/>
    </p:embeddedFont>
    <p:embeddedFont>
      <p:font typeface="Franklin Gothic" panose="020B0603020102020204" pitchFamily="34" charset="0"/>
      <p:regular r:id="rId14"/>
      <p:bold r:id="rId15"/>
      <p:italic r:id="rId16"/>
      <p:boldItalic r:id="rId17"/>
    </p:embeddedFont>
    <p:embeddedFont>
      <p:font typeface="Libre Franklin" pitchFamily="2" charset="77"/>
      <p:regular r:id="rId18"/>
      <p:bold r:id="rId19"/>
      <p:italic r:id="rId20"/>
      <p:boldItalic r:id="rId21"/>
    </p:embeddedFont>
    <p:embeddedFont>
      <p:font typeface="Libre Franklin Medium" pitchFamily="2" charset="77"/>
      <p:regular r:id="rId22"/>
      <p:italic r:id="rId23"/>
    </p:embeddedFont>
    <p:embeddedFont>
      <p:font typeface="Libre Franklin Thin" pitchFamily="2" charset="77"/>
      <p:regular r:id="rId24"/>
      <p: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custDataLst>
    <p:tags r:id="rId3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briela Merin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2"/>
    <p:restoredTop sz="94658"/>
  </p:normalViewPr>
  <p:slideViewPr>
    <p:cSldViewPr snapToGrid="0">
      <p:cViewPr varScale="1">
        <p:scale>
          <a:sx n="90" d="100"/>
          <a:sy n="90" d="100"/>
        </p:scale>
        <p:origin x="200" y="1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0d3bf5493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0d3bf5493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17cb81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17cb81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0d3bf5493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0d3bf5493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17cb815a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e17cb815a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75a9cef9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f75a9cef9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0d3bf5493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0d3bf5493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17cb815a8_0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e17cb815a8_0_1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91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2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6.sv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27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9.sv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ebi.ac.uk/ensembl-regulation/ECCB-2026-T6/-/tree/main?ref_type=head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T6: Making the most of cis-regulatory annotations for genome-scale analysis</a:t>
            </a:r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ECCB 2026 Tutorial</a:t>
            </a:r>
            <a:endParaRPr/>
          </a:p>
        </p:txBody>
      </p:sp>
      <p:sp>
        <p:nvSpPr>
          <p:cNvPr id="501" name="Google Shape;501;p5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03/09/2026</a:t>
            </a:r>
            <a:endParaRPr/>
          </a:p>
        </p:txBody>
      </p:sp>
      <p:sp>
        <p:nvSpPr>
          <p:cNvPr id="502" name="Google Shape;502;p5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400"/>
              <a:t>A practical day for moving from epigenomic evidence to reusable regulatory annotation workflows.</a:t>
            </a:r>
            <a:endParaRPr sz="140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Instructors</a:t>
            </a:r>
            <a:endParaRPr/>
          </a:p>
        </p:txBody>
      </p:sp>
      <p:pic>
        <p:nvPicPr>
          <p:cNvPr id="508" name="Google Shape;50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00" y="944644"/>
            <a:ext cx="20955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280" y="1950219"/>
            <a:ext cx="2095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6"/>
          <p:cNvSpPr txBox="1"/>
          <p:nvPr/>
        </p:nvSpPr>
        <p:spPr>
          <a:xfrm>
            <a:off x="33875" y="3040150"/>
            <a:ext cx="31632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Garth Ilsley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Project Leader, Ensembl Regulation, EMBL-EBI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</a:endParaRPr>
          </a:p>
          <a:p>
            <a:pPr marL="269999" lvl="0" indent="-153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-GB" sz="1000">
                <a:solidFill>
                  <a:schemeClr val="dk1"/>
                </a:solidFill>
              </a:rPr>
              <a:t>Regulatory genome annotation at scale</a:t>
            </a:r>
            <a:endParaRPr sz="1000">
              <a:solidFill>
                <a:schemeClr val="dk1"/>
              </a:solidFill>
            </a:endParaRPr>
          </a:p>
          <a:p>
            <a:pPr marL="269999" lvl="0" indent="-153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-GB" sz="1000">
                <a:solidFill>
                  <a:schemeClr val="dk1"/>
                </a:solidFill>
              </a:rPr>
              <a:t>Enhancer biology, reproducible analysis and community resources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11" name="Google Shape;511;p56"/>
          <p:cNvSpPr txBox="1"/>
          <p:nvPr/>
        </p:nvSpPr>
        <p:spPr>
          <a:xfrm>
            <a:off x="2691563" y="4081500"/>
            <a:ext cx="36945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Gabriela Merino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</a:rPr>
              <a:t>Senior Bioinformatician, Ensembl Regulation, EMBL-EBI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</a:endParaRPr>
          </a:p>
          <a:p>
            <a:pPr marL="269999" marR="0" lvl="0" indent="-15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-GB" sz="1000" dirty="0">
                <a:solidFill>
                  <a:schemeClr val="dk1"/>
                </a:solidFill>
              </a:rPr>
              <a:t>Regulatory annotation pipelines and quality assessment</a:t>
            </a:r>
            <a:endParaRPr sz="1000" dirty="0">
              <a:solidFill>
                <a:schemeClr val="dk1"/>
              </a:solidFill>
            </a:endParaRPr>
          </a:p>
          <a:p>
            <a:pPr marL="269999" marR="0" lvl="0" indent="-15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-GB" sz="1000" dirty="0">
                <a:solidFill>
                  <a:schemeClr val="dk1"/>
                </a:solidFill>
              </a:rPr>
              <a:t>R, statistics, data integration, and training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512" name="Google Shape;512;p56"/>
          <p:cNvSpPr txBox="1"/>
          <p:nvPr/>
        </p:nvSpPr>
        <p:spPr>
          <a:xfrm>
            <a:off x="5663325" y="3040150"/>
            <a:ext cx="3435300" cy="1431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Louisse Paola Mirabueno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</a:rPr>
              <a:t>Ensembl Outreach Officer, Ensembl Outreach, EMBL-EBI</a:t>
            </a:r>
            <a:endParaRPr sz="10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0" dirty="0">
              <a:solidFill>
                <a:schemeClr val="dk1"/>
              </a:solidFill>
            </a:endParaRPr>
          </a:p>
          <a:p>
            <a:pPr marL="269999" lvl="0" indent="-153500">
              <a:buClr>
                <a:schemeClr val="dk1"/>
              </a:buClr>
              <a:buSzPts val="1000"/>
              <a:buChar char="-"/>
            </a:pPr>
            <a:r>
              <a:rPr lang="en-GB" sz="1000" dirty="0">
                <a:solidFill>
                  <a:schemeClr val="dk1"/>
                </a:solidFill>
              </a:rPr>
              <a:t>Ensembl training development and outreach</a:t>
            </a:r>
          </a:p>
          <a:p>
            <a:pPr marL="269999" lvl="0" indent="-153500">
              <a:buClr>
                <a:schemeClr val="dk1"/>
              </a:buClr>
              <a:buSzPts val="1000"/>
              <a:buChar char="-"/>
            </a:pPr>
            <a:r>
              <a:rPr lang="en-GB" sz="1000" dirty="0">
                <a:solidFill>
                  <a:schemeClr val="dk1"/>
                </a:solidFill>
              </a:rPr>
              <a:t>Scientific communication and creation of documentation, tutorials, and interactive learning materials</a:t>
            </a:r>
          </a:p>
        </p:txBody>
      </p:sp>
      <p:pic>
        <p:nvPicPr>
          <p:cNvPr id="513" name="Google Shape;51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3225" y="94465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0DDB56-7479-7A16-3B04-BF3097B042D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1501A-1869-7AE9-8DD9-38E880A82E1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000000"/>
                </a:solidFill>
              </a:rPr>
              <a:t>Join at slido.com</a:t>
            </a:r>
            <a:br>
              <a:rPr lang="en-GB" sz="4000" b="1">
                <a:solidFill>
                  <a:srgbClr val="000000"/>
                </a:solidFill>
              </a:rPr>
            </a:br>
            <a:r>
              <a:rPr lang="en-GB" sz="4000" b="1">
                <a:solidFill>
                  <a:srgbClr val="000000"/>
                </a:solidFill>
              </a:rPr>
              <a:t>#1350613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31DA4-B386-B757-119F-961E7458562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GB" sz="2600">
                <a:solidFill>
                  <a:srgbClr val="FFFFFF"/>
                </a:solidFill>
              </a:rPr>
              <a:t>The </a:t>
            </a:r>
            <a:r>
              <a:rPr lang="en-GB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GB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E81F3A-68FC-D75E-CA24-4EE51E9C192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ium 6">
            <a:extLst>
              <a:ext uri="{FF2B5EF4-FFF2-40B4-BE49-F238E27FC236}">
                <a16:creationId xmlns:a16="http://schemas.microsoft.com/office/drawing/2014/main" id="{C6AAD193-75E6-77A7-AAC7-AE709323E2A8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GB" sz="2600" b="1">
                <a:solidFill>
                  <a:srgbClr val="198038"/>
                </a:solidFill>
              </a:rPr>
              <a:t>Do not edit
</a:t>
            </a:r>
            <a:r>
              <a:rPr lang="en-GB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GB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70DDBD3-94B3-81D9-95AA-798701FE24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463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43DD7-394D-A23C-5092-F69E626B5A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C9F79B-46FA-5D6D-7CC7-6CE843310F3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000000"/>
                </a:solidFill>
              </a:rPr>
              <a:t>What do you hope to gain from today's workshop?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47227-13D4-5BD5-0BEA-2D59F3F62C8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GB" sz="2600">
                <a:solidFill>
                  <a:srgbClr val="FFFFFF"/>
                </a:solidFill>
              </a:rPr>
              <a:t>The </a:t>
            </a:r>
            <a:r>
              <a:rPr lang="en-GB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GB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6547EB5-2D80-6E2A-62F9-A9EFB29C2F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ium 6">
            <a:extLst>
              <a:ext uri="{FF2B5EF4-FFF2-40B4-BE49-F238E27FC236}">
                <a16:creationId xmlns:a16="http://schemas.microsoft.com/office/drawing/2014/main" id="{F5E70418-CE69-21F6-F66E-D6A3A20C45E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GB" sz="2600" b="1">
                <a:solidFill>
                  <a:srgbClr val="198038"/>
                </a:solidFill>
              </a:rPr>
              <a:t>Do not edit
</a:t>
            </a:r>
            <a:r>
              <a:rPr lang="en-GB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GB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2C5DFAE-7D93-6E3F-39E9-32AE2785265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725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Regulatory annotations are powerful because they compress messy evidence into usable genomic features.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The challenge is not access. The challenge is interpretation: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Multiple repositories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Different annotation frameworks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Cell-type and species context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Files, browsers, and programmatic workflows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Goals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0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60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By the end of the day you should leave with three practical moves</a:t>
            </a: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Goals</a:t>
            </a:r>
            <a:endParaRPr/>
          </a:p>
        </p:txBody>
      </p:sp>
      <p:grpSp>
        <p:nvGrpSpPr>
          <p:cNvPr id="538" name="Google Shape;538;p60"/>
          <p:cNvGrpSpPr/>
          <p:nvPr/>
        </p:nvGrpSpPr>
        <p:grpSpPr>
          <a:xfrm>
            <a:off x="376548" y="1432139"/>
            <a:ext cx="8370968" cy="3148854"/>
            <a:chOff x="486701" y="1432139"/>
            <a:chExt cx="8370968" cy="3148854"/>
          </a:xfrm>
        </p:grpSpPr>
        <p:grpSp>
          <p:nvGrpSpPr>
            <p:cNvPr id="539" name="Google Shape;539;p60"/>
            <p:cNvGrpSpPr/>
            <p:nvPr/>
          </p:nvGrpSpPr>
          <p:grpSpPr>
            <a:xfrm>
              <a:off x="486701" y="3543864"/>
              <a:ext cx="8370955" cy="1037129"/>
              <a:chOff x="1593000" y="2322568"/>
              <a:chExt cx="5957975" cy="643500"/>
            </a:xfrm>
          </p:grpSpPr>
          <p:sp>
            <p:nvSpPr>
              <p:cNvPr id="540" name="Google Shape;540;p60"/>
              <p:cNvSpPr/>
              <p:nvPr/>
            </p:nvSpPr>
            <p:spPr>
              <a:xfrm>
                <a:off x="3728375" y="2322568"/>
                <a:ext cx="3822600" cy="643500"/>
              </a:xfrm>
              <a:prstGeom prst="rect">
                <a:avLst/>
              </a:pr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60"/>
              <p:cNvSpPr/>
              <p:nvPr/>
            </p:nvSpPr>
            <p:spPr>
              <a:xfrm flipH="1">
                <a:off x="2283025" y="2322575"/>
                <a:ext cx="1844400" cy="642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60"/>
              <p:cNvSpPr/>
              <p:nvPr/>
            </p:nvSpPr>
            <p:spPr>
              <a:xfrm rot="-5400000">
                <a:off x="3650635" y="1785613"/>
                <a:ext cx="643342" cy="1717264"/>
              </a:xfrm>
              <a:prstGeom prst="flowChartOffpageConnector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60"/>
              <p:cNvSpPr/>
              <p:nvPr/>
            </p:nvSpPr>
            <p:spPr>
              <a:xfrm>
                <a:off x="2342618" y="2399946"/>
                <a:ext cx="21693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43" b="1">
                    <a:solidFill>
                      <a:srgbClr val="FFFFFF"/>
                    </a:solidFill>
                  </a:rPr>
                  <a:t>REUSE</a:t>
                </a:r>
                <a:endParaRPr sz="1443" b="1">
                  <a:solidFill>
                    <a:srgbClr val="FFFFFF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43">
                    <a:solidFill>
                      <a:srgbClr val="FFFFFF"/>
                    </a:solidFill>
                  </a:rPr>
                  <a:t>Bring annotations into your own genomic regions, variants, and browser sessions.</a:t>
                </a:r>
                <a:endParaRPr sz="1143">
                  <a:solidFill>
                    <a:srgbClr val="FFFFFF"/>
                  </a:solidFill>
                </a:endParaRPr>
              </a:p>
            </p:txBody>
          </p:sp>
          <p:sp>
            <p:nvSpPr>
              <p:cNvPr id="544" name="Google Shape;544;p60"/>
              <p:cNvSpPr/>
              <p:nvPr/>
            </p:nvSpPr>
            <p:spPr>
              <a:xfrm>
                <a:off x="1593000" y="2322568"/>
                <a:ext cx="690000" cy="642300"/>
              </a:xfrm>
              <a:prstGeom prst="rect">
                <a:avLst/>
              </a:prstGeom>
              <a:solidFill>
                <a:srgbClr val="B02B20"/>
              </a:solidFill>
              <a:ln>
                <a:noFill/>
              </a:ln>
              <a:effectLst>
                <a:outerShdw blurRad="103054" dist="41221" dir="2700000" algn="bl" rotWithShape="0">
                  <a:srgbClr val="000000">
                    <a:alpha val="17000"/>
                  </a:srgbClr>
                </a:outerShdw>
              </a:effectLst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60"/>
              <p:cNvSpPr/>
              <p:nvPr/>
            </p:nvSpPr>
            <p:spPr>
              <a:xfrm>
                <a:off x="1593000" y="2322575"/>
                <a:ext cx="690000" cy="642600"/>
              </a:xfrm>
              <a:prstGeom prst="rect">
                <a:avLst/>
              </a:pr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51">
                  <a:solidFill>
                    <a:srgbClr val="FFFFFF"/>
                  </a:solidFill>
                </a:endParaRPr>
              </a:p>
            </p:txBody>
          </p:sp>
          <p:sp>
            <p:nvSpPr>
              <p:cNvPr id="546" name="Google Shape;546;p60"/>
              <p:cNvSpPr/>
              <p:nvPr/>
            </p:nvSpPr>
            <p:spPr>
              <a:xfrm>
                <a:off x="4658992" y="2322574"/>
                <a:ext cx="2689800" cy="64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R/GenomicRanges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Python/Pandas/PyRanges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IGV and user-defined regions</a:t>
                </a:r>
                <a:endParaRPr sz="1154">
                  <a:solidFill>
                    <a:srgbClr val="274E13"/>
                  </a:solidFill>
                </a:endParaRPr>
              </a:p>
            </p:txBody>
          </p:sp>
        </p:grpSp>
        <p:grpSp>
          <p:nvGrpSpPr>
            <p:cNvPr id="547" name="Google Shape;547;p60"/>
            <p:cNvGrpSpPr/>
            <p:nvPr/>
          </p:nvGrpSpPr>
          <p:grpSpPr>
            <a:xfrm>
              <a:off x="486701" y="2487938"/>
              <a:ext cx="8370955" cy="1037140"/>
              <a:chOff x="1593000" y="2322561"/>
              <a:chExt cx="5957975" cy="643507"/>
            </a:xfrm>
          </p:grpSpPr>
          <p:sp>
            <p:nvSpPr>
              <p:cNvPr id="548" name="Google Shape;548;p60"/>
              <p:cNvSpPr/>
              <p:nvPr/>
            </p:nvSpPr>
            <p:spPr>
              <a:xfrm>
                <a:off x="3728375" y="2322568"/>
                <a:ext cx="3822600" cy="643500"/>
              </a:xfrm>
              <a:prstGeom prst="rect">
                <a:avLst/>
              </a:pr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60"/>
              <p:cNvSpPr/>
              <p:nvPr/>
            </p:nvSpPr>
            <p:spPr>
              <a:xfrm flipH="1">
                <a:off x="2283025" y="2322575"/>
                <a:ext cx="1844400" cy="642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60"/>
              <p:cNvSpPr/>
              <p:nvPr/>
            </p:nvSpPr>
            <p:spPr>
              <a:xfrm rot="-5400000">
                <a:off x="3650628" y="1785608"/>
                <a:ext cx="643358" cy="1717264"/>
              </a:xfrm>
              <a:prstGeom prst="flowChartOffpageConnector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60"/>
              <p:cNvSpPr/>
              <p:nvPr/>
            </p:nvSpPr>
            <p:spPr>
              <a:xfrm>
                <a:off x="2342618" y="2399948"/>
                <a:ext cx="21648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43" b="1">
                    <a:solidFill>
                      <a:srgbClr val="FFFFFF"/>
                    </a:solidFill>
                  </a:rPr>
                  <a:t>INTERPRET</a:t>
                </a:r>
                <a:endParaRPr sz="1443" b="1">
                  <a:solidFill>
                    <a:srgbClr val="FFFFFF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43">
                    <a:solidFill>
                      <a:srgbClr val="FFFFFF"/>
                    </a:solidFill>
                  </a:rPr>
                  <a:t>Understand what the annotation is saying, which evidence supports it, and where limitations remain.</a:t>
                </a:r>
                <a:endParaRPr sz="1143">
                  <a:solidFill>
                    <a:srgbClr val="FFFFFF"/>
                  </a:solidFill>
                </a:endParaRPr>
              </a:p>
            </p:txBody>
          </p:sp>
          <p:sp>
            <p:nvSpPr>
              <p:cNvPr id="552" name="Google Shape;552;p60"/>
              <p:cNvSpPr/>
              <p:nvPr/>
            </p:nvSpPr>
            <p:spPr>
              <a:xfrm>
                <a:off x="1593000" y="2322568"/>
                <a:ext cx="690000" cy="642300"/>
              </a:xfrm>
              <a:prstGeom prst="rect">
                <a:avLst/>
              </a:prstGeom>
              <a:solidFill>
                <a:srgbClr val="B02B20"/>
              </a:solidFill>
              <a:ln>
                <a:noFill/>
              </a:ln>
              <a:effectLst>
                <a:outerShdw blurRad="103054" dist="41221" dir="2700000" algn="bl" rotWithShape="0">
                  <a:srgbClr val="000000">
                    <a:alpha val="17000"/>
                  </a:srgbClr>
                </a:outerShdw>
              </a:effectLst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60"/>
              <p:cNvSpPr/>
              <p:nvPr/>
            </p:nvSpPr>
            <p:spPr>
              <a:xfrm>
                <a:off x="1593000" y="2322575"/>
                <a:ext cx="690000" cy="642600"/>
              </a:xfrm>
              <a:prstGeom prst="rect">
                <a:avLst/>
              </a:pr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51">
                  <a:solidFill>
                    <a:srgbClr val="FFFFFF"/>
                  </a:solidFill>
                </a:endParaRPr>
              </a:p>
            </p:txBody>
          </p:sp>
          <p:sp>
            <p:nvSpPr>
              <p:cNvPr id="554" name="Google Shape;554;p60"/>
              <p:cNvSpPr/>
              <p:nvPr/>
            </p:nvSpPr>
            <p:spPr>
              <a:xfrm>
                <a:off x="4655769" y="2323756"/>
                <a:ext cx="2703300" cy="64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Regulatory features vs supporting evidence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cCREs and classification schemes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Cell-type and species context</a:t>
                </a:r>
                <a:endParaRPr sz="1154">
                  <a:solidFill>
                    <a:srgbClr val="274E13"/>
                  </a:solidFill>
                </a:endParaRPr>
              </a:p>
            </p:txBody>
          </p:sp>
        </p:grpSp>
        <p:grpSp>
          <p:nvGrpSpPr>
            <p:cNvPr id="555" name="Google Shape;555;p60"/>
            <p:cNvGrpSpPr/>
            <p:nvPr/>
          </p:nvGrpSpPr>
          <p:grpSpPr>
            <a:xfrm>
              <a:off x="486715" y="1432139"/>
              <a:ext cx="8370955" cy="1037129"/>
              <a:chOff x="1593000" y="2322568"/>
              <a:chExt cx="5957975" cy="643500"/>
            </a:xfrm>
          </p:grpSpPr>
          <p:sp>
            <p:nvSpPr>
              <p:cNvPr id="556" name="Google Shape;556;p60"/>
              <p:cNvSpPr/>
              <p:nvPr/>
            </p:nvSpPr>
            <p:spPr>
              <a:xfrm>
                <a:off x="3728375" y="2322568"/>
                <a:ext cx="3822600" cy="643500"/>
              </a:xfrm>
              <a:prstGeom prst="rect">
                <a:avLst/>
              </a:pr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60"/>
              <p:cNvSpPr/>
              <p:nvPr/>
            </p:nvSpPr>
            <p:spPr>
              <a:xfrm flipH="1">
                <a:off x="2283025" y="2322575"/>
                <a:ext cx="1844400" cy="6426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60"/>
              <p:cNvSpPr/>
              <p:nvPr/>
            </p:nvSpPr>
            <p:spPr>
              <a:xfrm rot="-5400000">
                <a:off x="3643895" y="1792353"/>
                <a:ext cx="643358" cy="1703799"/>
              </a:xfrm>
              <a:prstGeom prst="flowChartOffpageConnector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60"/>
              <p:cNvSpPr/>
              <p:nvPr/>
            </p:nvSpPr>
            <p:spPr>
              <a:xfrm>
                <a:off x="2342618" y="2399945"/>
                <a:ext cx="2129100" cy="49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43" b="1">
                    <a:solidFill>
                      <a:srgbClr val="FFFFFF"/>
                    </a:solidFill>
                  </a:rPr>
                  <a:t>FIND</a:t>
                </a:r>
                <a:endParaRPr sz="1443" b="1">
                  <a:solidFill>
                    <a:srgbClr val="FFFFFF"/>
                  </a:solidFill>
                </a:endParaRPr>
              </a:p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43">
                    <a:solidFill>
                      <a:srgbClr val="FFFFFF"/>
                    </a:solidFill>
                  </a:rPr>
                  <a:t>Explore raw and processed epigenomic resources without getting lost in repository details</a:t>
                </a:r>
                <a:endParaRPr sz="1143">
                  <a:solidFill>
                    <a:srgbClr val="FFFFFF"/>
                  </a:solidFill>
                </a:endParaRPr>
              </a:p>
            </p:txBody>
          </p:sp>
          <p:sp>
            <p:nvSpPr>
              <p:cNvPr id="560" name="Google Shape;560;p60"/>
              <p:cNvSpPr/>
              <p:nvPr/>
            </p:nvSpPr>
            <p:spPr>
              <a:xfrm>
                <a:off x="1593000" y="2322568"/>
                <a:ext cx="690000" cy="642300"/>
              </a:xfrm>
              <a:prstGeom prst="rect">
                <a:avLst/>
              </a:prstGeom>
              <a:solidFill>
                <a:srgbClr val="B02B20"/>
              </a:solidFill>
              <a:ln>
                <a:noFill/>
              </a:ln>
              <a:effectLst>
                <a:outerShdw blurRad="103054" dist="41221" dir="2700000" algn="bl" rotWithShape="0">
                  <a:srgbClr val="000000">
                    <a:alpha val="17000"/>
                  </a:srgbClr>
                </a:outerShdw>
              </a:effectLst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60"/>
              <p:cNvSpPr/>
              <p:nvPr/>
            </p:nvSpPr>
            <p:spPr>
              <a:xfrm>
                <a:off x="1593000" y="2322575"/>
                <a:ext cx="690000" cy="642600"/>
              </a:xfrm>
              <a:prstGeom prst="rect">
                <a:avLst/>
              </a:pr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51">
                  <a:solidFill>
                    <a:srgbClr val="FFFFFF"/>
                  </a:solidFill>
                </a:endParaRPr>
              </a:p>
            </p:txBody>
          </p:sp>
          <p:sp>
            <p:nvSpPr>
              <p:cNvPr id="562" name="Google Shape;562;p60"/>
              <p:cNvSpPr/>
              <p:nvPr/>
            </p:nvSpPr>
            <p:spPr>
              <a:xfrm>
                <a:off x="4655769" y="2323752"/>
                <a:ext cx="2703300" cy="64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875" tIns="131875" rIns="131875" bIns="131875" anchor="ctr" anchorCtr="0">
                <a:noAutofit/>
              </a:bodyPr>
              <a:lstStyle/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Ensembl Genome Browser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Ensembl Regulation subsite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ENCODE and FAANG Data Portal</a:t>
                </a:r>
                <a:endParaRPr sz="1154">
                  <a:solidFill>
                    <a:srgbClr val="274E13"/>
                  </a:solidFill>
                </a:endParaRPr>
              </a:p>
              <a:p>
                <a:pPr marL="659543" lvl="0" indent="-403054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E13"/>
                  </a:buClr>
                  <a:buSzPts val="1154"/>
                  <a:buChar char="●"/>
                </a:pPr>
                <a:r>
                  <a:rPr lang="en-GB" sz="1154">
                    <a:solidFill>
                      <a:srgbClr val="274E13"/>
                    </a:solidFill>
                  </a:rPr>
                  <a:t>ENCODE SCREEN</a:t>
                </a:r>
                <a:endParaRPr sz="1154">
                  <a:solidFill>
                    <a:srgbClr val="274E13"/>
                  </a:solidFill>
                </a:endParaRPr>
              </a:p>
            </p:txBody>
          </p:sp>
        </p:grpSp>
        <p:sp>
          <p:nvSpPr>
            <p:cNvPr id="563" name="Google Shape;563;p60"/>
            <p:cNvSpPr/>
            <p:nvPr/>
          </p:nvSpPr>
          <p:spPr>
            <a:xfrm>
              <a:off x="686825" y="1676038"/>
              <a:ext cx="549300" cy="549300"/>
            </a:xfrm>
            <a:prstGeom prst="star4">
              <a:avLst>
                <a:gd name="adj" fmla="val 1250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4" name="Google Shape;564;p60"/>
            <p:cNvSpPr/>
            <p:nvPr/>
          </p:nvSpPr>
          <p:spPr>
            <a:xfrm>
              <a:off x="686825" y="2731888"/>
              <a:ext cx="549300" cy="549300"/>
            </a:xfrm>
            <a:prstGeom prst="star4">
              <a:avLst>
                <a:gd name="adj" fmla="val 1250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5" name="Google Shape;565;p60"/>
            <p:cNvSpPr/>
            <p:nvPr/>
          </p:nvSpPr>
          <p:spPr>
            <a:xfrm>
              <a:off x="686825" y="3879338"/>
              <a:ext cx="549300" cy="549300"/>
            </a:xfrm>
            <a:prstGeom prst="star4">
              <a:avLst>
                <a:gd name="adj" fmla="val 1250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0" name="Google Shape;570;p61"/>
          <p:cNvCxnSpPr/>
          <p:nvPr/>
        </p:nvCxnSpPr>
        <p:spPr>
          <a:xfrm rot="10800000">
            <a:off x="4191854" y="1129159"/>
            <a:ext cx="746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1" name="Google Shape;571;p61"/>
          <p:cNvCxnSpPr/>
          <p:nvPr/>
        </p:nvCxnSpPr>
        <p:spPr>
          <a:xfrm rot="10800000">
            <a:off x="4191854" y="2286428"/>
            <a:ext cx="746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2" name="Google Shape;572;p61"/>
          <p:cNvCxnSpPr/>
          <p:nvPr/>
        </p:nvCxnSpPr>
        <p:spPr>
          <a:xfrm rot="10800000">
            <a:off x="4191840" y="3770591"/>
            <a:ext cx="746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Google Shape;573;p61"/>
          <p:cNvSpPr txBox="1">
            <a:spLocks noGrp="1"/>
          </p:cNvSpPr>
          <p:nvPr>
            <p:ph type="title"/>
          </p:nvPr>
        </p:nvSpPr>
        <p:spPr>
          <a:xfrm>
            <a:off x="338140" y="273850"/>
            <a:ext cx="16713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grpSp>
        <p:nvGrpSpPr>
          <p:cNvPr id="574" name="Google Shape;574;p61"/>
          <p:cNvGrpSpPr/>
          <p:nvPr/>
        </p:nvGrpSpPr>
        <p:grpSpPr>
          <a:xfrm>
            <a:off x="3128709" y="55386"/>
            <a:ext cx="5768054" cy="1042748"/>
            <a:chOff x="3562347" y="909418"/>
            <a:chExt cx="4094303" cy="857382"/>
          </a:xfrm>
        </p:grpSpPr>
        <p:sp>
          <p:nvSpPr>
            <p:cNvPr id="575" name="Google Shape;575;p61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Welcome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61"/>
            <p:cNvSpPr txBox="1"/>
            <p:nvPr/>
          </p:nvSpPr>
          <p:spPr>
            <a:xfrm>
              <a:off x="3562347" y="934021"/>
              <a:ext cx="792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09:00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61"/>
            <p:cNvSpPr/>
            <p:nvPr/>
          </p:nvSpPr>
          <p:spPr>
            <a:xfrm>
              <a:off x="4517125" y="1086100"/>
              <a:ext cx="133500" cy="6807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8" name="Google Shape;578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79" name="Google Shape;579;p61"/>
          <p:cNvGrpSpPr/>
          <p:nvPr/>
        </p:nvGrpSpPr>
        <p:grpSpPr>
          <a:xfrm>
            <a:off x="3128709" y="218435"/>
            <a:ext cx="5768054" cy="1042748"/>
            <a:chOff x="3562347" y="909418"/>
            <a:chExt cx="4094303" cy="857382"/>
          </a:xfrm>
        </p:grpSpPr>
        <p:sp>
          <p:nvSpPr>
            <p:cNvPr id="580" name="Google Shape;580;p61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Regulatory genomics evidence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1" name="Google Shape;581;p61"/>
            <p:cNvSpPr txBox="1"/>
            <p:nvPr/>
          </p:nvSpPr>
          <p:spPr>
            <a:xfrm>
              <a:off x="4928450" y="1064660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Assays, signals and peaks, CREs inference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2" name="Google Shape;582;p61"/>
            <p:cNvSpPr txBox="1"/>
            <p:nvPr/>
          </p:nvSpPr>
          <p:spPr>
            <a:xfrm>
              <a:off x="3562347" y="934015"/>
              <a:ext cx="792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09:15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61"/>
            <p:cNvSpPr/>
            <p:nvPr/>
          </p:nvSpPr>
          <p:spPr>
            <a:xfrm>
              <a:off x="4517125" y="1086100"/>
              <a:ext cx="133500" cy="6807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85" name="Google Shape;585;p61"/>
          <p:cNvGrpSpPr/>
          <p:nvPr/>
        </p:nvGrpSpPr>
        <p:grpSpPr>
          <a:xfrm>
            <a:off x="3128709" y="615431"/>
            <a:ext cx="5768054" cy="1184052"/>
            <a:chOff x="3562347" y="934029"/>
            <a:chExt cx="4094303" cy="973567"/>
          </a:xfrm>
        </p:grpSpPr>
        <p:sp>
          <p:nvSpPr>
            <p:cNvPr id="586" name="Google Shape;586;p61"/>
            <p:cNvSpPr txBox="1"/>
            <p:nvPr/>
          </p:nvSpPr>
          <p:spPr>
            <a:xfrm>
              <a:off x="4928450" y="950506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ENCODE: Experimental Data, cCREs, and SCREEN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7" name="Google Shape;587;p61"/>
            <p:cNvSpPr txBox="1"/>
            <p:nvPr/>
          </p:nvSpPr>
          <p:spPr>
            <a:xfrm>
              <a:off x="4928450" y="1109850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The ENCODE Data Portal. Available assays, metadata and methods. Reference epigenomes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50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cCREs annotation and the SCREEN portal.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8" name="Google Shape;588;p61"/>
            <p:cNvSpPr txBox="1"/>
            <p:nvPr/>
          </p:nvSpPr>
          <p:spPr>
            <a:xfrm>
              <a:off x="3562347" y="934029"/>
              <a:ext cx="786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10:00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9" name="Google Shape;589;p61"/>
            <p:cNvSpPr/>
            <p:nvPr/>
          </p:nvSpPr>
          <p:spPr>
            <a:xfrm>
              <a:off x="4517125" y="1226896"/>
              <a:ext cx="133500" cy="6807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0" name="Google Shape;590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1" name="Google Shape;591;p61"/>
          <p:cNvGrpSpPr/>
          <p:nvPr/>
        </p:nvGrpSpPr>
        <p:grpSpPr>
          <a:xfrm>
            <a:off x="3128709" y="1477615"/>
            <a:ext cx="5768054" cy="1414938"/>
            <a:chOff x="3562347" y="909418"/>
            <a:chExt cx="4094303" cy="1163409"/>
          </a:xfrm>
        </p:grpSpPr>
        <p:sp>
          <p:nvSpPr>
            <p:cNvPr id="592" name="Google Shape;592;p61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Ensembl Regulation: Regulatory Builds and Evidence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3" name="Google Shape;593;p61"/>
            <p:cNvSpPr txBox="1"/>
            <p:nvPr/>
          </p:nvSpPr>
          <p:spPr>
            <a:xfrm>
              <a:off x="4928450" y="1076966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The Ensembl Project. Ensembl Regulation pipelines. Regulatory data, activity and features. The Ensembl Regulation subsite. Comparison of regulatory annotation frameworks.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4" name="Google Shape;594;p61"/>
            <p:cNvSpPr txBox="1"/>
            <p:nvPr/>
          </p:nvSpPr>
          <p:spPr>
            <a:xfrm>
              <a:off x="3562347" y="934023"/>
              <a:ext cx="792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11:30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5" name="Google Shape;595;p61"/>
            <p:cNvSpPr/>
            <p:nvPr/>
          </p:nvSpPr>
          <p:spPr>
            <a:xfrm>
              <a:off x="4517124" y="1147628"/>
              <a:ext cx="133500" cy="9252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6" name="Google Shape;596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7" name="Google Shape;597;p61"/>
          <p:cNvGrpSpPr/>
          <p:nvPr/>
        </p:nvGrpSpPr>
        <p:grpSpPr>
          <a:xfrm>
            <a:off x="3128709" y="2629905"/>
            <a:ext cx="5768054" cy="1042748"/>
            <a:chOff x="3562347" y="909418"/>
            <a:chExt cx="4094303" cy="857382"/>
          </a:xfrm>
        </p:grpSpPr>
        <p:sp>
          <p:nvSpPr>
            <p:cNvPr id="598" name="Google Shape;598;p61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Alternative Access to Regulatory Annotations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9" name="Google Shape;599;p61"/>
            <p:cNvSpPr txBox="1"/>
            <p:nvPr/>
          </p:nvSpPr>
          <p:spPr>
            <a:xfrm>
              <a:off x="4928450" y="1089272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CREs repositories and files. File formats. Data analysis in Python/R.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0" name="Google Shape;600;p61"/>
            <p:cNvSpPr txBox="1"/>
            <p:nvPr/>
          </p:nvSpPr>
          <p:spPr>
            <a:xfrm>
              <a:off x="3562347" y="934017"/>
              <a:ext cx="786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13:45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1" name="Google Shape;601;p61"/>
            <p:cNvSpPr/>
            <p:nvPr/>
          </p:nvSpPr>
          <p:spPr>
            <a:xfrm>
              <a:off x="4517125" y="1086100"/>
              <a:ext cx="133500" cy="6807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2" name="Google Shape;602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3" name="Google Shape;603;p61"/>
          <p:cNvGrpSpPr/>
          <p:nvPr/>
        </p:nvGrpSpPr>
        <p:grpSpPr>
          <a:xfrm>
            <a:off x="3128709" y="3195418"/>
            <a:ext cx="5768054" cy="1022792"/>
            <a:chOff x="3562347" y="925826"/>
            <a:chExt cx="4094303" cy="840974"/>
          </a:xfrm>
        </p:grpSpPr>
        <p:sp>
          <p:nvSpPr>
            <p:cNvPr id="604" name="Google Shape;604;p61"/>
            <p:cNvSpPr txBox="1"/>
            <p:nvPr/>
          </p:nvSpPr>
          <p:spPr>
            <a:xfrm>
              <a:off x="4928450" y="925826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Visualization with Genome Browsers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5" name="Google Shape;605;p61"/>
            <p:cNvSpPr txBox="1"/>
            <p:nvPr/>
          </p:nvSpPr>
          <p:spPr>
            <a:xfrm>
              <a:off x="4928450" y="1105680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IGV for integrating epigenomics evidence and CREs annotation. Customisation alternatives and interpretation 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6" name="Google Shape;606;p61"/>
            <p:cNvSpPr txBox="1"/>
            <p:nvPr/>
          </p:nvSpPr>
          <p:spPr>
            <a:xfrm>
              <a:off x="3562347" y="934031"/>
              <a:ext cx="798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14:45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7" name="Google Shape;607;p61"/>
            <p:cNvSpPr/>
            <p:nvPr/>
          </p:nvSpPr>
          <p:spPr>
            <a:xfrm>
              <a:off x="4517125" y="1086100"/>
              <a:ext cx="133500" cy="6807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8" name="Google Shape;608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9" name="Google Shape;609;p61"/>
          <p:cNvGrpSpPr/>
          <p:nvPr/>
        </p:nvGrpSpPr>
        <p:grpSpPr>
          <a:xfrm>
            <a:off x="3128709" y="3768950"/>
            <a:ext cx="5768054" cy="1061743"/>
            <a:chOff x="3562347" y="1096748"/>
            <a:chExt cx="4094303" cy="873000"/>
          </a:xfrm>
        </p:grpSpPr>
        <p:sp>
          <p:nvSpPr>
            <p:cNvPr id="610" name="Google Shape;610;p61"/>
            <p:cNvSpPr txBox="1"/>
            <p:nvPr/>
          </p:nvSpPr>
          <p:spPr>
            <a:xfrm>
              <a:off x="4928450" y="1101523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Case Study: Non-coding Variant Interpretation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1" name="Google Shape;611;p61"/>
            <p:cNvSpPr txBox="1"/>
            <p:nvPr/>
          </p:nvSpPr>
          <p:spPr>
            <a:xfrm>
              <a:off x="4928450" y="1281377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729"/>
                </a:spcAft>
                <a:buNone/>
              </a:pPr>
              <a:r>
                <a:rPr lang="en-GB" sz="757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Conceptual interpretation, resources navigation and utilization, file analysis workflows and genome visualization.</a:t>
              </a:r>
              <a:endParaRPr sz="757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2" name="Google Shape;612;p61"/>
            <p:cNvSpPr txBox="1"/>
            <p:nvPr/>
          </p:nvSpPr>
          <p:spPr>
            <a:xfrm>
              <a:off x="3562347" y="1105626"/>
              <a:ext cx="798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15:30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3" name="Google Shape;613;p61"/>
            <p:cNvSpPr/>
            <p:nvPr/>
          </p:nvSpPr>
          <p:spPr>
            <a:xfrm>
              <a:off x="4517124" y="1096748"/>
              <a:ext cx="133500" cy="8730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8800" tIns="98800" rIns="98800" bIns="988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4" name="Google Shape;614;p61"/>
            <p:cNvCxnSpPr/>
            <p:nvPr/>
          </p:nvCxnSpPr>
          <p:spPr>
            <a:xfrm rot="10800000">
              <a:off x="4318975" y="1255045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15" name="Google Shape;615;p61"/>
          <p:cNvSpPr txBox="1"/>
          <p:nvPr/>
        </p:nvSpPr>
        <p:spPr>
          <a:xfrm>
            <a:off x="2611250" y="950719"/>
            <a:ext cx="84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dk1"/>
                </a:solidFill>
              </a:rPr>
              <a:t>Coffee break</a:t>
            </a:r>
            <a:endParaRPr sz="800" b="1">
              <a:solidFill>
                <a:schemeClr val="dk1"/>
              </a:solidFill>
            </a:endParaRPr>
          </a:p>
        </p:txBody>
      </p:sp>
      <p:sp>
        <p:nvSpPr>
          <p:cNvPr id="616" name="Google Shape;616;p61"/>
          <p:cNvSpPr txBox="1"/>
          <p:nvPr/>
        </p:nvSpPr>
        <p:spPr>
          <a:xfrm>
            <a:off x="2631225" y="2115430"/>
            <a:ext cx="84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dk1"/>
                </a:solidFill>
              </a:rPr>
              <a:t>Lunch break</a:t>
            </a:r>
            <a:endParaRPr sz="800" b="1">
              <a:solidFill>
                <a:schemeClr val="dk1"/>
              </a:solidFill>
            </a:endParaRPr>
          </a:p>
        </p:txBody>
      </p:sp>
      <p:sp>
        <p:nvSpPr>
          <p:cNvPr id="617" name="Google Shape;617;p61"/>
          <p:cNvSpPr txBox="1"/>
          <p:nvPr/>
        </p:nvSpPr>
        <p:spPr>
          <a:xfrm>
            <a:off x="2631225" y="3603787"/>
            <a:ext cx="84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dk1"/>
                </a:solidFill>
              </a:rPr>
              <a:t>Coffee break</a:t>
            </a:r>
            <a:endParaRPr sz="800" b="1">
              <a:solidFill>
                <a:schemeClr val="dk1"/>
              </a:solidFill>
            </a:endParaRPr>
          </a:p>
        </p:txBody>
      </p:sp>
      <p:grpSp>
        <p:nvGrpSpPr>
          <p:cNvPr id="618" name="Google Shape;618;p61"/>
          <p:cNvGrpSpPr/>
          <p:nvPr/>
        </p:nvGrpSpPr>
        <p:grpSpPr>
          <a:xfrm>
            <a:off x="3128709" y="4615919"/>
            <a:ext cx="5768054" cy="409634"/>
            <a:chOff x="3562347" y="905316"/>
            <a:chExt cx="4094303" cy="336815"/>
          </a:xfrm>
        </p:grpSpPr>
        <p:sp>
          <p:nvSpPr>
            <p:cNvPr id="619" name="Google Shape;619;p61"/>
            <p:cNvSpPr txBox="1"/>
            <p:nvPr/>
          </p:nvSpPr>
          <p:spPr>
            <a:xfrm>
              <a:off x="4928450" y="905316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89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Wrap-up</a:t>
              </a:r>
              <a:endParaRPr sz="1189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0" name="Google Shape;620;p61"/>
            <p:cNvSpPr txBox="1"/>
            <p:nvPr/>
          </p:nvSpPr>
          <p:spPr>
            <a:xfrm>
              <a:off x="3562347" y="934031"/>
              <a:ext cx="7983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800" tIns="98800" rIns="98800" bIns="98800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73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17:15</a:t>
              </a:r>
              <a:endParaRPr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21" name="Google Shape;621;p61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w="9525" cap="flat" cmpd="sng">
              <a:solidFill>
                <a:srgbClr val="274E1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22" name="Google Shape;622;p61"/>
          <p:cNvCxnSpPr/>
          <p:nvPr/>
        </p:nvCxnSpPr>
        <p:spPr>
          <a:xfrm rot="10800000">
            <a:off x="4191847" y="1308568"/>
            <a:ext cx="746400" cy="0"/>
          </a:xfrm>
          <a:prstGeom prst="straightConnector1">
            <a:avLst/>
          </a:prstGeom>
          <a:noFill/>
          <a:ln w="952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3" name="Google Shape;623;p61"/>
          <p:cNvSpPr txBox="1"/>
          <p:nvPr/>
        </p:nvSpPr>
        <p:spPr>
          <a:xfrm>
            <a:off x="3128709" y="1139344"/>
            <a:ext cx="11076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800" tIns="98800" rIns="98800" bIns="988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3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10:45</a:t>
            </a:r>
            <a:endParaRPr sz="973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61"/>
          <p:cNvSpPr txBox="1"/>
          <p:nvPr/>
        </p:nvSpPr>
        <p:spPr>
          <a:xfrm>
            <a:off x="3128700" y="950713"/>
            <a:ext cx="1107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800" tIns="98800" rIns="98800" bIns="9880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10:30</a:t>
            </a:r>
            <a:endParaRPr sz="97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61"/>
          <p:cNvSpPr txBox="1"/>
          <p:nvPr/>
        </p:nvSpPr>
        <p:spPr>
          <a:xfrm>
            <a:off x="3128700" y="2107981"/>
            <a:ext cx="1107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800" tIns="98800" rIns="98800" bIns="9880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12:45</a:t>
            </a:r>
            <a:endParaRPr sz="97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61"/>
          <p:cNvSpPr txBox="1"/>
          <p:nvPr/>
        </p:nvSpPr>
        <p:spPr>
          <a:xfrm>
            <a:off x="3671800" y="3578832"/>
            <a:ext cx="591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800" tIns="98800" rIns="98800" bIns="98800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15:15</a:t>
            </a:r>
            <a:endParaRPr sz="97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2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6970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3"/>
              </a:rPr>
              <a:t>ECCB-2026-T6 GitLab repository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data/                      Tutorial datasets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docs/                      Installation guides and additional documentation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hands-on-solutions/        Presentations with hands-on exercises solutions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notebooks/                 Google Colab notebooks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scripts/                   R, Python and shell scripts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├── slides/                    Presentation slides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latin typeface="Courier New"/>
                <a:ea typeface="Courier New"/>
                <a:cs typeface="Courier New"/>
                <a:sym typeface="Courier New"/>
              </a:rPr>
              <a:t>└── tutorial_information/      Tutorial programme and schedule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2" name="Google Shape;632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repository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2000"/>
              <a:buChar char="✓"/>
            </a:pPr>
            <a:r>
              <a:rPr lang="en-GB" sz="2000"/>
              <a:t>Internet access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✓"/>
            </a:pPr>
            <a:r>
              <a:rPr lang="en-GB" sz="2000"/>
              <a:t>Web browsers:</a:t>
            </a:r>
            <a:endParaRPr sz="20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Ensembl</a:t>
            </a:r>
            <a:endParaRPr sz="18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Ensembl Regulation</a:t>
            </a:r>
            <a:endParaRPr sz="180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ENCODE SCREEN</a:t>
            </a:r>
            <a:endParaRPr sz="18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✓"/>
            </a:pPr>
            <a:r>
              <a:rPr lang="en-GB" sz="2000"/>
              <a:t>IGV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✓"/>
            </a:pPr>
            <a:r>
              <a:rPr lang="en-GB" sz="2000"/>
              <a:t>Google Account - Google Colab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✓"/>
            </a:pPr>
            <a:r>
              <a:rPr lang="en-GB" sz="2000"/>
              <a:t>Access to the tutorial material</a:t>
            </a:r>
            <a:endParaRPr sz="2000"/>
          </a:p>
        </p:txBody>
      </p:sp>
      <p:sp>
        <p:nvSpPr>
          <p:cNvPr id="638" name="Google Shape;638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 checks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644" name="Google Shape;644;p64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645" name="Google Shape;645;p6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6" name="Google Shape;646;p6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47" name="Google Shape;647;p64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648" name="Google Shape;648;p6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9" name="Google Shape;649;p6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50" name="Google Shape;650;p64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651" name="Google Shape;651;p6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2" name="Google Shape;652;p6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53" name="Google Shape;653;p64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654" name="Google Shape;654;p6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56" name="Google Shape;656;p64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657" name="Google Shape;657;p64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8" name="Google Shape;658;p64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b8547c31-398a-4ea2-8259-e5c8e08c0fa9"/>
  <p:tag name="SLIDO_EVENT_UUID" val="d448684c-6bb3-4808-bcb0-5483e2fa6985"/>
  <p:tag name="SLIDO_EVENT_SECTION_UUID" val="41561dd6-6412-425f-a7e8-46dc32d44d9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Join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Joi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0ac472c-fe2c-4e84-b4ef-c3f4916c28bf"/>
  <p:tag name="SLIDO_TIMELINE" val="W3sicG9sbFF1ZXN0aW9uVXVpZCI6ImUxNGQyODM0LTRhOGMtNDhjOS1hZDdmLWU5MDIwY2Q5MjA2ZCIsInNob3dSZXN1bHRzIjp0cnVlfV0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541</Words>
  <Application>Microsoft Macintosh PowerPoint</Application>
  <PresentationFormat>On-screen Show (16:9)</PresentationFormat>
  <Paragraphs>109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Roboto</vt:lpstr>
      <vt:lpstr>Libre Franklin Medium</vt:lpstr>
      <vt:lpstr>Courier New</vt:lpstr>
      <vt:lpstr>Arial</vt:lpstr>
      <vt:lpstr>Arial Black</vt:lpstr>
      <vt:lpstr>Franklin Gothic</vt:lpstr>
      <vt:lpstr>Libre Franklin Thin</vt:lpstr>
      <vt:lpstr>Libre Franklin</vt:lpstr>
      <vt:lpstr>Custom Design</vt:lpstr>
      <vt:lpstr>T6: Making the most of cis-regulatory annotations for genome-scale analysis</vt:lpstr>
      <vt:lpstr>Tutorial Instructors</vt:lpstr>
      <vt:lpstr>PowerPoint Presentation</vt:lpstr>
      <vt:lpstr>PowerPoint Presentation</vt:lpstr>
      <vt:lpstr>Tutorial Goals</vt:lpstr>
      <vt:lpstr>Tutorial Goals</vt:lpstr>
      <vt:lpstr>Agenda</vt:lpstr>
      <vt:lpstr>Tutorial repository</vt:lpstr>
      <vt:lpstr>Setup checks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1</cp:revision>
  <dcterms:modified xsi:type="dcterms:W3CDTF">2026-08-21T15:29:29Z</dcterms:modified>
</cp:coreProperties>
</file>