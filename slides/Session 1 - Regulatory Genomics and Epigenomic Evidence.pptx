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701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</p:sldIdLst>
  <p:sldSz cx="9144000" cy="5143500" type="screen16x9"/>
  <p:notesSz cx="6858000" cy="9144000"/>
  <p:embeddedFontLst>
    <p:embeddedFont>
      <p:font typeface="Arial Black" panose="020B0604020202020204" pitchFamily="34" charset="0"/>
      <p:bold r:id="rId38"/>
    </p:embeddedFont>
    <p:embeddedFont>
      <p:font typeface="Franklin Gothic" panose="020B0603020102020204" pitchFamily="34" charset="0"/>
      <p:regular r:id="rId39"/>
      <p:bold r:id="rId40"/>
      <p:italic r:id="rId41"/>
      <p:boldItalic r:id="rId42"/>
    </p:embeddedFont>
    <p:embeddedFont>
      <p:font typeface="Inter" panose="02000503000000020004" pitchFamily="2" charset="0"/>
      <p:regular r:id="rId43"/>
      <p:bold r:id="rId44"/>
      <p:italic r:id="rId45"/>
      <p:boldItalic r:id="rId46"/>
    </p:embeddedFont>
    <p:embeddedFont>
      <p:font typeface="Libre Franklin" pitchFamily="2" charset="77"/>
      <p:regular r:id="rId47"/>
      <p:bold r:id="rId48"/>
      <p:italic r:id="rId49"/>
      <p:boldItalic r:id="rId50"/>
    </p:embeddedFont>
    <p:embeddedFont>
      <p:font typeface="Libre Franklin Medium" pitchFamily="2" charset="77"/>
      <p:regular r:id="rId51"/>
      <p:italic r:id="rId52"/>
    </p:embeddedFont>
    <p:embeddedFont>
      <p:font typeface="Libre Franklin Thin" pitchFamily="2" charset="77"/>
      <p:regular r:id="rId53"/>
      <p:italic r:id="rId54"/>
    </p:embeddedFont>
    <p:embeddedFont>
      <p:font typeface="Lobster" pitchFamily="2" charset="77"/>
      <p:regular r:id="rId55"/>
    </p:embeddedFont>
    <p:embeddedFont>
      <p:font typeface="Roboto" panose="02000000000000000000" pitchFamily="2" charset="0"/>
      <p:regular r:id="rId56"/>
      <p:bold r:id="rId57"/>
      <p:italic r:id="rId58"/>
      <p:boldItalic r:id="rId59"/>
    </p:embeddedFont>
    <p:embeddedFont>
      <p:font typeface="Roboto Medium" panose="02000000000000000000" pitchFamily="2" charset="0"/>
      <p:regular r:id="rId60"/>
      <p:italic r:id="rId61"/>
    </p:embeddedFont>
    <p:embeddedFont>
      <p:font typeface="Roboto Thin" panose="02000000000000000000" pitchFamily="2" charset="0"/>
      <p:regular r:id="rId6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EC212DD-F114-4DB9-AE68-2979E73E411F}">
  <a:tblStyle styleId="{EEC212DD-F114-4DB9-AE68-2979E73E411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730"/>
    <p:restoredTop sz="84040"/>
  </p:normalViewPr>
  <p:slideViewPr>
    <p:cSldViewPr snapToGrid="0">
      <p:cViewPr varScale="1">
        <p:scale>
          <a:sx n="176" d="100"/>
          <a:sy n="176" d="100"/>
        </p:scale>
        <p:origin x="178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5.fntdata"/><Relationship Id="rId47" Type="http://schemas.openxmlformats.org/officeDocument/2006/relationships/font" Target="fonts/font10.fntdata"/><Relationship Id="rId50" Type="http://schemas.openxmlformats.org/officeDocument/2006/relationships/font" Target="fonts/font13.fntdata"/><Relationship Id="rId55" Type="http://schemas.openxmlformats.org/officeDocument/2006/relationships/font" Target="fonts/font18.fntdata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font" Target="fonts/font3.fntdata"/><Relationship Id="rId45" Type="http://schemas.openxmlformats.org/officeDocument/2006/relationships/font" Target="fonts/font8.fntdata"/><Relationship Id="rId53" Type="http://schemas.openxmlformats.org/officeDocument/2006/relationships/font" Target="fonts/font16.fntdata"/><Relationship Id="rId58" Type="http://schemas.openxmlformats.org/officeDocument/2006/relationships/font" Target="fonts/font21.fntdata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font" Target="fonts/font24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6.fntdata"/><Relationship Id="rId48" Type="http://schemas.openxmlformats.org/officeDocument/2006/relationships/font" Target="fonts/font11.fntdata"/><Relationship Id="rId56" Type="http://schemas.openxmlformats.org/officeDocument/2006/relationships/font" Target="fonts/font19.fntdata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font" Target="fonts/font14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1.fntdata"/><Relationship Id="rId46" Type="http://schemas.openxmlformats.org/officeDocument/2006/relationships/font" Target="fonts/font9.fntdata"/><Relationship Id="rId59" Type="http://schemas.openxmlformats.org/officeDocument/2006/relationships/font" Target="fonts/font22.fntdata"/><Relationship Id="rId20" Type="http://schemas.openxmlformats.org/officeDocument/2006/relationships/slide" Target="slides/slide19.xml"/><Relationship Id="rId41" Type="http://schemas.openxmlformats.org/officeDocument/2006/relationships/font" Target="fonts/font4.fntdata"/><Relationship Id="rId54" Type="http://schemas.openxmlformats.org/officeDocument/2006/relationships/font" Target="fonts/font17.fntdata"/><Relationship Id="rId62" Type="http://schemas.openxmlformats.org/officeDocument/2006/relationships/font" Target="fonts/font2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2.fntdata"/><Relationship Id="rId57" Type="http://schemas.openxmlformats.org/officeDocument/2006/relationships/font" Target="fonts/font20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7.fntdata"/><Relationship Id="rId52" Type="http://schemas.openxmlformats.org/officeDocument/2006/relationships/font" Target="fonts/font15.fntdata"/><Relationship Id="rId60" Type="http://schemas.openxmlformats.org/officeDocument/2006/relationships/font" Target="fonts/font23.fntdata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3390/ijms25010343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nkWGmaYRues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doi.org/10.3390/ijms25010343" TargetMode="Externa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g13b4e02a5db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8" name="Google Shape;498;g13b4e02a5d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g3f1d63304e4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2" name="Google Shape;512;g3f1d63304e4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SLIDES_API71825141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SLIDES_API718251416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📣 This is Slido interaction slide, please don't delete it.</a:t>
            </a:r>
            <a:br>
              <a:rPr lang="en-GB"/>
            </a:br>
            <a:r>
              <a:rPr lang="en-GB"/>
              <a:t>✅ Click on 'Present with Slido' and the poll will launch automatically when you get to this slide.</a:t>
            </a:r>
            <a:endParaRPr/>
          </a:p>
        </p:txBody>
      </p:sp>
      <p:sp>
        <p:nvSpPr>
          <p:cNvPr id="558" name="Google Shape;558;SLIDES_API718251416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g3e18c40b12d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0" name="Google Shape;570;g3e18c40b12d_0_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Paper Cis-regulatory elements in mammals </a:t>
            </a:r>
            <a:r>
              <a:rPr lang="en-GB" u="sng" dirty="0">
                <a:solidFill>
                  <a:schemeClr val="hlink"/>
                </a:solidFill>
                <a:hlinkClick r:id="rId3"/>
              </a:rPr>
              <a:t>https://doi.org/10.3390/ijms25010343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 silencer functions similarly to enhancers in that they recruit TFs. It is possible for a regulatory element to silence in one cellular context and enhance in another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CTCF binding sites can function as insulators, but don’t represent all insulators!!</a:t>
            </a:r>
            <a:endParaRPr dirty="0"/>
          </a:p>
        </p:txBody>
      </p:sp>
      <p:sp>
        <p:nvSpPr>
          <p:cNvPr id="571" name="Google Shape;571;g3e18c40b12d_0_3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g3e18c40b12d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9" name="Google Shape;579;g3e18c40b12d_0_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0" name="Google Shape;580;g3e18c40b12d_0_3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3e18c40b12d_0_4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6" name="Google Shape;586;g3e18c40b12d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g3e18c40b12d_0_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2" name="Google Shape;592;g3e18c40b12d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g3e18c40b12d_0_8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98" name="Google Shape;598;g3e18c40b12d_0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g3e18c40b12d_0_9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Useful pre-course material: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GB" u="sng">
                <a:solidFill>
                  <a:schemeClr val="hlink"/>
                </a:solidFill>
                <a:hlinkClick r:id="rId3"/>
              </a:rPr>
              <a:t>https://www.youtube.com/watch?v=nkWGmaYRues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Paper Cis-regulatory elements in mammals </a:t>
            </a:r>
            <a:r>
              <a:rPr lang="en-GB" u="sng">
                <a:solidFill>
                  <a:schemeClr val="hlink"/>
                </a:solidFill>
                <a:hlinkClick r:id="rId4"/>
              </a:rPr>
              <a:t>https://doi.org/10.3390/ijms25010343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5" name="Google Shape;605;g3e18c40b12d_0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g3ee6f2f9508_1_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1" name="Google Shape;611;g3ee6f2f9508_1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3e18c40b12d_0_10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7" name="Google Shape;617;g3e18c40b12d_0_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g3e18c40b12d_0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3" name="Google Shape;623;g3e18c40b12d_0_10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4" name="Google Shape;624;g3e18c40b12d_0_10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g3e526902493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0" name="Google Shape;630;g3e526902493_0_5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1" name="Google Shape;631;g3e526902493_0_5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g3e18c40b12d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1" name="Google Shape;641;g3e18c40b12d_0_1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2" name="Google Shape;642;g3e18c40b12d_0_14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3e18c40b12d_0_1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2" name="Google Shape;652;g3e18c40b12d_0_14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3" name="Google Shape;653;g3e18c40b12d_0_14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g3e4a9ebef62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0" name="Google Shape;660;g3e4a9ebef62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1" name="Google Shape;661;g3e4a9ebef62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g3e526902493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1" name="Google Shape;671;g3e526902493_0_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g3e526902493_0_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g3e526902493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2" name="Google Shape;682;g3e526902493_0_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3" name="Google Shape;683;g3e526902493_0_2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g3e526902493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1" name="Google Shape;691;g3e526902493_0_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2" name="Google Shape;692;g3e526902493_0_3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g3e526902493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7" name="Google Shape;707;g3e526902493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Google Shape;726;g3d0d3de62f0_1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7" name="Google Shape;727;g3d0d3de62f0_1_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8" name="Google Shape;728;g3d0d3de62f0_1_2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3e526902493_0_5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4" name="Google Shape;734;g3e526902493_0_5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3f3edf5f3bf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1" name="Google Shape;741;g3f3edf5f3bf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g3e526902493_0_6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5" name="Google Shape;755;g3e526902493_0_6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Google Shape;764;g3e526902493_0_6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5" name="Google Shape;765;g3e526902493_0_6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SLIDES_API21756321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4" name="Google Shape;774;SLIDES_API21756321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📣 This is Slido interaction slide, please don't delete it.</a:t>
            </a:r>
            <a:br>
              <a:rPr lang="en-GB"/>
            </a:br>
            <a:r>
              <a:rPr lang="en-GB"/>
              <a:t>✅ Click on 'Present with Slido' and the poll will launch automatically when you get to this slide.</a:t>
            </a:r>
            <a:endParaRPr/>
          </a:p>
        </p:txBody>
      </p:sp>
      <p:sp>
        <p:nvSpPr>
          <p:cNvPr id="775" name="Google Shape;775;SLIDES_API21756321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26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g3f59c224d38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7" name="Google Shape;787;g3f59c224d38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SLIDES_API2019752577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SLIDES_API2019752577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📣 This is Slido interaction slide, please don't delete it.</a:t>
            </a:r>
            <a:br>
              <a:rPr lang="en-GB"/>
            </a:br>
            <a:r>
              <a:rPr lang="en-GB"/>
              <a:t>✅ Click on 'Present with Slido' and the poll will launch automatically when you get to this slide.</a:t>
            </a:r>
            <a:endParaRPr/>
          </a:p>
        </p:txBody>
      </p:sp>
      <p:sp>
        <p:nvSpPr>
          <p:cNvPr id="800" name="Google Shape;800;SLIDES_API2019752577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28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3f59c224d38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3f59c224d38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Google Shape;823;SLIDES_API15692112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4" name="Google Shape;824;SLIDES_API156921124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📣 This is Slido interaction slide, please don't delete it.</a:t>
            </a:r>
            <a:br>
              <a:rPr lang="en-GB"/>
            </a:br>
            <a:r>
              <a:rPr lang="en-GB"/>
              <a:t>✅ Click on 'Present with Slido' and the poll will launch automatically when you get to this slide.</a:t>
            </a:r>
            <a:endParaRPr/>
          </a:p>
        </p:txBody>
      </p:sp>
      <p:sp>
        <p:nvSpPr>
          <p:cNvPr id="825" name="Google Shape;825;SLIDES_API156921124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30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oogle Shape;836;g3e526902493_0_6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7" name="Google Shape;837;g3e526902493_0_6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3f3edf5f3bf_2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8" name="Google Shape;848;g3f3edf5f3bf_2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Google Shape;861;SLIDES_API187517155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2" name="Google Shape;862;SLIDES_API1875171554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[CHECK}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📣 This is Slido interaction slide, please don't delete it.</a:t>
            </a:r>
            <a:br>
              <a:rPr lang="en-GB"/>
            </a:br>
            <a:r>
              <a:rPr lang="en-GB"/>
              <a:t>✅ Click on 'Present with Slido' and the poll will launch automatically when you get to this slide.</a:t>
            </a:r>
            <a:endParaRPr/>
          </a:p>
        </p:txBody>
      </p:sp>
      <p:sp>
        <p:nvSpPr>
          <p:cNvPr id="863" name="Google Shape;863;SLIDES_API1875171554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33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g3f3edf5f3bf_2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5" name="Google Shape;875;g3f3edf5f3bf_2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Google Shape;890;SLIDES_API32923843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1" name="Google Shape;891;SLIDES_API32923843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[CHECK]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📣 This is Slido interaction slide, please don't delete it.</a:t>
            </a:r>
            <a:br>
              <a:rPr lang="en-GB"/>
            </a:br>
            <a:r>
              <a:rPr lang="en-GB"/>
              <a:t>✅ Click on 'Present with Slido' and the poll will launch automatically when you get to this slide.</a:t>
            </a:r>
            <a:endParaRPr/>
          </a:p>
        </p:txBody>
      </p:sp>
      <p:sp>
        <p:nvSpPr>
          <p:cNvPr id="892" name="Google Shape;892;SLIDES_API32923843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35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9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9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0.png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Elements_grey">
  <p:cSld name="Title_And_Elements_gre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47" cy="51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16" name="Google Shape;16;p2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47" cy="3711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/>
          <p:nvPr/>
        </p:nvSpPr>
        <p:spPr>
          <a:xfrm>
            <a:off x="7793831" y="4557712"/>
            <a:ext cx="1143000" cy="52863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13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elements_white">
  <p:cSld name="Title_and_elements_whit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47" cy="51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47" cy="3711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3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19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Title - South Building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25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853567" y="0"/>
            <a:ext cx="4275376" cy="328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" name="Google Shape;26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6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7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5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050" cy="29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85" cy="246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85" cy="290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734" cy="526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93" cy="1415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Cell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Google Shape;34;p6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5" y="-5821"/>
            <a:ext cx="4281515" cy="328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35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6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36;p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p6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050" cy="29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85" cy="246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85" cy="290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734" cy="526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93" cy="1415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3;p7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2" cy="3289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Google Shape;44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6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45" name="Google Shape;45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7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050" cy="29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85" cy="246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85" cy="290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734" cy="526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93" cy="1415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2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8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5" y="-5821"/>
            <a:ext cx="4281515" cy="328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6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8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050" cy="29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85" cy="246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85" cy="290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8" name="Google Shape;58;p8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734" cy="526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8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93" cy="1415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3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9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3" cy="3289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6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050" cy="29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9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85" cy="246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85" cy="290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734" cy="526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93" cy="1415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4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0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2" cy="3289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71" name="Google Shape;71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6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1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0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050" cy="29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10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85" cy="246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0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85" cy="290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10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734" cy="526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93" cy="1415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5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1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2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6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1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050" cy="29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1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85" cy="246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11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85" cy="290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734" cy="526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93" cy="1415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6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2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2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6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2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050" cy="29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85" cy="246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85" cy="290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734" cy="526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93" cy="1415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7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3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2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6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3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050" cy="29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1" name="Google Shape;101;p13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85" cy="246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2" name="Google Shape;102;p13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85" cy="290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3" name="Google Shape;103;p13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734" cy="526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4" name="Google Shape;104;p13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93" cy="1415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8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14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2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6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050" cy="29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0" name="Google Shape;110;p14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85" cy="246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1" name="Google Shape;111;p14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85" cy="290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2" name="Google Shape;112;p14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734" cy="526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4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93" cy="1415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9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5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7" y="-5821"/>
            <a:ext cx="4281508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6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5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050" cy="29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15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85" cy="246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0" name="Google Shape;120;p15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85" cy="290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1" name="Google Shape;121;p15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734" cy="526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2" name="Google Shape;122;p15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93" cy="1415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10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16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7" y="-5821"/>
            <a:ext cx="4281508" cy="328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6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16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050" cy="29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8" name="Google Shape;128;p16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85" cy="246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9" name="Google Shape;129;p16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85" cy="290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0" name="Google Shape;130;p16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734" cy="526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1" name="Google Shape;131;p16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93" cy="1415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11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17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5" y="-5821"/>
            <a:ext cx="4281515" cy="328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6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7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050" cy="29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17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85" cy="246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8" name="Google Shape;138;p17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85" cy="290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9" name="Google Shape;139;p17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734" cy="526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0" name="Google Shape;140;p17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93" cy="1415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1_Title_Slide_TRAINING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18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7" y="-5821"/>
            <a:ext cx="4281508" cy="328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6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18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050" cy="29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6" name="Google Shape;146;p18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85" cy="246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18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85" cy="290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18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734" cy="526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9" name="Google Shape;149;p18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93" cy="1415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1_Title_Slide_INDUSTRY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Google Shape;151;p19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7" y="-5821"/>
            <a:ext cx="4281506" cy="32891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6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19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050" cy="29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19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85" cy="246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6" name="Google Shape;156;p19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85" cy="290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7" name="Google Shape;157;p19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734" cy="526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8" name="Google Shape;158;p19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93" cy="1415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_NoImage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"/>
            <a:ext cx="9143999" cy="3274221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20"/>
          <p:cNvSpPr txBox="1">
            <a:spLocks noGrp="1"/>
          </p:cNvSpPr>
          <p:nvPr>
            <p:ph type="body" idx="1"/>
          </p:nvPr>
        </p:nvSpPr>
        <p:spPr>
          <a:xfrm>
            <a:off x="640557" y="4457228"/>
            <a:ext cx="3037285" cy="290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2" name="Google Shape;162;p20"/>
          <p:cNvSpPr txBox="1">
            <a:spLocks noGrp="1"/>
          </p:cNvSpPr>
          <p:nvPr>
            <p:ph type="body" idx="2"/>
          </p:nvPr>
        </p:nvSpPr>
        <p:spPr>
          <a:xfrm>
            <a:off x="640557" y="2310299"/>
            <a:ext cx="4867734" cy="526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3" name="Google Shape;163;p20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93" cy="1415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4" name="Google Shape;164;p20"/>
          <p:cNvSpPr txBox="1">
            <a:spLocks noGrp="1"/>
          </p:cNvSpPr>
          <p:nvPr>
            <p:ph type="body" idx="3"/>
          </p:nvPr>
        </p:nvSpPr>
        <p:spPr>
          <a:xfrm>
            <a:off x="640556" y="3581009"/>
            <a:ext cx="3829050" cy="29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5" name="Google Shape;165;p20"/>
          <p:cNvSpPr txBox="1">
            <a:spLocks noGrp="1"/>
          </p:cNvSpPr>
          <p:nvPr>
            <p:ph type="body" idx="4"/>
          </p:nvPr>
        </p:nvSpPr>
        <p:spPr>
          <a:xfrm>
            <a:off x="640557" y="3896005"/>
            <a:ext cx="3037285" cy="246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66" name="Google Shape;166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1_Title_Slide_noImage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" name="Google Shape;168;p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"/>
            <a:ext cx="9144000" cy="3274221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21"/>
          <p:cNvSpPr txBox="1">
            <a:spLocks noGrp="1"/>
          </p:cNvSpPr>
          <p:nvPr>
            <p:ph type="body" idx="1"/>
          </p:nvPr>
        </p:nvSpPr>
        <p:spPr>
          <a:xfrm>
            <a:off x="640557" y="4457228"/>
            <a:ext cx="3037285" cy="290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0" name="Google Shape;170;p21"/>
          <p:cNvSpPr txBox="1">
            <a:spLocks noGrp="1"/>
          </p:cNvSpPr>
          <p:nvPr>
            <p:ph type="body" idx="2"/>
          </p:nvPr>
        </p:nvSpPr>
        <p:spPr>
          <a:xfrm>
            <a:off x="640557" y="2310299"/>
            <a:ext cx="4867734" cy="526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1" name="Google Shape;171;p21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93" cy="1415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2" name="Google Shape;172;p21"/>
          <p:cNvSpPr txBox="1">
            <a:spLocks noGrp="1"/>
          </p:cNvSpPr>
          <p:nvPr>
            <p:ph type="body" idx="3"/>
          </p:nvPr>
        </p:nvSpPr>
        <p:spPr>
          <a:xfrm>
            <a:off x="640556" y="3581009"/>
            <a:ext cx="3829050" cy="29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3" name="Google Shape;173;p21"/>
          <p:cNvSpPr txBox="1">
            <a:spLocks noGrp="1"/>
          </p:cNvSpPr>
          <p:nvPr>
            <p:ph type="body" idx="4"/>
          </p:nvPr>
        </p:nvSpPr>
        <p:spPr>
          <a:xfrm>
            <a:off x="640557" y="3896005"/>
            <a:ext cx="3037285" cy="246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74" name="Google Shape;174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1_Title_Slide_Staff_Association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"/>
            <a:ext cx="9144000" cy="327422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2"/>
          <p:cNvSpPr txBox="1">
            <a:spLocks noGrp="1"/>
          </p:cNvSpPr>
          <p:nvPr>
            <p:ph type="body" idx="1"/>
          </p:nvPr>
        </p:nvSpPr>
        <p:spPr>
          <a:xfrm>
            <a:off x="640557" y="4457228"/>
            <a:ext cx="3037285" cy="290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8" name="Google Shape;178;p22"/>
          <p:cNvSpPr txBox="1">
            <a:spLocks noGrp="1"/>
          </p:cNvSpPr>
          <p:nvPr>
            <p:ph type="body" idx="2"/>
          </p:nvPr>
        </p:nvSpPr>
        <p:spPr>
          <a:xfrm>
            <a:off x="640557" y="2310299"/>
            <a:ext cx="4867734" cy="526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22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93" cy="1415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22"/>
          <p:cNvSpPr txBox="1">
            <a:spLocks noGrp="1"/>
          </p:cNvSpPr>
          <p:nvPr>
            <p:ph type="body" idx="3"/>
          </p:nvPr>
        </p:nvSpPr>
        <p:spPr>
          <a:xfrm>
            <a:off x="640556" y="3581009"/>
            <a:ext cx="3829050" cy="29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1" name="Google Shape;181;p22"/>
          <p:cNvSpPr txBox="1">
            <a:spLocks noGrp="1"/>
          </p:cNvSpPr>
          <p:nvPr>
            <p:ph type="body" idx="4"/>
          </p:nvPr>
        </p:nvSpPr>
        <p:spPr>
          <a:xfrm>
            <a:off x="640557" y="3896005"/>
            <a:ext cx="3037285" cy="246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82" name="Google Shape;182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916925" y="4118125"/>
            <a:ext cx="2091448" cy="7276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ff Association grey ">
  <p:cSld name="Staff Association grey "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3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47" cy="51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6" name="Google Shape;186;p23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187" name="Google Shape;187;p23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47" cy="3711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8" name="Google Shape;188;p23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33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89" name="Google Shape;189;p23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3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90" name="Google Shape;190;p2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524368" y="4628593"/>
            <a:ext cx="1202724" cy="418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ff Association white">
  <p:cSld name="Staff Association white"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4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47" cy="51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24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47" cy="3711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4" name="Google Shape;194;p24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33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95" name="Google Shape;195;p24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3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96" name="Google Shape;196;p2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524368" y="4628593"/>
            <a:ext cx="1202724" cy="418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Elements_grey">
  <p:cSld name="Two Elements_grey"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5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47" cy="51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25"/>
          <p:cNvSpPr/>
          <p:nvPr/>
        </p:nvSpPr>
        <p:spPr>
          <a:xfrm>
            <a:off x="0" y="869951"/>
            <a:ext cx="9144000" cy="375443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25"/>
          <p:cNvSpPr txBox="1">
            <a:spLocks noGrp="1"/>
          </p:cNvSpPr>
          <p:nvPr>
            <p:ph type="body" idx="1"/>
          </p:nvPr>
        </p:nvSpPr>
        <p:spPr>
          <a:xfrm>
            <a:off x="330994" y="992393"/>
            <a:ext cx="4227910" cy="3501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1" name="Google Shape;201;p25"/>
          <p:cNvSpPr txBox="1">
            <a:spLocks noGrp="1"/>
          </p:cNvSpPr>
          <p:nvPr>
            <p:ph type="body" idx="2"/>
          </p:nvPr>
        </p:nvSpPr>
        <p:spPr>
          <a:xfrm>
            <a:off x="4572000" y="992393"/>
            <a:ext cx="4227910" cy="3501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2" name="Google Shape;202;p25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33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03" name="Google Shape;203;p25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3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25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19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Elements_white">
  <p:cSld name="Two Elements_white"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6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47" cy="51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7" name="Google Shape;207;p26"/>
          <p:cNvSpPr txBox="1">
            <a:spLocks noGrp="1"/>
          </p:cNvSpPr>
          <p:nvPr>
            <p:ph type="body" idx="1"/>
          </p:nvPr>
        </p:nvSpPr>
        <p:spPr>
          <a:xfrm>
            <a:off x="330994" y="992393"/>
            <a:ext cx="4227910" cy="3501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8" name="Google Shape;208;p26"/>
          <p:cNvSpPr txBox="1">
            <a:spLocks noGrp="1"/>
          </p:cNvSpPr>
          <p:nvPr>
            <p:ph type="body" idx="2"/>
          </p:nvPr>
        </p:nvSpPr>
        <p:spPr>
          <a:xfrm>
            <a:off x="4572000" y="992393"/>
            <a:ext cx="4227910" cy="3501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9" name="Google Shape;209;p26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33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10" name="Google Shape;210;p26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3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1" name="Google Shape;211;p26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19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_Elements_grey_green">
  <p:cSld name="Two_Elements_grey_green"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7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47" cy="51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4" name="Google Shape;214;p27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15" name="Google Shape;215;p27"/>
          <p:cNvSpPr txBox="1">
            <a:spLocks noGrp="1"/>
          </p:cNvSpPr>
          <p:nvPr>
            <p:ph type="body" idx="1"/>
          </p:nvPr>
        </p:nvSpPr>
        <p:spPr>
          <a:xfrm>
            <a:off x="1" y="887016"/>
            <a:ext cx="3155156" cy="371994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6" name="Google Shape;216;p27"/>
          <p:cNvSpPr txBox="1">
            <a:spLocks noGrp="1"/>
          </p:cNvSpPr>
          <p:nvPr>
            <p:ph type="body" idx="2"/>
          </p:nvPr>
        </p:nvSpPr>
        <p:spPr>
          <a:xfrm>
            <a:off x="3146611" y="887016"/>
            <a:ext cx="5997389" cy="3719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7" name="Google Shape;217;p27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33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18" name="Google Shape;218;p27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3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9" name="Google Shape;219;p27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19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Elements_grey_green_right">
  <p:cSld name="Two Elements_grey_green_right"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8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47" cy="51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2" name="Google Shape;222;p28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23" name="Google Shape;223;p28"/>
          <p:cNvSpPr txBox="1">
            <a:spLocks noGrp="1"/>
          </p:cNvSpPr>
          <p:nvPr>
            <p:ph type="body" idx="1"/>
          </p:nvPr>
        </p:nvSpPr>
        <p:spPr>
          <a:xfrm>
            <a:off x="5988844" y="887016"/>
            <a:ext cx="3155156" cy="371994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4" name="Google Shape;224;p28"/>
          <p:cNvSpPr txBox="1">
            <a:spLocks noGrp="1"/>
          </p:cNvSpPr>
          <p:nvPr>
            <p:ph type="body" idx="2"/>
          </p:nvPr>
        </p:nvSpPr>
        <p:spPr>
          <a:xfrm>
            <a:off x="0" y="887016"/>
            <a:ext cx="5997389" cy="3719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5" name="Google Shape;225;p28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33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6" name="Google Shape;226;p28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3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7" name="Google Shape;227;p28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19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Elements_grey_green_right">
  <p:cSld name="Three Elements_grey_green_right"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9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47" cy="51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0" name="Google Shape;230;p29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31" name="Google Shape;231;p29"/>
          <p:cNvSpPr txBox="1">
            <a:spLocks noGrp="1"/>
          </p:cNvSpPr>
          <p:nvPr>
            <p:ph type="body" idx="1"/>
          </p:nvPr>
        </p:nvSpPr>
        <p:spPr>
          <a:xfrm>
            <a:off x="5988844" y="880036"/>
            <a:ext cx="3155156" cy="18561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2" name="Google Shape;232;p29"/>
          <p:cNvSpPr txBox="1">
            <a:spLocks noGrp="1"/>
          </p:cNvSpPr>
          <p:nvPr>
            <p:ph type="body" idx="2"/>
          </p:nvPr>
        </p:nvSpPr>
        <p:spPr>
          <a:xfrm>
            <a:off x="0" y="887016"/>
            <a:ext cx="5997389" cy="3719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3" name="Google Shape;233;p29"/>
          <p:cNvSpPr txBox="1">
            <a:spLocks noGrp="1"/>
          </p:cNvSpPr>
          <p:nvPr>
            <p:ph type="body" idx="3"/>
          </p:nvPr>
        </p:nvSpPr>
        <p:spPr>
          <a:xfrm>
            <a:off x="5988844" y="2757758"/>
            <a:ext cx="3155156" cy="18561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4" name="Google Shape;234;p29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33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35" name="Google Shape;235;p29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3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6" name="Google Shape;236;p29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19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Elements_dark_grey">
  <p:cSld name="Three Elements_dark_grey"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0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47" cy="51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9" name="Google Shape;239;p30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40" name="Google Shape;240;p30"/>
          <p:cNvSpPr txBox="1">
            <a:spLocks noGrp="1"/>
          </p:cNvSpPr>
          <p:nvPr>
            <p:ph type="body" idx="1"/>
          </p:nvPr>
        </p:nvSpPr>
        <p:spPr>
          <a:xfrm>
            <a:off x="0" y="887016"/>
            <a:ext cx="5997389" cy="3719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1" name="Google Shape;241;p30"/>
          <p:cNvSpPr txBox="1">
            <a:spLocks noGrp="1"/>
          </p:cNvSpPr>
          <p:nvPr>
            <p:ph type="body" idx="2"/>
          </p:nvPr>
        </p:nvSpPr>
        <p:spPr>
          <a:xfrm>
            <a:off x="5988844" y="880036"/>
            <a:ext cx="3155156" cy="1856184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2" name="Google Shape;242;p30"/>
          <p:cNvSpPr txBox="1">
            <a:spLocks noGrp="1"/>
          </p:cNvSpPr>
          <p:nvPr>
            <p:ph type="body" idx="3"/>
          </p:nvPr>
        </p:nvSpPr>
        <p:spPr>
          <a:xfrm>
            <a:off x="5988844" y="2757758"/>
            <a:ext cx="3155156" cy="1856184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3" name="Google Shape;243;p30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33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4" name="Google Shape;244;p30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3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5" name="Google Shape;245;p30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19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Elements_green_left_grey">
  <p:cSld name="Three Elements_green_left_grey"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1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47" cy="51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8" name="Google Shape;248;p31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49" name="Google Shape;249;p31"/>
          <p:cNvSpPr txBox="1">
            <a:spLocks noGrp="1"/>
          </p:cNvSpPr>
          <p:nvPr>
            <p:ph type="body" idx="1"/>
          </p:nvPr>
        </p:nvSpPr>
        <p:spPr>
          <a:xfrm>
            <a:off x="3146611" y="887016"/>
            <a:ext cx="5997389" cy="3719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0" name="Google Shape;250;p31"/>
          <p:cNvSpPr txBox="1">
            <a:spLocks noGrp="1"/>
          </p:cNvSpPr>
          <p:nvPr>
            <p:ph type="body" idx="2"/>
          </p:nvPr>
        </p:nvSpPr>
        <p:spPr>
          <a:xfrm>
            <a:off x="794" y="880036"/>
            <a:ext cx="3155156" cy="18561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1" name="Google Shape;251;p31"/>
          <p:cNvSpPr txBox="1">
            <a:spLocks noGrp="1"/>
          </p:cNvSpPr>
          <p:nvPr>
            <p:ph type="body" idx="3"/>
          </p:nvPr>
        </p:nvSpPr>
        <p:spPr>
          <a:xfrm>
            <a:off x="794" y="2757758"/>
            <a:ext cx="3155156" cy="1856184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2" name="Google Shape;252;p31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33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53" name="Google Shape;253;p31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3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4" name="Google Shape;254;p31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19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ix Elements_green">
  <p:cSld name="Six Elements_green"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2"/>
          <p:cNvSpPr>
            <a:spLocks noGrp="1"/>
          </p:cNvSpPr>
          <p:nvPr>
            <p:ph type="pic" idx="2"/>
          </p:nvPr>
        </p:nvSpPr>
        <p:spPr>
          <a:xfrm>
            <a:off x="6103800" y="870349"/>
            <a:ext cx="3040200" cy="1865708"/>
          </a:xfrm>
          <a:prstGeom prst="rect">
            <a:avLst/>
          </a:prstGeom>
          <a:noFill/>
          <a:ln>
            <a:noFill/>
          </a:ln>
        </p:spPr>
      </p:sp>
      <p:sp>
        <p:nvSpPr>
          <p:cNvPr id="257" name="Google Shape;257;p32"/>
          <p:cNvSpPr>
            <a:spLocks noGrp="1"/>
          </p:cNvSpPr>
          <p:nvPr>
            <p:ph type="pic" idx="3"/>
          </p:nvPr>
        </p:nvSpPr>
        <p:spPr>
          <a:xfrm>
            <a:off x="0" y="870349"/>
            <a:ext cx="3040200" cy="1865708"/>
          </a:xfrm>
          <a:prstGeom prst="rect">
            <a:avLst/>
          </a:prstGeom>
          <a:noFill/>
          <a:ln>
            <a:noFill/>
          </a:ln>
        </p:spPr>
      </p:sp>
      <p:sp>
        <p:nvSpPr>
          <p:cNvPr id="258" name="Google Shape;258;p32"/>
          <p:cNvSpPr>
            <a:spLocks noGrp="1"/>
          </p:cNvSpPr>
          <p:nvPr>
            <p:ph type="pic" idx="4"/>
          </p:nvPr>
        </p:nvSpPr>
        <p:spPr>
          <a:xfrm>
            <a:off x="3051900" y="870349"/>
            <a:ext cx="3040200" cy="1865708"/>
          </a:xfrm>
          <a:prstGeom prst="rect">
            <a:avLst/>
          </a:prstGeom>
          <a:noFill/>
          <a:ln>
            <a:noFill/>
          </a:ln>
        </p:spPr>
      </p:sp>
      <p:sp>
        <p:nvSpPr>
          <p:cNvPr id="259" name="Google Shape;259;p32"/>
          <p:cNvSpPr txBox="1">
            <a:spLocks noGrp="1"/>
          </p:cNvSpPr>
          <p:nvPr>
            <p:ph type="body" idx="1"/>
          </p:nvPr>
        </p:nvSpPr>
        <p:spPr>
          <a:xfrm>
            <a:off x="6103144" y="2746675"/>
            <a:ext cx="3040856" cy="18646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0" name="Google Shape;260;p32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47" cy="51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1" name="Google Shape;261;p32"/>
          <p:cNvSpPr txBox="1">
            <a:spLocks noGrp="1"/>
          </p:cNvSpPr>
          <p:nvPr>
            <p:ph type="body" idx="5"/>
          </p:nvPr>
        </p:nvSpPr>
        <p:spPr>
          <a:xfrm>
            <a:off x="1" y="2746675"/>
            <a:ext cx="3040856" cy="18646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2" name="Google Shape;262;p32"/>
          <p:cNvSpPr txBox="1">
            <a:spLocks noGrp="1"/>
          </p:cNvSpPr>
          <p:nvPr>
            <p:ph type="body" idx="6"/>
          </p:nvPr>
        </p:nvSpPr>
        <p:spPr>
          <a:xfrm>
            <a:off x="3051573" y="2746675"/>
            <a:ext cx="3040856" cy="1864617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263" name="Google Shape;263;p32"/>
          <p:cNvCxnSpPr/>
          <p:nvPr/>
        </p:nvCxnSpPr>
        <p:spPr>
          <a:xfrm>
            <a:off x="3051573" y="2736057"/>
            <a:ext cx="0" cy="1907381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64" name="Google Shape;264;p32"/>
          <p:cNvCxnSpPr/>
          <p:nvPr/>
        </p:nvCxnSpPr>
        <p:spPr>
          <a:xfrm>
            <a:off x="6097513" y="2736057"/>
            <a:ext cx="0" cy="1907381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65" name="Google Shape;265;p32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33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66" name="Google Shape;266;p32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3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7" name="Google Shape;267;p32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19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ight Elements_green">
  <p:cSld name="Eight Elements_green"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3"/>
          <p:cNvSpPr>
            <a:spLocks noGrp="1"/>
          </p:cNvSpPr>
          <p:nvPr>
            <p:ph type="pic" idx="2"/>
          </p:nvPr>
        </p:nvSpPr>
        <p:spPr>
          <a:xfrm>
            <a:off x="0" y="879477"/>
            <a:ext cx="2276100" cy="1871663"/>
          </a:xfrm>
          <a:prstGeom prst="rect">
            <a:avLst/>
          </a:prstGeom>
          <a:noFill/>
          <a:ln>
            <a:noFill/>
          </a:ln>
        </p:spPr>
      </p:sp>
      <p:sp>
        <p:nvSpPr>
          <p:cNvPr id="270" name="Google Shape;270;p33"/>
          <p:cNvSpPr>
            <a:spLocks noGrp="1"/>
          </p:cNvSpPr>
          <p:nvPr>
            <p:ph type="pic" idx="3"/>
          </p:nvPr>
        </p:nvSpPr>
        <p:spPr>
          <a:xfrm>
            <a:off x="2289300" y="879477"/>
            <a:ext cx="2276100" cy="1871663"/>
          </a:xfrm>
          <a:prstGeom prst="rect">
            <a:avLst/>
          </a:prstGeom>
          <a:noFill/>
          <a:ln>
            <a:noFill/>
          </a:ln>
        </p:spPr>
      </p:sp>
      <p:sp>
        <p:nvSpPr>
          <p:cNvPr id="271" name="Google Shape;271;p33"/>
          <p:cNvSpPr>
            <a:spLocks noGrp="1"/>
          </p:cNvSpPr>
          <p:nvPr>
            <p:ph type="pic" idx="4"/>
          </p:nvPr>
        </p:nvSpPr>
        <p:spPr>
          <a:xfrm>
            <a:off x="4578599" y="879477"/>
            <a:ext cx="2279821" cy="1871663"/>
          </a:xfrm>
          <a:prstGeom prst="rect">
            <a:avLst/>
          </a:prstGeom>
          <a:noFill/>
          <a:ln>
            <a:noFill/>
          </a:ln>
        </p:spPr>
      </p:sp>
      <p:sp>
        <p:nvSpPr>
          <p:cNvPr id="272" name="Google Shape;272;p33"/>
          <p:cNvSpPr>
            <a:spLocks noGrp="1"/>
          </p:cNvSpPr>
          <p:nvPr>
            <p:ph type="pic" idx="5"/>
          </p:nvPr>
        </p:nvSpPr>
        <p:spPr>
          <a:xfrm>
            <a:off x="6867900" y="879477"/>
            <a:ext cx="2276100" cy="1871663"/>
          </a:xfrm>
          <a:prstGeom prst="rect">
            <a:avLst/>
          </a:prstGeom>
          <a:noFill/>
          <a:ln>
            <a:noFill/>
          </a:ln>
        </p:spPr>
      </p:sp>
      <p:sp>
        <p:nvSpPr>
          <p:cNvPr id="273" name="Google Shape;273;p33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47" cy="51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4" name="Google Shape;274;p33"/>
          <p:cNvSpPr txBox="1">
            <a:spLocks noGrp="1"/>
          </p:cNvSpPr>
          <p:nvPr>
            <p:ph type="body" idx="1"/>
          </p:nvPr>
        </p:nvSpPr>
        <p:spPr>
          <a:xfrm>
            <a:off x="1" y="2761060"/>
            <a:ext cx="2279822" cy="18502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5" name="Google Shape;275;p33"/>
          <p:cNvSpPr txBox="1">
            <a:spLocks noGrp="1"/>
          </p:cNvSpPr>
          <p:nvPr>
            <p:ph type="body" idx="6"/>
          </p:nvPr>
        </p:nvSpPr>
        <p:spPr>
          <a:xfrm>
            <a:off x="2288060" y="2761060"/>
            <a:ext cx="2279822" cy="1850232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6" name="Google Shape;276;p33"/>
          <p:cNvSpPr txBox="1">
            <a:spLocks noGrp="1"/>
          </p:cNvSpPr>
          <p:nvPr>
            <p:ph type="body" idx="7"/>
          </p:nvPr>
        </p:nvSpPr>
        <p:spPr>
          <a:xfrm>
            <a:off x="4576119" y="2761060"/>
            <a:ext cx="2279822" cy="18502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7" name="Google Shape;277;p33"/>
          <p:cNvSpPr txBox="1">
            <a:spLocks noGrp="1"/>
          </p:cNvSpPr>
          <p:nvPr>
            <p:ph type="body" idx="8"/>
          </p:nvPr>
        </p:nvSpPr>
        <p:spPr>
          <a:xfrm>
            <a:off x="6864178" y="2761060"/>
            <a:ext cx="2279822" cy="1850232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278" name="Google Shape;278;p33"/>
          <p:cNvCxnSpPr/>
          <p:nvPr/>
        </p:nvCxnSpPr>
        <p:spPr>
          <a:xfrm>
            <a:off x="2285095" y="2742235"/>
            <a:ext cx="0" cy="187523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79" name="Google Shape;279;p33"/>
          <p:cNvCxnSpPr/>
          <p:nvPr/>
        </p:nvCxnSpPr>
        <p:spPr>
          <a:xfrm>
            <a:off x="4571578" y="2742235"/>
            <a:ext cx="0" cy="187523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80" name="Google Shape;280;p33"/>
          <p:cNvCxnSpPr/>
          <p:nvPr/>
        </p:nvCxnSpPr>
        <p:spPr>
          <a:xfrm>
            <a:off x="6869932" y="2742235"/>
            <a:ext cx="0" cy="187523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81" name="Google Shape;281;p33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33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82" name="Google Shape;282;p33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3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3" name="Google Shape;283;p33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19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ight Elements_grey">
  <p:cSld name="Eight Elements_grey"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4"/>
          <p:cNvSpPr>
            <a:spLocks noGrp="1"/>
          </p:cNvSpPr>
          <p:nvPr>
            <p:ph type="pic" idx="2"/>
          </p:nvPr>
        </p:nvSpPr>
        <p:spPr>
          <a:xfrm>
            <a:off x="0" y="879477"/>
            <a:ext cx="2276100" cy="1871663"/>
          </a:xfrm>
          <a:prstGeom prst="rect">
            <a:avLst/>
          </a:prstGeom>
          <a:noFill/>
          <a:ln>
            <a:noFill/>
          </a:ln>
        </p:spPr>
      </p:sp>
      <p:sp>
        <p:nvSpPr>
          <p:cNvPr id="286" name="Google Shape;286;p34"/>
          <p:cNvSpPr>
            <a:spLocks noGrp="1"/>
          </p:cNvSpPr>
          <p:nvPr>
            <p:ph type="pic" idx="3"/>
          </p:nvPr>
        </p:nvSpPr>
        <p:spPr>
          <a:xfrm>
            <a:off x="2289300" y="879477"/>
            <a:ext cx="2276100" cy="1871663"/>
          </a:xfrm>
          <a:prstGeom prst="rect">
            <a:avLst/>
          </a:prstGeom>
          <a:noFill/>
          <a:ln>
            <a:noFill/>
          </a:ln>
        </p:spPr>
      </p:sp>
      <p:sp>
        <p:nvSpPr>
          <p:cNvPr id="287" name="Google Shape;287;p34"/>
          <p:cNvSpPr>
            <a:spLocks noGrp="1"/>
          </p:cNvSpPr>
          <p:nvPr>
            <p:ph type="pic" idx="4"/>
          </p:nvPr>
        </p:nvSpPr>
        <p:spPr>
          <a:xfrm>
            <a:off x="4578599" y="879477"/>
            <a:ext cx="2279821" cy="1871663"/>
          </a:xfrm>
          <a:prstGeom prst="rect">
            <a:avLst/>
          </a:prstGeom>
          <a:noFill/>
          <a:ln>
            <a:noFill/>
          </a:ln>
        </p:spPr>
      </p:sp>
      <p:sp>
        <p:nvSpPr>
          <p:cNvPr id="288" name="Google Shape;288;p34"/>
          <p:cNvSpPr>
            <a:spLocks noGrp="1"/>
          </p:cNvSpPr>
          <p:nvPr>
            <p:ph type="pic" idx="5"/>
          </p:nvPr>
        </p:nvSpPr>
        <p:spPr>
          <a:xfrm>
            <a:off x="6867900" y="879477"/>
            <a:ext cx="2276100" cy="1871663"/>
          </a:xfrm>
          <a:prstGeom prst="rect">
            <a:avLst/>
          </a:prstGeom>
          <a:noFill/>
          <a:ln>
            <a:noFill/>
          </a:ln>
        </p:spPr>
      </p:sp>
      <p:sp>
        <p:nvSpPr>
          <p:cNvPr id="289" name="Google Shape;289;p34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47" cy="51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0" name="Google Shape;290;p34"/>
          <p:cNvSpPr txBox="1">
            <a:spLocks noGrp="1"/>
          </p:cNvSpPr>
          <p:nvPr>
            <p:ph type="body" idx="1"/>
          </p:nvPr>
        </p:nvSpPr>
        <p:spPr>
          <a:xfrm>
            <a:off x="1" y="2761060"/>
            <a:ext cx="2279822" cy="1850232"/>
          </a:xfrm>
          <a:prstGeom prst="rect">
            <a:avLst/>
          </a:prstGeom>
          <a:solidFill>
            <a:srgbClr val="A8ABAA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1" name="Google Shape;291;p34"/>
          <p:cNvSpPr txBox="1">
            <a:spLocks noGrp="1"/>
          </p:cNvSpPr>
          <p:nvPr>
            <p:ph type="body" idx="6"/>
          </p:nvPr>
        </p:nvSpPr>
        <p:spPr>
          <a:xfrm>
            <a:off x="2288060" y="2761060"/>
            <a:ext cx="2279822" cy="1850232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2" name="Google Shape;292;p34"/>
          <p:cNvSpPr txBox="1">
            <a:spLocks noGrp="1"/>
          </p:cNvSpPr>
          <p:nvPr>
            <p:ph type="body" idx="7"/>
          </p:nvPr>
        </p:nvSpPr>
        <p:spPr>
          <a:xfrm>
            <a:off x="4576119" y="2761060"/>
            <a:ext cx="2279822" cy="1850232"/>
          </a:xfrm>
          <a:prstGeom prst="rect">
            <a:avLst/>
          </a:prstGeom>
          <a:solidFill>
            <a:srgbClr val="A8ABAA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3" name="Google Shape;293;p34"/>
          <p:cNvSpPr txBox="1">
            <a:spLocks noGrp="1"/>
          </p:cNvSpPr>
          <p:nvPr>
            <p:ph type="body" idx="8"/>
          </p:nvPr>
        </p:nvSpPr>
        <p:spPr>
          <a:xfrm>
            <a:off x="6864178" y="2761060"/>
            <a:ext cx="2279822" cy="1850232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294" name="Google Shape;294;p34"/>
          <p:cNvCxnSpPr/>
          <p:nvPr/>
        </p:nvCxnSpPr>
        <p:spPr>
          <a:xfrm>
            <a:off x="2285095" y="2742235"/>
            <a:ext cx="0" cy="187523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95" name="Google Shape;295;p34"/>
          <p:cNvCxnSpPr/>
          <p:nvPr/>
        </p:nvCxnSpPr>
        <p:spPr>
          <a:xfrm>
            <a:off x="4571578" y="2742235"/>
            <a:ext cx="0" cy="187523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96" name="Google Shape;296;p34"/>
          <p:cNvCxnSpPr/>
          <p:nvPr/>
        </p:nvCxnSpPr>
        <p:spPr>
          <a:xfrm>
            <a:off x="6869932" y="2742235"/>
            <a:ext cx="0" cy="187523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97" name="Google Shape;297;p34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33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98" name="Google Shape;298;p34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3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9" name="Google Shape;299;p34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19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_with_Footer">
  <p:cSld name="Blank_with_Footer"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5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33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02" name="Google Shape;302;p35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3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3" name="Google Shape;303;p35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19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85">
          <p15:clr>
            <a:srgbClr val="FBAE40"/>
          </p15:clr>
        </p15:guide>
        <p15:guide id="2" pos="2160">
          <p15:clr>
            <a:srgbClr val="FBAE40"/>
          </p15:clr>
        </p15:guide>
        <p15:guide id="3" orient="horz" pos="1964">
          <p15:clr>
            <a:srgbClr val="FBAE40"/>
          </p15:clr>
        </p15:guide>
        <p15:guide id="4" orient="horz" pos="1742">
          <p15:clr>
            <a:srgbClr val="FBAE40"/>
          </p15:clr>
        </p15:guide>
        <p15:guide id="5" orient="horz" pos="1521">
          <p15:clr>
            <a:srgbClr val="FBAE40"/>
          </p15:clr>
        </p15:guide>
        <p15:guide id="6" orient="horz" pos="1300">
          <p15:clr>
            <a:srgbClr val="FBAE40"/>
          </p15:clr>
        </p15:guide>
        <p15:guide id="7" orient="horz" pos="1079">
          <p15:clr>
            <a:srgbClr val="FBAE40"/>
          </p15:clr>
        </p15:guide>
        <p15:guide id="8" orient="horz" pos="858">
          <p15:clr>
            <a:srgbClr val="FBAE40"/>
          </p15:clr>
        </p15:guide>
        <p15:guide id="9" orient="horz" pos="637">
          <p15:clr>
            <a:srgbClr val="FBAE40"/>
          </p15:clr>
        </p15:guide>
        <p15:guide id="10" orient="horz" pos="411">
          <p15:clr>
            <a:srgbClr val="FBAE40"/>
          </p15:clr>
        </p15:guide>
        <p15:guide id="11" orient="horz" pos="194">
          <p15:clr>
            <a:srgbClr val="FBAE40"/>
          </p15:clr>
        </p15:guide>
        <p15:guide id="12" pos="2381">
          <p15:clr>
            <a:srgbClr val="FBAE40"/>
          </p15:clr>
        </p15:guide>
        <p15:guide id="13" pos="2603">
          <p15:clr>
            <a:srgbClr val="FBAE40"/>
          </p15:clr>
        </p15:guide>
        <p15:guide id="14" pos="2824">
          <p15:clr>
            <a:srgbClr val="FBAE40"/>
          </p15:clr>
        </p15:guide>
        <p15:guide id="15" pos="3044">
          <p15:clr>
            <a:srgbClr val="FBAE40"/>
          </p15:clr>
        </p15:guide>
        <p15:guide id="16" pos="3266">
          <p15:clr>
            <a:srgbClr val="FBAE40"/>
          </p15:clr>
        </p15:guide>
        <p15:guide id="17" pos="3487">
          <p15:clr>
            <a:srgbClr val="FBAE40"/>
          </p15:clr>
        </p15:guide>
        <p15:guide id="18" pos="3708">
          <p15:clr>
            <a:srgbClr val="FBAE40"/>
          </p15:clr>
        </p15:guide>
        <p15:guide id="19" pos="3929">
          <p15:clr>
            <a:srgbClr val="FBAE40"/>
          </p15:clr>
        </p15:guide>
        <p15:guide id="20" pos="4151">
          <p15:clr>
            <a:srgbClr val="FBAE40"/>
          </p15:clr>
        </p15:guide>
        <p15:guide id="21" pos="1939">
          <p15:clr>
            <a:srgbClr val="FBAE40"/>
          </p15:clr>
        </p15:guide>
        <p15:guide id="22" pos="1718">
          <p15:clr>
            <a:srgbClr val="FBAE40"/>
          </p15:clr>
        </p15:guide>
        <p15:guide id="23" pos="1496">
          <p15:clr>
            <a:srgbClr val="FBAE40"/>
          </p15:clr>
        </p15:guide>
        <p15:guide id="24" pos="1276">
          <p15:clr>
            <a:srgbClr val="FBAE40"/>
          </p15:clr>
        </p15:guide>
        <p15:guide id="25" pos="1055">
          <p15:clr>
            <a:srgbClr val="FBAE40"/>
          </p15:clr>
        </p15:guide>
        <p15:guide id="26" pos="833">
          <p15:clr>
            <a:srgbClr val="FBAE40"/>
          </p15:clr>
        </p15:guide>
        <p15:guide id="27" pos="612">
          <p15:clr>
            <a:srgbClr val="FBAE40"/>
          </p15:clr>
        </p15:guide>
        <p15:guide id="28" pos="391">
          <p15:clr>
            <a:srgbClr val="FBAE40"/>
          </p15:clr>
        </p15:guide>
        <p15:guide id="29" pos="17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vider_individual_image">
  <p:cSld name="Divider_individual_image"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36"/>
          <p:cNvSpPr>
            <a:spLocks noGrp="1"/>
          </p:cNvSpPr>
          <p:nvPr>
            <p:ph type="pic" idx="2"/>
          </p:nvPr>
        </p:nvSpPr>
        <p:spPr>
          <a:xfrm>
            <a:off x="0" y="2"/>
            <a:ext cx="9144000" cy="4623197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36"/>
          <p:cNvSpPr txBox="1">
            <a:spLocks noGrp="1"/>
          </p:cNvSpPr>
          <p:nvPr>
            <p:ph type="title"/>
          </p:nvPr>
        </p:nvSpPr>
        <p:spPr>
          <a:xfrm>
            <a:off x="0" y="1112941"/>
            <a:ext cx="7527664" cy="51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Arial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7" name="Google Shape;307;p36"/>
          <p:cNvSpPr txBox="1">
            <a:spLocks noGrp="1"/>
          </p:cNvSpPr>
          <p:nvPr>
            <p:ph type="body" idx="1"/>
          </p:nvPr>
        </p:nvSpPr>
        <p:spPr>
          <a:xfrm>
            <a:off x="0" y="1638301"/>
            <a:ext cx="7535466" cy="927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8" name="Google Shape;308;p36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33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09" name="Google Shape;309;p36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3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0" name="Google Shape;310;p36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19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line_2">
  <p:cSld name="Section Headline_2"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2" name="Google Shape;312;p3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2" y="1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37"/>
          <p:cNvSpPr txBox="1">
            <a:spLocks noGrp="1"/>
          </p:cNvSpPr>
          <p:nvPr>
            <p:ph type="body" idx="1"/>
          </p:nvPr>
        </p:nvSpPr>
        <p:spPr>
          <a:xfrm>
            <a:off x="4939075" y="3225498"/>
            <a:ext cx="931500" cy="931500"/>
          </a:xfrm>
          <a:prstGeom prst="rect">
            <a:avLst/>
          </a:prstGeom>
          <a:solidFill>
            <a:srgbClr val="009E49"/>
          </a:solidFill>
          <a:ln>
            <a:noFill/>
          </a:ln>
        </p:spPr>
        <p:txBody>
          <a:bodyPr spcFirstLastPara="1" wrap="square" lIns="0" tIns="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4" name="Google Shape;314;p37"/>
          <p:cNvSpPr txBox="1">
            <a:spLocks noGrp="1"/>
          </p:cNvSpPr>
          <p:nvPr>
            <p:ph type="body" idx="2"/>
          </p:nvPr>
        </p:nvSpPr>
        <p:spPr>
          <a:xfrm>
            <a:off x="5870575" y="3225498"/>
            <a:ext cx="2808000" cy="93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288000" tIns="0" rIns="91425" bIns="45700" anchor="ctr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529A43"/>
              </a:buClr>
              <a:buSzPts val="1500"/>
              <a:buFont typeface="Arial"/>
              <a:buNone/>
              <a:defRPr sz="15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line_3">
  <p:cSld name="Section Headline_3"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2"/>
            <a:ext cx="9144000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3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4">
              <a:alpha val="29804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38"/>
          <p:cNvSpPr txBox="1">
            <a:spLocks noGrp="1"/>
          </p:cNvSpPr>
          <p:nvPr>
            <p:ph type="body" idx="1"/>
          </p:nvPr>
        </p:nvSpPr>
        <p:spPr>
          <a:xfrm>
            <a:off x="403622" y="665164"/>
            <a:ext cx="931500" cy="931500"/>
          </a:xfrm>
          <a:prstGeom prst="rect">
            <a:avLst/>
          </a:prstGeom>
          <a:solidFill>
            <a:srgbClr val="009E49"/>
          </a:solidFill>
          <a:ln>
            <a:noFill/>
          </a:ln>
        </p:spPr>
        <p:txBody>
          <a:bodyPr spcFirstLastPara="1" wrap="square" lIns="0" tIns="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9" name="Google Shape;319;p38"/>
          <p:cNvSpPr txBox="1">
            <a:spLocks noGrp="1"/>
          </p:cNvSpPr>
          <p:nvPr>
            <p:ph type="body" idx="2"/>
          </p:nvPr>
        </p:nvSpPr>
        <p:spPr>
          <a:xfrm>
            <a:off x="1335122" y="665164"/>
            <a:ext cx="2808000" cy="93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288000" tIns="0" rIns="91425" bIns="45700" anchor="ctr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529A43"/>
              </a:buClr>
              <a:buSzPts val="1500"/>
              <a:buFont typeface="Arial"/>
              <a:buNone/>
              <a:defRPr sz="15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line_4">
  <p:cSld name="Section Headline_4"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3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39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23" name="Google Shape;323;p39"/>
          <p:cNvSpPr txBox="1">
            <a:spLocks noGrp="1"/>
          </p:cNvSpPr>
          <p:nvPr>
            <p:ph type="body" idx="1"/>
          </p:nvPr>
        </p:nvSpPr>
        <p:spPr>
          <a:xfrm>
            <a:off x="1298972" y="884238"/>
            <a:ext cx="931500" cy="931500"/>
          </a:xfrm>
          <a:prstGeom prst="rect">
            <a:avLst/>
          </a:prstGeom>
          <a:solidFill>
            <a:srgbClr val="009E49"/>
          </a:solidFill>
          <a:ln>
            <a:noFill/>
          </a:ln>
        </p:spPr>
        <p:txBody>
          <a:bodyPr spcFirstLastPara="1" wrap="square" lIns="0" tIns="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4" name="Google Shape;324;p39"/>
          <p:cNvSpPr txBox="1">
            <a:spLocks noGrp="1"/>
          </p:cNvSpPr>
          <p:nvPr>
            <p:ph type="body" idx="3"/>
          </p:nvPr>
        </p:nvSpPr>
        <p:spPr>
          <a:xfrm>
            <a:off x="2230472" y="884238"/>
            <a:ext cx="2808000" cy="93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288000" tIns="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500"/>
              <a:buNone/>
              <a:defRPr sz="15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215">
          <p15:clr>
            <a:srgbClr val="FBAE40"/>
          </p15:clr>
        </p15:guide>
        <p15:guide id="2" pos="216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line_5">
  <p:cSld name="Section Headline_5"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4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4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28" name="Google Shape;328;p40"/>
          <p:cNvSpPr txBox="1">
            <a:spLocks noGrp="1"/>
          </p:cNvSpPr>
          <p:nvPr>
            <p:ph type="body" idx="1"/>
          </p:nvPr>
        </p:nvSpPr>
        <p:spPr>
          <a:xfrm>
            <a:off x="4939075" y="3225498"/>
            <a:ext cx="931500" cy="931500"/>
          </a:xfrm>
          <a:prstGeom prst="rect">
            <a:avLst/>
          </a:prstGeom>
          <a:solidFill>
            <a:srgbClr val="009E49"/>
          </a:solidFill>
          <a:ln>
            <a:noFill/>
          </a:ln>
        </p:spPr>
        <p:txBody>
          <a:bodyPr spcFirstLastPara="1" wrap="square" lIns="0" tIns="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9" name="Google Shape;329;p40"/>
          <p:cNvSpPr txBox="1">
            <a:spLocks noGrp="1"/>
          </p:cNvSpPr>
          <p:nvPr>
            <p:ph type="body" idx="3"/>
          </p:nvPr>
        </p:nvSpPr>
        <p:spPr>
          <a:xfrm>
            <a:off x="5870575" y="3225498"/>
            <a:ext cx="2808000" cy="93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288000" tIns="0" rIns="91425" bIns="45700" anchor="ctr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529A43"/>
              </a:buClr>
              <a:buSzPts val="1500"/>
              <a:buFont typeface="Arial"/>
              <a:buNone/>
              <a:defRPr sz="15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1" name="Google Shape;331;p41"/>
          <p:cNvCxnSpPr/>
          <p:nvPr/>
        </p:nvCxnSpPr>
        <p:spPr>
          <a:xfrm rot="10800000">
            <a:off x="-8" y="2749548"/>
            <a:ext cx="6096000" cy="0"/>
          </a:xfrm>
          <a:prstGeom prst="straightConnector1">
            <a:avLst/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32" name="Google Shape;332;p41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47" cy="51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3" name="Google Shape;333;p41"/>
          <p:cNvSpPr txBox="1">
            <a:spLocks noGrp="1"/>
          </p:cNvSpPr>
          <p:nvPr>
            <p:ph type="body" idx="1"/>
          </p:nvPr>
        </p:nvSpPr>
        <p:spPr>
          <a:xfrm>
            <a:off x="5962650" y="870348"/>
            <a:ext cx="3181350" cy="3773090"/>
          </a:xfrm>
          <a:prstGeom prst="rect">
            <a:avLst/>
          </a:prstGeom>
          <a:solidFill>
            <a:srgbClr val="C4C7C6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4" name="Google Shape;334;p41"/>
          <p:cNvSpPr txBox="1">
            <a:spLocks noGrp="1"/>
          </p:cNvSpPr>
          <p:nvPr>
            <p:ph type="body" idx="2"/>
          </p:nvPr>
        </p:nvSpPr>
        <p:spPr>
          <a:xfrm>
            <a:off x="-18510" y="2759927"/>
            <a:ext cx="5981160" cy="1883511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5" name="Google Shape;335;p41"/>
          <p:cNvSpPr txBox="1">
            <a:spLocks noGrp="1"/>
          </p:cNvSpPr>
          <p:nvPr>
            <p:ph type="body" idx="3"/>
          </p:nvPr>
        </p:nvSpPr>
        <p:spPr>
          <a:xfrm>
            <a:off x="-18510" y="870348"/>
            <a:ext cx="5981160" cy="187398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6" name="Google Shape;336;p41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33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37" name="Google Shape;337;p41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3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8" name="Google Shape;338;p41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19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">
  <p:cSld name="custom layout 2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42"/>
          <p:cNvSpPr/>
          <p:nvPr/>
        </p:nvSpPr>
        <p:spPr>
          <a:xfrm>
            <a:off x="0" y="870348"/>
            <a:ext cx="9144000" cy="3758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341" name="Google Shape;341;p42"/>
          <p:cNvSpPr txBox="1">
            <a:spLocks noGrp="1"/>
          </p:cNvSpPr>
          <p:nvPr>
            <p:ph type="body" idx="1"/>
          </p:nvPr>
        </p:nvSpPr>
        <p:spPr>
          <a:xfrm>
            <a:off x="5962650" y="870348"/>
            <a:ext cx="3181342" cy="939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5400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"/>
              <a:buNone/>
              <a:defRPr sz="16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42" name="Google Shape;342;p42"/>
          <p:cNvSpPr txBox="1">
            <a:spLocks noGrp="1"/>
          </p:cNvSpPr>
          <p:nvPr>
            <p:ph type="body" idx="2"/>
          </p:nvPr>
        </p:nvSpPr>
        <p:spPr>
          <a:xfrm>
            <a:off x="5962650" y="1810044"/>
            <a:ext cx="3181342" cy="939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5400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"/>
              <a:buNone/>
              <a:defRPr sz="16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43" name="Google Shape;343;p42"/>
          <p:cNvSpPr txBox="1">
            <a:spLocks noGrp="1"/>
          </p:cNvSpPr>
          <p:nvPr>
            <p:ph type="body" idx="3"/>
          </p:nvPr>
        </p:nvSpPr>
        <p:spPr>
          <a:xfrm>
            <a:off x="5962650" y="2749740"/>
            <a:ext cx="3181342" cy="939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5400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"/>
              <a:buNone/>
              <a:defRPr sz="16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44" name="Google Shape;344;p42"/>
          <p:cNvSpPr txBox="1">
            <a:spLocks noGrp="1"/>
          </p:cNvSpPr>
          <p:nvPr>
            <p:ph type="body" idx="4"/>
          </p:nvPr>
        </p:nvSpPr>
        <p:spPr>
          <a:xfrm>
            <a:off x="5962650" y="3689436"/>
            <a:ext cx="3181342" cy="939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5400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"/>
              <a:buNone/>
              <a:defRPr sz="16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45" name="Google Shape;345;p42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47" cy="51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6" name="Google Shape;346;p42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33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47" name="Google Shape;347;p42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3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8" name="Google Shape;348;p42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19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">
  <p:cSld name="custom layout 3"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43"/>
          <p:cNvSpPr/>
          <p:nvPr/>
        </p:nvSpPr>
        <p:spPr>
          <a:xfrm>
            <a:off x="0" y="2764154"/>
            <a:ext cx="9144000" cy="18792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13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43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47" cy="51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2" name="Google Shape;352;p43"/>
          <p:cNvSpPr>
            <a:spLocks noGrp="1"/>
          </p:cNvSpPr>
          <p:nvPr>
            <p:ph type="pic" idx="2"/>
          </p:nvPr>
        </p:nvSpPr>
        <p:spPr>
          <a:xfrm>
            <a:off x="-1" y="879476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53" name="Google Shape;353;p43"/>
          <p:cNvSpPr>
            <a:spLocks noGrp="1"/>
          </p:cNvSpPr>
          <p:nvPr>
            <p:ph type="pic" idx="3"/>
          </p:nvPr>
        </p:nvSpPr>
        <p:spPr>
          <a:xfrm>
            <a:off x="3048001" y="879475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54" name="Google Shape;354;p43"/>
          <p:cNvSpPr>
            <a:spLocks noGrp="1"/>
          </p:cNvSpPr>
          <p:nvPr>
            <p:ph type="pic" idx="4"/>
          </p:nvPr>
        </p:nvSpPr>
        <p:spPr>
          <a:xfrm>
            <a:off x="6096004" y="879475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55" name="Google Shape;355;p43"/>
          <p:cNvSpPr txBox="1">
            <a:spLocks noGrp="1"/>
          </p:cNvSpPr>
          <p:nvPr>
            <p:ph type="body" idx="1"/>
          </p:nvPr>
        </p:nvSpPr>
        <p:spPr>
          <a:xfrm>
            <a:off x="-1" y="2764154"/>
            <a:ext cx="3048000" cy="186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56" name="Google Shape;356;p43"/>
          <p:cNvSpPr txBox="1">
            <a:spLocks noGrp="1"/>
          </p:cNvSpPr>
          <p:nvPr>
            <p:ph type="body" idx="5"/>
          </p:nvPr>
        </p:nvSpPr>
        <p:spPr>
          <a:xfrm>
            <a:off x="6095976" y="2764154"/>
            <a:ext cx="3048024" cy="186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57" name="Google Shape;357;p43"/>
          <p:cNvSpPr txBox="1">
            <a:spLocks noGrp="1"/>
          </p:cNvSpPr>
          <p:nvPr>
            <p:ph type="body" idx="6"/>
          </p:nvPr>
        </p:nvSpPr>
        <p:spPr>
          <a:xfrm>
            <a:off x="-1" y="4049438"/>
            <a:ext cx="3048000" cy="5940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None/>
              <a:defRPr sz="1200" b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58" name="Google Shape;358;p43"/>
          <p:cNvSpPr txBox="1">
            <a:spLocks noGrp="1"/>
          </p:cNvSpPr>
          <p:nvPr>
            <p:ph type="body" idx="7"/>
          </p:nvPr>
        </p:nvSpPr>
        <p:spPr>
          <a:xfrm>
            <a:off x="3047987" y="4049438"/>
            <a:ext cx="3048000" cy="5940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None/>
              <a:defRPr sz="1200" b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59" name="Google Shape;359;p43"/>
          <p:cNvSpPr txBox="1">
            <a:spLocks noGrp="1"/>
          </p:cNvSpPr>
          <p:nvPr>
            <p:ph type="body" idx="8"/>
          </p:nvPr>
        </p:nvSpPr>
        <p:spPr>
          <a:xfrm>
            <a:off x="6095976" y="4049438"/>
            <a:ext cx="3047987" cy="5940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None/>
              <a:defRPr sz="1200" b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60" name="Google Shape;360;p43"/>
          <p:cNvSpPr txBox="1">
            <a:spLocks noGrp="1"/>
          </p:cNvSpPr>
          <p:nvPr>
            <p:ph type="body" idx="9"/>
          </p:nvPr>
        </p:nvSpPr>
        <p:spPr>
          <a:xfrm>
            <a:off x="3063239" y="2764154"/>
            <a:ext cx="3048000" cy="197994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61" name="Google Shape;361;p43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33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62" name="Google Shape;362;p43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3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3" name="Google Shape;363;p43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19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6">
  <p:cSld name="custom layout 6"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44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47" cy="51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44"/>
          <p:cNvSpPr>
            <a:spLocks noGrp="1"/>
          </p:cNvSpPr>
          <p:nvPr>
            <p:ph type="pic" idx="2"/>
          </p:nvPr>
        </p:nvSpPr>
        <p:spPr>
          <a:xfrm>
            <a:off x="-1" y="879476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67" name="Google Shape;367;p44"/>
          <p:cNvSpPr>
            <a:spLocks noGrp="1"/>
          </p:cNvSpPr>
          <p:nvPr>
            <p:ph type="pic" idx="3"/>
          </p:nvPr>
        </p:nvSpPr>
        <p:spPr>
          <a:xfrm>
            <a:off x="3048001" y="879475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68" name="Google Shape;368;p44"/>
          <p:cNvSpPr>
            <a:spLocks noGrp="1"/>
          </p:cNvSpPr>
          <p:nvPr>
            <p:ph type="pic" idx="4"/>
          </p:nvPr>
        </p:nvSpPr>
        <p:spPr>
          <a:xfrm>
            <a:off x="6096004" y="879475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69" name="Google Shape;369;p44"/>
          <p:cNvSpPr txBox="1">
            <a:spLocks noGrp="1"/>
          </p:cNvSpPr>
          <p:nvPr>
            <p:ph type="body" idx="1"/>
          </p:nvPr>
        </p:nvSpPr>
        <p:spPr>
          <a:xfrm>
            <a:off x="-1" y="2764153"/>
            <a:ext cx="3048000" cy="457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70" name="Google Shape;370;p44"/>
          <p:cNvSpPr txBox="1">
            <a:spLocks noGrp="1"/>
          </p:cNvSpPr>
          <p:nvPr>
            <p:ph type="body" idx="5"/>
          </p:nvPr>
        </p:nvSpPr>
        <p:spPr>
          <a:xfrm>
            <a:off x="3048004" y="2764153"/>
            <a:ext cx="3048000" cy="455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71" name="Google Shape;371;p44"/>
          <p:cNvSpPr txBox="1">
            <a:spLocks noGrp="1"/>
          </p:cNvSpPr>
          <p:nvPr>
            <p:ph type="body" idx="6"/>
          </p:nvPr>
        </p:nvSpPr>
        <p:spPr>
          <a:xfrm>
            <a:off x="-1" y="3219449"/>
            <a:ext cx="3048000" cy="14400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72" name="Google Shape;372;p44"/>
          <p:cNvSpPr txBox="1">
            <a:spLocks noGrp="1"/>
          </p:cNvSpPr>
          <p:nvPr>
            <p:ph type="body" idx="7"/>
          </p:nvPr>
        </p:nvSpPr>
        <p:spPr>
          <a:xfrm>
            <a:off x="6095993" y="2764153"/>
            <a:ext cx="3048000" cy="455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73" name="Google Shape;373;p44"/>
          <p:cNvSpPr txBox="1">
            <a:spLocks noGrp="1"/>
          </p:cNvSpPr>
          <p:nvPr>
            <p:ph type="body" idx="8"/>
          </p:nvPr>
        </p:nvSpPr>
        <p:spPr>
          <a:xfrm>
            <a:off x="6095993" y="3219449"/>
            <a:ext cx="3048000" cy="14400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74" name="Google Shape;374;p44"/>
          <p:cNvSpPr txBox="1">
            <a:spLocks noGrp="1"/>
          </p:cNvSpPr>
          <p:nvPr>
            <p:ph type="body" idx="9"/>
          </p:nvPr>
        </p:nvSpPr>
        <p:spPr>
          <a:xfrm>
            <a:off x="3048004" y="3219449"/>
            <a:ext cx="3048000" cy="144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75" name="Google Shape;375;p44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33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76" name="Google Shape;376;p44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3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7" name="Google Shape;377;p44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19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7">
  <p:cSld name="custom layout 7"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45"/>
          <p:cNvSpPr txBox="1">
            <a:spLocks noGrp="1"/>
          </p:cNvSpPr>
          <p:nvPr>
            <p:ph type="body" idx="1"/>
          </p:nvPr>
        </p:nvSpPr>
        <p:spPr>
          <a:xfrm>
            <a:off x="5976156" y="1356109"/>
            <a:ext cx="3167844" cy="2322922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spcFirstLastPara="1" wrap="square" lIns="216000" tIns="45700" rIns="91425" bIns="45700" anchor="ctr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0" name="Google Shape;380;p45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47" cy="51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1" name="Google Shape;381;p45"/>
          <p:cNvSpPr txBox="1">
            <a:spLocks noGrp="1"/>
          </p:cNvSpPr>
          <p:nvPr>
            <p:ph type="body" idx="2"/>
          </p:nvPr>
        </p:nvSpPr>
        <p:spPr>
          <a:xfrm>
            <a:off x="1" y="3687365"/>
            <a:ext cx="5976900" cy="940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82" name="Google Shape;382;p45"/>
          <p:cNvSpPr txBox="1">
            <a:spLocks noGrp="1"/>
          </p:cNvSpPr>
          <p:nvPr>
            <p:ph type="body" idx="3"/>
          </p:nvPr>
        </p:nvSpPr>
        <p:spPr>
          <a:xfrm>
            <a:off x="5976902" y="3687366"/>
            <a:ext cx="3167100" cy="940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83" name="Google Shape;383;p45"/>
          <p:cNvSpPr txBox="1">
            <a:spLocks noGrp="1"/>
          </p:cNvSpPr>
          <p:nvPr>
            <p:ph type="body" idx="4"/>
          </p:nvPr>
        </p:nvSpPr>
        <p:spPr>
          <a:xfrm>
            <a:off x="0" y="1338146"/>
            <a:ext cx="5962650" cy="2340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16000" tIns="45700" rIns="91425" bIns="45700" anchor="ctr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4" name="Google Shape;384;p45"/>
          <p:cNvSpPr txBox="1">
            <a:spLocks noGrp="1"/>
          </p:cNvSpPr>
          <p:nvPr>
            <p:ph type="body" idx="5"/>
          </p:nvPr>
        </p:nvSpPr>
        <p:spPr>
          <a:xfrm>
            <a:off x="-1" y="879475"/>
            <a:ext cx="9144000" cy="46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144000" tIns="0" rIns="5400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85" name="Google Shape;385;p45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33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86" name="Google Shape;386;p45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3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7" name="Google Shape;387;p45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19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8">
  <p:cSld name="custom layout 8"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46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47" cy="51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390" name="Google Shape;390;p46"/>
          <p:cNvCxnSpPr/>
          <p:nvPr/>
        </p:nvCxnSpPr>
        <p:spPr>
          <a:xfrm>
            <a:off x="-1" y="868209"/>
            <a:ext cx="9144001" cy="0"/>
          </a:xfrm>
          <a:prstGeom prst="straightConnector1">
            <a:avLst/>
          </a:prstGeom>
          <a:noFill/>
          <a:ln w="9525" cap="flat" cmpd="sng">
            <a:solidFill>
              <a:srgbClr val="C4C7C6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91" name="Google Shape;391;p46"/>
          <p:cNvSpPr txBox="1">
            <a:spLocks noGrp="1"/>
          </p:cNvSpPr>
          <p:nvPr>
            <p:ph type="body" idx="1"/>
          </p:nvPr>
        </p:nvSpPr>
        <p:spPr>
          <a:xfrm>
            <a:off x="0" y="4156473"/>
            <a:ext cx="9144000" cy="4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92" name="Google Shape;392;p46"/>
          <p:cNvSpPr>
            <a:spLocks noGrp="1"/>
          </p:cNvSpPr>
          <p:nvPr>
            <p:ph type="pic" idx="2"/>
          </p:nvPr>
        </p:nvSpPr>
        <p:spPr>
          <a:xfrm>
            <a:off x="-1" y="876301"/>
            <a:ext cx="3048000" cy="3281044"/>
          </a:xfrm>
          <a:prstGeom prst="rect">
            <a:avLst/>
          </a:prstGeom>
          <a:noFill/>
          <a:ln>
            <a:noFill/>
          </a:ln>
        </p:spPr>
      </p:sp>
      <p:sp>
        <p:nvSpPr>
          <p:cNvPr id="393" name="Google Shape;393;p46"/>
          <p:cNvSpPr>
            <a:spLocks noGrp="1"/>
          </p:cNvSpPr>
          <p:nvPr>
            <p:ph type="pic" idx="3"/>
          </p:nvPr>
        </p:nvSpPr>
        <p:spPr>
          <a:xfrm>
            <a:off x="6096004" y="876301"/>
            <a:ext cx="3048000" cy="3281045"/>
          </a:xfrm>
          <a:prstGeom prst="rect">
            <a:avLst/>
          </a:prstGeom>
          <a:noFill/>
          <a:ln>
            <a:noFill/>
          </a:ln>
        </p:spPr>
      </p:sp>
      <p:sp>
        <p:nvSpPr>
          <p:cNvPr id="394" name="Google Shape;394;p46"/>
          <p:cNvSpPr txBox="1">
            <a:spLocks noGrp="1"/>
          </p:cNvSpPr>
          <p:nvPr>
            <p:ph type="body" idx="4"/>
          </p:nvPr>
        </p:nvSpPr>
        <p:spPr>
          <a:xfrm>
            <a:off x="3048004" y="876301"/>
            <a:ext cx="3048000" cy="3286125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95" name="Google Shape;395;p46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33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96" name="Google Shape;396;p46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3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7" name="Google Shape;397;p46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19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9">
  <p:cSld name="custom layout 9"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47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47" cy="51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0" name="Google Shape;400;p47"/>
          <p:cNvSpPr>
            <a:spLocks noGrp="1"/>
          </p:cNvSpPr>
          <p:nvPr>
            <p:ph type="pic" idx="2"/>
          </p:nvPr>
        </p:nvSpPr>
        <p:spPr>
          <a:xfrm>
            <a:off x="6096004" y="879475"/>
            <a:ext cx="3048000" cy="1872000"/>
          </a:xfrm>
          <a:prstGeom prst="rect">
            <a:avLst/>
          </a:prstGeom>
          <a:noFill/>
          <a:ln>
            <a:noFill/>
          </a:ln>
        </p:spPr>
      </p:sp>
      <p:sp>
        <p:nvSpPr>
          <p:cNvPr id="401" name="Google Shape;401;p47"/>
          <p:cNvSpPr>
            <a:spLocks noGrp="1"/>
          </p:cNvSpPr>
          <p:nvPr>
            <p:ph type="pic" idx="3"/>
          </p:nvPr>
        </p:nvSpPr>
        <p:spPr>
          <a:xfrm>
            <a:off x="6096004" y="2756056"/>
            <a:ext cx="3048000" cy="1872000"/>
          </a:xfrm>
          <a:prstGeom prst="rect">
            <a:avLst/>
          </a:prstGeom>
          <a:noFill/>
          <a:ln>
            <a:noFill/>
          </a:ln>
        </p:spPr>
      </p:sp>
      <p:sp>
        <p:nvSpPr>
          <p:cNvPr id="402" name="Google Shape;402;p47"/>
          <p:cNvSpPr>
            <a:spLocks noGrp="1"/>
          </p:cNvSpPr>
          <p:nvPr>
            <p:ph type="pic" idx="4"/>
          </p:nvPr>
        </p:nvSpPr>
        <p:spPr>
          <a:xfrm>
            <a:off x="3048008" y="879475"/>
            <a:ext cx="3048000" cy="1872000"/>
          </a:xfrm>
          <a:prstGeom prst="rect">
            <a:avLst/>
          </a:prstGeom>
          <a:noFill/>
          <a:ln>
            <a:noFill/>
          </a:ln>
        </p:spPr>
      </p:sp>
      <p:sp>
        <p:nvSpPr>
          <p:cNvPr id="403" name="Google Shape;403;p47"/>
          <p:cNvSpPr>
            <a:spLocks noGrp="1"/>
          </p:cNvSpPr>
          <p:nvPr>
            <p:ph type="pic" idx="5"/>
          </p:nvPr>
        </p:nvSpPr>
        <p:spPr>
          <a:xfrm>
            <a:off x="3048008" y="2756056"/>
            <a:ext cx="3048000" cy="1872000"/>
          </a:xfrm>
          <a:prstGeom prst="rect">
            <a:avLst/>
          </a:prstGeom>
          <a:noFill/>
          <a:ln>
            <a:noFill/>
          </a:ln>
        </p:spPr>
      </p:sp>
      <p:sp>
        <p:nvSpPr>
          <p:cNvPr id="404" name="Google Shape;404;p47"/>
          <p:cNvSpPr txBox="1">
            <a:spLocks noGrp="1"/>
          </p:cNvSpPr>
          <p:nvPr>
            <p:ph type="body" idx="1"/>
          </p:nvPr>
        </p:nvSpPr>
        <p:spPr>
          <a:xfrm>
            <a:off x="-12" y="2751534"/>
            <a:ext cx="1524000" cy="1872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 Thin"/>
              <a:buNone/>
              <a:defRPr sz="1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5" name="Google Shape;405;p47"/>
          <p:cNvSpPr txBox="1">
            <a:spLocks noGrp="1"/>
          </p:cNvSpPr>
          <p:nvPr>
            <p:ph type="body" idx="6"/>
          </p:nvPr>
        </p:nvSpPr>
        <p:spPr>
          <a:xfrm>
            <a:off x="-1" y="879475"/>
            <a:ext cx="3048000" cy="4683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6" name="Google Shape;406;p47"/>
          <p:cNvSpPr txBox="1">
            <a:spLocks noGrp="1"/>
          </p:cNvSpPr>
          <p:nvPr>
            <p:ph type="body" idx="7"/>
          </p:nvPr>
        </p:nvSpPr>
        <p:spPr>
          <a:xfrm>
            <a:off x="-1" y="1348781"/>
            <a:ext cx="3048000" cy="700800"/>
          </a:xfrm>
          <a:prstGeom prst="rect">
            <a:avLst/>
          </a:prstGeom>
          <a:solidFill>
            <a:srgbClr val="D8D8D8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7" name="Google Shape;407;p47"/>
          <p:cNvSpPr txBox="1">
            <a:spLocks noGrp="1"/>
          </p:cNvSpPr>
          <p:nvPr>
            <p:ph type="body" idx="8"/>
          </p:nvPr>
        </p:nvSpPr>
        <p:spPr>
          <a:xfrm>
            <a:off x="-1" y="2049656"/>
            <a:ext cx="3048000" cy="697500"/>
          </a:xfrm>
          <a:prstGeom prst="rect">
            <a:avLst/>
          </a:prstGeom>
          <a:solidFill>
            <a:srgbClr val="D8D8D8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8" name="Google Shape;408;p47"/>
          <p:cNvSpPr txBox="1">
            <a:spLocks noGrp="1"/>
          </p:cNvSpPr>
          <p:nvPr>
            <p:ph type="body" idx="9"/>
          </p:nvPr>
        </p:nvSpPr>
        <p:spPr>
          <a:xfrm>
            <a:off x="1523999" y="2751534"/>
            <a:ext cx="1524000" cy="1872000"/>
          </a:xfrm>
          <a:prstGeom prst="rect">
            <a:avLst/>
          </a:prstGeom>
          <a:solidFill>
            <a:srgbClr val="D8D8D8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 Thin"/>
              <a:buNone/>
              <a:defRPr sz="1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9" name="Google Shape;409;p47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33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10" name="Google Shape;410;p47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3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1" name="Google Shape;411;p47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19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0">
  <p:cSld name="custom layout 10"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48"/>
          <p:cNvSpPr txBox="1">
            <a:spLocks noGrp="1"/>
          </p:cNvSpPr>
          <p:nvPr>
            <p:ph type="body" idx="1"/>
          </p:nvPr>
        </p:nvSpPr>
        <p:spPr>
          <a:xfrm>
            <a:off x="6857775" y="870347"/>
            <a:ext cx="2286300" cy="126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4" name="Google Shape;414;p48"/>
          <p:cNvSpPr txBox="1">
            <a:spLocks noGrp="1"/>
          </p:cNvSpPr>
          <p:nvPr>
            <p:ph type="body" idx="2"/>
          </p:nvPr>
        </p:nvSpPr>
        <p:spPr>
          <a:xfrm>
            <a:off x="6857775" y="2119209"/>
            <a:ext cx="2286300" cy="126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5" name="Google Shape;415;p48"/>
          <p:cNvSpPr txBox="1">
            <a:spLocks noGrp="1"/>
          </p:cNvSpPr>
          <p:nvPr>
            <p:ph type="body" idx="3"/>
          </p:nvPr>
        </p:nvSpPr>
        <p:spPr>
          <a:xfrm>
            <a:off x="6857775" y="3368072"/>
            <a:ext cx="2286300" cy="126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6" name="Google Shape;416;p48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47" cy="51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7" name="Google Shape;417;p48"/>
          <p:cNvSpPr>
            <a:spLocks noGrp="1"/>
          </p:cNvSpPr>
          <p:nvPr>
            <p:ph type="pic" idx="4"/>
          </p:nvPr>
        </p:nvSpPr>
        <p:spPr>
          <a:xfrm>
            <a:off x="0" y="879476"/>
            <a:ext cx="2286000" cy="3276900"/>
          </a:xfrm>
          <a:prstGeom prst="rect">
            <a:avLst/>
          </a:prstGeom>
          <a:noFill/>
          <a:ln>
            <a:noFill/>
          </a:ln>
        </p:spPr>
      </p:sp>
      <p:sp>
        <p:nvSpPr>
          <p:cNvPr id="418" name="Google Shape;418;p48"/>
          <p:cNvSpPr>
            <a:spLocks noGrp="1"/>
          </p:cNvSpPr>
          <p:nvPr>
            <p:ph type="pic" idx="5"/>
          </p:nvPr>
        </p:nvSpPr>
        <p:spPr>
          <a:xfrm>
            <a:off x="4571960" y="879475"/>
            <a:ext cx="2286000" cy="3276900"/>
          </a:xfrm>
          <a:prstGeom prst="rect">
            <a:avLst/>
          </a:prstGeom>
          <a:noFill/>
          <a:ln>
            <a:noFill/>
          </a:ln>
        </p:spPr>
      </p:sp>
      <p:sp>
        <p:nvSpPr>
          <p:cNvPr id="419" name="Google Shape;419;p48"/>
          <p:cNvSpPr txBox="1">
            <a:spLocks noGrp="1"/>
          </p:cNvSpPr>
          <p:nvPr>
            <p:ph type="body" idx="6"/>
          </p:nvPr>
        </p:nvSpPr>
        <p:spPr>
          <a:xfrm>
            <a:off x="-1" y="4156472"/>
            <a:ext cx="2286000" cy="4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0" name="Google Shape;420;p48"/>
          <p:cNvSpPr txBox="1">
            <a:spLocks noGrp="1"/>
          </p:cNvSpPr>
          <p:nvPr>
            <p:ph type="body" idx="7"/>
          </p:nvPr>
        </p:nvSpPr>
        <p:spPr>
          <a:xfrm>
            <a:off x="4571888" y="4156472"/>
            <a:ext cx="2286000" cy="4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Char char="•"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1" name="Google Shape;421;p48"/>
          <p:cNvSpPr>
            <a:spLocks noGrp="1"/>
          </p:cNvSpPr>
          <p:nvPr>
            <p:ph type="pic" idx="8"/>
          </p:nvPr>
        </p:nvSpPr>
        <p:spPr>
          <a:xfrm>
            <a:off x="2285811" y="879475"/>
            <a:ext cx="2286000" cy="3276900"/>
          </a:xfrm>
          <a:prstGeom prst="rect">
            <a:avLst/>
          </a:prstGeom>
          <a:noFill/>
          <a:ln>
            <a:noFill/>
          </a:ln>
        </p:spPr>
      </p:sp>
      <p:sp>
        <p:nvSpPr>
          <p:cNvPr id="422" name="Google Shape;422;p48"/>
          <p:cNvSpPr txBox="1">
            <a:spLocks noGrp="1"/>
          </p:cNvSpPr>
          <p:nvPr>
            <p:ph type="body" idx="9"/>
          </p:nvPr>
        </p:nvSpPr>
        <p:spPr>
          <a:xfrm>
            <a:off x="2285811" y="4156472"/>
            <a:ext cx="2286000" cy="471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Char char="•"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cxnSp>
        <p:nvCxnSpPr>
          <p:cNvPr id="423" name="Google Shape;423;p48"/>
          <p:cNvCxnSpPr/>
          <p:nvPr/>
        </p:nvCxnSpPr>
        <p:spPr>
          <a:xfrm>
            <a:off x="6857775" y="2119209"/>
            <a:ext cx="2286225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24" name="Google Shape;424;p48"/>
          <p:cNvCxnSpPr/>
          <p:nvPr/>
        </p:nvCxnSpPr>
        <p:spPr>
          <a:xfrm>
            <a:off x="6857775" y="3371937"/>
            <a:ext cx="2286225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425" name="Google Shape;425;p48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33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26" name="Google Shape;426;p48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3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7" name="Google Shape;427;p48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19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1">
  <p:cSld name="custom layout 11"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49"/>
          <p:cNvSpPr txBox="1">
            <a:spLocks noGrp="1"/>
          </p:cNvSpPr>
          <p:nvPr>
            <p:ph type="body" idx="1"/>
          </p:nvPr>
        </p:nvSpPr>
        <p:spPr>
          <a:xfrm>
            <a:off x="6443663" y="870347"/>
            <a:ext cx="2700600" cy="125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30" name="Google Shape;430;p49"/>
          <p:cNvSpPr txBox="1">
            <a:spLocks noGrp="1"/>
          </p:cNvSpPr>
          <p:nvPr>
            <p:ph type="body" idx="2"/>
          </p:nvPr>
        </p:nvSpPr>
        <p:spPr>
          <a:xfrm>
            <a:off x="6443663" y="2135557"/>
            <a:ext cx="2700600" cy="1236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31" name="Google Shape;431;p49"/>
          <p:cNvSpPr txBox="1">
            <a:spLocks noGrp="1"/>
          </p:cNvSpPr>
          <p:nvPr>
            <p:ph type="body" idx="3"/>
          </p:nvPr>
        </p:nvSpPr>
        <p:spPr>
          <a:xfrm>
            <a:off x="6443663" y="3378568"/>
            <a:ext cx="2700600" cy="1245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32" name="Google Shape;432;p49"/>
          <p:cNvSpPr txBox="1">
            <a:spLocks noGrp="1"/>
          </p:cNvSpPr>
          <p:nvPr>
            <p:ph type="body" idx="4"/>
          </p:nvPr>
        </p:nvSpPr>
        <p:spPr>
          <a:xfrm>
            <a:off x="0" y="870347"/>
            <a:ext cx="2700600" cy="125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33" name="Google Shape;433;p49"/>
          <p:cNvSpPr txBox="1">
            <a:spLocks noGrp="1"/>
          </p:cNvSpPr>
          <p:nvPr>
            <p:ph type="body" idx="5"/>
          </p:nvPr>
        </p:nvSpPr>
        <p:spPr>
          <a:xfrm>
            <a:off x="0" y="2135557"/>
            <a:ext cx="2700600" cy="1236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34" name="Google Shape;434;p49"/>
          <p:cNvSpPr txBox="1">
            <a:spLocks noGrp="1"/>
          </p:cNvSpPr>
          <p:nvPr>
            <p:ph type="body" idx="6"/>
          </p:nvPr>
        </p:nvSpPr>
        <p:spPr>
          <a:xfrm>
            <a:off x="0" y="3378568"/>
            <a:ext cx="2700600" cy="1245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35" name="Google Shape;435;p49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47" cy="51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49"/>
          <p:cNvSpPr>
            <a:spLocks noGrp="1"/>
          </p:cNvSpPr>
          <p:nvPr>
            <p:ph type="pic" idx="7"/>
          </p:nvPr>
        </p:nvSpPr>
        <p:spPr>
          <a:xfrm>
            <a:off x="2700338" y="879475"/>
            <a:ext cx="3758100" cy="37449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437" name="Google Shape;437;p49"/>
          <p:cNvCxnSpPr/>
          <p:nvPr/>
        </p:nvCxnSpPr>
        <p:spPr>
          <a:xfrm>
            <a:off x="6443663" y="2119209"/>
            <a:ext cx="2700337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38" name="Google Shape;438;p49"/>
          <p:cNvCxnSpPr/>
          <p:nvPr/>
        </p:nvCxnSpPr>
        <p:spPr>
          <a:xfrm>
            <a:off x="6443663" y="3371937"/>
            <a:ext cx="2700337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39" name="Google Shape;439;p49"/>
          <p:cNvCxnSpPr/>
          <p:nvPr/>
        </p:nvCxnSpPr>
        <p:spPr>
          <a:xfrm>
            <a:off x="-2857" y="2119209"/>
            <a:ext cx="2700337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40" name="Google Shape;440;p49"/>
          <p:cNvCxnSpPr/>
          <p:nvPr/>
        </p:nvCxnSpPr>
        <p:spPr>
          <a:xfrm>
            <a:off x="-2857" y="3371937"/>
            <a:ext cx="2700337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441" name="Google Shape;441;p49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33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42" name="Google Shape;442;p49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3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3" name="Google Shape;443;p49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19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2">
  <p:cSld name="custom layout 12"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50"/>
          <p:cNvSpPr txBox="1">
            <a:spLocks noGrp="1"/>
          </p:cNvSpPr>
          <p:nvPr>
            <p:ph type="body" idx="1"/>
          </p:nvPr>
        </p:nvSpPr>
        <p:spPr>
          <a:xfrm>
            <a:off x="3047996" y="1347787"/>
            <a:ext cx="3048000" cy="81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46" name="Google Shape;446;p50"/>
          <p:cNvSpPr txBox="1">
            <a:spLocks noGrp="1"/>
          </p:cNvSpPr>
          <p:nvPr>
            <p:ph type="body" idx="2"/>
          </p:nvPr>
        </p:nvSpPr>
        <p:spPr>
          <a:xfrm>
            <a:off x="3047996" y="3805237"/>
            <a:ext cx="3048000" cy="81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47" name="Google Shape;447;p50"/>
          <p:cNvSpPr txBox="1">
            <a:spLocks noGrp="1"/>
          </p:cNvSpPr>
          <p:nvPr>
            <p:ph type="body" idx="3"/>
          </p:nvPr>
        </p:nvSpPr>
        <p:spPr>
          <a:xfrm>
            <a:off x="3047996" y="2986087"/>
            <a:ext cx="3048000" cy="81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48" name="Google Shape;448;p50"/>
          <p:cNvSpPr txBox="1">
            <a:spLocks noGrp="1"/>
          </p:cNvSpPr>
          <p:nvPr>
            <p:ph type="body" idx="4"/>
          </p:nvPr>
        </p:nvSpPr>
        <p:spPr>
          <a:xfrm>
            <a:off x="3047996" y="2166937"/>
            <a:ext cx="3048000" cy="81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49" name="Google Shape;449;p50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47" cy="51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0" name="Google Shape;450;p50"/>
          <p:cNvSpPr txBox="1">
            <a:spLocks noGrp="1"/>
          </p:cNvSpPr>
          <p:nvPr>
            <p:ph type="body" idx="5"/>
          </p:nvPr>
        </p:nvSpPr>
        <p:spPr>
          <a:xfrm>
            <a:off x="-1" y="879475"/>
            <a:ext cx="9144000" cy="46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27000" tIns="0" rIns="5400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51" name="Google Shape;451;p50"/>
          <p:cNvSpPr>
            <a:spLocks noGrp="1"/>
          </p:cNvSpPr>
          <p:nvPr>
            <p:ph type="pic" idx="6"/>
          </p:nvPr>
        </p:nvSpPr>
        <p:spPr>
          <a:xfrm>
            <a:off x="-1" y="1347788"/>
            <a:ext cx="3048000" cy="3276600"/>
          </a:xfrm>
          <a:prstGeom prst="rect">
            <a:avLst/>
          </a:prstGeom>
          <a:noFill/>
          <a:ln>
            <a:noFill/>
          </a:ln>
        </p:spPr>
      </p:sp>
      <p:sp>
        <p:nvSpPr>
          <p:cNvPr id="452" name="Google Shape;452;p50"/>
          <p:cNvSpPr>
            <a:spLocks noGrp="1"/>
          </p:cNvSpPr>
          <p:nvPr>
            <p:ph type="pic" idx="7"/>
          </p:nvPr>
        </p:nvSpPr>
        <p:spPr>
          <a:xfrm>
            <a:off x="6096004" y="1347787"/>
            <a:ext cx="3048000" cy="32766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453" name="Google Shape;453;p50"/>
          <p:cNvCxnSpPr/>
          <p:nvPr/>
        </p:nvCxnSpPr>
        <p:spPr>
          <a:xfrm>
            <a:off x="3047996" y="2137497"/>
            <a:ext cx="30480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54" name="Google Shape;454;p50"/>
          <p:cNvCxnSpPr/>
          <p:nvPr/>
        </p:nvCxnSpPr>
        <p:spPr>
          <a:xfrm>
            <a:off x="3047996" y="2987889"/>
            <a:ext cx="30480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55" name="Google Shape;455;p50"/>
          <p:cNvCxnSpPr/>
          <p:nvPr/>
        </p:nvCxnSpPr>
        <p:spPr>
          <a:xfrm>
            <a:off x="3047996" y="3810849"/>
            <a:ext cx="30480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456" name="Google Shape;456;p50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33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57" name="Google Shape;457;p50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3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8" name="Google Shape;458;p50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19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3">
  <p:cSld name="custom layout 13"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51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47" cy="51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1" name="Google Shape;461;p51"/>
          <p:cNvSpPr>
            <a:spLocks noGrp="1"/>
          </p:cNvSpPr>
          <p:nvPr>
            <p:ph type="pic" idx="2"/>
          </p:nvPr>
        </p:nvSpPr>
        <p:spPr>
          <a:xfrm>
            <a:off x="5039917" y="879475"/>
            <a:ext cx="4104000" cy="3744900"/>
          </a:xfrm>
          <a:prstGeom prst="rect">
            <a:avLst/>
          </a:prstGeom>
          <a:noFill/>
          <a:ln>
            <a:noFill/>
          </a:ln>
        </p:spPr>
      </p:sp>
      <p:sp>
        <p:nvSpPr>
          <p:cNvPr id="462" name="Google Shape;462;p51"/>
          <p:cNvSpPr txBox="1">
            <a:spLocks noGrp="1"/>
          </p:cNvSpPr>
          <p:nvPr>
            <p:ph type="body" idx="1"/>
          </p:nvPr>
        </p:nvSpPr>
        <p:spPr>
          <a:xfrm>
            <a:off x="1" y="879475"/>
            <a:ext cx="2700300" cy="1872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63" name="Google Shape;463;p51"/>
          <p:cNvSpPr txBox="1">
            <a:spLocks noGrp="1"/>
          </p:cNvSpPr>
          <p:nvPr>
            <p:ph type="body" idx="3"/>
          </p:nvPr>
        </p:nvSpPr>
        <p:spPr>
          <a:xfrm>
            <a:off x="0" y="2752344"/>
            <a:ext cx="2700300" cy="187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64" name="Google Shape;464;p51"/>
          <p:cNvSpPr>
            <a:spLocks noGrp="1"/>
          </p:cNvSpPr>
          <p:nvPr>
            <p:ph type="pic" idx="4"/>
          </p:nvPr>
        </p:nvSpPr>
        <p:spPr>
          <a:xfrm>
            <a:off x="2700338" y="895692"/>
            <a:ext cx="2339700" cy="1855800"/>
          </a:xfrm>
          <a:prstGeom prst="rect">
            <a:avLst/>
          </a:prstGeom>
          <a:noFill/>
          <a:ln>
            <a:noFill/>
          </a:ln>
        </p:spPr>
      </p:sp>
      <p:sp>
        <p:nvSpPr>
          <p:cNvPr id="465" name="Google Shape;465;p51"/>
          <p:cNvSpPr>
            <a:spLocks noGrp="1"/>
          </p:cNvSpPr>
          <p:nvPr>
            <p:ph type="pic" idx="5"/>
          </p:nvPr>
        </p:nvSpPr>
        <p:spPr>
          <a:xfrm>
            <a:off x="2700338" y="2768544"/>
            <a:ext cx="2339700" cy="1855800"/>
          </a:xfrm>
          <a:prstGeom prst="rect">
            <a:avLst/>
          </a:prstGeom>
          <a:noFill/>
          <a:ln>
            <a:noFill/>
          </a:ln>
        </p:spPr>
      </p:sp>
      <p:sp>
        <p:nvSpPr>
          <p:cNvPr id="466" name="Google Shape;466;p51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33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67" name="Google Shape;467;p51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3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51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19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5">
  <p:cSld name="custom layout 15"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52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47" cy="51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52"/>
          <p:cNvSpPr txBox="1">
            <a:spLocks noGrp="1"/>
          </p:cNvSpPr>
          <p:nvPr>
            <p:ph type="body" idx="1"/>
          </p:nvPr>
        </p:nvSpPr>
        <p:spPr>
          <a:xfrm>
            <a:off x="1350169" y="879480"/>
            <a:ext cx="1350300" cy="124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2" name="Google Shape;472;p52"/>
          <p:cNvSpPr>
            <a:spLocks noGrp="1"/>
          </p:cNvSpPr>
          <p:nvPr>
            <p:ph type="pic" idx="2"/>
          </p:nvPr>
        </p:nvSpPr>
        <p:spPr>
          <a:xfrm>
            <a:off x="2700337" y="895696"/>
            <a:ext cx="3743400" cy="3728700"/>
          </a:xfrm>
          <a:prstGeom prst="rect">
            <a:avLst/>
          </a:prstGeom>
          <a:noFill/>
          <a:ln>
            <a:noFill/>
          </a:ln>
        </p:spPr>
      </p:sp>
      <p:sp>
        <p:nvSpPr>
          <p:cNvPr id="473" name="Google Shape;473;p52"/>
          <p:cNvSpPr txBox="1">
            <a:spLocks noGrp="1"/>
          </p:cNvSpPr>
          <p:nvPr>
            <p:ph type="body" idx="3"/>
          </p:nvPr>
        </p:nvSpPr>
        <p:spPr>
          <a:xfrm>
            <a:off x="1" y="879480"/>
            <a:ext cx="1350300" cy="124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8575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4" name="Google Shape;474;p52"/>
          <p:cNvSpPr txBox="1">
            <a:spLocks noGrp="1"/>
          </p:cNvSpPr>
          <p:nvPr>
            <p:ph type="body" idx="4"/>
          </p:nvPr>
        </p:nvSpPr>
        <p:spPr>
          <a:xfrm>
            <a:off x="1350169" y="2127784"/>
            <a:ext cx="1350300" cy="1248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5" name="Google Shape;475;p52"/>
          <p:cNvSpPr txBox="1">
            <a:spLocks noGrp="1"/>
          </p:cNvSpPr>
          <p:nvPr>
            <p:ph type="body" idx="5"/>
          </p:nvPr>
        </p:nvSpPr>
        <p:spPr>
          <a:xfrm>
            <a:off x="1" y="2127785"/>
            <a:ext cx="1350300" cy="1248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8575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6" name="Google Shape;476;p52"/>
          <p:cNvSpPr txBox="1">
            <a:spLocks noGrp="1"/>
          </p:cNvSpPr>
          <p:nvPr>
            <p:ph type="body" idx="6"/>
          </p:nvPr>
        </p:nvSpPr>
        <p:spPr>
          <a:xfrm>
            <a:off x="1350169" y="3376088"/>
            <a:ext cx="1350300" cy="124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7" name="Google Shape;477;p52"/>
          <p:cNvSpPr txBox="1">
            <a:spLocks noGrp="1"/>
          </p:cNvSpPr>
          <p:nvPr>
            <p:ph type="body" idx="7"/>
          </p:nvPr>
        </p:nvSpPr>
        <p:spPr>
          <a:xfrm>
            <a:off x="1" y="3376089"/>
            <a:ext cx="1350300" cy="124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8575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8" name="Google Shape;478;p52"/>
          <p:cNvSpPr txBox="1">
            <a:spLocks noGrp="1"/>
          </p:cNvSpPr>
          <p:nvPr>
            <p:ph type="body" idx="8"/>
          </p:nvPr>
        </p:nvSpPr>
        <p:spPr>
          <a:xfrm>
            <a:off x="7793832" y="879476"/>
            <a:ext cx="1350300" cy="187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8575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529A43"/>
              </a:buClr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529A43"/>
              </a:buClr>
              <a:buSzPts val="1200"/>
              <a:buChar char="•"/>
              <a:defRPr sz="1200">
                <a:solidFill>
                  <a:srgbClr val="000000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529A43"/>
              </a:buClr>
              <a:buSzPts val="2000"/>
              <a:buNone/>
              <a:defRPr sz="2000">
                <a:solidFill>
                  <a:srgbClr val="000000"/>
                </a:solidFill>
              </a:defRPr>
            </a:lvl3pPr>
            <a:lvl4pPr marL="1828800" lvl="3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529A43"/>
              </a:buClr>
              <a:buSzPts val="1800"/>
              <a:buChar char="•"/>
              <a:defRPr sz="1800">
                <a:solidFill>
                  <a:srgbClr val="000000"/>
                </a:solidFill>
              </a:defRPr>
            </a:lvl4pPr>
            <a:lvl5pPr marL="2286000" lvl="4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529A43"/>
              </a:buClr>
              <a:buSzPts val="1800"/>
              <a:buChar char="•"/>
              <a:defRPr sz="1800">
                <a:solidFill>
                  <a:srgbClr val="000000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79" name="Google Shape;479;p52"/>
          <p:cNvSpPr txBox="1">
            <a:spLocks noGrp="1"/>
          </p:cNvSpPr>
          <p:nvPr>
            <p:ph type="body" idx="9"/>
          </p:nvPr>
        </p:nvSpPr>
        <p:spPr>
          <a:xfrm>
            <a:off x="7793832" y="2763758"/>
            <a:ext cx="1350300" cy="1860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8575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80" name="Google Shape;480;p52"/>
          <p:cNvSpPr txBox="1">
            <a:spLocks noGrp="1"/>
          </p:cNvSpPr>
          <p:nvPr>
            <p:ph type="body" idx="13"/>
          </p:nvPr>
        </p:nvSpPr>
        <p:spPr>
          <a:xfrm>
            <a:off x="6443662" y="879476"/>
            <a:ext cx="1350300" cy="187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81" name="Google Shape;481;p52"/>
          <p:cNvSpPr txBox="1">
            <a:spLocks noGrp="1"/>
          </p:cNvSpPr>
          <p:nvPr>
            <p:ph type="body" idx="14"/>
          </p:nvPr>
        </p:nvSpPr>
        <p:spPr>
          <a:xfrm>
            <a:off x="6443662" y="2763758"/>
            <a:ext cx="1350300" cy="1860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82" name="Google Shape;482;p52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33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83" name="Google Shape;483;p52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3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4" name="Google Shape;484;p52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19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6">
  <p:cSld name="custom layout 16"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53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47" cy="51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7" name="Google Shape;487;p53"/>
          <p:cNvSpPr>
            <a:spLocks noGrp="1"/>
          </p:cNvSpPr>
          <p:nvPr>
            <p:ph type="pic" idx="2"/>
          </p:nvPr>
        </p:nvSpPr>
        <p:spPr>
          <a:xfrm>
            <a:off x="5962650" y="898538"/>
            <a:ext cx="3181387" cy="3744900"/>
          </a:xfrm>
          <a:prstGeom prst="rect">
            <a:avLst/>
          </a:prstGeom>
          <a:noFill/>
          <a:ln>
            <a:noFill/>
          </a:ln>
        </p:spPr>
      </p:sp>
      <p:sp>
        <p:nvSpPr>
          <p:cNvPr id="488" name="Google Shape;488;p53"/>
          <p:cNvSpPr txBox="1">
            <a:spLocks noGrp="1"/>
          </p:cNvSpPr>
          <p:nvPr>
            <p:ph type="body" idx="1"/>
          </p:nvPr>
        </p:nvSpPr>
        <p:spPr>
          <a:xfrm>
            <a:off x="0" y="898538"/>
            <a:ext cx="4085222" cy="46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27000" tIns="0" rIns="5400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Medium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89" name="Google Shape;489;p53"/>
          <p:cNvSpPr txBox="1">
            <a:spLocks noGrp="1"/>
          </p:cNvSpPr>
          <p:nvPr>
            <p:ph type="body" idx="3"/>
          </p:nvPr>
        </p:nvSpPr>
        <p:spPr>
          <a:xfrm>
            <a:off x="0" y="1364457"/>
            <a:ext cx="4081750" cy="3278981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0" name="Google Shape;490;p53"/>
          <p:cNvSpPr txBox="1">
            <a:spLocks noGrp="1"/>
          </p:cNvSpPr>
          <p:nvPr>
            <p:ph type="body" idx="4"/>
          </p:nvPr>
        </p:nvSpPr>
        <p:spPr>
          <a:xfrm>
            <a:off x="4104252" y="898538"/>
            <a:ext cx="1856017" cy="1867522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000"/>
              <a:buNone/>
              <a:defRPr sz="1000"/>
            </a:lvl1pPr>
            <a:lvl2pPr marL="914400" lvl="1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2pPr>
            <a:lvl3pPr marL="1371600" lvl="2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3pPr>
            <a:lvl4pPr marL="1828800" lvl="3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4pPr>
            <a:lvl5pPr marL="2286000" lvl="4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1" name="Google Shape;491;p53"/>
          <p:cNvSpPr txBox="1">
            <a:spLocks noGrp="1"/>
          </p:cNvSpPr>
          <p:nvPr>
            <p:ph type="body" idx="5"/>
          </p:nvPr>
        </p:nvSpPr>
        <p:spPr>
          <a:xfrm>
            <a:off x="4104252" y="2788920"/>
            <a:ext cx="1856017" cy="1854518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000"/>
              <a:buNone/>
              <a:defRPr sz="1000"/>
            </a:lvl1pPr>
            <a:lvl2pPr marL="914400" lvl="1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2pPr>
            <a:lvl3pPr marL="1371600" lvl="2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3pPr>
            <a:lvl4pPr marL="1828800" lvl="3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4pPr>
            <a:lvl5pPr marL="2286000" lvl="4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2" name="Google Shape;492;p53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33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93" name="Google Shape;493;p53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3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4" name="Google Shape;494;p53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19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47" cy="51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  <a:defRPr sz="2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47" cy="37532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09563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275"/>
              <a:buFont typeface="Arial"/>
              <a:buChar char="•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09563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275"/>
              <a:buFont typeface="Arial"/>
              <a:buChar char="•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09563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275"/>
              <a:buFont typeface="Arial"/>
              <a:buChar char="•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09563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275"/>
              <a:buFont typeface="Arial"/>
              <a:buChar char="•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12" name="Google Shape;12;p1"/>
          <p:cNvPicPr preferRelativeResize="0"/>
          <p:nvPr/>
        </p:nvPicPr>
        <p:blipFill rotWithShape="1">
          <a:blip r:embed="rId55">
            <a:alphaModFix/>
          </a:blip>
          <a:srcRect/>
          <a:stretch/>
        </p:blipFill>
        <p:spPr>
          <a:xfrm>
            <a:off x="7883544" y="4733778"/>
            <a:ext cx="928177" cy="285878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  <p:sldLayoutId id="2147483693" r:id="rId46"/>
    <p:sldLayoutId id="2147483694" r:id="rId47"/>
    <p:sldLayoutId id="2147483695" r:id="rId48"/>
    <p:sldLayoutId id="2147483696" r:id="rId49"/>
    <p:sldLayoutId id="2147483697" r:id="rId50"/>
    <p:sldLayoutId id="2147483698" r:id="rId51"/>
    <p:sldLayoutId id="2147483699" r:id="rId52"/>
    <p:sldLayoutId id="2147483700" r:id="rId5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  <p15:guide id="3" pos="213">
          <p15:clr>
            <a:srgbClr val="F26B43"/>
          </p15:clr>
        </p15:guide>
        <p15:guide id="4" pos="5537">
          <p15:clr>
            <a:srgbClr val="F26B43"/>
          </p15:clr>
        </p15:guide>
        <p15:guide id="5" orient="horz" pos="170">
          <p15:clr>
            <a:srgbClr val="F26B43"/>
          </p15:clr>
        </p15:guide>
        <p15:guide id="6" orient="horz" pos="2925">
          <p15:clr>
            <a:srgbClr val="F26B43"/>
          </p15:clr>
        </p15:guide>
        <p15:guide id="7" pos="1988">
          <p15:clr>
            <a:srgbClr val="F26B43"/>
          </p15:clr>
        </p15:guide>
        <p15:guide id="8" pos="375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li.do/features-google-slides?payload=eyJrZWVwUG9sbEFjdGl2ZSI6ZmFsc2UsInBvbGxVdWlkIjoiZWNlYTI4MjQtY2FjZS00MGNlLTk3NTEtYTE2MTY4MTljNjZmIiwicHJlc2VudGF0aW9uSWQiOiIxYjBZM3cxX2dZSWwycXh2ajJRdXE3VkhhbERRdGNOVElLdGVBTTJvdTY4YyIsInNsaWRlSWQiOiJTTElERVNfQVBJNzE4MjUxNDE2XzAiLCJ0aW1lbGluZSI6W3sic2hvd1Jlc3VsdHMiOmZhbHNlLCJwb2xsUXVlc3Rpb25VdWlkIjoiOWEyYmVlN2QtNTUyNS00YjkzLWExN2EtYWU5NzVmY2IyNGJjIn1dLCJ0eXBlIjoiU2xpZG9Qb2xsIn0%3D" TargetMode="External"/><Relationship Id="rId3" Type="http://schemas.openxmlformats.org/officeDocument/2006/relationships/hyperlink" Target="https://www.slido.com/support/gsi/how-to-change-the-design" TargetMode="Externa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3.xml"/><Relationship Id="rId6" Type="http://schemas.openxmlformats.org/officeDocument/2006/relationships/hyperlink" Target="https://chrome.google.com/webstore/detail/slido/dhhclfjehmpacimcdknijodpjpmppkii" TargetMode="External"/><Relationship Id="rId5" Type="http://schemas.openxmlformats.org/officeDocument/2006/relationships/image" Target="../media/image23.png"/><Relationship Id="rId4" Type="http://schemas.openxmlformats.org/officeDocument/2006/relationships/hyperlink" Target="https://www.sli.do/features-google-slides?interaction-type=V29yZENsb3Vk" TargetMode="External"/><Relationship Id="rId9" Type="http://schemas.openxmlformats.org/officeDocument/2006/relationships/image" Target="../media/image2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igv.org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1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li.do/features-google-slides?payload=eyJwb2xsUXVlc3Rpb25VdWlkIjoiYjFkMmRjMWMtNGI1Yy00NGQ3LWFkZWItZTE0N2UyMDkzNjA1IiwicG9sbFV1aWQiOiI3MTQxNjdhYi0wNDVhLTRjODktYTNjMi02ZGFhM2IzN2YxNjEiLCJwcmVzZW50YXRpb25JZCI6IjFiMFkzdzFfZ1lJbDJxeHZqMlF1cTdWSGFsRFF0Y05USUt0ZUFNMm91NjhjIiwic2xpZGVJZCI6IlNMSURFU19BUEkyMTc1NjMyMTBfMCIsInRpbWVsaW5lIjpbeyJzY3JlZW4iOiJRdWl6Sm9pbmluZyJ9LHsicG9sbFF1ZXN0aW9uVXVpZCI6ImIxZDJkYzFjLTRiNWMtNDRkNy1hZGViLWUxNDdlMjA5MzYwNSIsInZvdGluZ0xvY2tlZCI6ZmFsc2UsInNob3dSZXN1bHRzIjpmYWxzZSwic2hvd0NvcnJlY3RBbnN3ZXJzIjpmYWxzZX0seyJzaG93Q29ycmVjdEFuc3dlcnMiOmZhbHNlLCJwb2xsUXVlc3Rpb25VdWlkIjoiYjFkMmRjMWMtNGI1Yy00NGQ3LWFkZWItZTE0N2UyMDkzNjA1Iiwidm90aW5nTG9ja2VkIjp0cnVlLCJzaG93UmVzdWx0cyI6dHJ1ZX0seyJ2b3RpbmdMb2NrZWQiOnRydWUsInBvbGxRdWVzdGlvblV1aWQiOiJiMWQyZGMxYy00YjVjLTQ0ZDctYWRlYi1lMTQ3ZTIwOTM2MDUiLCJzaG93Q29ycmVjdEFuc3dlcnMiOnRydWUsInNob3dSZXN1bHRzIjp0cnVlfV0sInR5cGUiOiJTbGlkb1BvbGwifQ%3D%3D" TargetMode="External"/><Relationship Id="rId3" Type="http://schemas.openxmlformats.org/officeDocument/2006/relationships/hyperlink" Target="https://www.slido.com/support/gsi/how-to-change-the-design" TargetMode="Externa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3.xml"/><Relationship Id="rId6" Type="http://schemas.openxmlformats.org/officeDocument/2006/relationships/hyperlink" Target="https://chrome.google.com/webstore/detail/slido/dhhclfjehmpacimcdknijodpjpmppkii" TargetMode="External"/><Relationship Id="rId5" Type="http://schemas.openxmlformats.org/officeDocument/2006/relationships/image" Target="../media/image42.png"/><Relationship Id="rId4" Type="http://schemas.openxmlformats.org/officeDocument/2006/relationships/hyperlink" Target="https://www.sli.do/features-google-slides?interaction-type=UXVpeg%3D%3D" TargetMode="External"/><Relationship Id="rId9" Type="http://schemas.openxmlformats.org/officeDocument/2006/relationships/image" Target="../media/image2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1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li.do/features-google-slides?payload=eyJwb2xsUXVlc3Rpb25VdWlkIjoiZDNhMGNiOGItNzZhZS00NDVjLWIzMDMtMzI5ZGRhY2M4MTlmIiwicG9sbFV1aWQiOiI3MTQxNjdhYi0wNDVhLTRjODktYTNjMi02ZGFhM2IzN2YxNjEiLCJwcmVzZW50YXRpb25JZCI6IjFiMFkzdzFfZ1lJbDJxeHZqMlF1cTdWSGFsRFF0Y05USUt0ZUFNMm91NjhjIiwic2xpZGVJZCI6IlNMSURFU19BUEkyMDE5NzUyNTc3XzAiLCJ0aW1lbGluZSI6W3sic2NyZWVuIjoiUXVpekdldFJlYWR5In0seyJwb2xsUXVlc3Rpb25VdWlkIjoiZDNhMGNiOGItNzZhZS00NDVjLWIzMDMtMzI5ZGRhY2M4MTlmIiwic2hvd0NvcnJlY3RBbnN3ZXJzIjpmYWxzZSwidm90aW5nTG9ja2VkIjpmYWxzZSwic2hvd1Jlc3VsdHMiOmZhbHNlfSx7InNob3dDb3JyZWN0QW5zd2VycyI6ZmFsc2UsInZvdGluZ0xvY2tlZCI6dHJ1ZSwic2hvd1Jlc3VsdHMiOnRydWUsInBvbGxRdWVzdGlvblV1aWQiOiJkM2EwY2I4Yi03NmFlLTQ0NWMtYjMwMy0zMjlkZGFjYzgxOWYifSx7InBvbGxRdWVzdGlvblV1aWQiOiJkM2EwY2I4Yi03NmFlLTQ0NWMtYjMwMy0zMjlkZGFjYzgxOWYiLCJzaG93Q29ycmVjdEFuc3dlcnMiOnRydWUsInZvdGluZ0xvY2tlZCI6dHJ1ZSwic2hvd1Jlc3VsdHMiOnRydWV9XSwidHlwZSI6IlNsaWRvUG9sbCJ9" TargetMode="External"/><Relationship Id="rId3" Type="http://schemas.openxmlformats.org/officeDocument/2006/relationships/hyperlink" Target="https://www.slido.com/support/gsi/how-to-change-the-design" TargetMode="Externa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3.xml"/><Relationship Id="rId6" Type="http://schemas.openxmlformats.org/officeDocument/2006/relationships/hyperlink" Target="https://chrome.google.com/webstore/detail/slido/dhhclfjehmpacimcdknijodpjpmppkii" TargetMode="External"/><Relationship Id="rId5" Type="http://schemas.openxmlformats.org/officeDocument/2006/relationships/image" Target="../media/image42.png"/><Relationship Id="rId4" Type="http://schemas.openxmlformats.org/officeDocument/2006/relationships/hyperlink" Target="https://www.sli.do/features-google-slides?interaction-type=UXVpeg%3D%3D" TargetMode="External"/><Relationship Id="rId9" Type="http://schemas.openxmlformats.org/officeDocument/2006/relationships/image" Target="../media/image2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1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li.do/features-google-slides?payload=eyJwb2xsUXVlc3Rpb25VdWlkIjoiYmNkMTdlZTgtYWY5OS00MTRmLThmOTAtYWFmNDgzZjBmZjE3IiwicG9sbFV1aWQiOiI3MTQxNjdhYi0wNDVhLTRjODktYTNjMi02ZGFhM2IzN2YxNjEiLCJwcmVzZW50YXRpb25JZCI6IjFiMFkzdzFfZ1lJbDJxeHZqMlF1cTdWSGFsRFF0Y05USUt0ZUFNMm91NjhjIiwic2xpZGVJZCI6IlNMSURFU19BUEkxNTY5MjExMjRfMCIsInRpbWVsaW5lIjpbeyJzY3JlZW4iOiJRdWl6R2V0UmVhZHkifSx7InZvdGluZ0xvY2tlZCI6ZmFsc2UsInNob3dDb3JyZWN0QW5zd2VycyI6ZmFsc2UsInBvbGxRdWVzdGlvblV1aWQiOiJiY2QxN2VlOC1hZjk5LTQxNGYtOGY5MC1hYWY0ODNmMGZmMTciLCJzaG93UmVzdWx0cyI6ZmFsc2V9LHsicG9sbFF1ZXN0aW9uVXVpZCI6ImJjZDE3ZWU4LWFmOTktNDE0Zi04ZjkwLWFhZjQ4M2YwZmYxNyIsInZvdGluZ0xvY2tlZCI6dHJ1ZSwic2hvd1Jlc3VsdHMiOnRydWUsInNob3dDb3JyZWN0QW5zd2VycyI6ZmFsc2V9LHsidm90aW5nTG9ja2VkIjp0cnVlLCJwb2xsUXVlc3Rpb25VdWlkIjoiYmNkMTdlZTgtYWY5OS00MTRmLThmOTAtYWFmNDgzZjBmZjE3Iiwic2hvd0NvcnJlY3RBbnN3ZXJzIjp0cnVlLCJzaG93UmVzdWx0cyI6dHJ1ZX1dLCJ0eXBlIjoiU2xpZG9Qb2xsIn0%3D" TargetMode="External"/><Relationship Id="rId3" Type="http://schemas.openxmlformats.org/officeDocument/2006/relationships/hyperlink" Target="https://www.slido.com/support/gsi/how-to-change-the-design" TargetMode="Externa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3.xml"/><Relationship Id="rId6" Type="http://schemas.openxmlformats.org/officeDocument/2006/relationships/hyperlink" Target="https://chrome.google.com/webstore/detail/slido/dhhclfjehmpacimcdknijodpjpmppkii" TargetMode="External"/><Relationship Id="rId5" Type="http://schemas.openxmlformats.org/officeDocument/2006/relationships/image" Target="../media/image42.png"/><Relationship Id="rId4" Type="http://schemas.openxmlformats.org/officeDocument/2006/relationships/hyperlink" Target="https://www.sli.do/features-google-slides?interaction-type=UXVpeg%3D%3D" TargetMode="External"/><Relationship Id="rId9" Type="http://schemas.openxmlformats.org/officeDocument/2006/relationships/image" Target="../media/image2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1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li.do/features-google-slides?payload=eyJwb2xsUXVlc3Rpb25VdWlkIjoiODcwYzdiOWEtNWZiYy00NmY1LTliZDEtMmEzZDViNTQxM2ZiIiwicG9sbFV1aWQiOiI3MTQxNjdhYi0wNDVhLTRjODktYTNjMi02ZGFhM2IzN2YxNjEiLCJwcmVzZW50YXRpb25JZCI6IjFiMFkzdzFfZ1lJbDJxeHZqMlF1cTdWSGFsRFF0Y05USUt0ZUFNMm91NjhjIiwic2xpZGVJZCI6IlNMSURFU19BUEkxODc1MTcxNTU0XzAiLCJ0aW1lbGluZSI6W3sic2NyZWVuIjoiUXVpekdldFJlYWR5In0seyJ2b3RpbmdMb2NrZWQiOmZhbHNlLCJwb2xsUXVlc3Rpb25VdWlkIjoiODcwYzdiOWEtNWZiYy00NmY1LTliZDEtMmEzZDViNTQxM2ZiIiwic2hvd0NvcnJlY3RBbnN3ZXJzIjpmYWxzZSwic2hvd1Jlc3VsdHMiOmZhbHNlfSx7InBvbGxRdWVzdGlvblV1aWQiOiI4NzBjN2I5YS01ZmJjLTQ2ZjUtOWJkMS0yYTNkNWI1NDEzZmIiLCJzaG93UmVzdWx0cyI6dHJ1ZSwic2hvd0NvcnJlY3RBbnN3ZXJzIjpmYWxzZSwidm90aW5nTG9ja2VkIjp0cnVlfSx7InNob3dDb3JyZWN0QW5zd2VycyI6dHJ1ZSwic2hvd1Jlc3VsdHMiOnRydWUsInZvdGluZ0xvY2tlZCI6dHJ1ZSwicG9sbFF1ZXN0aW9uVXVpZCI6Ijg3MGM3YjlhLTVmYmMtNDZmNS05YmQxLTJhM2Q1YjU0MTNmYiJ9XSwidHlwZSI6IlNsaWRvUG9sbCJ9" TargetMode="External"/><Relationship Id="rId3" Type="http://schemas.openxmlformats.org/officeDocument/2006/relationships/hyperlink" Target="https://www.slido.com/support/gsi/how-to-change-the-design" TargetMode="Externa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3.xml"/><Relationship Id="rId6" Type="http://schemas.openxmlformats.org/officeDocument/2006/relationships/hyperlink" Target="https://chrome.google.com/webstore/detail/slido/dhhclfjehmpacimcdknijodpjpmppkii" TargetMode="External"/><Relationship Id="rId5" Type="http://schemas.openxmlformats.org/officeDocument/2006/relationships/image" Target="../media/image42.png"/><Relationship Id="rId4" Type="http://schemas.openxmlformats.org/officeDocument/2006/relationships/hyperlink" Target="https://www.sli.do/features-google-slides?interaction-type=UXVpeg%3D%3D" TargetMode="External"/><Relationship Id="rId9" Type="http://schemas.openxmlformats.org/officeDocument/2006/relationships/image" Target="../media/image2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1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li.do/features-google-slides?payload=eyJwb2xsUXVlc3Rpb25VdWlkIjoiNzg3N2EzMzAtZGUxMi00YmVhLTlmZWQtMGJjY2UwMzJhYzc3IiwicG9sbFV1aWQiOiI3MTQxNjdhYi0wNDVhLTRjODktYTNjMi02ZGFhM2IzN2YxNjEiLCJwcmVzZW50YXRpb25JZCI6IjFiMFkzdzFfZ1lJbDJxeHZqMlF1cTdWSGFsRFF0Y05USUt0ZUFNMm91NjhjIiwic2xpZGVJZCI6IlNMSURFU19BUEkzMjkyMzg0MzFfMCIsInRpbWVsaW5lIjpbeyJzY3JlZW4iOiJRdWl6R2V0UmVhZHkifSx7InZvdGluZ0xvY2tlZCI6ZmFsc2UsInNob3dDb3JyZWN0QW5zd2VycyI6ZmFsc2UsInBvbGxRdWVzdGlvblV1aWQiOiI3ODc3YTMzMC1kZTEyLTRiZWEtOWZlZC0wYmNjZTAzMmFjNzciLCJzaG93UmVzdWx0cyI6ZmFsc2V9LHsic2hvd0NvcnJlY3RBbnN3ZXJzIjpmYWxzZSwidm90aW5nTG9ja2VkIjp0cnVlLCJwb2xsUXVlc3Rpb25VdWlkIjoiNzg3N2EzMzAtZGUxMi00YmVhLTlmZWQtMGJjY2UwMzJhYzc3Iiwic2hvd1Jlc3VsdHMiOnRydWV9LHsicG9sbFF1ZXN0aW9uVXVpZCI6Ijc4NzdhMzMwLWRlMTItNGJlYS05ZmVkLTBiY2NlMDMyYWM3NyIsInNob3dDb3JyZWN0QW5zd2VycyI6dHJ1ZSwidm90aW5nTG9ja2VkIjp0cnVlLCJzaG93UmVzdWx0cyI6dHJ1ZX0seyJ2b3RpbmdMb2NrZWQiOnRydWUsInBvbGxRdWVzdGlvblV1aWQiOiI3ODc3YTMzMC1kZTEyLTRiZWEtOWZlZC0wYmNjZTAzMmFjNzciLCJzY3JlZW4iOiJRdWl6TGVhZGVyYm9hcmQiLCJzaG93Q29ycmVjdEFuc3dlcnMiOnRydWUsInNob3dSZXN1bHRzIjp0cnVlfV0sInR5cGUiOiJTbGlkb1BvbGwifQ%3D%3D" TargetMode="External"/><Relationship Id="rId3" Type="http://schemas.openxmlformats.org/officeDocument/2006/relationships/hyperlink" Target="https://www.slido.com/support/gsi/how-to-change-the-design" TargetMode="Externa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3.xml"/><Relationship Id="rId6" Type="http://schemas.openxmlformats.org/officeDocument/2006/relationships/hyperlink" Target="https://chrome.google.com/webstore/detail/slido/dhhclfjehmpacimcdknijodpjpmppkii" TargetMode="External"/><Relationship Id="rId5" Type="http://schemas.openxmlformats.org/officeDocument/2006/relationships/image" Target="../media/image42.png"/><Relationship Id="rId4" Type="http://schemas.openxmlformats.org/officeDocument/2006/relationships/hyperlink" Target="https://www.sli.do/features-google-slides?interaction-type=UXVpeg%3D%3D" TargetMode="External"/><Relationship Id="rId9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0" name="Google Shape;500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70060" y="1574"/>
            <a:ext cx="4273939" cy="3280142"/>
          </a:xfrm>
          <a:prstGeom prst="rect">
            <a:avLst/>
          </a:prstGeom>
          <a:noFill/>
          <a:ln>
            <a:noFill/>
          </a:ln>
        </p:spPr>
      </p:pic>
      <p:pic>
        <p:nvPicPr>
          <p:cNvPr id="501" name="Google Shape;501;p5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sp>
        <p:nvSpPr>
          <p:cNvPr id="502" name="Google Shape;502;p55"/>
          <p:cNvSpPr txBox="1"/>
          <p:nvPr/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</a:pPr>
            <a:r>
              <a:rPr lang="en-GB" sz="3000" b="1">
                <a:solidFill>
                  <a:srgbClr val="FFFFFF"/>
                </a:solidFill>
              </a:rPr>
              <a:t>Regulatory Genomics and Epigenomic Evidence</a:t>
            </a:r>
            <a:endParaRPr/>
          </a:p>
        </p:txBody>
      </p:sp>
      <p:sp>
        <p:nvSpPr>
          <p:cNvPr id="503" name="Google Shape;503;p55"/>
          <p:cNvSpPr txBox="1"/>
          <p:nvPr/>
        </p:nvSpPr>
        <p:spPr>
          <a:xfrm>
            <a:off x="640557" y="2310299"/>
            <a:ext cx="50100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50"/>
              <a:buFont typeface="Arial"/>
              <a:buNone/>
            </a:pPr>
            <a:r>
              <a:rPr lang="en-GB" sz="1650" b="1">
                <a:solidFill>
                  <a:schemeClr val="lt1"/>
                </a:solidFill>
              </a:rPr>
              <a:t>Session 1</a:t>
            </a:r>
            <a:endParaRPr sz="165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p55"/>
          <p:cNvSpPr txBox="1"/>
          <p:nvPr/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None/>
            </a:pPr>
            <a:r>
              <a:rPr lang="en-GB" sz="1800" b="1">
                <a:solidFill>
                  <a:schemeClr val="dk2"/>
                </a:solidFill>
              </a:rPr>
              <a:t>Gabriela A. Merino - Garth Ilsley</a:t>
            </a:r>
            <a:endParaRPr sz="1800" b="1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55"/>
          <p:cNvSpPr txBox="1"/>
          <p:nvPr/>
        </p:nvSpPr>
        <p:spPr>
          <a:xfrm>
            <a:off x="640548" y="3896000"/>
            <a:ext cx="1884000" cy="8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</a:pPr>
            <a:r>
              <a:rPr lang="en-GB" sz="1200" b="1">
                <a:solidFill>
                  <a:schemeClr val="dk1"/>
                </a:solidFill>
              </a:rPr>
              <a:t>Senior Bioinformatician, Ensembl Regulation, EMBL-EBI</a:t>
            </a:r>
            <a:endParaRPr/>
          </a:p>
        </p:txBody>
      </p:sp>
      <p:sp>
        <p:nvSpPr>
          <p:cNvPr id="506" name="Google Shape;506;p55"/>
          <p:cNvSpPr txBox="1"/>
          <p:nvPr/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1"/>
                </a:solidFill>
              </a:rPr>
              <a:t>03/09/2026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7" name="Google Shape;507;p5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55"/>
          <p:cNvSpPr txBox="1"/>
          <p:nvPr/>
        </p:nvSpPr>
        <p:spPr>
          <a:xfrm>
            <a:off x="2850173" y="3896000"/>
            <a:ext cx="2259600" cy="5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200"/>
              <a:buFont typeface="Arial"/>
              <a:buNone/>
            </a:pPr>
            <a:r>
              <a:rPr lang="en-GB" sz="1200" b="1"/>
              <a:t>Project Lead,</a:t>
            </a:r>
            <a:endParaRPr sz="1200" b="1"/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200"/>
              <a:buFont typeface="Arial"/>
              <a:buNone/>
            </a:pPr>
            <a:r>
              <a:rPr lang="en-GB" sz="1200" b="1"/>
              <a:t>Ensembl Regulation</a:t>
            </a:r>
            <a:endParaRPr sz="1200" b="1"/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200"/>
              <a:buFont typeface="Arial"/>
              <a:buNone/>
            </a:pPr>
            <a:r>
              <a:rPr lang="en-GB" sz="1200" b="1">
                <a:solidFill>
                  <a:srgbClr val="000000"/>
                </a:solidFill>
              </a:rPr>
              <a:t>EMBL-EBI</a:t>
            </a:r>
            <a:endParaRPr/>
          </a:p>
        </p:txBody>
      </p:sp>
      <p:sp>
        <p:nvSpPr>
          <p:cNvPr id="509" name="Google Shape;509;p55"/>
          <p:cNvSpPr txBox="1"/>
          <p:nvPr/>
        </p:nvSpPr>
        <p:spPr>
          <a:xfrm>
            <a:off x="640550" y="2755532"/>
            <a:ext cx="53220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>
                <a:solidFill>
                  <a:srgbClr val="FFFFFF"/>
                </a:solidFill>
              </a:rPr>
              <a:t>T6: Making the most of cis-regulatory annotations for genome-scale analysis</a:t>
            </a:r>
            <a:endParaRPr sz="1000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56"/>
          <p:cNvSpPr/>
          <p:nvPr/>
        </p:nvSpPr>
        <p:spPr>
          <a:xfrm>
            <a:off x="3728375" y="3559762"/>
            <a:ext cx="3822600" cy="6435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5" name="Google Shape;515;p56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-GB"/>
              <a:t>Session map</a:t>
            </a:r>
            <a:endParaRPr/>
          </a:p>
        </p:txBody>
      </p:sp>
      <p:grpSp>
        <p:nvGrpSpPr>
          <p:cNvPr id="516" name="Google Shape;516;p56"/>
          <p:cNvGrpSpPr/>
          <p:nvPr/>
        </p:nvGrpSpPr>
        <p:grpSpPr>
          <a:xfrm>
            <a:off x="1593000" y="2904887"/>
            <a:ext cx="5957975" cy="643500"/>
            <a:chOff x="1593000" y="2322568"/>
            <a:chExt cx="5957975" cy="643500"/>
          </a:xfrm>
        </p:grpSpPr>
        <p:sp>
          <p:nvSpPr>
            <p:cNvPr id="517" name="Google Shape;517;p56"/>
            <p:cNvSpPr/>
            <p:nvPr/>
          </p:nvSpPr>
          <p:spPr>
            <a:xfrm>
              <a:off x="3728375" y="2322568"/>
              <a:ext cx="3822600" cy="64350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56"/>
            <p:cNvSpPr/>
            <p:nvPr/>
          </p:nvSpPr>
          <p:spPr>
            <a:xfrm flipH="1">
              <a:off x="2283025" y="2322575"/>
              <a:ext cx="1844400" cy="642600"/>
            </a:xfrm>
            <a:prstGeom prst="rect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56"/>
            <p:cNvSpPr/>
            <p:nvPr/>
          </p:nvSpPr>
          <p:spPr>
            <a:xfrm rot="-5400000">
              <a:off x="3501574" y="1934671"/>
              <a:ext cx="643356" cy="1419149"/>
            </a:xfrm>
            <a:prstGeom prst="flowChartOffpageConnector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56"/>
            <p:cNvSpPr/>
            <p:nvPr/>
          </p:nvSpPr>
          <p:spPr>
            <a:xfrm>
              <a:off x="2342625" y="2399951"/>
              <a:ext cx="1940700" cy="49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Genome-wide detection of CREs</a:t>
              </a:r>
              <a:endParaRPr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1" name="Google Shape;521;p56"/>
            <p:cNvSpPr/>
            <p:nvPr/>
          </p:nvSpPr>
          <p:spPr>
            <a:xfrm>
              <a:off x="1593000" y="2322568"/>
              <a:ext cx="690000" cy="642300"/>
            </a:xfrm>
            <a:prstGeom prst="rect">
              <a:avLst/>
            </a:prstGeom>
            <a:solidFill>
              <a:srgbClr val="0B7743"/>
            </a:solidFill>
            <a:ln>
              <a:noFill/>
            </a:ln>
            <a:effectLst>
              <a:outerShdw blurRad="71438" dist="28575" dir="2700000" algn="bl" rotWithShape="0">
                <a:srgbClr val="000000">
                  <a:alpha val="17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56"/>
            <p:cNvSpPr/>
            <p:nvPr/>
          </p:nvSpPr>
          <p:spPr>
            <a:xfrm>
              <a:off x="1593000" y="2322575"/>
              <a:ext cx="690000" cy="642600"/>
            </a:xfrm>
            <a:prstGeom prst="rect">
              <a:avLst/>
            </a:prstGeom>
            <a:solidFill>
              <a:srgbClr val="0C814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600">
                <a:solidFill>
                  <a:srgbClr val="FFFFFF"/>
                </a:solidFill>
                <a:latin typeface="Roboto Thin"/>
                <a:ea typeface="Roboto Thin"/>
                <a:cs typeface="Roboto Thin"/>
                <a:sym typeface="Roboto Thin"/>
              </a:endParaRPr>
            </a:p>
          </p:txBody>
        </p:sp>
        <p:sp>
          <p:nvSpPr>
            <p:cNvPr id="523" name="Google Shape;523;p56"/>
            <p:cNvSpPr/>
            <p:nvPr/>
          </p:nvSpPr>
          <p:spPr>
            <a:xfrm>
              <a:off x="4387850" y="2323750"/>
              <a:ext cx="2971200" cy="64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Commonly-used strategies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CREs catalogues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24" name="Google Shape;524;p56"/>
          <p:cNvGrpSpPr/>
          <p:nvPr/>
        </p:nvGrpSpPr>
        <p:grpSpPr>
          <a:xfrm>
            <a:off x="1593000" y="2249994"/>
            <a:ext cx="5957975" cy="643500"/>
            <a:chOff x="1593000" y="2322568"/>
            <a:chExt cx="5957975" cy="643500"/>
          </a:xfrm>
        </p:grpSpPr>
        <p:sp>
          <p:nvSpPr>
            <p:cNvPr id="525" name="Google Shape;525;p56"/>
            <p:cNvSpPr/>
            <p:nvPr/>
          </p:nvSpPr>
          <p:spPr>
            <a:xfrm>
              <a:off x="3728375" y="2322568"/>
              <a:ext cx="3822600" cy="64350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56"/>
            <p:cNvSpPr/>
            <p:nvPr/>
          </p:nvSpPr>
          <p:spPr>
            <a:xfrm flipH="1">
              <a:off x="2283025" y="2322575"/>
              <a:ext cx="1844400" cy="642600"/>
            </a:xfrm>
            <a:prstGeom prst="rect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56"/>
            <p:cNvSpPr/>
            <p:nvPr/>
          </p:nvSpPr>
          <p:spPr>
            <a:xfrm rot="-5400000">
              <a:off x="3501574" y="1934671"/>
              <a:ext cx="643356" cy="1419149"/>
            </a:xfrm>
            <a:prstGeom prst="flowChartOffpageConnector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56"/>
            <p:cNvSpPr/>
            <p:nvPr/>
          </p:nvSpPr>
          <p:spPr>
            <a:xfrm>
              <a:off x="2342625" y="2399951"/>
              <a:ext cx="1940700" cy="49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Epigenomic evidence</a:t>
              </a:r>
              <a:endParaRPr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9" name="Google Shape;529;p56"/>
            <p:cNvSpPr/>
            <p:nvPr/>
          </p:nvSpPr>
          <p:spPr>
            <a:xfrm>
              <a:off x="1593000" y="2322568"/>
              <a:ext cx="690000" cy="642300"/>
            </a:xfrm>
            <a:prstGeom prst="rect">
              <a:avLst/>
            </a:prstGeom>
            <a:solidFill>
              <a:srgbClr val="0B7743"/>
            </a:solidFill>
            <a:ln>
              <a:noFill/>
            </a:ln>
            <a:effectLst>
              <a:outerShdw blurRad="71438" dist="28575" dir="2700000" algn="bl" rotWithShape="0">
                <a:srgbClr val="000000">
                  <a:alpha val="17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56"/>
            <p:cNvSpPr/>
            <p:nvPr/>
          </p:nvSpPr>
          <p:spPr>
            <a:xfrm>
              <a:off x="1593000" y="2322575"/>
              <a:ext cx="690000" cy="642600"/>
            </a:xfrm>
            <a:prstGeom prst="rect">
              <a:avLst/>
            </a:prstGeom>
            <a:solidFill>
              <a:srgbClr val="0C814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600">
                <a:solidFill>
                  <a:srgbClr val="FFFFFF"/>
                </a:solidFill>
                <a:latin typeface="Roboto Thin"/>
                <a:ea typeface="Roboto Thin"/>
                <a:cs typeface="Roboto Thin"/>
                <a:sym typeface="Roboto Thin"/>
              </a:endParaRPr>
            </a:p>
          </p:txBody>
        </p:sp>
        <p:sp>
          <p:nvSpPr>
            <p:cNvPr id="531" name="Google Shape;531;p56"/>
            <p:cNvSpPr/>
            <p:nvPr/>
          </p:nvSpPr>
          <p:spPr>
            <a:xfrm>
              <a:off x="4387850" y="2323750"/>
              <a:ext cx="2971200" cy="64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Large-scale community efforts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Evidence useful for defining regulatory annotation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32" name="Google Shape;532;p56"/>
          <p:cNvGrpSpPr/>
          <p:nvPr/>
        </p:nvGrpSpPr>
        <p:grpSpPr>
          <a:xfrm>
            <a:off x="1593000" y="1595135"/>
            <a:ext cx="5957975" cy="643500"/>
            <a:chOff x="1593000" y="2322568"/>
            <a:chExt cx="5957975" cy="643500"/>
          </a:xfrm>
        </p:grpSpPr>
        <p:sp>
          <p:nvSpPr>
            <p:cNvPr id="533" name="Google Shape;533;p56"/>
            <p:cNvSpPr/>
            <p:nvPr/>
          </p:nvSpPr>
          <p:spPr>
            <a:xfrm>
              <a:off x="3728375" y="2322568"/>
              <a:ext cx="3822600" cy="64350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56"/>
            <p:cNvSpPr/>
            <p:nvPr/>
          </p:nvSpPr>
          <p:spPr>
            <a:xfrm flipH="1">
              <a:off x="2283025" y="2322575"/>
              <a:ext cx="1844400" cy="642600"/>
            </a:xfrm>
            <a:prstGeom prst="rect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56"/>
            <p:cNvSpPr/>
            <p:nvPr/>
          </p:nvSpPr>
          <p:spPr>
            <a:xfrm rot="-5400000">
              <a:off x="3501574" y="1934671"/>
              <a:ext cx="643356" cy="1419149"/>
            </a:xfrm>
            <a:prstGeom prst="flowChartOffpageConnector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56"/>
            <p:cNvSpPr/>
            <p:nvPr/>
          </p:nvSpPr>
          <p:spPr>
            <a:xfrm>
              <a:off x="2342625" y="2399951"/>
              <a:ext cx="1940700" cy="49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Regulatory annotation</a:t>
              </a:r>
              <a:endParaRPr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7" name="Google Shape;537;p56"/>
            <p:cNvSpPr/>
            <p:nvPr/>
          </p:nvSpPr>
          <p:spPr>
            <a:xfrm>
              <a:off x="1593000" y="2322568"/>
              <a:ext cx="690000" cy="642300"/>
            </a:xfrm>
            <a:prstGeom prst="rect">
              <a:avLst/>
            </a:prstGeom>
            <a:solidFill>
              <a:srgbClr val="0B7743"/>
            </a:solidFill>
            <a:ln>
              <a:noFill/>
            </a:ln>
            <a:effectLst>
              <a:outerShdw blurRad="71438" dist="28575" dir="2700000" algn="bl" rotWithShape="0">
                <a:srgbClr val="000000">
                  <a:alpha val="17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56"/>
            <p:cNvSpPr/>
            <p:nvPr/>
          </p:nvSpPr>
          <p:spPr>
            <a:xfrm>
              <a:off x="1593000" y="2322575"/>
              <a:ext cx="690000" cy="642600"/>
            </a:xfrm>
            <a:prstGeom prst="rect">
              <a:avLst/>
            </a:prstGeom>
            <a:solidFill>
              <a:srgbClr val="0C814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600">
                <a:solidFill>
                  <a:srgbClr val="FFFFFF"/>
                </a:solidFill>
                <a:latin typeface="Roboto Thin"/>
                <a:ea typeface="Roboto Thin"/>
                <a:cs typeface="Roboto Thin"/>
                <a:sym typeface="Roboto Thin"/>
              </a:endParaRPr>
            </a:p>
          </p:txBody>
        </p:sp>
        <p:sp>
          <p:nvSpPr>
            <p:cNvPr id="539" name="Google Shape;539;p56"/>
            <p:cNvSpPr/>
            <p:nvPr/>
          </p:nvSpPr>
          <p:spPr>
            <a:xfrm>
              <a:off x="4387850" y="2323750"/>
              <a:ext cx="2971200" cy="64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Definition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From experimental data to regulatory annotations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40" name="Google Shape;540;p56"/>
          <p:cNvGrpSpPr/>
          <p:nvPr/>
        </p:nvGrpSpPr>
        <p:grpSpPr>
          <a:xfrm>
            <a:off x="1593000" y="940260"/>
            <a:ext cx="5957975" cy="643500"/>
            <a:chOff x="1593000" y="2322568"/>
            <a:chExt cx="5957975" cy="643500"/>
          </a:xfrm>
        </p:grpSpPr>
        <p:sp>
          <p:nvSpPr>
            <p:cNvPr id="541" name="Google Shape;541;p56"/>
            <p:cNvSpPr/>
            <p:nvPr/>
          </p:nvSpPr>
          <p:spPr>
            <a:xfrm>
              <a:off x="3728375" y="2322568"/>
              <a:ext cx="3822600" cy="64350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56"/>
            <p:cNvSpPr/>
            <p:nvPr/>
          </p:nvSpPr>
          <p:spPr>
            <a:xfrm flipH="1">
              <a:off x="2283025" y="2322575"/>
              <a:ext cx="1844400" cy="642600"/>
            </a:xfrm>
            <a:prstGeom prst="rect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56"/>
            <p:cNvSpPr/>
            <p:nvPr/>
          </p:nvSpPr>
          <p:spPr>
            <a:xfrm rot="-5400000">
              <a:off x="3501574" y="1934671"/>
              <a:ext cx="643356" cy="1419149"/>
            </a:xfrm>
            <a:prstGeom prst="flowChartOffpageConnector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56"/>
            <p:cNvSpPr/>
            <p:nvPr/>
          </p:nvSpPr>
          <p:spPr>
            <a:xfrm>
              <a:off x="2342625" y="2399951"/>
              <a:ext cx="1940700" cy="49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Gene Regulation and CREs</a:t>
              </a:r>
              <a:endParaRPr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5" name="Google Shape;545;p56"/>
            <p:cNvSpPr/>
            <p:nvPr/>
          </p:nvSpPr>
          <p:spPr>
            <a:xfrm>
              <a:off x="1593000" y="2322568"/>
              <a:ext cx="690000" cy="642300"/>
            </a:xfrm>
            <a:prstGeom prst="rect">
              <a:avLst/>
            </a:prstGeom>
            <a:solidFill>
              <a:srgbClr val="0B7743"/>
            </a:solidFill>
            <a:ln>
              <a:noFill/>
            </a:ln>
            <a:effectLst>
              <a:outerShdw blurRad="71438" dist="28575" dir="2700000" algn="bl" rotWithShape="0">
                <a:srgbClr val="000000">
                  <a:alpha val="17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56"/>
            <p:cNvSpPr/>
            <p:nvPr/>
          </p:nvSpPr>
          <p:spPr>
            <a:xfrm>
              <a:off x="1593000" y="2322575"/>
              <a:ext cx="690000" cy="642600"/>
            </a:xfrm>
            <a:prstGeom prst="rect">
              <a:avLst/>
            </a:prstGeom>
            <a:solidFill>
              <a:srgbClr val="0C814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600">
                <a:solidFill>
                  <a:srgbClr val="FFFFFF"/>
                </a:solidFill>
                <a:latin typeface="Roboto Thin"/>
                <a:ea typeface="Roboto Thin"/>
                <a:cs typeface="Roboto Thin"/>
                <a:sym typeface="Roboto Thin"/>
              </a:endParaRPr>
            </a:p>
          </p:txBody>
        </p:sp>
        <p:sp>
          <p:nvSpPr>
            <p:cNvPr id="547" name="Google Shape;547;p56"/>
            <p:cNvSpPr/>
            <p:nvPr/>
          </p:nvSpPr>
          <p:spPr>
            <a:xfrm>
              <a:off x="4387850" y="2323750"/>
              <a:ext cx="2971200" cy="64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Definition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Epigenomic modifications and CREs.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48" name="Google Shape;548;p56"/>
          <p:cNvGrpSpPr/>
          <p:nvPr/>
        </p:nvGrpSpPr>
        <p:grpSpPr>
          <a:xfrm>
            <a:off x="1593000" y="3559754"/>
            <a:ext cx="5766050" cy="643482"/>
            <a:chOff x="1593000" y="2322568"/>
            <a:chExt cx="5766050" cy="643482"/>
          </a:xfrm>
        </p:grpSpPr>
        <p:sp>
          <p:nvSpPr>
            <p:cNvPr id="549" name="Google Shape;549;p56"/>
            <p:cNvSpPr/>
            <p:nvPr/>
          </p:nvSpPr>
          <p:spPr>
            <a:xfrm flipH="1">
              <a:off x="2283025" y="2322575"/>
              <a:ext cx="1844400" cy="642600"/>
            </a:xfrm>
            <a:prstGeom prst="rect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56"/>
            <p:cNvSpPr/>
            <p:nvPr/>
          </p:nvSpPr>
          <p:spPr>
            <a:xfrm rot="-5400000">
              <a:off x="3501574" y="1934671"/>
              <a:ext cx="643356" cy="1419149"/>
            </a:xfrm>
            <a:prstGeom prst="flowChartOffpageConnector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56"/>
            <p:cNvSpPr/>
            <p:nvPr/>
          </p:nvSpPr>
          <p:spPr>
            <a:xfrm>
              <a:off x="2342625" y="2399951"/>
              <a:ext cx="1940700" cy="49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Hands-on</a:t>
              </a:r>
              <a:endParaRPr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2" name="Google Shape;552;p56"/>
            <p:cNvSpPr/>
            <p:nvPr/>
          </p:nvSpPr>
          <p:spPr>
            <a:xfrm>
              <a:off x="1593000" y="2322568"/>
              <a:ext cx="690000" cy="642300"/>
            </a:xfrm>
            <a:prstGeom prst="rect">
              <a:avLst/>
            </a:prstGeom>
            <a:solidFill>
              <a:srgbClr val="0B7743"/>
            </a:solidFill>
            <a:ln>
              <a:noFill/>
            </a:ln>
            <a:effectLst>
              <a:outerShdw blurRad="71438" dist="28575" dir="2700000" algn="bl" rotWithShape="0">
                <a:srgbClr val="000000">
                  <a:alpha val="17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56"/>
            <p:cNvSpPr/>
            <p:nvPr/>
          </p:nvSpPr>
          <p:spPr>
            <a:xfrm>
              <a:off x="1593000" y="2322575"/>
              <a:ext cx="690000" cy="642600"/>
            </a:xfrm>
            <a:prstGeom prst="rect">
              <a:avLst/>
            </a:prstGeom>
            <a:solidFill>
              <a:srgbClr val="0C814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600">
                <a:solidFill>
                  <a:srgbClr val="FFFFFF"/>
                </a:solidFill>
                <a:latin typeface="Roboto Thin"/>
                <a:ea typeface="Roboto Thin"/>
                <a:cs typeface="Roboto Thin"/>
                <a:sym typeface="Roboto Thin"/>
              </a:endParaRPr>
            </a:p>
          </p:txBody>
        </p:sp>
        <p:sp>
          <p:nvSpPr>
            <p:cNvPr id="554" name="Google Shape;554;p56"/>
            <p:cNvSpPr/>
            <p:nvPr/>
          </p:nvSpPr>
          <p:spPr>
            <a:xfrm>
              <a:off x="4387850" y="2323750"/>
              <a:ext cx="2971200" cy="64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57"/>
          <p:cNvSpPr/>
          <p:nvPr/>
        </p:nvSpPr>
        <p:spPr>
          <a:xfrm rot="5400000">
            <a:off x="7365228" y="0"/>
            <a:ext cx="1778700" cy="1778700"/>
          </a:xfrm>
          <a:prstGeom prst="diagStripe">
            <a:avLst>
              <a:gd name="adj" fmla="val 50000"/>
            </a:avLst>
          </a:prstGeom>
          <a:solidFill>
            <a:srgbClr val="EDFA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57"/>
          <p:cNvSpPr txBox="1"/>
          <p:nvPr/>
        </p:nvSpPr>
        <p:spPr>
          <a:xfrm rot="2700000">
            <a:off x="7215273" y="386217"/>
            <a:ext cx="2501461" cy="583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</a:rPr>
              <a:t>Do not edit</a:t>
            </a:r>
            <a:endParaRPr sz="1200" b="1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u="sng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sz="1200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62" name="Google Shape;562;p57" descr="poll-type-id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3520" y="1307027"/>
            <a:ext cx="1778772" cy="1778772"/>
          </a:xfrm>
          <a:prstGeom prst="rect">
            <a:avLst/>
          </a:prstGeom>
          <a:noFill/>
          <a:ln>
            <a:noFill/>
          </a:ln>
        </p:spPr>
      </p:pic>
      <p:sp>
        <p:nvSpPr>
          <p:cNvPr id="563" name="Google Shape;563;p57" descr="title-id"/>
          <p:cNvSpPr txBox="1"/>
          <p:nvPr/>
        </p:nvSpPr>
        <p:spPr>
          <a:xfrm>
            <a:off x="2334638" y="1320628"/>
            <a:ext cx="6364800" cy="17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b="1">
                <a:solidFill>
                  <a:srgbClr val="5B5B5B"/>
                </a:solidFill>
                <a:latin typeface="Inter"/>
                <a:ea typeface="Inter"/>
                <a:cs typeface="Inter"/>
                <a:sym typeface="Inter"/>
              </a:rPr>
              <a:t>Which are the main classes of cis-regulatory elements?</a:t>
            </a:r>
            <a:endParaRPr sz="3600" b="1">
              <a:solidFill>
                <a:srgbClr val="5B5B5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64" name="Google Shape;564;p57"/>
          <p:cNvSpPr/>
          <p:nvPr/>
        </p:nvSpPr>
        <p:spPr>
          <a:xfrm>
            <a:off x="0" y="4365024"/>
            <a:ext cx="9144000" cy="778500"/>
          </a:xfrm>
          <a:prstGeom prst="rect">
            <a:avLst/>
          </a:prstGeom>
          <a:solidFill>
            <a:srgbClr val="1980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57"/>
          <p:cNvSpPr txBox="1"/>
          <p:nvPr/>
        </p:nvSpPr>
        <p:spPr>
          <a:xfrm>
            <a:off x="555866" y="4365024"/>
            <a:ext cx="6948300" cy="77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Presenting with animations, GIFs or speaker notes? Enable our </a:t>
            </a:r>
            <a:r>
              <a:rPr lang="en-GB" sz="1200" u="sng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Chrome extension</a:t>
            </a:r>
            <a:endParaRPr sz="12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66" name="Google Shape;566;p5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22347" y="4643089"/>
            <a:ext cx="222347" cy="222347"/>
          </a:xfrm>
          <a:prstGeom prst="rect">
            <a:avLst/>
          </a:prstGeom>
          <a:noFill/>
          <a:ln>
            <a:noFill/>
          </a:ln>
        </p:spPr>
      </p:pic>
      <p:pic>
        <p:nvPicPr>
          <p:cNvPr id="567" name="Google Shape;567;p57" descr="logo-id">
            <a:hlinkClick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921094" y="4476329"/>
            <a:ext cx="1111733" cy="55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58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Gene regulation by CREs</a:t>
            </a:r>
            <a:endParaRPr/>
          </a:p>
        </p:txBody>
      </p:sp>
      <p:sp>
        <p:nvSpPr>
          <p:cNvPr id="574" name="Google Shape;574;p58"/>
          <p:cNvSpPr txBox="1">
            <a:spLocks noGrp="1"/>
          </p:cNvSpPr>
          <p:nvPr>
            <p:ph type="body" idx="1"/>
          </p:nvPr>
        </p:nvSpPr>
        <p:spPr>
          <a:xfrm>
            <a:off x="338150" y="889824"/>
            <a:ext cx="8452200" cy="10791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457200" lvl="0" indent="-330200" algn="l" rtl="0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SzPts val="1600"/>
              <a:buChar char="-"/>
            </a:pPr>
            <a:r>
              <a:rPr lang="en-GB"/>
              <a:t>CREs are DNA sequences that regulate the transcription of nearby or distal genes on the same chromosome by recruiting transcription factors (TFs), cofactors, and chromatin-associated proteins.</a:t>
            </a:r>
            <a:endParaRPr/>
          </a:p>
          <a:p>
            <a:pPr marL="0" lvl="0" indent="0" algn="l" rtl="0">
              <a:spcBef>
                <a:spcPts val="75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75" name="Google Shape;575;p58"/>
          <p:cNvPicPr preferRelativeResize="0"/>
          <p:nvPr/>
        </p:nvPicPr>
        <p:blipFill rotWithShape="1">
          <a:blip r:embed="rId3">
            <a:alphaModFix/>
          </a:blip>
          <a:srcRect t="13442"/>
          <a:stretch/>
        </p:blipFill>
        <p:spPr>
          <a:xfrm>
            <a:off x="3040075" y="1920125"/>
            <a:ext cx="5590449" cy="272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76" name="Google Shape;576;p58"/>
          <p:cNvSpPr txBox="1">
            <a:spLocks noGrp="1"/>
          </p:cNvSpPr>
          <p:nvPr>
            <p:ph type="body" idx="1"/>
          </p:nvPr>
        </p:nvSpPr>
        <p:spPr>
          <a:xfrm>
            <a:off x="490550" y="2030500"/>
            <a:ext cx="2549400" cy="27234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None/>
            </a:pPr>
            <a:endParaRPr/>
          </a:p>
          <a:p>
            <a:pPr marL="457200" lvl="0" indent="-330200" algn="l" rtl="0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SzPts val="1600"/>
              <a:buChar char="-"/>
            </a:pPr>
            <a:r>
              <a:rPr lang="en-GB"/>
              <a:t>Main clases: </a:t>
            </a:r>
            <a:endParaRPr/>
          </a:p>
          <a:p>
            <a:pPr marL="914400" lvl="1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GB"/>
              <a:t>Promoter</a:t>
            </a:r>
            <a:endParaRPr/>
          </a:p>
          <a:p>
            <a:pPr marL="914400" lvl="1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GB"/>
              <a:t>Enhancer</a:t>
            </a:r>
            <a:endParaRPr/>
          </a:p>
          <a:p>
            <a:pPr marL="914400" lvl="1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GB"/>
              <a:t>Silencer</a:t>
            </a:r>
            <a:endParaRPr/>
          </a:p>
          <a:p>
            <a:pPr marL="914400" lvl="1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GB"/>
              <a:t>Insulator </a:t>
            </a:r>
            <a:endParaRPr/>
          </a:p>
          <a:p>
            <a:pPr marL="0" lvl="0" indent="0" algn="l" rtl="0">
              <a:spcBef>
                <a:spcPts val="75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59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Gene regulation by CREs</a:t>
            </a:r>
            <a:endParaRPr/>
          </a:p>
        </p:txBody>
      </p:sp>
      <p:sp>
        <p:nvSpPr>
          <p:cNvPr id="583" name="Google Shape;583;p59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457200" lvl="0" indent="0" algn="l" rtl="0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None/>
            </a:pPr>
            <a:r>
              <a:rPr lang="en-GB"/>
              <a:t>Key features of CREs:</a:t>
            </a:r>
            <a:endParaRPr/>
          </a:p>
          <a:p>
            <a:pPr marL="914400" lvl="1" indent="-317500" algn="l" rtl="0">
              <a:lnSpc>
                <a:spcPct val="150000"/>
              </a:lnSpc>
              <a:spcBef>
                <a:spcPts val="375"/>
              </a:spcBef>
              <a:spcAft>
                <a:spcPts val="0"/>
              </a:spcAft>
              <a:buSzPts val="1400"/>
              <a:buChar char="✓"/>
            </a:pPr>
            <a:r>
              <a:rPr lang="en-GB"/>
              <a:t>Often located in </a:t>
            </a:r>
            <a:r>
              <a:rPr lang="en-GB" b="1"/>
              <a:t>non-coding </a:t>
            </a:r>
            <a:r>
              <a:rPr lang="en-GB"/>
              <a:t>regions of the genome.</a:t>
            </a:r>
            <a:endParaRPr/>
          </a:p>
          <a:p>
            <a:pPr marL="914400" lvl="1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✓"/>
            </a:pPr>
            <a:r>
              <a:rPr lang="en-GB"/>
              <a:t>Their activity is highly cell-type, tissue, and developmental-stage </a:t>
            </a:r>
            <a:r>
              <a:rPr lang="en-GB" b="1"/>
              <a:t>specific</a:t>
            </a:r>
            <a:r>
              <a:rPr lang="en-GB"/>
              <a:t>. </a:t>
            </a:r>
            <a:endParaRPr/>
          </a:p>
          <a:p>
            <a:pPr marL="914400" lvl="1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✓"/>
            </a:pPr>
            <a:r>
              <a:rPr lang="en-GB"/>
              <a:t>To be active, the DNA usually needs to be </a:t>
            </a:r>
            <a:r>
              <a:rPr lang="en-GB" b="1"/>
              <a:t>accessible</a:t>
            </a:r>
            <a:r>
              <a:rPr lang="en-GB"/>
              <a:t> to regulatory proteins.</a:t>
            </a:r>
            <a:endParaRPr/>
          </a:p>
          <a:p>
            <a:pPr marL="914400" lvl="1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✓"/>
            </a:pPr>
            <a:r>
              <a:rPr lang="en-GB"/>
              <a:t>Promoters, enhancers, and silencers are often associated with characteristic chromatin features, including </a:t>
            </a:r>
            <a:r>
              <a:rPr lang="en-GB" b="1"/>
              <a:t>histone modifications</a:t>
            </a:r>
            <a:r>
              <a:rPr lang="en-GB"/>
              <a:t>.</a:t>
            </a:r>
            <a:endParaRPr/>
          </a:p>
          <a:p>
            <a:pPr marL="914400" lvl="1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✓"/>
            </a:pPr>
            <a:r>
              <a:rPr lang="en-GB"/>
              <a:t>Insulators are mainly defined by the presence of architectural proteins such as CTCF and cohesin.</a:t>
            </a:r>
            <a:endParaRPr/>
          </a:p>
          <a:p>
            <a:pPr marL="0" lvl="0" indent="0" algn="l" rtl="0">
              <a:spcBef>
                <a:spcPts val="75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60"/>
          <p:cNvSpPr txBox="1">
            <a:spLocks noGrp="1"/>
          </p:cNvSpPr>
          <p:nvPr>
            <p:ph type="title"/>
          </p:nvPr>
        </p:nvSpPr>
        <p:spPr>
          <a:xfrm>
            <a:off x="125975" y="273850"/>
            <a:ext cx="88518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-GB"/>
              <a:t>Epigenetic modifications and CREs</a:t>
            </a:r>
            <a:endParaRPr/>
          </a:p>
        </p:txBody>
      </p:sp>
      <p:pic>
        <p:nvPicPr>
          <p:cNvPr id="589" name="Google Shape;589;p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9450" y="817425"/>
            <a:ext cx="6896724" cy="38814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61"/>
          <p:cNvSpPr txBox="1">
            <a:spLocks noGrp="1"/>
          </p:cNvSpPr>
          <p:nvPr>
            <p:ph type="title"/>
          </p:nvPr>
        </p:nvSpPr>
        <p:spPr>
          <a:xfrm>
            <a:off x="125975" y="213596"/>
            <a:ext cx="89724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-GB"/>
              <a:t>A regulatory annotation is a claim built from evidence</a:t>
            </a:r>
            <a:endParaRPr/>
          </a:p>
        </p:txBody>
      </p:sp>
      <p:sp>
        <p:nvSpPr>
          <p:cNvPr id="595" name="Google Shape;595;p61"/>
          <p:cNvSpPr txBox="1">
            <a:spLocks noGrp="1"/>
          </p:cNvSpPr>
          <p:nvPr>
            <p:ph type="body" idx="1"/>
          </p:nvPr>
        </p:nvSpPr>
        <p:spPr>
          <a:xfrm>
            <a:off x="345888" y="897649"/>
            <a:ext cx="8452200" cy="37116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457200" lvl="0" indent="-330200" algn="l" rtl="0">
              <a:lnSpc>
                <a:spcPct val="200000"/>
              </a:lnSpc>
              <a:spcBef>
                <a:spcPts val="75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Aimed to identify </a:t>
            </a:r>
            <a:r>
              <a:rPr lang="en-GB" b="1"/>
              <a:t>potential regulatory regions</a:t>
            </a:r>
            <a:r>
              <a:rPr lang="en-GB"/>
              <a:t> in the genome.</a:t>
            </a:r>
            <a:endParaRPr/>
          </a:p>
          <a:p>
            <a:pPr marL="457200" lvl="0" indent="-330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Usually built by </a:t>
            </a:r>
            <a:r>
              <a:rPr lang="en-GB" b="1"/>
              <a:t>integrating multiple evidence</a:t>
            </a:r>
            <a:r>
              <a:rPr lang="en-GB"/>
              <a:t> layers: chromatin accessibility, histone modifications, transcription factor binding, and gene annotation.</a:t>
            </a:r>
            <a:endParaRPr/>
          </a:p>
          <a:p>
            <a:pPr marL="457200" lvl="0" indent="-330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Based on </a:t>
            </a:r>
            <a:r>
              <a:rPr lang="en-GB" b="1"/>
              <a:t>specific patterns</a:t>
            </a:r>
            <a:r>
              <a:rPr lang="en-GB"/>
              <a:t> characterising the different CREs types.</a:t>
            </a:r>
            <a:endParaRPr/>
          </a:p>
          <a:p>
            <a:pPr marL="457200" lvl="0" indent="-330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Limited to the availability of useful experimental data.</a:t>
            </a:r>
            <a:endParaRPr/>
          </a:p>
          <a:p>
            <a:pPr marL="457200" lvl="0" indent="-330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Limited to the availability of cell-type, tissue, developmental-stage specific experiments.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62"/>
          <p:cNvSpPr txBox="1">
            <a:spLocks noGrp="1"/>
          </p:cNvSpPr>
          <p:nvPr>
            <p:ph type="title"/>
          </p:nvPr>
        </p:nvSpPr>
        <p:spPr>
          <a:xfrm>
            <a:off x="196475" y="273850"/>
            <a:ext cx="88416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-GB"/>
              <a:t>Evidence useful for defining regulatory annotation</a:t>
            </a:r>
            <a:endParaRPr/>
          </a:p>
        </p:txBody>
      </p:sp>
      <p:graphicFrame>
        <p:nvGraphicFramePr>
          <p:cNvPr id="601" name="Google Shape;601;p62"/>
          <p:cNvGraphicFramePr/>
          <p:nvPr/>
        </p:nvGraphicFramePr>
        <p:xfrm>
          <a:off x="204200" y="871550"/>
          <a:ext cx="8735575" cy="3261150"/>
        </p:xfrm>
        <a:graphic>
          <a:graphicData uri="http://schemas.openxmlformats.org/drawingml/2006/table">
            <a:tbl>
              <a:tblPr>
                <a:noFill/>
                <a:tableStyleId>{EEC212DD-F114-4DB9-AE68-2979E73E411F}</a:tableStyleId>
              </a:tblPr>
              <a:tblGrid>
                <a:gridCol w="1351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86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95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/>
                        <a:t>Approach</a:t>
                      </a:r>
                      <a:endParaRPr sz="10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/>
                        <a:t>What it tells you</a:t>
                      </a:r>
                      <a:endParaRPr sz="10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/>
                        <a:t>Advantages</a:t>
                      </a:r>
                      <a:endParaRPr sz="10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/>
                        <a:t>Limitations</a:t>
                      </a:r>
                      <a:endParaRPr sz="10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84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i="1"/>
                        <a:t>Chromatin accessibility</a:t>
                      </a:r>
                      <a:endParaRPr sz="1000" i="1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Identifies open DNA where regulatory proteins can bind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Fast genome-wide discovery of candidate CREs; useful first-pass assay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Does not distinguish enhancer, promoter, silencer or insulator by itself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4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i="1"/>
                        <a:t>Histone modifications</a:t>
                      </a:r>
                      <a:endParaRPr sz="1000" i="1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Profiles chromatin states associated with regulatory activity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Helps classify CRE types and activity states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Correlative; depends strongly on selected marks and cell type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99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i="1"/>
                        <a:t>TF and cofactor binding</a:t>
                      </a:r>
                      <a:endParaRPr sz="1000" i="1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CB9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Shows where regulatory or architectural proteins bind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CB9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Links CREs to regulatory proteins such as TFs, p300/CBP, CTCF or cohesin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CB9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Binding does not always imply functional regulation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CB9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75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i="1"/>
                        <a:t>Transcription-based evidence</a:t>
                      </a:r>
                      <a:endParaRPr sz="1000" i="1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Detects initiation or nascent transcription from promoters and enhancers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Provides evidence of active regulatory transcription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Weak or unstable enhancer RNAs can be missed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4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i="1"/>
                        <a:t>Comparative genomics</a:t>
                      </a:r>
                      <a:endParaRPr sz="1000" i="1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Finds conserved non-coding regions under evolutionary constraint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Highlights candidate functional elements across species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Misses lineage-specific or rapidly evolving CREs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A7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i="1"/>
                        <a:t>Functional assays</a:t>
                      </a:r>
                      <a:endParaRPr sz="1000" i="1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99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Tests whether a sequence can regulate transcription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99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Provides direct activity evidence for tested sequences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99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Often outside native chromatin and genomic context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02" name="Google Shape;602;p62"/>
          <p:cNvSpPr txBox="1"/>
          <p:nvPr/>
        </p:nvSpPr>
        <p:spPr>
          <a:xfrm>
            <a:off x="939075" y="4212000"/>
            <a:ext cx="6746400" cy="923299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50000"/>
              </a:lnSpc>
              <a:spcAft>
                <a:spcPts val="0"/>
              </a:spcAft>
              <a:buNone/>
            </a:pPr>
            <a:r>
              <a:rPr lang="en-GB" sz="1600" b="1" dirty="0">
                <a:solidFill>
                  <a:schemeClr val="dk1"/>
                </a:solidFill>
              </a:rPr>
              <a:t>CRE annotation usually combines indirect genome-wide evidence from different sources; no single method is sufficient on its own.</a:t>
            </a:r>
            <a:endParaRPr sz="1600" b="1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p63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From experimental data to regulatory annotation</a:t>
            </a:r>
            <a:endParaRPr/>
          </a:p>
        </p:txBody>
      </p:sp>
      <p:graphicFrame>
        <p:nvGraphicFramePr>
          <p:cNvPr id="608" name="Google Shape;608;p63"/>
          <p:cNvGraphicFramePr/>
          <p:nvPr/>
        </p:nvGraphicFramePr>
        <p:xfrm>
          <a:off x="417600" y="1014250"/>
          <a:ext cx="8373400" cy="3106400"/>
        </p:xfrm>
        <a:graphic>
          <a:graphicData uri="http://schemas.openxmlformats.org/drawingml/2006/table">
            <a:tbl>
              <a:tblPr>
                <a:noFill/>
                <a:tableStyleId>{EEC212DD-F114-4DB9-AE68-2979E73E411F}</a:tableStyleId>
              </a:tblPr>
              <a:tblGrid>
                <a:gridCol w="863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6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10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126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80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21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/>
                        <a:t>Method</a:t>
                      </a:r>
                      <a:endParaRPr sz="1000"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/>
                        <a:t>Approach</a:t>
                      </a:r>
                      <a:endParaRPr sz="1000"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/>
                        <a:t>What it detects</a:t>
                      </a:r>
                      <a:endParaRPr sz="1000"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/>
                        <a:t>Common use</a:t>
                      </a:r>
                      <a:endParaRPr sz="1000"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/>
                        <a:t>Main limitation</a:t>
                      </a:r>
                      <a:endParaRPr sz="1000"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AA8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21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ATAC-seq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Chromatin accessibility</a:t>
                      </a:r>
                      <a:endParaRPr sz="100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Accessible chromatin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Candidate promoters, enhancers and other open CREs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Open chromatin alone does not define function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DNase-seq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DNase-hypersensitive accessible regions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High-confidence accessible regulatory regions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Requires more input and processing than ATAC-seq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ChIP-seq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Histone modifications / TF binding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Histone marks or protein-DNA binding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Profiles marks such as H3K27ac, H3K4me1, H3K4me3 or TF binding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Resolution and quality depend on antibody and sequencing depth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CUT&amp;RUN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Targeted protein-DNA interactions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Lower-input profiling of histone marks or TF binding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Requires optimized antibodies and protocols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90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CUT&amp;Tag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Targeted chromatin-associated proteins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Efficient profiling of histone marks and TFs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Can be sensitive to protocol and background differences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64"/>
          <p:cNvSpPr txBox="1">
            <a:spLocks noGrp="1"/>
          </p:cNvSpPr>
          <p:nvPr>
            <p:ph type="title"/>
          </p:nvPr>
        </p:nvSpPr>
        <p:spPr>
          <a:xfrm>
            <a:off x="262050" y="149146"/>
            <a:ext cx="89724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From experimental data to regulatory annotation</a:t>
            </a:r>
            <a:endParaRPr/>
          </a:p>
        </p:txBody>
      </p:sp>
      <p:pic>
        <p:nvPicPr>
          <p:cNvPr id="614" name="Google Shape;614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9375" y="667550"/>
            <a:ext cx="7103074" cy="3997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65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From experimental data to regulatory annotation</a:t>
            </a:r>
            <a:endParaRPr/>
          </a:p>
        </p:txBody>
      </p:sp>
      <p:graphicFrame>
        <p:nvGraphicFramePr>
          <p:cNvPr id="620" name="Google Shape;620;p65"/>
          <p:cNvGraphicFramePr/>
          <p:nvPr/>
        </p:nvGraphicFramePr>
        <p:xfrm>
          <a:off x="417725" y="1014250"/>
          <a:ext cx="8372625" cy="3463650"/>
        </p:xfrm>
        <a:graphic>
          <a:graphicData uri="http://schemas.openxmlformats.org/drawingml/2006/table">
            <a:tbl>
              <a:tblPr>
                <a:noFill/>
                <a:tableStyleId>{EEC212DD-F114-4DB9-AE68-2979E73E411F}</a:tableStyleId>
              </a:tblPr>
              <a:tblGrid>
                <a:gridCol w="955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4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55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87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98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53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/>
                        <a:t>Method</a:t>
                      </a:r>
                      <a:endParaRPr sz="1000"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/>
                        <a:t>Approach</a:t>
                      </a:r>
                      <a:endParaRPr sz="1000"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/>
                        <a:t>What it detects</a:t>
                      </a:r>
                      <a:endParaRPr sz="1000"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/>
                        <a:t>Common use</a:t>
                      </a:r>
                      <a:endParaRPr sz="1000"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/>
                        <a:t>Main limitation</a:t>
                      </a:r>
                      <a:endParaRPr sz="1000"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AA8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1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CAGE-seq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Transcription-based evidence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Transcription start sites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Identifies active promoters and enhancer transcription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Depends on detectable capped transcripts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75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GRO-seq / PRO-seq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Nascent transcription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Detects active transcription at genes and enhancers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More specialized assays and analysis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75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Sequence conservation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Comparative genomics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Evolutionary conserved non-coding regions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Candidate conserved CREs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Misses species-specific regulatory elements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75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MPRA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Functional assays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Activity of many tested sequences in parallel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High-throughput enhancer or variant testing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Removed from native genomic context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75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STARR-seq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Enhancer activity of cloned fragments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Genome-scale enhancer activity screening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Activity depends on assay design and cell system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75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CRISPRi / CRISPRa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Effect of repressing or activating candidate CREs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Links regulatory elements to target genes or phenotypes in their genomic context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Requires guide design, suitable cell model, and careful interpretation of off-target or indirect effects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66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From experimental data to regulatory annotation</a:t>
            </a:r>
            <a:endParaRPr/>
          </a:p>
        </p:txBody>
      </p:sp>
      <p:pic>
        <p:nvPicPr>
          <p:cNvPr id="627" name="Google Shape;627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8700" y="758444"/>
            <a:ext cx="7189876" cy="40464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67"/>
          <p:cNvSpPr txBox="1">
            <a:spLocks noGrp="1"/>
          </p:cNvSpPr>
          <p:nvPr>
            <p:ph type="title"/>
          </p:nvPr>
        </p:nvSpPr>
        <p:spPr>
          <a:xfrm>
            <a:off x="224850" y="273850"/>
            <a:ext cx="88656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Epigenomic evidence: Large-scale community efforts</a:t>
            </a:r>
            <a:endParaRPr/>
          </a:p>
        </p:txBody>
      </p:sp>
      <p:sp>
        <p:nvSpPr>
          <p:cNvPr id="634" name="Google Shape;634;p67"/>
          <p:cNvSpPr txBox="1">
            <a:spLocks noGrp="1"/>
          </p:cNvSpPr>
          <p:nvPr>
            <p:ph type="body" idx="1"/>
          </p:nvPr>
        </p:nvSpPr>
        <p:spPr>
          <a:xfrm>
            <a:off x="338150" y="889824"/>
            <a:ext cx="8452200" cy="10536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457200" lvl="0" indent="-330200" algn="l" rtl="0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✓"/>
            </a:pPr>
            <a:r>
              <a:rPr lang="en-GB"/>
              <a:t>Community consortia that generate </a:t>
            </a:r>
            <a:r>
              <a:rPr lang="en-GB" b="1"/>
              <a:t>standardized</a:t>
            </a:r>
            <a:r>
              <a:rPr lang="en-GB"/>
              <a:t> epigenomic datasets.</a:t>
            </a:r>
            <a:endParaRPr/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✓"/>
            </a:pPr>
            <a:r>
              <a:rPr lang="en-GB"/>
              <a:t>They cover </a:t>
            </a:r>
            <a:r>
              <a:rPr lang="en-GB" b="1"/>
              <a:t>multiple</a:t>
            </a:r>
            <a:r>
              <a:rPr lang="en-GB"/>
              <a:t> tissues, cell types, and species.</a:t>
            </a:r>
            <a:endParaRPr/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✓"/>
            </a:pPr>
            <a:r>
              <a:rPr lang="en-GB"/>
              <a:t>Aimed to contribute to the understanding of </a:t>
            </a:r>
            <a:r>
              <a:rPr lang="en-GB" b="1"/>
              <a:t>genome function</a:t>
            </a:r>
            <a:r>
              <a:rPr lang="en-GB"/>
              <a:t>.</a:t>
            </a:r>
            <a:endParaRPr/>
          </a:p>
        </p:txBody>
      </p:sp>
      <p:pic>
        <p:nvPicPr>
          <p:cNvPr id="635" name="Google Shape;635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47700" y="2085975"/>
            <a:ext cx="1619250" cy="971550"/>
          </a:xfrm>
          <a:prstGeom prst="rect">
            <a:avLst/>
          </a:prstGeom>
          <a:noFill/>
          <a:ln>
            <a:noFill/>
          </a:ln>
        </p:spPr>
      </p:pic>
      <p:sp>
        <p:nvSpPr>
          <p:cNvPr id="636" name="Google Shape;636;p67"/>
          <p:cNvSpPr txBox="1">
            <a:spLocks noGrp="1"/>
          </p:cNvSpPr>
          <p:nvPr>
            <p:ph type="body" idx="1"/>
          </p:nvPr>
        </p:nvSpPr>
        <p:spPr>
          <a:xfrm>
            <a:off x="768825" y="3200075"/>
            <a:ext cx="3610500" cy="17043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457200" lvl="0" indent="-298450" algn="l" rtl="0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Clr>
                <a:srgbClr val="18974C"/>
              </a:buClr>
              <a:buSzPts val="1100"/>
              <a:buChar char="✓"/>
            </a:pPr>
            <a:r>
              <a:rPr lang="en-GB" sz="1100"/>
              <a:t>Focused on human and mouse</a:t>
            </a:r>
            <a:endParaRPr sz="1100"/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100"/>
              <a:buChar char="✓"/>
            </a:pPr>
            <a:r>
              <a:rPr lang="en-GB" sz="1100"/>
              <a:t>Data types: chromatin accessibility, histone marks, TF binding, DNA methylation, RNA expression, 3D genome assays.</a:t>
            </a:r>
            <a:endParaRPr sz="1100"/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100"/>
              <a:buChar char="✓"/>
            </a:pPr>
            <a:r>
              <a:rPr lang="en-GB" sz="1100"/>
              <a:t>Outputs: peaks, genome annotations, candidate CREs.</a:t>
            </a:r>
            <a:endParaRPr sz="1100"/>
          </a:p>
        </p:txBody>
      </p:sp>
      <p:pic>
        <p:nvPicPr>
          <p:cNvPr id="637" name="Google Shape;637;p6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20000" y="2074275"/>
            <a:ext cx="2053700" cy="994955"/>
          </a:xfrm>
          <a:prstGeom prst="rect">
            <a:avLst/>
          </a:prstGeom>
          <a:noFill/>
          <a:ln>
            <a:noFill/>
          </a:ln>
        </p:spPr>
      </p:pic>
      <p:sp>
        <p:nvSpPr>
          <p:cNvPr id="638" name="Google Shape;638;p67"/>
          <p:cNvSpPr txBox="1">
            <a:spLocks noGrp="1"/>
          </p:cNvSpPr>
          <p:nvPr>
            <p:ph type="body" idx="1"/>
          </p:nvPr>
        </p:nvSpPr>
        <p:spPr>
          <a:xfrm>
            <a:off x="4941800" y="3154375"/>
            <a:ext cx="3610500" cy="17043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457200" lvl="0" indent="-298450" algn="l" rtl="0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Clr>
                <a:srgbClr val="18974C"/>
              </a:buClr>
              <a:buSzPts val="1100"/>
              <a:buChar char="✓"/>
            </a:pPr>
            <a:r>
              <a:rPr lang="en-GB" sz="1100"/>
              <a:t>Focused on animal genomes, especially farmed animals.</a:t>
            </a:r>
            <a:endParaRPr sz="1100"/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100"/>
              <a:buChar char="✓"/>
            </a:pPr>
            <a:r>
              <a:rPr lang="en-GB" sz="1100"/>
              <a:t>Data types: coordinated epigenomic and transcriptomic assays across tissues and species.</a:t>
            </a:r>
            <a:endParaRPr sz="1100"/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100"/>
              <a:buChar char="✓"/>
            </a:pPr>
            <a:r>
              <a:rPr lang="en-GB" sz="1100"/>
              <a:t>Outputs: standardized datasets, metadata, genome annotations.</a:t>
            </a:r>
            <a:endParaRPr sz="1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68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Strategies for genome-wide detection of CREs</a:t>
            </a:r>
            <a:endParaRPr/>
          </a:p>
        </p:txBody>
      </p:sp>
      <p:sp>
        <p:nvSpPr>
          <p:cNvPr id="645" name="Google Shape;645;p68"/>
          <p:cNvSpPr txBox="1"/>
          <p:nvPr/>
        </p:nvSpPr>
        <p:spPr>
          <a:xfrm>
            <a:off x="143225" y="873700"/>
            <a:ext cx="8257500" cy="30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600"/>
              <a:buChar char="✓"/>
            </a:pPr>
            <a:r>
              <a:rPr lang="en-GB" sz="1600">
                <a:solidFill>
                  <a:schemeClr val="dk1"/>
                </a:solidFill>
              </a:rPr>
              <a:t>Mainly based on strategies combining </a:t>
            </a:r>
            <a:r>
              <a:rPr lang="en-GB" sz="1600" b="1">
                <a:solidFill>
                  <a:schemeClr val="dk1"/>
                </a:solidFill>
              </a:rPr>
              <a:t>open chromatin and histone/TF ChIP-seq </a:t>
            </a:r>
            <a:r>
              <a:rPr lang="en-GB" sz="1600">
                <a:solidFill>
                  <a:schemeClr val="dk1"/>
                </a:solidFill>
              </a:rPr>
              <a:t>experiments from </a:t>
            </a:r>
            <a:r>
              <a:rPr lang="en-GB" sz="1600" b="1">
                <a:solidFill>
                  <a:schemeClr val="dk1"/>
                </a:solidFill>
              </a:rPr>
              <a:t>large-scale efforts</a:t>
            </a:r>
            <a:r>
              <a:rPr lang="en-GB" sz="1600">
                <a:solidFill>
                  <a:schemeClr val="dk1"/>
                </a:solidFill>
              </a:rPr>
              <a:t> involving several species.</a:t>
            </a:r>
            <a:endParaRPr sz="1600">
              <a:solidFill>
                <a:schemeClr val="dk1"/>
              </a:solidFill>
            </a:endParaRPr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600"/>
              <a:buChar char="✓"/>
            </a:pPr>
            <a:r>
              <a:rPr lang="en-GB" sz="1600">
                <a:solidFill>
                  <a:schemeClr val="dk1"/>
                </a:solidFill>
              </a:rPr>
              <a:t>Focused on detecting:</a:t>
            </a:r>
            <a:endParaRPr sz="1600">
              <a:solidFill>
                <a:schemeClr val="dk1"/>
              </a:solidFill>
            </a:endParaRPr>
          </a:p>
          <a:p>
            <a:pPr marL="914400" lvl="1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600"/>
              <a:buChar char="●"/>
            </a:pPr>
            <a:r>
              <a:rPr lang="en-GB" sz="1600">
                <a:solidFill>
                  <a:schemeClr val="dk1"/>
                </a:solidFill>
              </a:rPr>
              <a:t>Promoter-like sequences</a:t>
            </a:r>
            <a:endParaRPr sz="1600">
              <a:solidFill>
                <a:schemeClr val="dk1"/>
              </a:solidFill>
            </a:endParaRPr>
          </a:p>
          <a:p>
            <a:pPr marL="914400" lvl="1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600"/>
              <a:buChar char="●"/>
            </a:pPr>
            <a:r>
              <a:rPr lang="en-GB" sz="1600">
                <a:solidFill>
                  <a:schemeClr val="dk1"/>
                </a:solidFill>
              </a:rPr>
              <a:t>Enhancer-like sequences</a:t>
            </a:r>
            <a:endParaRPr sz="1600">
              <a:solidFill>
                <a:schemeClr val="dk1"/>
              </a:solidFill>
            </a:endParaRPr>
          </a:p>
          <a:p>
            <a:pPr marL="914400" lvl="1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600"/>
              <a:buChar char="●"/>
            </a:pPr>
            <a:r>
              <a:rPr lang="en-GB" sz="1600">
                <a:solidFill>
                  <a:schemeClr val="dk1"/>
                </a:solidFill>
              </a:rPr>
              <a:t>Open chromatin regions</a:t>
            </a:r>
            <a:endParaRPr sz="1600">
              <a:solidFill>
                <a:schemeClr val="dk1"/>
              </a:solidFill>
            </a:endParaRPr>
          </a:p>
          <a:p>
            <a:pPr marL="914400" lvl="1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600"/>
              <a:buChar char="●"/>
            </a:pPr>
            <a:r>
              <a:rPr lang="en-GB" sz="1600">
                <a:solidFill>
                  <a:schemeClr val="dk1"/>
                </a:solidFill>
              </a:rPr>
              <a:t>Transcription factor </a:t>
            </a:r>
            <a:endParaRPr sz="1600">
              <a:solidFill>
                <a:schemeClr val="dk1"/>
              </a:solidFill>
            </a:endParaRPr>
          </a:p>
          <a:p>
            <a:pPr marL="914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dk1"/>
                </a:solidFill>
              </a:rPr>
              <a:t>binding regions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646" name="Google Shape;646;p68"/>
          <p:cNvPicPr preferRelativeResize="0"/>
          <p:nvPr/>
        </p:nvPicPr>
        <p:blipFill rotWithShape="1">
          <a:blip r:embed="rId3">
            <a:alphaModFix/>
          </a:blip>
          <a:srcRect r="60695"/>
          <a:stretch/>
        </p:blipFill>
        <p:spPr>
          <a:xfrm>
            <a:off x="6905901" y="1783350"/>
            <a:ext cx="2155674" cy="2503874"/>
          </a:xfrm>
          <a:prstGeom prst="rect">
            <a:avLst/>
          </a:prstGeom>
          <a:noFill/>
          <a:ln>
            <a:noFill/>
          </a:ln>
        </p:spPr>
      </p:pic>
      <p:pic>
        <p:nvPicPr>
          <p:cNvPr id="647" name="Google Shape;647;p6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33711" y="2532724"/>
            <a:ext cx="3272200" cy="197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48" name="Google Shape;648;p6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700950" y="1940900"/>
            <a:ext cx="3137725" cy="591825"/>
          </a:xfrm>
          <a:prstGeom prst="rect">
            <a:avLst/>
          </a:prstGeom>
          <a:noFill/>
          <a:ln>
            <a:noFill/>
          </a:ln>
        </p:spPr>
      </p:pic>
      <p:sp>
        <p:nvSpPr>
          <p:cNvPr id="649" name="Google Shape;649;p68"/>
          <p:cNvSpPr txBox="1"/>
          <p:nvPr/>
        </p:nvSpPr>
        <p:spPr>
          <a:xfrm>
            <a:off x="6905900" y="4332775"/>
            <a:ext cx="3000000" cy="2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"/>
              <a:t>https://www.nature.com/articles/s41586-025-09909-9</a:t>
            </a:r>
            <a:endParaRPr sz="5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p69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Strategies for genome-wide detection of CREs</a:t>
            </a:r>
            <a:endParaRPr/>
          </a:p>
        </p:txBody>
      </p:sp>
      <p:sp>
        <p:nvSpPr>
          <p:cNvPr id="656" name="Google Shape;656;p69"/>
          <p:cNvSpPr txBox="1"/>
          <p:nvPr/>
        </p:nvSpPr>
        <p:spPr>
          <a:xfrm>
            <a:off x="143225" y="873700"/>
            <a:ext cx="8257500" cy="19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600"/>
              <a:buChar char="✓"/>
            </a:pPr>
            <a:r>
              <a:rPr lang="en-GB" sz="1600">
                <a:solidFill>
                  <a:schemeClr val="dk1"/>
                </a:solidFill>
              </a:rPr>
              <a:t>Require genome-wide experimental assays in several cell lines, tissues and developmental-stages</a:t>
            </a:r>
            <a:endParaRPr sz="1600">
              <a:solidFill>
                <a:schemeClr val="dk1"/>
              </a:solidFill>
            </a:endParaRPr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600"/>
              <a:buChar char="✓"/>
            </a:pPr>
            <a:r>
              <a:rPr lang="en-GB" sz="1600">
                <a:solidFill>
                  <a:schemeClr val="dk1"/>
                </a:solidFill>
              </a:rPr>
              <a:t>Each assay will usually produce two tracks: </a:t>
            </a:r>
            <a:endParaRPr sz="1600">
              <a:solidFill>
                <a:schemeClr val="dk1"/>
              </a:solidFill>
            </a:endParaRPr>
          </a:p>
          <a:p>
            <a:pPr marL="914400" lvl="1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600"/>
              <a:buChar char="●"/>
            </a:pPr>
            <a:r>
              <a:rPr lang="en-GB" sz="1600" b="1">
                <a:solidFill>
                  <a:schemeClr val="dk1"/>
                </a:solidFill>
              </a:rPr>
              <a:t>Signal</a:t>
            </a:r>
            <a:r>
              <a:rPr lang="en-GB" sz="1600">
                <a:solidFill>
                  <a:schemeClr val="dk1"/>
                </a:solidFill>
              </a:rPr>
              <a:t>: Quantitative coverage or enrichment signal</a:t>
            </a:r>
            <a:endParaRPr sz="1600">
              <a:solidFill>
                <a:schemeClr val="dk1"/>
              </a:solidFill>
            </a:endParaRPr>
          </a:p>
          <a:p>
            <a:pPr marL="914400" lvl="1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600"/>
              <a:buChar char="●"/>
            </a:pPr>
            <a:r>
              <a:rPr lang="en-GB" sz="1600" b="1">
                <a:solidFill>
                  <a:schemeClr val="dk1"/>
                </a:solidFill>
              </a:rPr>
              <a:t>Peaks</a:t>
            </a:r>
            <a:r>
              <a:rPr lang="en-GB" sz="1600">
                <a:solidFill>
                  <a:schemeClr val="dk1"/>
                </a:solidFill>
              </a:rPr>
              <a:t>: Genomic intervals identified through statistical analysis of signal tracks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657" name="Google Shape;657;p69" title="region_example_sesion_1.png"/>
          <p:cNvPicPr preferRelativeResize="0"/>
          <p:nvPr/>
        </p:nvPicPr>
        <p:blipFill rotWithShape="1">
          <a:blip r:embed="rId3">
            <a:alphaModFix/>
          </a:blip>
          <a:srcRect b="49637"/>
          <a:stretch/>
        </p:blipFill>
        <p:spPr>
          <a:xfrm>
            <a:off x="944262" y="2782300"/>
            <a:ext cx="7239977" cy="1936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70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Strategies for genome-wide detection of CREs</a:t>
            </a:r>
            <a:endParaRPr/>
          </a:p>
        </p:txBody>
      </p:sp>
      <p:sp>
        <p:nvSpPr>
          <p:cNvPr id="664" name="Google Shape;664;p70"/>
          <p:cNvSpPr txBox="1"/>
          <p:nvPr/>
        </p:nvSpPr>
        <p:spPr>
          <a:xfrm>
            <a:off x="143225" y="873700"/>
            <a:ext cx="8257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400"/>
              <a:buChar char="✓"/>
            </a:pPr>
            <a:r>
              <a:rPr lang="en-GB" i="1">
                <a:solidFill>
                  <a:schemeClr val="dk1"/>
                </a:solidFill>
              </a:rPr>
              <a:t>Genome segmentation by unsupervised machine learning methods</a:t>
            </a:r>
            <a:endParaRPr i="1">
              <a:solidFill>
                <a:schemeClr val="dk1"/>
              </a:solidFill>
            </a:endParaRPr>
          </a:p>
        </p:txBody>
      </p:sp>
      <p:pic>
        <p:nvPicPr>
          <p:cNvPr id="665" name="Google Shape;665;p70"/>
          <p:cNvPicPr preferRelativeResize="0"/>
          <p:nvPr/>
        </p:nvPicPr>
        <p:blipFill rotWithShape="1">
          <a:blip r:embed="rId3">
            <a:alphaModFix/>
          </a:blip>
          <a:srcRect b="40811"/>
          <a:stretch/>
        </p:blipFill>
        <p:spPr>
          <a:xfrm>
            <a:off x="405029" y="1347890"/>
            <a:ext cx="4572200" cy="3170627"/>
          </a:xfrm>
          <a:prstGeom prst="rect">
            <a:avLst/>
          </a:prstGeom>
          <a:noFill/>
          <a:ln>
            <a:noFill/>
          </a:ln>
        </p:spPr>
      </p:pic>
      <p:sp>
        <p:nvSpPr>
          <p:cNvPr id="666" name="Google Shape;666;p70"/>
          <p:cNvSpPr txBox="1"/>
          <p:nvPr/>
        </p:nvSpPr>
        <p:spPr>
          <a:xfrm>
            <a:off x="377054" y="4469515"/>
            <a:ext cx="51957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/>
              <a:t>Figure extracted from </a:t>
            </a:r>
            <a:r>
              <a:rPr lang="en-GB" sz="900" i="1"/>
              <a:t>Chromatin-state discovery and genome annotation with ChromHMM</a:t>
            </a:r>
            <a:r>
              <a:rPr lang="en-GB" sz="900" baseline="30000"/>
              <a:t>1</a:t>
            </a:r>
            <a:r>
              <a:rPr lang="en-GB" sz="900"/>
              <a:t>.</a:t>
            </a:r>
            <a:endParaRPr sz="900"/>
          </a:p>
        </p:txBody>
      </p:sp>
      <p:sp>
        <p:nvSpPr>
          <p:cNvPr id="667" name="Google Shape;667;p70"/>
          <p:cNvSpPr txBox="1"/>
          <p:nvPr/>
        </p:nvSpPr>
        <p:spPr>
          <a:xfrm>
            <a:off x="0" y="4866600"/>
            <a:ext cx="76134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baseline="30000">
                <a:solidFill>
                  <a:schemeClr val="dk1"/>
                </a:solidFill>
              </a:rPr>
              <a:t>1</a:t>
            </a:r>
            <a:r>
              <a:rPr lang="en-GB" sz="600">
                <a:solidFill>
                  <a:schemeClr val="dk1"/>
                </a:solidFill>
              </a:rPr>
              <a:t>Ernst, J., Kellis, M. Chromatin-state discovery and genome annotation with ChromHMM. Nat Protoc 12, 2478–2492 (2017). https://doi.org/10.1038/nprot.2017.124</a:t>
            </a:r>
            <a:endParaRPr sz="600">
              <a:solidFill>
                <a:schemeClr val="dk1"/>
              </a:solidFill>
            </a:endParaRPr>
          </a:p>
        </p:txBody>
      </p:sp>
      <p:sp>
        <p:nvSpPr>
          <p:cNvPr id="668" name="Google Shape;668;p70"/>
          <p:cNvSpPr txBox="1"/>
          <p:nvPr/>
        </p:nvSpPr>
        <p:spPr>
          <a:xfrm>
            <a:off x="4977225" y="1552625"/>
            <a:ext cx="3967200" cy="291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dk1"/>
                </a:solidFill>
              </a:rPr>
              <a:t>Strengths:</a:t>
            </a:r>
            <a:endParaRPr sz="1200">
              <a:solidFill>
                <a:schemeClr val="dk1"/>
              </a:solidFill>
            </a:endParaRPr>
          </a:p>
          <a:p>
            <a:pPr marL="269999" lvl="0" indent="-159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Integrates several histone marks/accessibility tracks into one compact genome-wide annotation.</a:t>
            </a:r>
            <a:endParaRPr sz="1100">
              <a:solidFill>
                <a:schemeClr val="dk1"/>
              </a:solidFill>
            </a:endParaRPr>
          </a:p>
          <a:p>
            <a:pPr marL="269999" lvl="0" indent="-159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Learns recurrent mark combinations de novo.</a:t>
            </a:r>
            <a:endParaRPr sz="1100">
              <a:solidFill>
                <a:schemeClr val="dk1"/>
              </a:solidFill>
            </a:endParaRPr>
          </a:p>
          <a:p>
            <a:pPr marL="269999" lvl="0" indent="-159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Produces interpretable state definitions: e.g. H3K4me3 + H3K27ac-rich states suggest active promoters; H3K4me1 + H3K27ac suggests enhancers.</a:t>
            </a:r>
            <a:endParaRPr sz="1100">
              <a:solidFill>
                <a:schemeClr val="dk1"/>
              </a:solidFill>
            </a:endParaRPr>
          </a:p>
          <a:p>
            <a:pPr marL="269999" lvl="0" indent="-159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Gives every genomic bin a label, making the non-coding genome easier to visualise and compare across cell types.</a:t>
            </a:r>
            <a:endParaRPr sz="1100">
              <a:solidFill>
                <a:schemeClr val="dk1"/>
              </a:solidFill>
            </a:endParaRPr>
          </a:p>
          <a:p>
            <a:pPr marL="269999" lvl="0" indent="-159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Widely used and scalable.</a:t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71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Strategies for genome-wide detection of CREs</a:t>
            </a:r>
            <a:endParaRPr/>
          </a:p>
        </p:txBody>
      </p:sp>
      <p:sp>
        <p:nvSpPr>
          <p:cNvPr id="675" name="Google Shape;675;p71"/>
          <p:cNvSpPr txBox="1"/>
          <p:nvPr/>
        </p:nvSpPr>
        <p:spPr>
          <a:xfrm>
            <a:off x="143225" y="873700"/>
            <a:ext cx="8257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400"/>
              <a:buChar char="✓"/>
            </a:pPr>
            <a:r>
              <a:rPr lang="en-GB" i="1">
                <a:solidFill>
                  <a:schemeClr val="dk1"/>
                </a:solidFill>
              </a:rPr>
              <a:t>Genome segmentation by unsupervised machine learning methods</a:t>
            </a:r>
            <a:endParaRPr i="1">
              <a:solidFill>
                <a:schemeClr val="dk1"/>
              </a:solidFill>
            </a:endParaRPr>
          </a:p>
        </p:txBody>
      </p:sp>
      <p:pic>
        <p:nvPicPr>
          <p:cNvPr id="676" name="Google Shape;676;p71"/>
          <p:cNvPicPr preferRelativeResize="0"/>
          <p:nvPr/>
        </p:nvPicPr>
        <p:blipFill rotWithShape="1">
          <a:blip r:embed="rId3">
            <a:alphaModFix/>
          </a:blip>
          <a:srcRect b="40811"/>
          <a:stretch/>
        </p:blipFill>
        <p:spPr>
          <a:xfrm>
            <a:off x="405029" y="1347890"/>
            <a:ext cx="4572200" cy="3170627"/>
          </a:xfrm>
          <a:prstGeom prst="rect">
            <a:avLst/>
          </a:prstGeom>
          <a:noFill/>
          <a:ln>
            <a:noFill/>
          </a:ln>
        </p:spPr>
      </p:pic>
      <p:sp>
        <p:nvSpPr>
          <p:cNvPr id="677" name="Google Shape;677;p71"/>
          <p:cNvSpPr txBox="1"/>
          <p:nvPr/>
        </p:nvSpPr>
        <p:spPr>
          <a:xfrm>
            <a:off x="377054" y="4469515"/>
            <a:ext cx="51957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/>
              <a:t>Figure extracted from </a:t>
            </a:r>
            <a:r>
              <a:rPr lang="en-GB" sz="900" i="1"/>
              <a:t>Chromatin-state discovery and genome annotation with ChromHMM</a:t>
            </a:r>
            <a:r>
              <a:rPr lang="en-GB" sz="900" baseline="30000"/>
              <a:t>1</a:t>
            </a:r>
            <a:r>
              <a:rPr lang="en-GB" sz="900"/>
              <a:t>.</a:t>
            </a:r>
            <a:endParaRPr sz="900"/>
          </a:p>
        </p:txBody>
      </p:sp>
      <p:sp>
        <p:nvSpPr>
          <p:cNvPr id="678" name="Google Shape;678;p71"/>
          <p:cNvSpPr txBox="1"/>
          <p:nvPr/>
        </p:nvSpPr>
        <p:spPr>
          <a:xfrm>
            <a:off x="0" y="4866600"/>
            <a:ext cx="76134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baseline="30000">
                <a:solidFill>
                  <a:schemeClr val="dk1"/>
                </a:solidFill>
              </a:rPr>
              <a:t>1</a:t>
            </a:r>
            <a:r>
              <a:rPr lang="en-GB" sz="600">
                <a:solidFill>
                  <a:schemeClr val="dk1"/>
                </a:solidFill>
              </a:rPr>
              <a:t>Ernst, J., Kellis, M. Chromatin-state discovery and genome annotation with ChromHMM. Nat Protoc 12, 2478–2492 (2017). https://doi.org/10.1038/nprot.2017.124</a:t>
            </a:r>
            <a:endParaRPr sz="600">
              <a:solidFill>
                <a:schemeClr val="dk1"/>
              </a:solidFill>
            </a:endParaRPr>
          </a:p>
        </p:txBody>
      </p:sp>
      <p:sp>
        <p:nvSpPr>
          <p:cNvPr id="679" name="Google Shape;679;p71"/>
          <p:cNvSpPr txBox="1"/>
          <p:nvPr/>
        </p:nvSpPr>
        <p:spPr>
          <a:xfrm>
            <a:off x="4977225" y="1552613"/>
            <a:ext cx="4033200" cy="291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dk1"/>
                </a:solidFill>
              </a:rPr>
              <a:t>Limitations:</a:t>
            </a:r>
            <a:endParaRPr sz="1200">
              <a:solidFill>
                <a:schemeClr val="dk1"/>
              </a:solidFill>
            </a:endParaRPr>
          </a:p>
          <a:p>
            <a:pPr marL="269999" lvl="0" indent="-159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State names are interpretations, </a:t>
            </a:r>
            <a:r>
              <a:rPr lang="en-GB" sz="1100" b="1">
                <a:solidFill>
                  <a:schemeClr val="dk1"/>
                </a:solidFill>
              </a:rPr>
              <a:t>not guarantees</a:t>
            </a:r>
            <a:r>
              <a:rPr lang="en-GB" sz="1100">
                <a:solidFill>
                  <a:schemeClr val="dk1"/>
                </a:solidFill>
              </a:rPr>
              <a:t>: an “enhancer” state is a candidate enhancer annotation, not proof that every bin with this state functions as an enhancer.</a:t>
            </a:r>
            <a:endParaRPr sz="1100">
              <a:solidFill>
                <a:schemeClr val="dk1"/>
              </a:solidFill>
            </a:endParaRPr>
          </a:p>
          <a:p>
            <a:pPr marL="269999" lvl="0" indent="-159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The number of states is chosen by the user; too few states can merge biology, too many can create hard-to-interpret subclasses.</a:t>
            </a:r>
            <a:endParaRPr sz="1100">
              <a:solidFill>
                <a:schemeClr val="dk1"/>
              </a:solidFill>
            </a:endParaRPr>
          </a:p>
          <a:p>
            <a:pPr marL="269999" lvl="0" indent="-159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Resolution is limited by bin size and assay resolution.</a:t>
            </a:r>
            <a:endParaRPr sz="1100">
              <a:solidFill>
                <a:schemeClr val="dk1"/>
              </a:solidFill>
            </a:endParaRPr>
          </a:p>
          <a:p>
            <a:pPr marL="269999" lvl="0" indent="-159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Results depend strongly on input marks, data quality, binarisation, and missing assays.</a:t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p72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Strategies for genome-wide detection of CREs</a:t>
            </a:r>
            <a:endParaRPr/>
          </a:p>
        </p:txBody>
      </p:sp>
      <p:sp>
        <p:nvSpPr>
          <p:cNvPr id="686" name="Google Shape;686;p72"/>
          <p:cNvSpPr txBox="1"/>
          <p:nvPr/>
        </p:nvSpPr>
        <p:spPr>
          <a:xfrm>
            <a:off x="143225" y="873700"/>
            <a:ext cx="8257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400"/>
              <a:buChar char="✓"/>
            </a:pPr>
            <a:r>
              <a:rPr lang="en-GB" i="1">
                <a:solidFill>
                  <a:schemeClr val="dk1"/>
                </a:solidFill>
              </a:rPr>
              <a:t>Open chromatin-guided annotation of CREs</a:t>
            </a:r>
            <a:endParaRPr i="1">
              <a:solidFill>
                <a:schemeClr val="dk1"/>
              </a:solidFill>
            </a:endParaRPr>
          </a:p>
        </p:txBody>
      </p:sp>
      <p:sp>
        <p:nvSpPr>
          <p:cNvPr id="687" name="Google Shape;687;p72"/>
          <p:cNvSpPr txBox="1"/>
          <p:nvPr/>
        </p:nvSpPr>
        <p:spPr>
          <a:xfrm>
            <a:off x="5009375" y="1217275"/>
            <a:ext cx="4033200" cy="291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dk1"/>
                </a:solidFill>
              </a:rPr>
              <a:t>Strengths:</a:t>
            </a:r>
            <a:endParaRPr sz="1200">
              <a:solidFill>
                <a:schemeClr val="dk1"/>
              </a:solidFill>
            </a:endParaRPr>
          </a:p>
          <a:p>
            <a:pPr marL="269999" lvl="0" indent="-159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Directly uses chromatin accessibility, a strong hallmark of active or poised regulatory DNA.</a:t>
            </a:r>
            <a:endParaRPr sz="1100">
              <a:solidFill>
                <a:schemeClr val="dk1"/>
              </a:solidFill>
            </a:endParaRPr>
          </a:p>
          <a:p>
            <a:pPr marL="269999" lvl="0" indent="-159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Produces focal candidate regions, often easier to intersect with variants than broad chromatin states.</a:t>
            </a:r>
            <a:endParaRPr sz="1100">
              <a:solidFill>
                <a:schemeClr val="dk1"/>
              </a:solidFill>
            </a:endParaRPr>
          </a:p>
          <a:p>
            <a:pPr marL="269999" lvl="0" indent="-159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More transparent than unsupervised segmentation: rules like H3K4me3 near TSS = promoter-like, H3K27ac distal = enhancer-like.</a:t>
            </a:r>
            <a:endParaRPr sz="1100">
              <a:solidFill>
                <a:schemeClr val="dk1"/>
              </a:solidFill>
            </a:endParaRPr>
          </a:p>
          <a:p>
            <a:pPr marL="269999" lvl="0" indent="-159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Scales well across many tissues/cell types.</a:t>
            </a:r>
            <a:endParaRPr sz="1100">
              <a:solidFill>
                <a:schemeClr val="dk1"/>
              </a:solidFill>
            </a:endParaRPr>
          </a:p>
          <a:p>
            <a:pPr marL="269999" lvl="0" indent="-159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Useful for variant interpretation because it gives a practical catalogue of candidate regulatory elements.</a:t>
            </a:r>
            <a:endParaRPr sz="1100">
              <a:solidFill>
                <a:schemeClr val="dk1"/>
              </a:solidFill>
            </a:endParaRPr>
          </a:p>
        </p:txBody>
      </p:sp>
      <p:pic>
        <p:nvPicPr>
          <p:cNvPr id="688" name="Google Shape;688;p72" title="open_chromatin_cre_detection.png"/>
          <p:cNvPicPr preferRelativeResize="0"/>
          <p:nvPr/>
        </p:nvPicPr>
        <p:blipFill rotWithShape="1">
          <a:blip r:embed="rId3">
            <a:alphaModFix/>
          </a:blip>
          <a:srcRect l="2433" r="2888" b="16562"/>
          <a:stretch/>
        </p:blipFill>
        <p:spPr>
          <a:xfrm>
            <a:off x="143225" y="1568650"/>
            <a:ext cx="4916851" cy="2437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p73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Strategies for genome-wide detection of CREs</a:t>
            </a:r>
            <a:endParaRPr/>
          </a:p>
        </p:txBody>
      </p:sp>
      <p:sp>
        <p:nvSpPr>
          <p:cNvPr id="695" name="Google Shape;695;p73"/>
          <p:cNvSpPr txBox="1"/>
          <p:nvPr/>
        </p:nvSpPr>
        <p:spPr>
          <a:xfrm>
            <a:off x="143225" y="873700"/>
            <a:ext cx="8257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400"/>
              <a:buChar char="✓"/>
            </a:pPr>
            <a:r>
              <a:rPr lang="en-GB" i="1">
                <a:solidFill>
                  <a:schemeClr val="dk1"/>
                </a:solidFill>
              </a:rPr>
              <a:t>Open chromatin-guided annotation of CREs</a:t>
            </a:r>
            <a:endParaRPr i="1">
              <a:solidFill>
                <a:schemeClr val="dk1"/>
              </a:solidFill>
            </a:endParaRPr>
          </a:p>
        </p:txBody>
      </p:sp>
      <p:sp>
        <p:nvSpPr>
          <p:cNvPr id="696" name="Google Shape;696;p73"/>
          <p:cNvSpPr txBox="1"/>
          <p:nvPr/>
        </p:nvSpPr>
        <p:spPr>
          <a:xfrm>
            <a:off x="4987925" y="964538"/>
            <a:ext cx="4033200" cy="367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dk1"/>
                </a:solidFill>
              </a:rPr>
              <a:t>Limitations:</a:t>
            </a:r>
            <a:endParaRPr sz="1200">
              <a:solidFill>
                <a:schemeClr val="dk1"/>
              </a:solidFill>
            </a:endParaRPr>
          </a:p>
          <a:p>
            <a:pPr marL="269999" lvl="0" indent="-159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Open chromatin is not proof of regulatory function; it marks candidate, not validated CREs.</a:t>
            </a:r>
            <a:endParaRPr sz="1100">
              <a:solidFill>
                <a:schemeClr val="dk1"/>
              </a:solidFill>
            </a:endParaRPr>
          </a:p>
          <a:p>
            <a:pPr marL="269999" lvl="0" indent="-159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Functional labels are heuristic: “enhancer-like” does not guarantee enhancer activity.</a:t>
            </a:r>
            <a:endParaRPr sz="1100">
              <a:solidFill>
                <a:schemeClr val="dk1"/>
              </a:solidFill>
            </a:endParaRPr>
          </a:p>
          <a:p>
            <a:pPr marL="269999" lvl="0" indent="-159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Cell type-, tissue-, stage-, or condition-specific elements may be missed if those contexts are not represented in the open chromatin data.</a:t>
            </a:r>
            <a:endParaRPr sz="1100">
              <a:solidFill>
                <a:schemeClr val="dk1"/>
              </a:solidFill>
            </a:endParaRPr>
          </a:p>
          <a:p>
            <a:pPr marL="269999" lvl="0" indent="-159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Classification depends on assay availability and quality; missing H3K27ac, H3K4me3, CTCF, or TF-binding data can limit annotation.</a:t>
            </a:r>
            <a:endParaRPr sz="1100">
              <a:solidFill>
                <a:schemeClr val="dk1"/>
              </a:solidFill>
            </a:endParaRPr>
          </a:p>
          <a:p>
            <a:pPr marL="269999" lvl="0" indent="-159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Target genes, direction of effect, and causal nucleotides require extra evidence such as eQTLs, CRISPR perturbation, reporter assays, or chromatin contacts.</a:t>
            </a:r>
            <a:endParaRPr sz="1100">
              <a:solidFill>
                <a:schemeClr val="dk1"/>
              </a:solidFill>
            </a:endParaRPr>
          </a:p>
        </p:txBody>
      </p:sp>
      <p:pic>
        <p:nvPicPr>
          <p:cNvPr id="697" name="Google Shape;697;p73" title="open_chromatin_cre_detection.png"/>
          <p:cNvPicPr preferRelativeResize="0"/>
          <p:nvPr/>
        </p:nvPicPr>
        <p:blipFill rotWithShape="1">
          <a:blip r:embed="rId3">
            <a:alphaModFix/>
          </a:blip>
          <a:srcRect l="2433" r="2888" b="16562"/>
          <a:stretch/>
        </p:blipFill>
        <p:spPr>
          <a:xfrm>
            <a:off x="143225" y="1568650"/>
            <a:ext cx="4916851" cy="2437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p75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Questions?</a:t>
            </a:r>
            <a:endParaRPr/>
          </a:p>
        </p:txBody>
      </p:sp>
      <p:grpSp>
        <p:nvGrpSpPr>
          <p:cNvPr id="710" name="Google Shape;710;p75"/>
          <p:cNvGrpSpPr/>
          <p:nvPr/>
        </p:nvGrpSpPr>
        <p:grpSpPr>
          <a:xfrm>
            <a:off x="1788346" y="1314725"/>
            <a:ext cx="776475" cy="2406685"/>
            <a:chOff x="3226825" y="1139765"/>
            <a:chExt cx="776475" cy="2406685"/>
          </a:xfrm>
        </p:grpSpPr>
        <p:sp>
          <p:nvSpPr>
            <p:cNvPr id="711" name="Google Shape;711;p75"/>
            <p:cNvSpPr/>
            <p:nvPr/>
          </p:nvSpPr>
          <p:spPr>
            <a:xfrm>
              <a:off x="3226825" y="1139765"/>
              <a:ext cx="776475" cy="2145375"/>
            </a:xfrm>
            <a:custGeom>
              <a:avLst/>
              <a:gdLst/>
              <a:ahLst/>
              <a:cxnLst/>
              <a:rect l="l" t="t" r="r" b="b"/>
              <a:pathLst>
                <a:path w="31059" h="85815" extrusionOk="0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w="228600" cap="flat" cmpd="sng">
              <a:solidFill>
                <a:srgbClr val="274E13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2" name="Google Shape;712;p75"/>
            <p:cNvSpPr/>
            <p:nvPr/>
          </p:nvSpPr>
          <p:spPr>
            <a:xfrm>
              <a:off x="3316488" y="3427700"/>
              <a:ext cx="120625" cy="118750"/>
            </a:xfrm>
            <a:custGeom>
              <a:avLst/>
              <a:gdLst/>
              <a:ahLst/>
              <a:cxnLst/>
              <a:rect l="l" t="t" r="r" b="b"/>
              <a:pathLst>
                <a:path w="4825" h="4750" extrusionOk="0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w="228600" cap="flat" cmpd="sng">
              <a:solidFill>
                <a:srgbClr val="274E13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13" name="Google Shape;713;p75"/>
          <p:cNvGrpSpPr/>
          <p:nvPr/>
        </p:nvGrpSpPr>
        <p:grpSpPr>
          <a:xfrm>
            <a:off x="6367779" y="1366550"/>
            <a:ext cx="776475" cy="2406685"/>
            <a:chOff x="3226825" y="1139765"/>
            <a:chExt cx="776475" cy="2406685"/>
          </a:xfrm>
        </p:grpSpPr>
        <p:sp>
          <p:nvSpPr>
            <p:cNvPr id="714" name="Google Shape;714;p75"/>
            <p:cNvSpPr/>
            <p:nvPr/>
          </p:nvSpPr>
          <p:spPr>
            <a:xfrm>
              <a:off x="3226825" y="1139765"/>
              <a:ext cx="776475" cy="2145375"/>
            </a:xfrm>
            <a:custGeom>
              <a:avLst/>
              <a:gdLst/>
              <a:ahLst/>
              <a:cxnLst/>
              <a:rect l="l" t="t" r="r" b="b"/>
              <a:pathLst>
                <a:path w="31059" h="85815" extrusionOk="0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w="228600" cap="flat" cmpd="sng">
              <a:solidFill>
                <a:srgbClr val="B6D7A8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5" name="Google Shape;715;p75"/>
            <p:cNvSpPr/>
            <p:nvPr/>
          </p:nvSpPr>
          <p:spPr>
            <a:xfrm>
              <a:off x="3316488" y="3427700"/>
              <a:ext cx="120625" cy="118750"/>
            </a:xfrm>
            <a:custGeom>
              <a:avLst/>
              <a:gdLst/>
              <a:ahLst/>
              <a:cxnLst/>
              <a:rect l="l" t="t" r="r" b="b"/>
              <a:pathLst>
                <a:path w="4825" h="4750" extrusionOk="0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w="228600" cap="flat" cmpd="sng">
              <a:solidFill>
                <a:srgbClr val="B6D7A8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16" name="Google Shape;716;p75"/>
          <p:cNvGrpSpPr/>
          <p:nvPr/>
        </p:nvGrpSpPr>
        <p:grpSpPr>
          <a:xfrm>
            <a:off x="2933204" y="1366550"/>
            <a:ext cx="776475" cy="2406685"/>
            <a:chOff x="3226825" y="1139765"/>
            <a:chExt cx="776475" cy="2406685"/>
          </a:xfrm>
        </p:grpSpPr>
        <p:sp>
          <p:nvSpPr>
            <p:cNvPr id="717" name="Google Shape;717;p75"/>
            <p:cNvSpPr/>
            <p:nvPr/>
          </p:nvSpPr>
          <p:spPr>
            <a:xfrm>
              <a:off x="3226825" y="1139765"/>
              <a:ext cx="776475" cy="2145375"/>
            </a:xfrm>
            <a:custGeom>
              <a:avLst/>
              <a:gdLst/>
              <a:ahLst/>
              <a:cxnLst/>
              <a:rect l="l" t="t" r="r" b="b"/>
              <a:pathLst>
                <a:path w="31059" h="85815" extrusionOk="0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w="228600" cap="flat" cmpd="sng">
              <a:solidFill>
                <a:srgbClr val="38761D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8" name="Google Shape;718;p75"/>
            <p:cNvSpPr/>
            <p:nvPr/>
          </p:nvSpPr>
          <p:spPr>
            <a:xfrm>
              <a:off x="3316488" y="3427700"/>
              <a:ext cx="120625" cy="118750"/>
            </a:xfrm>
            <a:custGeom>
              <a:avLst/>
              <a:gdLst/>
              <a:ahLst/>
              <a:cxnLst/>
              <a:rect l="l" t="t" r="r" b="b"/>
              <a:pathLst>
                <a:path w="4825" h="4750" extrusionOk="0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w="228600" cap="flat" cmpd="sng">
              <a:solidFill>
                <a:srgbClr val="38761D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19" name="Google Shape;719;p75"/>
          <p:cNvGrpSpPr/>
          <p:nvPr/>
        </p:nvGrpSpPr>
        <p:grpSpPr>
          <a:xfrm>
            <a:off x="4078063" y="1366550"/>
            <a:ext cx="776475" cy="2406685"/>
            <a:chOff x="3226825" y="1139765"/>
            <a:chExt cx="776475" cy="2406685"/>
          </a:xfrm>
        </p:grpSpPr>
        <p:sp>
          <p:nvSpPr>
            <p:cNvPr id="720" name="Google Shape;720;p75"/>
            <p:cNvSpPr/>
            <p:nvPr/>
          </p:nvSpPr>
          <p:spPr>
            <a:xfrm>
              <a:off x="3226825" y="1139765"/>
              <a:ext cx="776475" cy="2145375"/>
            </a:xfrm>
            <a:custGeom>
              <a:avLst/>
              <a:gdLst/>
              <a:ahLst/>
              <a:cxnLst/>
              <a:rect l="l" t="t" r="r" b="b"/>
              <a:pathLst>
                <a:path w="31059" h="85815" extrusionOk="0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w="228600" cap="flat" cmpd="sng">
              <a:solidFill>
                <a:srgbClr val="6AA84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1" name="Google Shape;721;p75"/>
            <p:cNvSpPr/>
            <p:nvPr/>
          </p:nvSpPr>
          <p:spPr>
            <a:xfrm>
              <a:off x="3316488" y="3427700"/>
              <a:ext cx="120625" cy="118750"/>
            </a:xfrm>
            <a:custGeom>
              <a:avLst/>
              <a:gdLst/>
              <a:ahLst/>
              <a:cxnLst/>
              <a:rect l="l" t="t" r="r" b="b"/>
              <a:pathLst>
                <a:path w="4825" h="4750" extrusionOk="0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w="228600" cap="flat" cmpd="sng">
              <a:solidFill>
                <a:srgbClr val="6AA84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22" name="Google Shape;722;p75"/>
          <p:cNvGrpSpPr/>
          <p:nvPr/>
        </p:nvGrpSpPr>
        <p:grpSpPr>
          <a:xfrm>
            <a:off x="5222921" y="1366550"/>
            <a:ext cx="776475" cy="2406685"/>
            <a:chOff x="3226825" y="1139765"/>
            <a:chExt cx="776475" cy="2406685"/>
          </a:xfrm>
        </p:grpSpPr>
        <p:sp>
          <p:nvSpPr>
            <p:cNvPr id="723" name="Google Shape;723;p75"/>
            <p:cNvSpPr/>
            <p:nvPr/>
          </p:nvSpPr>
          <p:spPr>
            <a:xfrm>
              <a:off x="3226825" y="1139765"/>
              <a:ext cx="776475" cy="2145375"/>
            </a:xfrm>
            <a:custGeom>
              <a:avLst/>
              <a:gdLst/>
              <a:ahLst/>
              <a:cxnLst/>
              <a:rect l="l" t="t" r="r" b="b"/>
              <a:pathLst>
                <a:path w="31059" h="85815" extrusionOk="0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w="228600" cap="flat" cmpd="sng">
              <a:solidFill>
                <a:srgbClr val="93C47D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4" name="Google Shape;724;p75"/>
            <p:cNvSpPr/>
            <p:nvPr/>
          </p:nvSpPr>
          <p:spPr>
            <a:xfrm>
              <a:off x="3316488" y="3427700"/>
              <a:ext cx="120625" cy="118750"/>
            </a:xfrm>
            <a:custGeom>
              <a:avLst/>
              <a:gdLst/>
              <a:ahLst/>
              <a:cxnLst/>
              <a:rect l="l" t="t" r="r" b="b"/>
              <a:pathLst>
                <a:path w="4825" h="4750" extrusionOk="0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w="228600" cap="flat" cmpd="sng">
              <a:solidFill>
                <a:srgbClr val="93C47D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76"/>
          <p:cNvSpPr txBox="1">
            <a:spLocks noGrp="1"/>
          </p:cNvSpPr>
          <p:nvPr>
            <p:ph type="body" idx="1"/>
          </p:nvPr>
        </p:nvSpPr>
        <p:spPr>
          <a:xfrm>
            <a:off x="403622" y="665164"/>
            <a:ext cx="931500" cy="931500"/>
          </a:xfrm>
          <a:prstGeom prst="rect">
            <a:avLst/>
          </a:prstGeom>
        </p:spPr>
        <p:txBody>
          <a:bodyPr spcFirstLastPara="1" wrap="square" lIns="0" tIns="0" rIns="91425" bIns="45700" anchor="ctr" anchorCtr="0">
            <a:noAutofit/>
          </a:bodyPr>
          <a:lstStyle/>
          <a:p>
            <a:pPr marL="0" lvl="0" indent="0" algn="ctr" rtl="0">
              <a:spcBef>
                <a:spcPts val="750"/>
              </a:spcBef>
              <a:spcAft>
                <a:spcPts val="0"/>
              </a:spcAft>
              <a:buNone/>
            </a:pPr>
            <a:r>
              <a:rPr lang="en-GB"/>
              <a:t> </a:t>
            </a:r>
            <a:endParaRPr/>
          </a:p>
        </p:txBody>
      </p:sp>
      <p:sp>
        <p:nvSpPr>
          <p:cNvPr id="731" name="Google Shape;731;p76"/>
          <p:cNvSpPr txBox="1">
            <a:spLocks noGrp="1"/>
          </p:cNvSpPr>
          <p:nvPr>
            <p:ph type="body" idx="2"/>
          </p:nvPr>
        </p:nvSpPr>
        <p:spPr>
          <a:xfrm>
            <a:off x="1335122" y="665164"/>
            <a:ext cx="2808000" cy="931500"/>
          </a:xfrm>
          <a:prstGeom prst="rect">
            <a:avLst/>
          </a:prstGeom>
        </p:spPr>
        <p:txBody>
          <a:bodyPr spcFirstLastPara="1" wrap="square" lIns="288000" tIns="0" rIns="91425" bIns="45700" anchor="ctr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GB"/>
              <a:t>Hands-on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77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The Integrative Genomics Viewer (IGV)</a:t>
            </a:r>
            <a:endParaRPr/>
          </a:p>
        </p:txBody>
      </p:sp>
      <p:pic>
        <p:nvPicPr>
          <p:cNvPr id="737" name="Google Shape;737;p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62647" y="3590604"/>
            <a:ext cx="1327275" cy="1327275"/>
          </a:xfrm>
          <a:prstGeom prst="rect">
            <a:avLst/>
          </a:prstGeom>
          <a:noFill/>
          <a:ln>
            <a:noFill/>
          </a:ln>
        </p:spPr>
      </p:pic>
      <p:sp>
        <p:nvSpPr>
          <p:cNvPr id="738" name="Google Shape;738;p77"/>
          <p:cNvSpPr txBox="1"/>
          <p:nvPr/>
        </p:nvSpPr>
        <p:spPr>
          <a:xfrm>
            <a:off x="482750" y="999225"/>
            <a:ext cx="8247600" cy="31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600"/>
              <a:buChar char="✓"/>
            </a:pPr>
            <a:r>
              <a:rPr lang="en-GB" sz="1600">
                <a:solidFill>
                  <a:schemeClr val="dk1"/>
                </a:solidFill>
              </a:rPr>
              <a:t>The </a:t>
            </a:r>
            <a:r>
              <a:rPr lang="en-GB" sz="1600" b="1">
                <a:solidFill>
                  <a:schemeClr val="dk1"/>
                </a:solidFill>
              </a:rPr>
              <a:t>Integrative Genomics Viewer (IGV)</a:t>
            </a:r>
            <a:r>
              <a:rPr lang="en-GB" sz="1600">
                <a:solidFill>
                  <a:schemeClr val="dk1"/>
                </a:solidFill>
              </a:rPr>
              <a:t> is a high-performance, easy-to-use, interactive tool for the visual exploration of genomic data. It supports flexible integration of all the common types of genomic data and metadata, investigator-generated or publicly available, loaded from local or cloud sources.</a:t>
            </a:r>
            <a:endParaRPr sz="160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1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600"/>
              <a:buChar char="✓"/>
            </a:pPr>
            <a:r>
              <a:rPr lang="en-GB" sz="1600">
                <a:solidFill>
                  <a:schemeClr val="dk1"/>
                </a:solidFill>
              </a:rPr>
              <a:t>IGV is available in multiple forms, including:</a:t>
            </a:r>
            <a:endParaRPr sz="1600">
              <a:solidFill>
                <a:schemeClr val="dk1"/>
              </a:solidFill>
            </a:endParaRPr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600"/>
              <a:buChar char="●"/>
            </a:pPr>
            <a:r>
              <a:rPr lang="en-GB" sz="1600">
                <a:solidFill>
                  <a:schemeClr val="dk1"/>
                </a:solidFill>
              </a:rPr>
              <a:t>the original IGV - a Java desktop application,</a:t>
            </a:r>
            <a:endParaRPr sz="1600">
              <a:solidFill>
                <a:schemeClr val="dk1"/>
              </a:solidFill>
            </a:endParaRPr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600"/>
              <a:buChar char="●"/>
            </a:pPr>
            <a:r>
              <a:rPr lang="en-GB" sz="1600">
                <a:solidFill>
                  <a:schemeClr val="dk1"/>
                </a:solidFill>
              </a:rPr>
              <a:t>IGV-Web - a web application,</a:t>
            </a:r>
            <a:endParaRPr sz="1600">
              <a:solidFill>
                <a:schemeClr val="dk1"/>
              </a:solidFill>
            </a:endParaRPr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600"/>
              <a:buChar char="●"/>
            </a:pPr>
            <a:r>
              <a:rPr lang="en-GB" sz="1600">
                <a:solidFill>
                  <a:schemeClr val="dk1"/>
                </a:solidFill>
              </a:rPr>
              <a:t>igv.js - a JavaScript component that can be embedded in web pages (for developers)</a:t>
            </a:r>
            <a:endParaRPr sz="1600">
              <a:solidFill>
                <a:schemeClr val="dk1"/>
              </a:solidFill>
            </a:endParaRPr>
          </a:p>
          <a:p>
            <a:pPr marL="9144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1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600"/>
              <a:buChar char="✓"/>
            </a:pPr>
            <a:r>
              <a:rPr lang="en-GB" sz="1600">
                <a:solidFill>
                  <a:schemeClr val="dk1"/>
                </a:solidFill>
              </a:rPr>
              <a:t>See </a:t>
            </a:r>
            <a:r>
              <a:rPr lang="en-GB" sz="1600" u="sng">
                <a:solidFill>
                  <a:schemeClr val="hlink"/>
                </a:solidFill>
                <a:hlinkClick r:id="rId4"/>
              </a:rPr>
              <a:t>https://igv.org</a:t>
            </a:r>
            <a:r>
              <a:rPr lang="en-GB" sz="1600">
                <a:solidFill>
                  <a:schemeClr val="dk1"/>
                </a:solidFill>
              </a:rPr>
              <a:t> for links to all forms of IGV.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3" name="Google Shape;743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48325" y="1021251"/>
            <a:ext cx="6345601" cy="3765501"/>
          </a:xfrm>
          <a:prstGeom prst="rect">
            <a:avLst/>
          </a:prstGeom>
          <a:noFill/>
          <a:ln>
            <a:noFill/>
          </a:ln>
        </p:spPr>
      </p:pic>
      <p:sp>
        <p:nvSpPr>
          <p:cNvPr id="744" name="Google Shape;744;p78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The IGV window</a:t>
            </a:r>
            <a:endParaRPr/>
          </a:p>
        </p:txBody>
      </p:sp>
      <p:sp>
        <p:nvSpPr>
          <p:cNvPr id="745" name="Google Shape;745;p78"/>
          <p:cNvSpPr txBox="1"/>
          <p:nvPr/>
        </p:nvSpPr>
        <p:spPr>
          <a:xfrm>
            <a:off x="3496775" y="2660475"/>
            <a:ext cx="1306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0000FF"/>
                </a:solidFill>
                <a:latin typeface="Lobster"/>
                <a:ea typeface="Lobster"/>
                <a:cs typeface="Lobster"/>
                <a:sym typeface="Lobster"/>
              </a:rPr>
              <a:t>Gene annotation</a:t>
            </a:r>
            <a:endParaRPr>
              <a:solidFill>
                <a:srgbClr val="0000FF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746" name="Google Shape;746;p78"/>
          <p:cNvSpPr txBox="1"/>
          <p:nvPr/>
        </p:nvSpPr>
        <p:spPr>
          <a:xfrm>
            <a:off x="683825" y="1862250"/>
            <a:ext cx="1015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666666"/>
                </a:solidFill>
                <a:latin typeface="Lobster"/>
                <a:ea typeface="Lobster"/>
                <a:cs typeface="Lobster"/>
                <a:sym typeface="Lobster"/>
              </a:rPr>
              <a:t>Alignments</a:t>
            </a:r>
            <a:endParaRPr>
              <a:solidFill>
                <a:srgbClr val="666666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747" name="Google Shape;747;p78"/>
          <p:cNvSpPr txBox="1"/>
          <p:nvPr/>
        </p:nvSpPr>
        <p:spPr>
          <a:xfrm>
            <a:off x="5524875" y="4675200"/>
            <a:ext cx="2073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006666"/>
                </a:solidFill>
                <a:latin typeface="Lobster"/>
                <a:ea typeface="Lobster"/>
                <a:cs typeface="Lobster"/>
                <a:sym typeface="Lobster"/>
              </a:rPr>
              <a:t>ATAC-seq signal and peaks</a:t>
            </a:r>
            <a:endParaRPr>
              <a:solidFill>
                <a:srgbClr val="006666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748" name="Google Shape;748;p78"/>
          <p:cNvSpPr txBox="1"/>
          <p:nvPr/>
        </p:nvSpPr>
        <p:spPr>
          <a:xfrm>
            <a:off x="951344" y="915798"/>
            <a:ext cx="1101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9900FF"/>
                </a:solidFill>
                <a:latin typeface="Lobster"/>
                <a:ea typeface="Lobster"/>
                <a:cs typeface="Lobster"/>
                <a:sym typeface="Lobster"/>
              </a:rPr>
              <a:t>Genome</a:t>
            </a:r>
            <a:endParaRPr sz="1600">
              <a:solidFill>
                <a:srgbClr val="9900FF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749" name="Google Shape;749;p78"/>
          <p:cNvSpPr txBox="1"/>
          <p:nvPr/>
        </p:nvSpPr>
        <p:spPr>
          <a:xfrm>
            <a:off x="2093364" y="689704"/>
            <a:ext cx="1485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9900FF"/>
                </a:solidFill>
                <a:latin typeface="Lobster"/>
                <a:ea typeface="Lobster"/>
                <a:cs typeface="Lobster"/>
                <a:sym typeface="Lobster"/>
              </a:rPr>
              <a:t>Chromosome</a:t>
            </a:r>
            <a:endParaRPr sz="1600">
              <a:solidFill>
                <a:srgbClr val="9900FF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750" name="Google Shape;750;p78"/>
          <p:cNvSpPr txBox="1"/>
          <p:nvPr/>
        </p:nvSpPr>
        <p:spPr>
          <a:xfrm>
            <a:off x="3224539" y="689704"/>
            <a:ext cx="1485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9900FF"/>
                </a:solidFill>
                <a:latin typeface="Lobster"/>
                <a:ea typeface="Lobster"/>
                <a:cs typeface="Lobster"/>
                <a:sym typeface="Lobster"/>
              </a:rPr>
              <a:t>Location</a:t>
            </a:r>
            <a:endParaRPr sz="1600">
              <a:solidFill>
                <a:srgbClr val="9900FF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751" name="Google Shape;751;p78"/>
          <p:cNvSpPr txBox="1"/>
          <p:nvPr/>
        </p:nvSpPr>
        <p:spPr>
          <a:xfrm>
            <a:off x="7214364" y="689704"/>
            <a:ext cx="1485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9900FF"/>
                </a:solidFill>
                <a:latin typeface="Lobster"/>
                <a:ea typeface="Lobster"/>
                <a:cs typeface="Lobster"/>
                <a:sym typeface="Lobster"/>
              </a:rPr>
              <a:t>Zoom tool</a:t>
            </a:r>
            <a:endParaRPr sz="1600">
              <a:solidFill>
                <a:srgbClr val="9900FF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752" name="Google Shape;752;p78"/>
          <p:cNvSpPr txBox="1"/>
          <p:nvPr/>
        </p:nvSpPr>
        <p:spPr>
          <a:xfrm>
            <a:off x="567339" y="1209879"/>
            <a:ext cx="1485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9900FF"/>
                </a:solidFill>
                <a:latin typeface="Lobster"/>
                <a:ea typeface="Lobster"/>
                <a:cs typeface="Lobster"/>
                <a:sym typeface="Lobster"/>
              </a:rPr>
              <a:t>Genome ruler</a:t>
            </a:r>
            <a:endParaRPr sz="1600">
              <a:solidFill>
                <a:srgbClr val="9900FF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p79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Understanding gene annotation tracks</a:t>
            </a:r>
            <a:endParaRPr/>
          </a:p>
        </p:txBody>
      </p:sp>
      <p:pic>
        <p:nvPicPr>
          <p:cNvPr id="758" name="Google Shape;758;p79" title="igv_snapshot_gene_annotatio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75" y="1257774"/>
            <a:ext cx="9128450" cy="3142801"/>
          </a:xfrm>
          <a:prstGeom prst="rect">
            <a:avLst/>
          </a:prstGeom>
          <a:noFill/>
          <a:ln>
            <a:noFill/>
          </a:ln>
        </p:spPr>
      </p:pic>
      <p:sp>
        <p:nvSpPr>
          <p:cNvPr id="759" name="Google Shape;759;p79"/>
          <p:cNvSpPr txBox="1"/>
          <p:nvPr/>
        </p:nvSpPr>
        <p:spPr>
          <a:xfrm>
            <a:off x="6887737" y="3263329"/>
            <a:ext cx="1920900" cy="4134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4425" tIns="94425" rIns="94425" bIns="94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46">
                <a:solidFill>
                  <a:srgbClr val="0000FF"/>
                </a:solidFill>
                <a:latin typeface="Lobster"/>
                <a:ea typeface="Lobster"/>
                <a:cs typeface="Lobster"/>
                <a:sym typeface="Lobster"/>
              </a:rPr>
              <a:t>Reverse strand features</a:t>
            </a:r>
            <a:endParaRPr sz="1446">
              <a:solidFill>
                <a:srgbClr val="0000FF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760" name="Google Shape;760;p79"/>
          <p:cNvSpPr txBox="1"/>
          <p:nvPr/>
        </p:nvSpPr>
        <p:spPr>
          <a:xfrm>
            <a:off x="6700065" y="1661007"/>
            <a:ext cx="2010000" cy="4134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4425" tIns="94425" rIns="94425" bIns="94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46">
                <a:solidFill>
                  <a:srgbClr val="3399FF"/>
                </a:solidFill>
                <a:latin typeface="Lobster"/>
                <a:ea typeface="Lobster"/>
                <a:cs typeface="Lobster"/>
                <a:sym typeface="Lobster"/>
              </a:rPr>
              <a:t>Forward strand features</a:t>
            </a:r>
            <a:endParaRPr sz="1446">
              <a:solidFill>
                <a:srgbClr val="3399FF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761" name="Google Shape;761;p79"/>
          <p:cNvSpPr txBox="1"/>
          <p:nvPr/>
        </p:nvSpPr>
        <p:spPr>
          <a:xfrm>
            <a:off x="3554786" y="1661007"/>
            <a:ext cx="620400" cy="4134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4425" tIns="94425" rIns="94425" bIns="94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46">
                <a:solidFill>
                  <a:srgbClr val="222222"/>
                </a:solidFill>
                <a:latin typeface="Lobster"/>
                <a:ea typeface="Lobster"/>
                <a:cs typeface="Lobster"/>
                <a:sym typeface="Lobster"/>
              </a:rPr>
              <a:t>Genes</a:t>
            </a:r>
            <a:endParaRPr sz="1446">
              <a:solidFill>
                <a:srgbClr val="222222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762" name="Google Shape;762;p79"/>
          <p:cNvSpPr txBox="1"/>
          <p:nvPr/>
        </p:nvSpPr>
        <p:spPr>
          <a:xfrm>
            <a:off x="2349281" y="3060244"/>
            <a:ext cx="1107600" cy="4134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4425" tIns="94425" rIns="94425" bIns="94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46">
                <a:solidFill>
                  <a:srgbClr val="38761D"/>
                </a:solidFill>
                <a:latin typeface="Lobster"/>
                <a:ea typeface="Lobster"/>
                <a:cs typeface="Lobster"/>
                <a:sym typeface="Lobster"/>
              </a:rPr>
              <a:t>Transcripts</a:t>
            </a:r>
            <a:endParaRPr sz="1446">
              <a:solidFill>
                <a:srgbClr val="38761D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7" name="Google Shape;767;p80" title="igv_snapshot_gene_annotatio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75" y="1257774"/>
            <a:ext cx="9128450" cy="3142801"/>
          </a:xfrm>
          <a:prstGeom prst="rect">
            <a:avLst/>
          </a:prstGeom>
          <a:noFill/>
          <a:ln>
            <a:noFill/>
          </a:ln>
        </p:spPr>
      </p:pic>
      <p:sp>
        <p:nvSpPr>
          <p:cNvPr id="768" name="Google Shape;768;p80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Understanding gene annotation tracks</a:t>
            </a:r>
            <a:endParaRPr/>
          </a:p>
        </p:txBody>
      </p:sp>
      <p:sp>
        <p:nvSpPr>
          <p:cNvPr id="769" name="Google Shape;769;p80"/>
          <p:cNvSpPr txBox="1"/>
          <p:nvPr/>
        </p:nvSpPr>
        <p:spPr>
          <a:xfrm>
            <a:off x="3785088" y="3556575"/>
            <a:ext cx="2427000" cy="1015800"/>
          </a:xfrm>
          <a:prstGeom prst="rect">
            <a:avLst/>
          </a:prstGeom>
          <a:solidFill>
            <a:srgbClr val="FF00FF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Are these features in the reverse or forward strand?</a:t>
            </a:r>
            <a:endParaRPr sz="1800" b="1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70" name="Google Shape;770;p80"/>
          <p:cNvSpPr/>
          <p:nvPr/>
        </p:nvSpPr>
        <p:spPr>
          <a:xfrm>
            <a:off x="4036275" y="2278925"/>
            <a:ext cx="1860000" cy="362700"/>
          </a:xfrm>
          <a:prstGeom prst="rect">
            <a:avLst/>
          </a:prstGeom>
          <a:noFill/>
          <a:ln w="28575" cap="flat" cmpd="sng">
            <a:solidFill>
              <a:srgbClr val="FF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pic>
        <p:nvPicPr>
          <p:cNvPr id="771" name="Google Shape;771;p8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31913" y="3556575"/>
            <a:ext cx="1015800" cy="1015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81"/>
          <p:cNvSpPr/>
          <p:nvPr/>
        </p:nvSpPr>
        <p:spPr>
          <a:xfrm rot="5400000">
            <a:off x="7365228" y="0"/>
            <a:ext cx="1778700" cy="1778700"/>
          </a:xfrm>
          <a:prstGeom prst="diagStripe">
            <a:avLst>
              <a:gd name="adj" fmla="val 50000"/>
            </a:avLst>
          </a:prstGeom>
          <a:solidFill>
            <a:srgbClr val="EDFA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8" name="Google Shape;778;p81"/>
          <p:cNvSpPr txBox="1"/>
          <p:nvPr/>
        </p:nvSpPr>
        <p:spPr>
          <a:xfrm rot="2700000">
            <a:off x="7215273" y="386217"/>
            <a:ext cx="2501461" cy="583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</a:rPr>
              <a:t>Do not edit</a:t>
            </a:r>
            <a:endParaRPr sz="1200" b="1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u="sng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sz="1200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779" name="Google Shape;779;p81" descr="poll-type-id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3520" y="1307027"/>
            <a:ext cx="1778772" cy="1778772"/>
          </a:xfrm>
          <a:prstGeom prst="rect">
            <a:avLst/>
          </a:prstGeom>
          <a:noFill/>
          <a:ln>
            <a:noFill/>
          </a:ln>
        </p:spPr>
      </p:pic>
      <p:sp>
        <p:nvSpPr>
          <p:cNvPr id="780" name="Google Shape;780;p81" descr="title-id"/>
          <p:cNvSpPr txBox="1"/>
          <p:nvPr/>
        </p:nvSpPr>
        <p:spPr>
          <a:xfrm>
            <a:off x="2334638" y="1320628"/>
            <a:ext cx="6364800" cy="17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b="1">
                <a:solidFill>
                  <a:srgbClr val="5B5B5B"/>
                </a:solidFill>
                <a:latin typeface="Inter"/>
                <a:ea typeface="Inter"/>
                <a:cs typeface="Inter"/>
                <a:sym typeface="Inter"/>
              </a:rPr>
              <a:t>Are these features in the reverse or forward strand?</a:t>
            </a:r>
            <a:endParaRPr sz="3600" b="1">
              <a:solidFill>
                <a:srgbClr val="5B5B5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81" name="Google Shape;781;p81"/>
          <p:cNvSpPr/>
          <p:nvPr/>
        </p:nvSpPr>
        <p:spPr>
          <a:xfrm>
            <a:off x="0" y="4365024"/>
            <a:ext cx="9144000" cy="778500"/>
          </a:xfrm>
          <a:prstGeom prst="rect">
            <a:avLst/>
          </a:prstGeom>
          <a:solidFill>
            <a:srgbClr val="1980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2" name="Google Shape;782;p81"/>
          <p:cNvSpPr txBox="1"/>
          <p:nvPr/>
        </p:nvSpPr>
        <p:spPr>
          <a:xfrm>
            <a:off x="555866" y="4365024"/>
            <a:ext cx="6948300" cy="77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Presenting with animations, GIFs or speaker notes? Enable our </a:t>
            </a:r>
            <a:r>
              <a:rPr lang="en-GB" sz="1200" u="sng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Chrome extension</a:t>
            </a:r>
            <a:endParaRPr sz="12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783" name="Google Shape;783;p8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22347" y="4643089"/>
            <a:ext cx="222347" cy="222347"/>
          </a:xfrm>
          <a:prstGeom prst="rect">
            <a:avLst/>
          </a:prstGeom>
          <a:noFill/>
          <a:ln>
            <a:noFill/>
          </a:ln>
        </p:spPr>
      </p:pic>
      <p:pic>
        <p:nvPicPr>
          <p:cNvPr id="784" name="Google Shape;784;p81" descr="logo-id">
            <a:hlinkClick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921094" y="4476329"/>
            <a:ext cx="1111733" cy="55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9" name="Google Shape;789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944650"/>
            <a:ext cx="9143968" cy="3429622"/>
          </a:xfrm>
          <a:prstGeom prst="rect">
            <a:avLst/>
          </a:prstGeom>
          <a:noFill/>
          <a:ln>
            <a:noFill/>
          </a:ln>
        </p:spPr>
      </p:pic>
      <p:sp>
        <p:nvSpPr>
          <p:cNvPr id="790" name="Google Shape;790;p82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Understanding epigenomics tracks</a:t>
            </a:r>
            <a:endParaRPr/>
          </a:p>
        </p:txBody>
      </p:sp>
      <p:sp>
        <p:nvSpPr>
          <p:cNvPr id="791" name="Google Shape;791;p82"/>
          <p:cNvSpPr txBox="1"/>
          <p:nvPr/>
        </p:nvSpPr>
        <p:spPr>
          <a:xfrm>
            <a:off x="2642724" y="3400803"/>
            <a:ext cx="1148700" cy="4287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7925" tIns="97925" rIns="97925" bIns="979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026666"/>
                </a:solidFill>
                <a:latin typeface="Lobster"/>
                <a:ea typeface="Lobster"/>
                <a:cs typeface="Lobster"/>
                <a:sym typeface="Lobster"/>
              </a:rPr>
              <a:t>ATAC-seq </a:t>
            </a:r>
            <a:endParaRPr sz="1500">
              <a:solidFill>
                <a:srgbClr val="026666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792" name="Google Shape;792;p82"/>
          <p:cNvSpPr txBox="1"/>
          <p:nvPr/>
        </p:nvSpPr>
        <p:spPr>
          <a:xfrm>
            <a:off x="2593346" y="3829455"/>
            <a:ext cx="1148700" cy="4287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7925" tIns="97925" rIns="97925" bIns="979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009899"/>
                </a:solidFill>
                <a:latin typeface="Lobster"/>
                <a:ea typeface="Lobster"/>
                <a:cs typeface="Lobster"/>
                <a:sym typeface="Lobster"/>
              </a:rPr>
              <a:t>DNase-seq </a:t>
            </a:r>
            <a:endParaRPr sz="1500">
              <a:solidFill>
                <a:srgbClr val="009899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793" name="Google Shape;793;p82"/>
          <p:cNvSpPr txBox="1"/>
          <p:nvPr/>
        </p:nvSpPr>
        <p:spPr>
          <a:xfrm>
            <a:off x="3668363" y="2202300"/>
            <a:ext cx="2721300" cy="738900"/>
          </a:xfrm>
          <a:prstGeom prst="rect">
            <a:avLst/>
          </a:prstGeom>
          <a:solidFill>
            <a:srgbClr val="FF00FF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Is there evidence of open chromatin here?</a:t>
            </a:r>
            <a:endParaRPr sz="1800" b="1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94" name="Google Shape;794;p82"/>
          <p:cNvSpPr/>
          <p:nvPr/>
        </p:nvSpPr>
        <p:spPr>
          <a:xfrm>
            <a:off x="3880575" y="3400800"/>
            <a:ext cx="760200" cy="941100"/>
          </a:xfrm>
          <a:prstGeom prst="rect">
            <a:avLst/>
          </a:prstGeom>
          <a:noFill/>
          <a:ln w="28575" cap="flat" cmpd="sng">
            <a:solidFill>
              <a:srgbClr val="FF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95" name="Google Shape;795;p82"/>
          <p:cNvSpPr/>
          <p:nvPr/>
        </p:nvSpPr>
        <p:spPr>
          <a:xfrm>
            <a:off x="1477700" y="3400800"/>
            <a:ext cx="760200" cy="941100"/>
          </a:xfrm>
          <a:prstGeom prst="rect">
            <a:avLst/>
          </a:prstGeom>
          <a:noFill/>
          <a:ln w="28575" cap="flat" cmpd="sng">
            <a:solidFill>
              <a:srgbClr val="FF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pic>
        <p:nvPicPr>
          <p:cNvPr id="796" name="Google Shape;796;p8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54325" y="2063850"/>
            <a:ext cx="1015800" cy="1015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83"/>
          <p:cNvSpPr/>
          <p:nvPr/>
        </p:nvSpPr>
        <p:spPr>
          <a:xfrm rot="5400000">
            <a:off x="7365228" y="0"/>
            <a:ext cx="1778700" cy="1778700"/>
          </a:xfrm>
          <a:prstGeom prst="diagStripe">
            <a:avLst>
              <a:gd name="adj" fmla="val 50000"/>
            </a:avLst>
          </a:prstGeom>
          <a:solidFill>
            <a:srgbClr val="EDFA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3" name="Google Shape;803;p83"/>
          <p:cNvSpPr txBox="1"/>
          <p:nvPr/>
        </p:nvSpPr>
        <p:spPr>
          <a:xfrm rot="2700000">
            <a:off x="7215273" y="386217"/>
            <a:ext cx="2501461" cy="583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</a:rPr>
              <a:t>Do not edit</a:t>
            </a:r>
            <a:endParaRPr sz="1200" b="1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u="sng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sz="1200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04" name="Google Shape;804;p83" descr="poll-type-id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3520" y="1307027"/>
            <a:ext cx="1778772" cy="1778772"/>
          </a:xfrm>
          <a:prstGeom prst="rect">
            <a:avLst/>
          </a:prstGeom>
          <a:noFill/>
          <a:ln>
            <a:noFill/>
          </a:ln>
        </p:spPr>
      </p:pic>
      <p:sp>
        <p:nvSpPr>
          <p:cNvPr id="805" name="Google Shape;805;p83" descr="title-id"/>
          <p:cNvSpPr txBox="1"/>
          <p:nvPr/>
        </p:nvSpPr>
        <p:spPr>
          <a:xfrm>
            <a:off x="2334638" y="1320628"/>
            <a:ext cx="6364800" cy="17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b="1">
                <a:solidFill>
                  <a:srgbClr val="5B5B5B"/>
                </a:solidFill>
                <a:latin typeface="Inter"/>
                <a:ea typeface="Inter"/>
                <a:cs typeface="Inter"/>
                <a:sym typeface="Inter"/>
              </a:rPr>
              <a:t>Is there evidence of open chromatin here?</a:t>
            </a:r>
            <a:endParaRPr sz="3600" b="1">
              <a:solidFill>
                <a:srgbClr val="5B5B5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6" name="Google Shape;806;p83"/>
          <p:cNvSpPr/>
          <p:nvPr/>
        </p:nvSpPr>
        <p:spPr>
          <a:xfrm>
            <a:off x="0" y="4365024"/>
            <a:ext cx="9144000" cy="778500"/>
          </a:xfrm>
          <a:prstGeom prst="rect">
            <a:avLst/>
          </a:prstGeom>
          <a:solidFill>
            <a:srgbClr val="1980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7" name="Google Shape;807;p83"/>
          <p:cNvSpPr txBox="1"/>
          <p:nvPr/>
        </p:nvSpPr>
        <p:spPr>
          <a:xfrm>
            <a:off x="555866" y="4365024"/>
            <a:ext cx="6948300" cy="77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Presenting with animations, GIFs or speaker notes? Enable our </a:t>
            </a:r>
            <a:r>
              <a:rPr lang="en-GB" sz="1200" u="sng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Chrome extension</a:t>
            </a:r>
            <a:endParaRPr sz="12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08" name="Google Shape;808;p8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22347" y="4643089"/>
            <a:ext cx="222347" cy="222347"/>
          </a:xfrm>
          <a:prstGeom prst="rect">
            <a:avLst/>
          </a:prstGeom>
          <a:noFill/>
          <a:ln>
            <a:noFill/>
          </a:ln>
        </p:spPr>
      </p:pic>
      <p:pic>
        <p:nvPicPr>
          <p:cNvPr id="809" name="Google Shape;809;p83" descr="logo-id">
            <a:hlinkClick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921094" y="4476329"/>
            <a:ext cx="1111733" cy="55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4" name="Google Shape;814;p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944650"/>
            <a:ext cx="9143986" cy="3429629"/>
          </a:xfrm>
          <a:prstGeom prst="rect">
            <a:avLst/>
          </a:prstGeom>
          <a:noFill/>
          <a:ln>
            <a:noFill/>
          </a:ln>
        </p:spPr>
      </p:pic>
      <p:sp>
        <p:nvSpPr>
          <p:cNvPr id="815" name="Google Shape;815;p84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Understanding epigenomics tracks</a:t>
            </a:r>
            <a:endParaRPr/>
          </a:p>
        </p:txBody>
      </p:sp>
      <p:sp>
        <p:nvSpPr>
          <p:cNvPr id="816" name="Google Shape;816;p84"/>
          <p:cNvSpPr txBox="1"/>
          <p:nvPr/>
        </p:nvSpPr>
        <p:spPr>
          <a:xfrm>
            <a:off x="2642725" y="3400808"/>
            <a:ext cx="1148700" cy="4287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7925" tIns="97925" rIns="97925" bIns="979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026666"/>
                </a:solidFill>
                <a:latin typeface="Lobster"/>
                <a:ea typeface="Lobster"/>
                <a:cs typeface="Lobster"/>
                <a:sym typeface="Lobster"/>
              </a:rPr>
              <a:t>ATAC-seq </a:t>
            </a:r>
            <a:endParaRPr sz="1500">
              <a:solidFill>
                <a:srgbClr val="026666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817" name="Google Shape;817;p84"/>
          <p:cNvSpPr txBox="1"/>
          <p:nvPr/>
        </p:nvSpPr>
        <p:spPr>
          <a:xfrm>
            <a:off x="2593348" y="3829462"/>
            <a:ext cx="1148700" cy="4287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7925" tIns="97925" rIns="97925" bIns="979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009899"/>
                </a:solidFill>
                <a:latin typeface="Lobster"/>
                <a:ea typeface="Lobster"/>
                <a:cs typeface="Lobster"/>
                <a:sym typeface="Lobster"/>
              </a:rPr>
              <a:t>DNase-seq </a:t>
            </a:r>
            <a:endParaRPr sz="1500">
              <a:solidFill>
                <a:srgbClr val="009899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818" name="Google Shape;818;p84"/>
          <p:cNvSpPr/>
          <p:nvPr/>
        </p:nvSpPr>
        <p:spPr>
          <a:xfrm>
            <a:off x="4609875" y="3422325"/>
            <a:ext cx="942600" cy="941100"/>
          </a:xfrm>
          <a:prstGeom prst="rect">
            <a:avLst/>
          </a:prstGeom>
          <a:noFill/>
          <a:ln w="28575" cap="flat" cmpd="sng">
            <a:solidFill>
              <a:srgbClr val="FF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19" name="Google Shape;819;p84"/>
          <p:cNvSpPr/>
          <p:nvPr/>
        </p:nvSpPr>
        <p:spPr>
          <a:xfrm>
            <a:off x="6370925" y="3422325"/>
            <a:ext cx="582900" cy="941100"/>
          </a:xfrm>
          <a:prstGeom prst="rect">
            <a:avLst/>
          </a:prstGeom>
          <a:noFill/>
          <a:ln w="28575" cap="flat" cmpd="sng">
            <a:solidFill>
              <a:srgbClr val="FF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20" name="Google Shape;820;p84"/>
          <p:cNvSpPr txBox="1"/>
          <p:nvPr/>
        </p:nvSpPr>
        <p:spPr>
          <a:xfrm>
            <a:off x="3668363" y="2227913"/>
            <a:ext cx="2721300" cy="738900"/>
          </a:xfrm>
          <a:prstGeom prst="rect">
            <a:avLst/>
          </a:prstGeom>
          <a:solidFill>
            <a:srgbClr val="FF00FF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Is there evidence of open chromatin here?</a:t>
            </a:r>
            <a:endParaRPr sz="1800" b="1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21" name="Google Shape;821;p8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54325" y="2089463"/>
            <a:ext cx="1015800" cy="1015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Google Shape;827;p85"/>
          <p:cNvSpPr/>
          <p:nvPr/>
        </p:nvSpPr>
        <p:spPr>
          <a:xfrm rot="5400000">
            <a:off x="7365228" y="0"/>
            <a:ext cx="1778700" cy="1778700"/>
          </a:xfrm>
          <a:prstGeom prst="diagStripe">
            <a:avLst>
              <a:gd name="adj" fmla="val 50000"/>
            </a:avLst>
          </a:prstGeom>
          <a:solidFill>
            <a:srgbClr val="EDFA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8" name="Google Shape;828;p85"/>
          <p:cNvSpPr txBox="1"/>
          <p:nvPr/>
        </p:nvSpPr>
        <p:spPr>
          <a:xfrm rot="2700000">
            <a:off x="7215273" y="386217"/>
            <a:ext cx="2501461" cy="583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</a:rPr>
              <a:t>Do not edit</a:t>
            </a:r>
            <a:endParaRPr sz="1200" b="1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u="sng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sz="1200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29" name="Google Shape;829;p85" descr="poll-type-id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3520" y="1307027"/>
            <a:ext cx="1778772" cy="1778772"/>
          </a:xfrm>
          <a:prstGeom prst="rect">
            <a:avLst/>
          </a:prstGeom>
          <a:noFill/>
          <a:ln>
            <a:noFill/>
          </a:ln>
        </p:spPr>
      </p:pic>
      <p:sp>
        <p:nvSpPr>
          <p:cNvPr id="830" name="Google Shape;830;p85" descr="title-id"/>
          <p:cNvSpPr txBox="1"/>
          <p:nvPr/>
        </p:nvSpPr>
        <p:spPr>
          <a:xfrm>
            <a:off x="2334638" y="1320628"/>
            <a:ext cx="6364800" cy="17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b="1">
                <a:solidFill>
                  <a:srgbClr val="5B5B5B"/>
                </a:solidFill>
                <a:latin typeface="Inter"/>
                <a:ea typeface="Inter"/>
                <a:cs typeface="Inter"/>
                <a:sym typeface="Inter"/>
              </a:rPr>
              <a:t>Is there evidence of open chromatin here?</a:t>
            </a:r>
            <a:endParaRPr sz="3600" b="1">
              <a:solidFill>
                <a:srgbClr val="5B5B5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31" name="Google Shape;831;p85"/>
          <p:cNvSpPr/>
          <p:nvPr/>
        </p:nvSpPr>
        <p:spPr>
          <a:xfrm>
            <a:off x="0" y="4365024"/>
            <a:ext cx="9144000" cy="778500"/>
          </a:xfrm>
          <a:prstGeom prst="rect">
            <a:avLst/>
          </a:prstGeom>
          <a:solidFill>
            <a:srgbClr val="1980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2" name="Google Shape;832;p85"/>
          <p:cNvSpPr txBox="1"/>
          <p:nvPr/>
        </p:nvSpPr>
        <p:spPr>
          <a:xfrm>
            <a:off x="555866" y="4365024"/>
            <a:ext cx="6948300" cy="77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Presenting with animations, GIFs or speaker notes? Enable our </a:t>
            </a:r>
            <a:r>
              <a:rPr lang="en-GB" sz="1200" u="sng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Chrome extension</a:t>
            </a:r>
            <a:endParaRPr sz="12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33" name="Google Shape;833;p8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22347" y="4643089"/>
            <a:ext cx="222347" cy="222347"/>
          </a:xfrm>
          <a:prstGeom prst="rect">
            <a:avLst/>
          </a:prstGeom>
          <a:noFill/>
          <a:ln>
            <a:noFill/>
          </a:ln>
        </p:spPr>
      </p:pic>
      <p:pic>
        <p:nvPicPr>
          <p:cNvPr id="834" name="Google Shape;834;p85" descr="logo-id">
            <a:hlinkClick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921094" y="4476329"/>
            <a:ext cx="1111733" cy="55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9" name="Google Shape;839;p8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986600"/>
            <a:ext cx="9143999" cy="4083318"/>
          </a:xfrm>
          <a:prstGeom prst="rect">
            <a:avLst/>
          </a:prstGeom>
          <a:noFill/>
          <a:ln>
            <a:noFill/>
          </a:ln>
        </p:spPr>
      </p:pic>
      <p:sp>
        <p:nvSpPr>
          <p:cNvPr id="840" name="Google Shape;840;p86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Understanding epigenomics tracks</a:t>
            </a:r>
            <a:endParaRPr/>
          </a:p>
        </p:txBody>
      </p:sp>
      <p:sp>
        <p:nvSpPr>
          <p:cNvPr id="841" name="Google Shape;841;p86"/>
          <p:cNvSpPr txBox="1"/>
          <p:nvPr/>
        </p:nvSpPr>
        <p:spPr>
          <a:xfrm>
            <a:off x="4627118" y="2932920"/>
            <a:ext cx="1505400" cy="4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725" tIns="99725" rIns="99725" bIns="997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27">
                <a:solidFill>
                  <a:srgbClr val="006666"/>
                </a:solidFill>
                <a:latin typeface="Lobster"/>
                <a:ea typeface="Lobster"/>
                <a:cs typeface="Lobster"/>
                <a:sym typeface="Lobster"/>
              </a:rPr>
              <a:t>ATAC-seq tracks</a:t>
            </a:r>
            <a:endParaRPr sz="1527">
              <a:solidFill>
                <a:srgbClr val="006666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842" name="Google Shape;842;p86"/>
          <p:cNvSpPr txBox="1"/>
          <p:nvPr/>
        </p:nvSpPr>
        <p:spPr>
          <a:xfrm>
            <a:off x="2374840" y="3327436"/>
            <a:ext cx="1540800" cy="4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725" tIns="99725" rIns="99725" bIns="997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27">
                <a:solidFill>
                  <a:srgbClr val="009999"/>
                </a:solidFill>
                <a:latin typeface="Lobster"/>
                <a:ea typeface="Lobster"/>
                <a:cs typeface="Lobster"/>
                <a:sym typeface="Lobster"/>
              </a:rPr>
              <a:t>DNase-seq tracks</a:t>
            </a:r>
            <a:endParaRPr sz="1527">
              <a:solidFill>
                <a:srgbClr val="009999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843" name="Google Shape;843;p86"/>
          <p:cNvSpPr txBox="1"/>
          <p:nvPr/>
        </p:nvSpPr>
        <p:spPr>
          <a:xfrm>
            <a:off x="6206355" y="3729560"/>
            <a:ext cx="1505400" cy="4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725" tIns="99725" rIns="99725" bIns="997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27">
                <a:solidFill>
                  <a:srgbClr val="FF0000"/>
                </a:solidFill>
                <a:latin typeface="Lobster"/>
                <a:ea typeface="Lobster"/>
                <a:cs typeface="Lobster"/>
                <a:sym typeface="Lobster"/>
              </a:rPr>
              <a:t>H3K4me3 tracks</a:t>
            </a:r>
            <a:endParaRPr sz="1527">
              <a:solidFill>
                <a:srgbClr val="FF0000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844" name="Google Shape;844;p86"/>
          <p:cNvSpPr txBox="1"/>
          <p:nvPr/>
        </p:nvSpPr>
        <p:spPr>
          <a:xfrm>
            <a:off x="2454376" y="4136729"/>
            <a:ext cx="1505400" cy="4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725" tIns="99725" rIns="99725" bIns="997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27">
                <a:solidFill>
                  <a:srgbClr val="FF9900"/>
                </a:solidFill>
                <a:latin typeface="Lobster"/>
                <a:ea typeface="Lobster"/>
                <a:cs typeface="Lobster"/>
                <a:sym typeface="Lobster"/>
              </a:rPr>
              <a:t>H3K27ac tracks</a:t>
            </a:r>
            <a:endParaRPr sz="1527">
              <a:solidFill>
                <a:srgbClr val="FF9900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845" name="Google Shape;845;p86"/>
          <p:cNvSpPr txBox="1"/>
          <p:nvPr/>
        </p:nvSpPr>
        <p:spPr>
          <a:xfrm>
            <a:off x="3819286" y="4707004"/>
            <a:ext cx="1505400" cy="4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725" tIns="99725" rIns="99725" bIns="997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27">
                <a:solidFill>
                  <a:srgbClr val="FF6600"/>
                </a:solidFill>
                <a:latin typeface="Lobster"/>
                <a:ea typeface="Lobster"/>
                <a:cs typeface="Lobster"/>
                <a:sym typeface="Lobster"/>
              </a:rPr>
              <a:t>H3K4me1 tracks</a:t>
            </a:r>
            <a:endParaRPr sz="1527">
              <a:solidFill>
                <a:srgbClr val="FF6600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0" name="Google Shape;850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986600"/>
            <a:ext cx="9143999" cy="4083318"/>
          </a:xfrm>
          <a:prstGeom prst="rect">
            <a:avLst/>
          </a:prstGeom>
          <a:noFill/>
          <a:ln>
            <a:noFill/>
          </a:ln>
        </p:spPr>
      </p:pic>
      <p:sp>
        <p:nvSpPr>
          <p:cNvPr id="851" name="Google Shape;851;p87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Understanding epigenomics tracks</a:t>
            </a:r>
            <a:endParaRPr/>
          </a:p>
        </p:txBody>
      </p:sp>
      <p:sp>
        <p:nvSpPr>
          <p:cNvPr id="852" name="Google Shape;852;p87"/>
          <p:cNvSpPr txBox="1"/>
          <p:nvPr/>
        </p:nvSpPr>
        <p:spPr>
          <a:xfrm>
            <a:off x="4627118" y="2932920"/>
            <a:ext cx="1505400" cy="4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725" tIns="99725" rIns="99725" bIns="997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27">
                <a:solidFill>
                  <a:srgbClr val="006666"/>
                </a:solidFill>
                <a:latin typeface="Lobster"/>
                <a:ea typeface="Lobster"/>
                <a:cs typeface="Lobster"/>
                <a:sym typeface="Lobster"/>
              </a:rPr>
              <a:t>ATAC-seq tracks</a:t>
            </a:r>
            <a:endParaRPr sz="1527">
              <a:solidFill>
                <a:srgbClr val="006666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853" name="Google Shape;853;p87"/>
          <p:cNvSpPr txBox="1"/>
          <p:nvPr/>
        </p:nvSpPr>
        <p:spPr>
          <a:xfrm>
            <a:off x="2374840" y="3327436"/>
            <a:ext cx="1540800" cy="4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725" tIns="99725" rIns="99725" bIns="997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27">
                <a:solidFill>
                  <a:srgbClr val="009999"/>
                </a:solidFill>
                <a:latin typeface="Lobster"/>
                <a:ea typeface="Lobster"/>
                <a:cs typeface="Lobster"/>
                <a:sym typeface="Lobster"/>
              </a:rPr>
              <a:t>DNase-seq tracks</a:t>
            </a:r>
            <a:endParaRPr sz="1527">
              <a:solidFill>
                <a:srgbClr val="009999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854" name="Google Shape;854;p87"/>
          <p:cNvSpPr txBox="1"/>
          <p:nvPr/>
        </p:nvSpPr>
        <p:spPr>
          <a:xfrm>
            <a:off x="6206355" y="3729560"/>
            <a:ext cx="1505400" cy="4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725" tIns="99725" rIns="99725" bIns="997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27">
                <a:solidFill>
                  <a:srgbClr val="FF0000"/>
                </a:solidFill>
                <a:latin typeface="Lobster"/>
                <a:ea typeface="Lobster"/>
                <a:cs typeface="Lobster"/>
                <a:sym typeface="Lobster"/>
              </a:rPr>
              <a:t>H3K4me3 tracks</a:t>
            </a:r>
            <a:endParaRPr sz="1527">
              <a:solidFill>
                <a:srgbClr val="FF0000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855" name="Google Shape;855;p87"/>
          <p:cNvSpPr txBox="1"/>
          <p:nvPr/>
        </p:nvSpPr>
        <p:spPr>
          <a:xfrm>
            <a:off x="2454376" y="4136729"/>
            <a:ext cx="1505400" cy="4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725" tIns="99725" rIns="99725" bIns="997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27">
                <a:solidFill>
                  <a:srgbClr val="FF9900"/>
                </a:solidFill>
                <a:latin typeface="Lobster"/>
                <a:ea typeface="Lobster"/>
                <a:cs typeface="Lobster"/>
                <a:sym typeface="Lobster"/>
              </a:rPr>
              <a:t>H3K27ac tracks</a:t>
            </a:r>
            <a:endParaRPr sz="1527">
              <a:solidFill>
                <a:srgbClr val="FF9900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856" name="Google Shape;856;p87"/>
          <p:cNvSpPr txBox="1"/>
          <p:nvPr/>
        </p:nvSpPr>
        <p:spPr>
          <a:xfrm>
            <a:off x="3819286" y="4707004"/>
            <a:ext cx="1505400" cy="4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725" tIns="99725" rIns="99725" bIns="997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27">
                <a:solidFill>
                  <a:srgbClr val="FF6600"/>
                </a:solidFill>
                <a:latin typeface="Lobster"/>
                <a:ea typeface="Lobster"/>
                <a:cs typeface="Lobster"/>
                <a:sym typeface="Lobster"/>
              </a:rPr>
              <a:t>H3K4me1 tracks</a:t>
            </a:r>
            <a:endParaRPr sz="1527">
              <a:solidFill>
                <a:srgbClr val="FF6600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857" name="Google Shape;857;p87"/>
          <p:cNvSpPr/>
          <p:nvPr/>
        </p:nvSpPr>
        <p:spPr>
          <a:xfrm>
            <a:off x="7962950" y="2966825"/>
            <a:ext cx="573900" cy="1638000"/>
          </a:xfrm>
          <a:prstGeom prst="rect">
            <a:avLst/>
          </a:prstGeom>
          <a:noFill/>
          <a:ln w="28575" cap="flat" cmpd="sng">
            <a:solidFill>
              <a:srgbClr val="FF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58" name="Google Shape;858;p87"/>
          <p:cNvSpPr txBox="1"/>
          <p:nvPr/>
        </p:nvSpPr>
        <p:spPr>
          <a:xfrm>
            <a:off x="3668363" y="2227913"/>
            <a:ext cx="2721300" cy="738900"/>
          </a:xfrm>
          <a:prstGeom prst="rect">
            <a:avLst/>
          </a:prstGeom>
          <a:solidFill>
            <a:srgbClr val="FF00FF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Which CRE could be annotated here?</a:t>
            </a:r>
            <a:endParaRPr sz="1800" b="1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59" name="Google Shape;859;p8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54325" y="2089463"/>
            <a:ext cx="1015800" cy="1015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88"/>
          <p:cNvSpPr/>
          <p:nvPr/>
        </p:nvSpPr>
        <p:spPr>
          <a:xfrm rot="5400000">
            <a:off x="7365228" y="0"/>
            <a:ext cx="1778700" cy="1778700"/>
          </a:xfrm>
          <a:prstGeom prst="diagStripe">
            <a:avLst>
              <a:gd name="adj" fmla="val 50000"/>
            </a:avLst>
          </a:prstGeom>
          <a:solidFill>
            <a:srgbClr val="EDFA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6" name="Google Shape;866;p88"/>
          <p:cNvSpPr txBox="1"/>
          <p:nvPr/>
        </p:nvSpPr>
        <p:spPr>
          <a:xfrm rot="2700000">
            <a:off x="7215273" y="386217"/>
            <a:ext cx="2501461" cy="583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</a:rPr>
              <a:t>Do not edit</a:t>
            </a:r>
            <a:endParaRPr sz="1200" b="1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u="sng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sz="1200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67" name="Google Shape;867;p88" descr="poll-type-id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3520" y="1307027"/>
            <a:ext cx="1778772" cy="1778772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88" descr="title-id"/>
          <p:cNvSpPr txBox="1"/>
          <p:nvPr/>
        </p:nvSpPr>
        <p:spPr>
          <a:xfrm>
            <a:off x="2334638" y="1320628"/>
            <a:ext cx="6364800" cy="17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b="1">
                <a:solidFill>
                  <a:srgbClr val="5B5B5B"/>
                </a:solidFill>
                <a:latin typeface="Inter"/>
                <a:ea typeface="Inter"/>
                <a:cs typeface="Inter"/>
                <a:sym typeface="Inter"/>
              </a:rPr>
              <a:t>Which CRE could be annotated here?</a:t>
            </a:r>
            <a:endParaRPr sz="3600" b="1">
              <a:solidFill>
                <a:srgbClr val="5B5B5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69" name="Google Shape;869;p88"/>
          <p:cNvSpPr/>
          <p:nvPr/>
        </p:nvSpPr>
        <p:spPr>
          <a:xfrm>
            <a:off x="0" y="4365024"/>
            <a:ext cx="9144000" cy="778500"/>
          </a:xfrm>
          <a:prstGeom prst="rect">
            <a:avLst/>
          </a:prstGeom>
          <a:solidFill>
            <a:srgbClr val="1980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0" name="Google Shape;870;p88"/>
          <p:cNvSpPr txBox="1"/>
          <p:nvPr/>
        </p:nvSpPr>
        <p:spPr>
          <a:xfrm>
            <a:off x="555866" y="4365024"/>
            <a:ext cx="6948300" cy="77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Presenting with animations, GIFs or speaker notes? Enable our </a:t>
            </a:r>
            <a:r>
              <a:rPr lang="en-GB" sz="1200" u="sng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Chrome extension</a:t>
            </a:r>
            <a:endParaRPr sz="12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71" name="Google Shape;871;p8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22347" y="4643089"/>
            <a:ext cx="222347" cy="222347"/>
          </a:xfrm>
          <a:prstGeom prst="rect">
            <a:avLst/>
          </a:prstGeom>
          <a:noFill/>
          <a:ln>
            <a:noFill/>
          </a:ln>
        </p:spPr>
      </p:pic>
      <p:pic>
        <p:nvPicPr>
          <p:cNvPr id="872" name="Google Shape;872;p88" descr="logo-id">
            <a:hlinkClick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921094" y="4476329"/>
            <a:ext cx="1111733" cy="55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7" name="Google Shape;877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986600"/>
            <a:ext cx="9143999" cy="4083318"/>
          </a:xfrm>
          <a:prstGeom prst="rect">
            <a:avLst/>
          </a:prstGeom>
          <a:noFill/>
          <a:ln>
            <a:noFill/>
          </a:ln>
        </p:spPr>
      </p:pic>
      <p:sp>
        <p:nvSpPr>
          <p:cNvPr id="878" name="Google Shape;878;p89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Understanding epigenomics tracks</a:t>
            </a:r>
            <a:endParaRPr/>
          </a:p>
        </p:txBody>
      </p:sp>
      <p:sp>
        <p:nvSpPr>
          <p:cNvPr id="879" name="Google Shape;879;p89"/>
          <p:cNvSpPr txBox="1"/>
          <p:nvPr/>
        </p:nvSpPr>
        <p:spPr>
          <a:xfrm>
            <a:off x="2374840" y="3327436"/>
            <a:ext cx="1540800" cy="4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725" tIns="99725" rIns="99725" bIns="997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27">
                <a:solidFill>
                  <a:srgbClr val="009999"/>
                </a:solidFill>
                <a:latin typeface="Lobster"/>
                <a:ea typeface="Lobster"/>
                <a:cs typeface="Lobster"/>
                <a:sym typeface="Lobster"/>
              </a:rPr>
              <a:t>DNase-seq tracks</a:t>
            </a:r>
            <a:endParaRPr sz="1527">
              <a:solidFill>
                <a:srgbClr val="009999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880" name="Google Shape;880;p89"/>
          <p:cNvSpPr txBox="1"/>
          <p:nvPr/>
        </p:nvSpPr>
        <p:spPr>
          <a:xfrm>
            <a:off x="2454376" y="4136729"/>
            <a:ext cx="1505400" cy="4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725" tIns="99725" rIns="99725" bIns="997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27">
                <a:solidFill>
                  <a:srgbClr val="FF9900"/>
                </a:solidFill>
                <a:latin typeface="Lobster"/>
                <a:ea typeface="Lobster"/>
                <a:cs typeface="Lobster"/>
                <a:sym typeface="Lobster"/>
              </a:rPr>
              <a:t>H3K27ac tracks</a:t>
            </a:r>
            <a:endParaRPr sz="1527">
              <a:solidFill>
                <a:srgbClr val="FF9900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881" name="Google Shape;881;p89"/>
          <p:cNvSpPr txBox="1"/>
          <p:nvPr/>
        </p:nvSpPr>
        <p:spPr>
          <a:xfrm>
            <a:off x="3819286" y="4707004"/>
            <a:ext cx="1505400" cy="4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725" tIns="99725" rIns="99725" bIns="997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27">
                <a:solidFill>
                  <a:srgbClr val="FF6600"/>
                </a:solidFill>
                <a:latin typeface="Lobster"/>
                <a:ea typeface="Lobster"/>
                <a:cs typeface="Lobster"/>
                <a:sym typeface="Lobster"/>
              </a:rPr>
              <a:t>H3K4me1 tracks</a:t>
            </a:r>
            <a:endParaRPr sz="1527">
              <a:solidFill>
                <a:srgbClr val="FF6600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882" name="Google Shape;882;p89"/>
          <p:cNvSpPr/>
          <p:nvPr/>
        </p:nvSpPr>
        <p:spPr>
          <a:xfrm>
            <a:off x="1257850" y="2966825"/>
            <a:ext cx="573900" cy="1638000"/>
          </a:xfrm>
          <a:prstGeom prst="rect">
            <a:avLst/>
          </a:prstGeom>
          <a:noFill/>
          <a:ln w="28575" cap="flat" cmpd="sng">
            <a:solidFill>
              <a:srgbClr val="FF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83" name="Google Shape;883;p89"/>
          <p:cNvSpPr txBox="1"/>
          <p:nvPr/>
        </p:nvSpPr>
        <p:spPr>
          <a:xfrm>
            <a:off x="3668363" y="2227913"/>
            <a:ext cx="2721300" cy="738900"/>
          </a:xfrm>
          <a:prstGeom prst="rect">
            <a:avLst/>
          </a:prstGeom>
          <a:solidFill>
            <a:srgbClr val="FF00FF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Which CRE could be annotated here?</a:t>
            </a:r>
            <a:endParaRPr sz="1800" b="1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84" name="Google Shape;884;p8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54325" y="2089463"/>
            <a:ext cx="1015800" cy="1015800"/>
          </a:xfrm>
          <a:prstGeom prst="rect">
            <a:avLst/>
          </a:prstGeom>
          <a:noFill/>
          <a:ln>
            <a:noFill/>
          </a:ln>
        </p:spPr>
      </p:pic>
      <p:sp>
        <p:nvSpPr>
          <p:cNvPr id="885" name="Google Shape;885;p89"/>
          <p:cNvSpPr/>
          <p:nvPr/>
        </p:nvSpPr>
        <p:spPr>
          <a:xfrm>
            <a:off x="1880475" y="2966825"/>
            <a:ext cx="573900" cy="1638000"/>
          </a:xfrm>
          <a:prstGeom prst="rect">
            <a:avLst/>
          </a:prstGeom>
          <a:noFill/>
          <a:ln w="28575" cap="flat" cmpd="sng">
            <a:solidFill>
              <a:srgbClr val="FF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86" name="Google Shape;886;p89"/>
          <p:cNvSpPr/>
          <p:nvPr/>
        </p:nvSpPr>
        <p:spPr>
          <a:xfrm>
            <a:off x="5893000" y="3005450"/>
            <a:ext cx="573900" cy="1638000"/>
          </a:xfrm>
          <a:prstGeom prst="rect">
            <a:avLst/>
          </a:prstGeom>
          <a:noFill/>
          <a:ln w="28575" cap="flat" cmpd="sng">
            <a:solidFill>
              <a:srgbClr val="FF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87" name="Google Shape;887;p89"/>
          <p:cNvSpPr txBox="1"/>
          <p:nvPr/>
        </p:nvSpPr>
        <p:spPr>
          <a:xfrm>
            <a:off x="4627118" y="2932920"/>
            <a:ext cx="1505400" cy="4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725" tIns="99725" rIns="99725" bIns="997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27">
                <a:solidFill>
                  <a:srgbClr val="006666"/>
                </a:solidFill>
                <a:latin typeface="Lobster"/>
                <a:ea typeface="Lobster"/>
                <a:cs typeface="Lobster"/>
                <a:sym typeface="Lobster"/>
              </a:rPr>
              <a:t>ATAC-seq tracks</a:t>
            </a:r>
            <a:endParaRPr sz="1527">
              <a:solidFill>
                <a:srgbClr val="006666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888" name="Google Shape;888;p89"/>
          <p:cNvSpPr txBox="1"/>
          <p:nvPr/>
        </p:nvSpPr>
        <p:spPr>
          <a:xfrm>
            <a:off x="6206355" y="3729560"/>
            <a:ext cx="1505400" cy="4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725" tIns="99725" rIns="99725" bIns="997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27">
                <a:solidFill>
                  <a:srgbClr val="FF0000"/>
                </a:solidFill>
                <a:latin typeface="Lobster"/>
                <a:ea typeface="Lobster"/>
                <a:cs typeface="Lobster"/>
                <a:sym typeface="Lobster"/>
              </a:rPr>
              <a:t>H3K4me3 tracks</a:t>
            </a:r>
            <a:endParaRPr sz="1527">
              <a:solidFill>
                <a:srgbClr val="FF0000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90"/>
          <p:cNvSpPr/>
          <p:nvPr/>
        </p:nvSpPr>
        <p:spPr>
          <a:xfrm rot="5400000">
            <a:off x="7365228" y="0"/>
            <a:ext cx="1778700" cy="1778700"/>
          </a:xfrm>
          <a:prstGeom prst="diagStripe">
            <a:avLst>
              <a:gd name="adj" fmla="val 50000"/>
            </a:avLst>
          </a:prstGeom>
          <a:solidFill>
            <a:srgbClr val="EDFA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5" name="Google Shape;895;p90"/>
          <p:cNvSpPr txBox="1"/>
          <p:nvPr/>
        </p:nvSpPr>
        <p:spPr>
          <a:xfrm rot="2700000">
            <a:off x="7215273" y="386217"/>
            <a:ext cx="2501461" cy="583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</a:rPr>
              <a:t>Do not edit</a:t>
            </a:r>
            <a:endParaRPr sz="1200" b="1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u="sng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sz="1200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96" name="Google Shape;896;p90" descr="poll-type-id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3520" y="1307027"/>
            <a:ext cx="1778772" cy="1778772"/>
          </a:xfrm>
          <a:prstGeom prst="rect">
            <a:avLst/>
          </a:prstGeom>
          <a:noFill/>
          <a:ln>
            <a:noFill/>
          </a:ln>
        </p:spPr>
      </p:pic>
      <p:sp>
        <p:nvSpPr>
          <p:cNvPr id="897" name="Google Shape;897;p90" descr="title-id"/>
          <p:cNvSpPr txBox="1"/>
          <p:nvPr/>
        </p:nvSpPr>
        <p:spPr>
          <a:xfrm>
            <a:off x="2334638" y="1320628"/>
            <a:ext cx="6364800" cy="17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b="1">
                <a:solidFill>
                  <a:srgbClr val="5B5B5B"/>
                </a:solidFill>
                <a:latin typeface="Inter"/>
                <a:ea typeface="Inter"/>
                <a:cs typeface="Inter"/>
                <a:sym typeface="Inter"/>
              </a:rPr>
              <a:t>Which CRE could be annotated here?</a:t>
            </a:r>
            <a:endParaRPr sz="3600" b="1">
              <a:solidFill>
                <a:srgbClr val="5B5B5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98" name="Google Shape;898;p90"/>
          <p:cNvSpPr/>
          <p:nvPr/>
        </p:nvSpPr>
        <p:spPr>
          <a:xfrm>
            <a:off x="0" y="4365024"/>
            <a:ext cx="9144000" cy="778500"/>
          </a:xfrm>
          <a:prstGeom prst="rect">
            <a:avLst/>
          </a:prstGeom>
          <a:solidFill>
            <a:srgbClr val="1980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9" name="Google Shape;899;p90"/>
          <p:cNvSpPr txBox="1"/>
          <p:nvPr/>
        </p:nvSpPr>
        <p:spPr>
          <a:xfrm>
            <a:off x="555866" y="4365024"/>
            <a:ext cx="6948300" cy="77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Presenting with animations, GIFs or speaker notes? Enable our </a:t>
            </a:r>
            <a:r>
              <a:rPr lang="en-GB" sz="1200" u="sng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Chrome extension</a:t>
            </a:r>
            <a:endParaRPr sz="12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900" name="Google Shape;900;p9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22347" y="4643089"/>
            <a:ext cx="222347" cy="222347"/>
          </a:xfrm>
          <a:prstGeom prst="rect">
            <a:avLst/>
          </a:prstGeom>
          <a:noFill/>
          <a:ln>
            <a:noFill/>
          </a:ln>
        </p:spPr>
      </p:pic>
      <p:pic>
        <p:nvPicPr>
          <p:cNvPr id="901" name="Google Shape;901;p90" descr="logo-id">
            <a:hlinkClick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921094" y="4476329"/>
            <a:ext cx="1111733" cy="55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EMBL template">
      <a:dk1>
        <a:srgbClr val="000000"/>
      </a:dk1>
      <a:lt1>
        <a:srgbClr val="FFFFFF"/>
      </a:lt1>
      <a:dk2>
        <a:srgbClr val="007B53"/>
      </a:dk2>
      <a:lt2>
        <a:srgbClr val="707372"/>
      </a:lt2>
      <a:accent1>
        <a:srgbClr val="18974C"/>
      </a:accent1>
      <a:accent2>
        <a:srgbClr val="A1BE1F"/>
      </a:accent2>
      <a:accent3>
        <a:srgbClr val="F49E17"/>
      </a:accent3>
      <a:accent4>
        <a:srgbClr val="F4C61F"/>
      </a:accent4>
      <a:accent5>
        <a:srgbClr val="D41645"/>
      </a:accent5>
      <a:accent6>
        <a:srgbClr val="3B6FB6"/>
      </a:accent6>
      <a:hlink>
        <a:srgbClr val="2A57A3"/>
      </a:hlink>
      <a:folHlink>
        <a:srgbClr val="73459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2145</Words>
  <Application>Microsoft Macintosh PowerPoint</Application>
  <PresentationFormat>On-screen Show (16:9)</PresentationFormat>
  <Paragraphs>310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8" baseType="lpstr">
      <vt:lpstr>Arial</vt:lpstr>
      <vt:lpstr>Lobster</vt:lpstr>
      <vt:lpstr>Roboto Medium</vt:lpstr>
      <vt:lpstr>Inter</vt:lpstr>
      <vt:lpstr>Arial Black</vt:lpstr>
      <vt:lpstr>Roboto</vt:lpstr>
      <vt:lpstr>Franklin Gothic</vt:lpstr>
      <vt:lpstr>Calibri</vt:lpstr>
      <vt:lpstr>Libre Franklin Medium</vt:lpstr>
      <vt:lpstr>Libre Franklin</vt:lpstr>
      <vt:lpstr>Roboto Thin</vt:lpstr>
      <vt:lpstr>Libre Franklin Thin</vt:lpstr>
      <vt:lpstr>Custom Design</vt:lpstr>
      <vt:lpstr>PowerPoint Presentation</vt:lpstr>
      <vt:lpstr>Session map</vt:lpstr>
      <vt:lpstr>PowerPoint Presentation</vt:lpstr>
      <vt:lpstr>Gene regulation by CREs</vt:lpstr>
      <vt:lpstr>Gene regulation by CREs</vt:lpstr>
      <vt:lpstr>Epigenetic modifications and CREs</vt:lpstr>
      <vt:lpstr>A regulatory annotation is a claim built from evidence</vt:lpstr>
      <vt:lpstr>Evidence useful for defining regulatory annotation</vt:lpstr>
      <vt:lpstr>From experimental data to regulatory annotation</vt:lpstr>
      <vt:lpstr>From experimental data to regulatory annotation</vt:lpstr>
      <vt:lpstr>From experimental data to regulatory annotation</vt:lpstr>
      <vt:lpstr>From experimental data to regulatory annotation</vt:lpstr>
      <vt:lpstr>Epigenomic evidence: Large-scale community efforts</vt:lpstr>
      <vt:lpstr>Strategies for genome-wide detection of CREs</vt:lpstr>
      <vt:lpstr>Strategies for genome-wide detection of CREs</vt:lpstr>
      <vt:lpstr>Strategies for genome-wide detection of CREs</vt:lpstr>
      <vt:lpstr>Strategies for genome-wide detection of CREs</vt:lpstr>
      <vt:lpstr>Strategies for genome-wide detection of CREs</vt:lpstr>
      <vt:lpstr>Strategies for genome-wide detection of CREs</vt:lpstr>
      <vt:lpstr>Questions?</vt:lpstr>
      <vt:lpstr>PowerPoint Presentation</vt:lpstr>
      <vt:lpstr>The Integrative Genomics Viewer (IGV)</vt:lpstr>
      <vt:lpstr>The IGV window</vt:lpstr>
      <vt:lpstr>Understanding gene annotation tracks</vt:lpstr>
      <vt:lpstr>Understanding gene annotation tracks</vt:lpstr>
      <vt:lpstr>PowerPoint Presentation</vt:lpstr>
      <vt:lpstr>Understanding epigenomics tracks</vt:lpstr>
      <vt:lpstr>PowerPoint Presentation</vt:lpstr>
      <vt:lpstr>Understanding epigenomics tracks</vt:lpstr>
      <vt:lpstr>PowerPoint Presentation</vt:lpstr>
      <vt:lpstr>Understanding epigenomics tracks</vt:lpstr>
      <vt:lpstr>Understanding epigenomics tracks</vt:lpstr>
      <vt:lpstr>PowerPoint Presentation</vt:lpstr>
      <vt:lpstr>Understanding epigenomics tracks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Gabriela Merino</cp:lastModifiedBy>
  <cp:revision>1</cp:revision>
  <dcterms:modified xsi:type="dcterms:W3CDTF">2026-08-20T13:28:34Z</dcterms:modified>
</cp:coreProperties>
</file>