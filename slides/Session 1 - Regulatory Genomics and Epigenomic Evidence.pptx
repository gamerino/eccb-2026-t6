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01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38"/>
    </p:embeddedFont>
    <p:embeddedFont>
      <p:font typeface="Franklin Gothic" panose="020B0603020102020204" pitchFamily="34" charset="0"/>
      <p:regular r:id="rId39"/>
      <p:bold r:id="rId40"/>
      <p:italic r:id="rId41"/>
      <p:boldItalic r:id="rId42"/>
    </p:embeddedFont>
    <p:embeddedFont>
      <p:font typeface="Inter" panose="02000503000000020004" pitchFamily="2" charset="0"/>
      <p:regular r:id="rId43"/>
      <p:bold r:id="rId44"/>
      <p:italic r:id="rId45"/>
      <p:boldItalic r:id="rId46"/>
    </p:embeddedFont>
    <p:embeddedFont>
      <p:font typeface="Libre Franklin" pitchFamily="2" charset="77"/>
      <p:regular r:id="rId47"/>
      <p:bold r:id="rId48"/>
      <p:italic r:id="rId49"/>
      <p:boldItalic r:id="rId50"/>
    </p:embeddedFont>
    <p:embeddedFont>
      <p:font typeface="Libre Franklin Medium" pitchFamily="2" charset="77"/>
      <p:regular r:id="rId51"/>
      <p:italic r:id="rId52"/>
    </p:embeddedFont>
    <p:embeddedFont>
      <p:font typeface="Libre Franklin Thin" pitchFamily="2" charset="77"/>
      <p:regular r:id="rId53"/>
      <p:italic r:id="rId54"/>
    </p:embeddedFont>
    <p:embeddedFont>
      <p:font typeface="Lobster" panose="00000500000000000000" pitchFamily="2" charset="77"/>
      <p:regular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  <p:embeddedFont>
      <p:font typeface="Roboto Medium" panose="02000000000000000000" pitchFamily="2" charset="0"/>
      <p:regular r:id="rId60"/>
      <p:italic r:id="rId61"/>
    </p:embeddedFont>
    <p:embeddedFont>
      <p:font typeface="Roboto Thin" panose="02000000000000000000" pitchFamily="2" charset="0"/>
      <p:regular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C212DD-F114-4DB9-AE68-2979E73E411F}">
  <a:tblStyle styleId="{EEC212DD-F114-4DB9-AE68-2979E73E41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0"/>
    <p:restoredTop sz="84047"/>
  </p:normalViewPr>
  <p:slideViewPr>
    <p:cSldViewPr snapToGrid="0">
      <p:cViewPr>
        <p:scale>
          <a:sx n="158" d="100"/>
          <a:sy n="158" d="100"/>
        </p:scale>
        <p:origin x="60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ijms25010343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kWGmaYRues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i.org/10.3390/ijms25010343" TargetMode="Externa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3b4e02a5d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13b4e02a5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1d63304e4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3f1d63304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SLIDES_API7182514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SLIDES_API71825141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  <p:sp>
        <p:nvSpPr>
          <p:cNvPr id="558" name="Google Shape;558;SLIDES_API71825141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e18c40b12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e18c40b12d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Paper Cis-regulatory elements in mammals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https://doi.org/10.3390/ijms25010343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silencer functions similarly to enhancers in that they recruit TFs. It is possible for a regulatory element to silence in one cellular context and enhance in another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CTCF binding sites can function as insulators, but don’t represent all insulators!!</a:t>
            </a:r>
            <a:endParaRPr dirty="0"/>
          </a:p>
        </p:txBody>
      </p:sp>
      <p:sp>
        <p:nvSpPr>
          <p:cNvPr id="571" name="Google Shape;571;g3e18c40b12d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e18c40b12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e18c40b12d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g3e18c40b12d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18c40b12d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e18c40b12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e18c40b12d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3e18c40b12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18c40b12d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8" name="Google Shape;598;g3e18c40b12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e18c40b12d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Useful pre-course material: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https://www.youtube.com/watch?v=nkWGmaYRues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Paper Cis-regulatory elements in mammals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https://doi.org/10.3390/ijms25010343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3e18c40b12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ee6f2f9508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3ee6f2f950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18c40b12d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3e18c40b12d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18c40b12d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e18c40b12d_0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g3e18c40b12d_0_1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52690249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e526902493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g3e526902493_0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e18c40b12d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e18c40b12d_0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g3e18c40b12d_0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e18c40b12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e18c40b12d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g3e18c40b12d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e4a9ebef6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e4a9ebef62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g3e4a9ebef62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e52690249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e526902493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g3e526902493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52690249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e526902493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g3e526902493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52690249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e526902493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g3e526902493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e526902493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e526902493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d0d3de62f0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d0d3de62f0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g3d0d3de62f0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526902493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e526902493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3edf5f3b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f3edf5f3b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e526902493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e526902493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e526902493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e526902493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SLIDES_API2175632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SLIDES_API21756321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  <p:sp>
        <p:nvSpPr>
          <p:cNvPr id="775" name="Google Shape;775;SLIDES_API21756321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59c224d3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f59c224d3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SLIDES_API201975257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SLIDES_API201975257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  <p:sp>
        <p:nvSpPr>
          <p:cNvPr id="800" name="Google Shape;800;SLIDES_API2019752577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f59c224d3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f59c224d3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SLIDES_API1569211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SLIDES_API15692112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  <p:sp>
        <p:nvSpPr>
          <p:cNvPr id="825" name="Google Shape;825;SLIDES_API15692112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e526902493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e526902493_0_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f3edf5f3bf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f3edf5f3bf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SLIDES_API187517155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SLIDES_API187517155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Slido interaction slide, please don't delete it.</a:t>
            </a:r>
            <a:br>
              <a:rPr lang="en-GB" dirty="0"/>
            </a:br>
            <a:r>
              <a:rPr lang="en-GB" dirty="0"/>
              <a:t>✅ Click on 'Present with Slido' and the poll will launch automatically when you get to this slide.</a:t>
            </a:r>
            <a:endParaRPr dirty="0"/>
          </a:p>
        </p:txBody>
      </p:sp>
      <p:sp>
        <p:nvSpPr>
          <p:cNvPr id="863" name="Google Shape;863;SLIDES_API187517155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f3edf5f3bf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f3edf5f3bf_2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SLIDES_API3292384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SLIDES_API32923843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[CHECK]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  <p:sp>
        <p:nvSpPr>
          <p:cNvPr id="892" name="Google Shape;892;SLIDES_API32923843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grey">
  <p:cSld name="Title_And_Elements_gre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47" cy="37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793831" y="4557712"/>
            <a:ext cx="1143000" cy="5286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elements_white">
  <p:cSld name="Title_and_elements_whit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47" cy="37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Title - South Building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53567" y="0"/>
            <a:ext cx="4275376" cy="32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Cell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3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3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4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5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6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2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2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7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8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6" y="-5821"/>
            <a:ext cx="4281512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9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0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 1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5" y="-5821"/>
            <a:ext cx="4281515" cy="328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TRAINING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8" cy="328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INDUSTRY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4862487" y="-5821"/>
            <a:ext cx="4281506" cy="3289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9492"/>
            <a:ext cx="6410226" cy="329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>
            <a:spLocks noGrp="1"/>
          </p:cNvSpPr>
          <p:nvPr>
            <p:ph type="body" idx="1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2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3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body" idx="4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2_Title_Slide_NoImag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3999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noImag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_Slide">
  <p:cSld name="1_Title_Slide_Staff_Associa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327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640557" y="4457228"/>
            <a:ext cx="3037285" cy="29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body" idx="2"/>
          </p:nvPr>
        </p:nvSpPr>
        <p:spPr>
          <a:xfrm>
            <a:off x="640557" y="2310299"/>
            <a:ext cx="4867734" cy="526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640556" y="770936"/>
            <a:ext cx="5322093" cy="1415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3"/>
          </p:nvPr>
        </p:nvSpPr>
        <p:spPr>
          <a:xfrm>
            <a:off x="640556" y="3581009"/>
            <a:ext cx="3829050" cy="29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4"/>
          </p:nvPr>
        </p:nvSpPr>
        <p:spPr>
          <a:xfrm>
            <a:off x="640557" y="3896005"/>
            <a:ext cx="3037285" cy="246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 b="1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925" y="4118125"/>
            <a:ext cx="2091448" cy="727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grey ">
  <p:cSld name="Staff Association grey 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47" cy="37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4" cy="418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ff Association white">
  <p:cSld name="Staff Association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47" cy="37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4368" y="4628593"/>
            <a:ext cx="1202724" cy="418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">
  <p:cSld name="Two Elements_gre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0" y="869951"/>
            <a:ext cx="9144000" cy="37544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10" cy="350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10" cy="350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white">
  <p:cSld name="Two Elements_white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330994" y="992393"/>
            <a:ext cx="4227910" cy="350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body" idx="2"/>
          </p:nvPr>
        </p:nvSpPr>
        <p:spPr>
          <a:xfrm>
            <a:off x="4572000" y="992393"/>
            <a:ext cx="4227910" cy="350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Elements_grey_green">
  <p:cSld name="Two_Elements_grey_green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7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15" name="Google Shape;215;p27"/>
          <p:cNvSpPr txBox="1">
            <a:spLocks noGrp="1"/>
          </p:cNvSpPr>
          <p:nvPr>
            <p:ph type="body" idx="1"/>
          </p:nvPr>
        </p:nvSpPr>
        <p:spPr>
          <a:xfrm>
            <a:off x="1" y="887016"/>
            <a:ext cx="3155156" cy="37199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body" idx="2"/>
          </p:nvPr>
        </p:nvSpPr>
        <p:spPr>
          <a:xfrm>
            <a:off x="3146611" y="887016"/>
            <a:ext cx="5997389" cy="371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Elements_grey_green_right">
  <p:cSld name="Two Elements_grey_green_righ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1"/>
          </p:nvPr>
        </p:nvSpPr>
        <p:spPr>
          <a:xfrm>
            <a:off x="5988844" y="887016"/>
            <a:ext cx="3155156" cy="37199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89" cy="371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y_green_right">
  <p:cSld name="Three Elements_grey_green_righ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1"/>
          </p:nvPr>
        </p:nvSpPr>
        <p:spPr>
          <a:xfrm>
            <a:off x="5988844" y="880036"/>
            <a:ext cx="3155156" cy="1856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"/>
          </p:nvPr>
        </p:nvSpPr>
        <p:spPr>
          <a:xfrm>
            <a:off x="0" y="887016"/>
            <a:ext cx="5997389" cy="371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56" cy="1856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dark_grey">
  <p:cSld name="Three Elements_dark_grey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0" name="Google Shape;240;p30"/>
          <p:cNvSpPr txBox="1">
            <a:spLocks noGrp="1"/>
          </p:cNvSpPr>
          <p:nvPr>
            <p:ph type="body" idx="1"/>
          </p:nvPr>
        </p:nvSpPr>
        <p:spPr>
          <a:xfrm>
            <a:off x="0" y="887016"/>
            <a:ext cx="5997389" cy="371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body" idx="2"/>
          </p:nvPr>
        </p:nvSpPr>
        <p:spPr>
          <a:xfrm>
            <a:off x="5988844" y="880036"/>
            <a:ext cx="3155156" cy="18561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body" idx="3"/>
          </p:nvPr>
        </p:nvSpPr>
        <p:spPr>
          <a:xfrm>
            <a:off x="5988844" y="2757758"/>
            <a:ext cx="3155156" cy="18561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Elements_green_left_grey">
  <p:cSld name="Three Elements_green_left_grey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0" y="879475"/>
            <a:ext cx="9144000" cy="3734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1"/>
          </p:nvPr>
        </p:nvSpPr>
        <p:spPr>
          <a:xfrm>
            <a:off x="3146611" y="887016"/>
            <a:ext cx="5997389" cy="371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body" idx="2"/>
          </p:nvPr>
        </p:nvSpPr>
        <p:spPr>
          <a:xfrm>
            <a:off x="794" y="880036"/>
            <a:ext cx="3155156" cy="1856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3"/>
          </p:nvPr>
        </p:nvSpPr>
        <p:spPr>
          <a:xfrm>
            <a:off x="794" y="2757758"/>
            <a:ext cx="3155156" cy="18561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330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Elements_green">
  <p:cSld name="Six Elements_green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>
            <a:spLocks noGrp="1"/>
          </p:cNvSpPr>
          <p:nvPr>
            <p:ph type="pic" idx="2"/>
          </p:nvPr>
        </p:nvSpPr>
        <p:spPr>
          <a:xfrm>
            <a:off x="6103800" y="870349"/>
            <a:ext cx="3040200" cy="1865708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2"/>
          <p:cNvSpPr>
            <a:spLocks noGrp="1"/>
          </p:cNvSpPr>
          <p:nvPr>
            <p:ph type="pic" idx="3"/>
          </p:nvPr>
        </p:nvSpPr>
        <p:spPr>
          <a:xfrm>
            <a:off x="0" y="870349"/>
            <a:ext cx="3040200" cy="1865708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32"/>
          <p:cNvSpPr>
            <a:spLocks noGrp="1"/>
          </p:cNvSpPr>
          <p:nvPr>
            <p:ph type="pic" idx="4"/>
          </p:nvPr>
        </p:nvSpPr>
        <p:spPr>
          <a:xfrm>
            <a:off x="3051900" y="870349"/>
            <a:ext cx="3040200" cy="1865708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32"/>
          <p:cNvSpPr txBox="1">
            <a:spLocks noGrp="1"/>
          </p:cNvSpPr>
          <p:nvPr>
            <p:ph type="body" idx="1"/>
          </p:nvPr>
        </p:nvSpPr>
        <p:spPr>
          <a:xfrm>
            <a:off x="6103144" y="2746675"/>
            <a:ext cx="3040856" cy="18646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body" idx="5"/>
          </p:nvPr>
        </p:nvSpPr>
        <p:spPr>
          <a:xfrm>
            <a:off x="1" y="2746675"/>
            <a:ext cx="3040856" cy="18646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body" idx="6"/>
          </p:nvPr>
        </p:nvSpPr>
        <p:spPr>
          <a:xfrm>
            <a:off x="3051573" y="2746675"/>
            <a:ext cx="3040856" cy="186461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63" name="Google Shape;263;p32"/>
          <p:cNvCxnSpPr/>
          <p:nvPr/>
        </p:nvCxnSpPr>
        <p:spPr>
          <a:xfrm>
            <a:off x="3051573" y="2736057"/>
            <a:ext cx="0" cy="1907381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4" name="Google Shape;264;p32"/>
          <p:cNvCxnSpPr/>
          <p:nvPr/>
        </p:nvCxnSpPr>
        <p:spPr>
          <a:xfrm>
            <a:off x="6097513" y="2736057"/>
            <a:ext cx="0" cy="1907381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5" name="Google Shape;265;p3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en">
  <p:cSld name="Eight Elements_green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33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33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821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33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3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822" cy="1850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822" cy="18502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822" cy="18502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822" cy="18502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78" name="Google Shape;278;p33"/>
          <p:cNvCxnSpPr/>
          <p:nvPr/>
        </p:nvCxnSpPr>
        <p:spPr>
          <a:xfrm>
            <a:off x="2285095" y="2742235"/>
            <a:ext cx="0" cy="187523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9" name="Google Shape;279;p33"/>
          <p:cNvCxnSpPr/>
          <p:nvPr/>
        </p:nvCxnSpPr>
        <p:spPr>
          <a:xfrm>
            <a:off x="4571578" y="2742235"/>
            <a:ext cx="0" cy="187523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0" name="Google Shape;280;p33"/>
          <p:cNvCxnSpPr/>
          <p:nvPr/>
        </p:nvCxnSpPr>
        <p:spPr>
          <a:xfrm>
            <a:off x="6869932" y="2742235"/>
            <a:ext cx="0" cy="187523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1" name="Google Shape;281;p3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" name="Google Shape;282;p3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ight Elements_grey">
  <p:cSld name="Eight Elements_grey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>
            <a:spLocks noGrp="1"/>
          </p:cNvSpPr>
          <p:nvPr>
            <p:ph type="pic" idx="2"/>
          </p:nvPr>
        </p:nvSpPr>
        <p:spPr>
          <a:xfrm>
            <a:off x="0" y="879477"/>
            <a:ext cx="2276100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4"/>
          <p:cNvSpPr>
            <a:spLocks noGrp="1"/>
          </p:cNvSpPr>
          <p:nvPr>
            <p:ph type="pic" idx="3"/>
          </p:nvPr>
        </p:nvSpPr>
        <p:spPr>
          <a:xfrm>
            <a:off x="2289300" y="879477"/>
            <a:ext cx="2276100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4"/>
          <p:cNvSpPr>
            <a:spLocks noGrp="1"/>
          </p:cNvSpPr>
          <p:nvPr>
            <p:ph type="pic" idx="4"/>
          </p:nvPr>
        </p:nvSpPr>
        <p:spPr>
          <a:xfrm>
            <a:off x="4578599" y="879477"/>
            <a:ext cx="2279821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4"/>
          <p:cNvSpPr>
            <a:spLocks noGrp="1"/>
          </p:cNvSpPr>
          <p:nvPr>
            <p:ph type="pic" idx="5"/>
          </p:nvPr>
        </p:nvSpPr>
        <p:spPr>
          <a:xfrm>
            <a:off x="6867900" y="879477"/>
            <a:ext cx="2276100" cy="1871663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4"/>
          <p:cNvSpPr txBox="1">
            <a:spLocks noGrp="1"/>
          </p:cNvSpPr>
          <p:nvPr>
            <p:ph type="body" idx="1"/>
          </p:nvPr>
        </p:nvSpPr>
        <p:spPr>
          <a:xfrm>
            <a:off x="1" y="2761060"/>
            <a:ext cx="2279822" cy="1850232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34"/>
          <p:cNvSpPr txBox="1">
            <a:spLocks noGrp="1"/>
          </p:cNvSpPr>
          <p:nvPr>
            <p:ph type="body" idx="6"/>
          </p:nvPr>
        </p:nvSpPr>
        <p:spPr>
          <a:xfrm>
            <a:off x="2288060" y="2761060"/>
            <a:ext cx="2279822" cy="185023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body" idx="7"/>
          </p:nvPr>
        </p:nvSpPr>
        <p:spPr>
          <a:xfrm>
            <a:off x="4576119" y="2761060"/>
            <a:ext cx="2279822" cy="1850232"/>
          </a:xfrm>
          <a:prstGeom prst="rect">
            <a:avLst/>
          </a:prstGeom>
          <a:solidFill>
            <a:srgbClr val="A8ABAA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4"/>
          <p:cNvSpPr txBox="1">
            <a:spLocks noGrp="1"/>
          </p:cNvSpPr>
          <p:nvPr>
            <p:ph type="body" idx="8"/>
          </p:nvPr>
        </p:nvSpPr>
        <p:spPr>
          <a:xfrm>
            <a:off x="6864178" y="2761060"/>
            <a:ext cx="2279822" cy="185023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4" name="Google Shape;294;p34"/>
          <p:cNvCxnSpPr/>
          <p:nvPr/>
        </p:nvCxnSpPr>
        <p:spPr>
          <a:xfrm>
            <a:off x="2285095" y="2742235"/>
            <a:ext cx="0" cy="187523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5" name="Google Shape;295;p34"/>
          <p:cNvCxnSpPr/>
          <p:nvPr/>
        </p:nvCxnSpPr>
        <p:spPr>
          <a:xfrm>
            <a:off x="4571578" y="2742235"/>
            <a:ext cx="0" cy="187523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6" name="Google Shape;296;p34"/>
          <p:cNvCxnSpPr/>
          <p:nvPr/>
        </p:nvCxnSpPr>
        <p:spPr>
          <a:xfrm>
            <a:off x="6869932" y="2742235"/>
            <a:ext cx="0" cy="1875235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" name="Google Shape;297;p3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with_Footer">
  <p:cSld name="Blank_with_Footer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2" name="Google Shape;302;p3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5">
          <p15:clr>
            <a:srgbClr val="FBAE40"/>
          </p15:clr>
        </p15:guide>
        <p15:guide id="2" pos="2160">
          <p15:clr>
            <a:srgbClr val="FBAE40"/>
          </p15:clr>
        </p15:guide>
        <p15:guide id="3" orient="horz" pos="1964">
          <p15:clr>
            <a:srgbClr val="FBAE40"/>
          </p15:clr>
        </p15:guide>
        <p15:guide id="4" orient="horz" pos="1742">
          <p15:clr>
            <a:srgbClr val="FBAE40"/>
          </p15:clr>
        </p15:guide>
        <p15:guide id="5" orient="horz" pos="1521">
          <p15:clr>
            <a:srgbClr val="FBAE40"/>
          </p15:clr>
        </p15:guide>
        <p15:guide id="6" orient="horz" pos="1300">
          <p15:clr>
            <a:srgbClr val="FBAE40"/>
          </p15:clr>
        </p15:guide>
        <p15:guide id="7" orient="horz" pos="1079">
          <p15:clr>
            <a:srgbClr val="FBAE40"/>
          </p15:clr>
        </p15:guide>
        <p15:guide id="8" orient="horz" pos="858">
          <p15:clr>
            <a:srgbClr val="FBAE40"/>
          </p15:clr>
        </p15:guide>
        <p15:guide id="9" orient="horz" pos="637">
          <p15:clr>
            <a:srgbClr val="FBAE40"/>
          </p15:clr>
        </p15:guide>
        <p15:guide id="10" orient="horz" pos="411">
          <p15:clr>
            <a:srgbClr val="FBAE40"/>
          </p15:clr>
        </p15:guide>
        <p15:guide id="11" orient="horz" pos="194">
          <p15:clr>
            <a:srgbClr val="FBAE40"/>
          </p15:clr>
        </p15:guide>
        <p15:guide id="12" pos="2381">
          <p15:clr>
            <a:srgbClr val="FBAE40"/>
          </p15:clr>
        </p15:guide>
        <p15:guide id="13" pos="2603">
          <p15:clr>
            <a:srgbClr val="FBAE40"/>
          </p15:clr>
        </p15:guide>
        <p15:guide id="14" pos="2824">
          <p15:clr>
            <a:srgbClr val="FBAE40"/>
          </p15:clr>
        </p15:guide>
        <p15:guide id="15" pos="3044">
          <p15:clr>
            <a:srgbClr val="FBAE40"/>
          </p15:clr>
        </p15:guide>
        <p15:guide id="16" pos="3266">
          <p15:clr>
            <a:srgbClr val="FBAE40"/>
          </p15:clr>
        </p15:guide>
        <p15:guide id="17" pos="3487">
          <p15:clr>
            <a:srgbClr val="FBAE40"/>
          </p15:clr>
        </p15:guide>
        <p15:guide id="18" pos="3708">
          <p15:clr>
            <a:srgbClr val="FBAE40"/>
          </p15:clr>
        </p15:guide>
        <p15:guide id="19" pos="3929">
          <p15:clr>
            <a:srgbClr val="FBAE40"/>
          </p15:clr>
        </p15:guide>
        <p15:guide id="20" pos="4151">
          <p15:clr>
            <a:srgbClr val="FBAE40"/>
          </p15:clr>
        </p15:guide>
        <p15:guide id="21" pos="1939">
          <p15:clr>
            <a:srgbClr val="FBAE40"/>
          </p15:clr>
        </p15:guide>
        <p15:guide id="22" pos="1718">
          <p15:clr>
            <a:srgbClr val="FBAE40"/>
          </p15:clr>
        </p15:guide>
        <p15:guide id="23" pos="1496">
          <p15:clr>
            <a:srgbClr val="FBAE40"/>
          </p15:clr>
        </p15:guide>
        <p15:guide id="24" pos="1276">
          <p15:clr>
            <a:srgbClr val="FBAE40"/>
          </p15:clr>
        </p15:guide>
        <p15:guide id="25" pos="1055">
          <p15:clr>
            <a:srgbClr val="FBAE40"/>
          </p15:clr>
        </p15:guide>
        <p15:guide id="26" pos="833">
          <p15:clr>
            <a:srgbClr val="FBAE40"/>
          </p15:clr>
        </p15:guide>
        <p15:guide id="27" pos="612">
          <p15:clr>
            <a:srgbClr val="FBAE40"/>
          </p15:clr>
        </p15:guide>
        <p15:guide id="28" pos="391">
          <p15:clr>
            <a:srgbClr val="FBAE40"/>
          </p15:clr>
        </p15:guide>
        <p15:guide id="29" pos="17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_individual_image">
  <p:cSld name="Divider_individual_image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>
            <a:spLocks noGrp="1"/>
          </p:cNvSpPr>
          <p:nvPr>
            <p:ph type="pic" idx="2"/>
          </p:nvPr>
        </p:nvSpPr>
        <p:spPr>
          <a:xfrm>
            <a:off x="0" y="2"/>
            <a:ext cx="9144000" cy="4623197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6"/>
          <p:cNvSpPr txBox="1">
            <a:spLocks noGrp="1"/>
          </p:cNvSpPr>
          <p:nvPr>
            <p:ph type="title"/>
          </p:nvPr>
        </p:nvSpPr>
        <p:spPr>
          <a:xfrm>
            <a:off x="0" y="1112941"/>
            <a:ext cx="7527664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body" idx="1"/>
          </p:nvPr>
        </p:nvSpPr>
        <p:spPr>
          <a:xfrm>
            <a:off x="0" y="1638301"/>
            <a:ext cx="7535466" cy="92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2">
  <p:cSld name="Section Headline_2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1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7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body" idx="2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3">
  <p:cSld name="Section Headline_3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alpha val="29804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8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38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4">
  <p:cSld name="Section Headline_4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9"/>
          <p:cNvSpPr txBox="1">
            <a:spLocks noGrp="1"/>
          </p:cNvSpPr>
          <p:nvPr>
            <p:ph type="body" idx="1"/>
          </p:nvPr>
        </p:nvSpPr>
        <p:spPr>
          <a:xfrm>
            <a:off x="1298972" y="88423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39"/>
          <p:cNvSpPr txBox="1">
            <a:spLocks noGrp="1"/>
          </p:cNvSpPr>
          <p:nvPr>
            <p:ph type="body" idx="3"/>
          </p:nvPr>
        </p:nvSpPr>
        <p:spPr>
          <a:xfrm>
            <a:off x="2230472" y="88423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500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line_5">
  <p:cSld name="Section Headline_5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 txBox="1">
            <a:spLocks noGrp="1"/>
          </p:cNvSpPr>
          <p:nvPr>
            <p:ph type="body" idx="1"/>
          </p:nvPr>
        </p:nvSpPr>
        <p:spPr>
          <a:xfrm>
            <a:off x="4939075" y="3225498"/>
            <a:ext cx="931500" cy="931500"/>
          </a:xfrm>
          <a:prstGeom prst="rect">
            <a:avLst/>
          </a:prstGeom>
          <a:solidFill>
            <a:srgbClr val="009E49"/>
          </a:solidFill>
          <a:ln>
            <a:noFill/>
          </a:ln>
        </p:spPr>
        <p:txBody>
          <a:bodyPr spcFirstLastPara="1" wrap="square" lIns="0" tIns="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40"/>
          <p:cNvSpPr txBox="1">
            <a:spLocks noGrp="1"/>
          </p:cNvSpPr>
          <p:nvPr>
            <p:ph type="body" idx="3"/>
          </p:nvPr>
        </p:nvSpPr>
        <p:spPr>
          <a:xfrm>
            <a:off x="5870575" y="3225498"/>
            <a:ext cx="2808000" cy="93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88000" tIns="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29A43"/>
              </a:buClr>
              <a:buSzPts val="1500"/>
              <a:buFont typeface="Arial"/>
              <a:buNone/>
              <a:defRPr sz="15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1" name="Google Shape;331;p41"/>
          <p:cNvCxnSpPr/>
          <p:nvPr/>
        </p:nvCxnSpPr>
        <p:spPr>
          <a:xfrm rot="10800000">
            <a:off x="-8" y="2749548"/>
            <a:ext cx="6096000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350" cy="3773090"/>
          </a:xfrm>
          <a:prstGeom prst="rect">
            <a:avLst/>
          </a:prstGeom>
          <a:solidFill>
            <a:srgbClr val="C4C7C6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2"/>
          </p:nvPr>
        </p:nvSpPr>
        <p:spPr>
          <a:xfrm>
            <a:off x="-18510" y="2759927"/>
            <a:ext cx="5981160" cy="1883511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41"/>
          <p:cNvSpPr txBox="1">
            <a:spLocks noGrp="1"/>
          </p:cNvSpPr>
          <p:nvPr>
            <p:ph type="body" idx="3"/>
          </p:nvPr>
        </p:nvSpPr>
        <p:spPr>
          <a:xfrm>
            <a:off x="-18510" y="870348"/>
            <a:ext cx="5981160" cy="1873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4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7" name="Google Shape;337;p4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4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/>
          <p:nvPr/>
        </p:nvSpPr>
        <p:spPr>
          <a:xfrm>
            <a:off x="0" y="870348"/>
            <a:ext cx="9144000" cy="375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25" rIns="914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341" name="Google Shape;341;p42"/>
          <p:cNvSpPr txBox="1">
            <a:spLocks noGrp="1"/>
          </p:cNvSpPr>
          <p:nvPr>
            <p:ph type="body" idx="1"/>
          </p:nvPr>
        </p:nvSpPr>
        <p:spPr>
          <a:xfrm>
            <a:off x="5962650" y="870348"/>
            <a:ext cx="3181342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body" idx="2"/>
          </p:nvPr>
        </p:nvSpPr>
        <p:spPr>
          <a:xfrm>
            <a:off x="5962650" y="1810044"/>
            <a:ext cx="3181342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body" idx="3"/>
          </p:nvPr>
        </p:nvSpPr>
        <p:spPr>
          <a:xfrm>
            <a:off x="5962650" y="2749740"/>
            <a:ext cx="3181342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4"/>
          </p:nvPr>
        </p:nvSpPr>
        <p:spPr>
          <a:xfrm>
            <a:off x="5962650" y="3689436"/>
            <a:ext cx="3181342" cy="93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5400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"/>
              <a:buNone/>
              <a:defRPr sz="16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4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7" name="Google Shape;347;p4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4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/>
          <p:nvPr/>
        </p:nvSpPr>
        <p:spPr>
          <a:xfrm>
            <a:off x="0" y="2764154"/>
            <a:ext cx="9144000" cy="18792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43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3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3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3"/>
          <p:cNvSpPr txBox="1">
            <a:spLocks noGrp="1"/>
          </p:cNvSpPr>
          <p:nvPr>
            <p:ph type="body" idx="1"/>
          </p:nvPr>
        </p:nvSpPr>
        <p:spPr>
          <a:xfrm>
            <a:off x="-1" y="2764154"/>
            <a:ext cx="3048000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6" name="Google Shape;356;p43"/>
          <p:cNvSpPr txBox="1">
            <a:spLocks noGrp="1"/>
          </p:cNvSpPr>
          <p:nvPr>
            <p:ph type="body" idx="5"/>
          </p:nvPr>
        </p:nvSpPr>
        <p:spPr>
          <a:xfrm>
            <a:off x="6095976" y="2764154"/>
            <a:ext cx="3048024" cy="18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body" idx="6"/>
          </p:nvPr>
        </p:nvSpPr>
        <p:spPr>
          <a:xfrm>
            <a:off x="-1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body" idx="7"/>
          </p:nvPr>
        </p:nvSpPr>
        <p:spPr>
          <a:xfrm>
            <a:off x="3047987" y="4049438"/>
            <a:ext cx="3048000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43"/>
          <p:cNvSpPr txBox="1">
            <a:spLocks noGrp="1"/>
          </p:cNvSpPr>
          <p:nvPr>
            <p:ph type="body" idx="8"/>
          </p:nvPr>
        </p:nvSpPr>
        <p:spPr>
          <a:xfrm>
            <a:off x="6095976" y="4049438"/>
            <a:ext cx="3047987" cy="594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0" name="Google Shape;360;p43"/>
          <p:cNvSpPr txBox="1">
            <a:spLocks noGrp="1"/>
          </p:cNvSpPr>
          <p:nvPr>
            <p:ph type="body" idx="9"/>
          </p:nvPr>
        </p:nvSpPr>
        <p:spPr>
          <a:xfrm>
            <a:off x="3063239" y="2764154"/>
            <a:ext cx="3048000" cy="197994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4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2" name="Google Shape;362;p4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4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 layout 6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4"/>
          <p:cNvSpPr>
            <a:spLocks noGrp="1"/>
          </p:cNvSpPr>
          <p:nvPr>
            <p:ph type="pic" idx="2"/>
          </p:nvPr>
        </p:nvSpPr>
        <p:spPr>
          <a:xfrm>
            <a:off x="-1" y="879476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44"/>
          <p:cNvSpPr>
            <a:spLocks noGrp="1"/>
          </p:cNvSpPr>
          <p:nvPr>
            <p:ph type="pic" idx="3"/>
          </p:nvPr>
        </p:nvSpPr>
        <p:spPr>
          <a:xfrm>
            <a:off x="3048001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4"/>
          <p:cNvSpPr>
            <a:spLocks noGrp="1"/>
          </p:cNvSpPr>
          <p:nvPr>
            <p:ph type="pic" idx="4"/>
          </p:nvPr>
        </p:nvSpPr>
        <p:spPr>
          <a:xfrm>
            <a:off x="6096004" y="879475"/>
            <a:ext cx="3048000" cy="18717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4"/>
          <p:cNvSpPr txBox="1">
            <a:spLocks noGrp="1"/>
          </p:cNvSpPr>
          <p:nvPr>
            <p:ph type="body" idx="1"/>
          </p:nvPr>
        </p:nvSpPr>
        <p:spPr>
          <a:xfrm>
            <a:off x="-1" y="2764153"/>
            <a:ext cx="30480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0" name="Google Shape;370;p44"/>
          <p:cNvSpPr txBox="1">
            <a:spLocks noGrp="1"/>
          </p:cNvSpPr>
          <p:nvPr>
            <p:ph type="body" idx="5"/>
          </p:nvPr>
        </p:nvSpPr>
        <p:spPr>
          <a:xfrm>
            <a:off x="3048004" y="2764153"/>
            <a:ext cx="3048000" cy="45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body" idx="6"/>
          </p:nvPr>
        </p:nvSpPr>
        <p:spPr>
          <a:xfrm>
            <a:off x="-1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body" idx="7"/>
          </p:nvPr>
        </p:nvSpPr>
        <p:spPr>
          <a:xfrm>
            <a:off x="6095993" y="2764153"/>
            <a:ext cx="3048000" cy="455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body" idx="8"/>
          </p:nvPr>
        </p:nvSpPr>
        <p:spPr>
          <a:xfrm>
            <a:off x="6095993" y="3219449"/>
            <a:ext cx="3048000" cy="144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44"/>
          <p:cNvSpPr txBox="1">
            <a:spLocks noGrp="1"/>
          </p:cNvSpPr>
          <p:nvPr>
            <p:ph type="body" idx="9"/>
          </p:nvPr>
        </p:nvSpPr>
        <p:spPr>
          <a:xfrm>
            <a:off x="3048004" y="3219449"/>
            <a:ext cx="3048000" cy="144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44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6" name="Google Shape;376;p44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44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 layout 7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body" idx="1"/>
          </p:nvPr>
        </p:nvSpPr>
        <p:spPr>
          <a:xfrm>
            <a:off x="5976156" y="1356109"/>
            <a:ext cx="3167844" cy="2322922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 txBox="1">
            <a:spLocks noGrp="1"/>
          </p:cNvSpPr>
          <p:nvPr>
            <p:ph type="body" idx="2"/>
          </p:nvPr>
        </p:nvSpPr>
        <p:spPr>
          <a:xfrm>
            <a:off x="1" y="3687365"/>
            <a:ext cx="5976900" cy="94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45"/>
          <p:cNvSpPr txBox="1">
            <a:spLocks noGrp="1"/>
          </p:cNvSpPr>
          <p:nvPr>
            <p:ph type="body" idx="3"/>
          </p:nvPr>
        </p:nvSpPr>
        <p:spPr>
          <a:xfrm>
            <a:off x="5976902" y="3687366"/>
            <a:ext cx="3167100" cy="94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3" name="Google Shape;383;p45"/>
          <p:cNvSpPr txBox="1">
            <a:spLocks noGrp="1"/>
          </p:cNvSpPr>
          <p:nvPr>
            <p:ph type="body" idx="4"/>
          </p:nvPr>
        </p:nvSpPr>
        <p:spPr>
          <a:xfrm>
            <a:off x="0" y="1338146"/>
            <a:ext cx="5962650" cy="234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45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44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5" name="Google Shape;385;p45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6" name="Google Shape;386;p45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45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8">
  <p:cSld name="custom layout 8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0" name="Google Shape;390;p46"/>
          <p:cNvCxnSpPr/>
          <p:nvPr/>
        </p:nvCxnSpPr>
        <p:spPr>
          <a:xfrm>
            <a:off x="-1" y="868209"/>
            <a:ext cx="9144001" cy="0"/>
          </a:xfrm>
          <a:prstGeom prst="straightConnector1">
            <a:avLst/>
          </a:prstGeom>
          <a:noFill/>
          <a:ln w="9525" cap="flat" cmpd="sng">
            <a:solidFill>
              <a:srgbClr val="C4C7C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1" name="Google Shape;391;p46"/>
          <p:cNvSpPr txBox="1">
            <a:spLocks noGrp="1"/>
          </p:cNvSpPr>
          <p:nvPr>
            <p:ph type="body" idx="1"/>
          </p:nvPr>
        </p:nvSpPr>
        <p:spPr>
          <a:xfrm>
            <a:off x="0" y="4156473"/>
            <a:ext cx="9144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2" name="Google Shape;392;p46"/>
          <p:cNvSpPr>
            <a:spLocks noGrp="1"/>
          </p:cNvSpPr>
          <p:nvPr>
            <p:ph type="pic" idx="2"/>
          </p:nvPr>
        </p:nvSpPr>
        <p:spPr>
          <a:xfrm>
            <a:off x="-1" y="876301"/>
            <a:ext cx="3048000" cy="3281044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6"/>
          <p:cNvSpPr>
            <a:spLocks noGrp="1"/>
          </p:cNvSpPr>
          <p:nvPr>
            <p:ph type="pic" idx="3"/>
          </p:nvPr>
        </p:nvSpPr>
        <p:spPr>
          <a:xfrm>
            <a:off x="6096004" y="876301"/>
            <a:ext cx="3048000" cy="3281045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6"/>
          <p:cNvSpPr txBox="1">
            <a:spLocks noGrp="1"/>
          </p:cNvSpPr>
          <p:nvPr>
            <p:ph type="body" idx="4"/>
          </p:nvPr>
        </p:nvSpPr>
        <p:spPr>
          <a:xfrm>
            <a:off x="3048004" y="876301"/>
            <a:ext cx="3048000" cy="328612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5" name="Google Shape;395;p46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6" name="Google Shape;396;p46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46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 layout 9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47"/>
          <p:cNvSpPr>
            <a:spLocks noGrp="1"/>
          </p:cNvSpPr>
          <p:nvPr>
            <p:ph type="pic" idx="2"/>
          </p:nvPr>
        </p:nvSpPr>
        <p:spPr>
          <a:xfrm>
            <a:off x="6096004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7"/>
          <p:cNvSpPr>
            <a:spLocks noGrp="1"/>
          </p:cNvSpPr>
          <p:nvPr>
            <p:ph type="pic" idx="3"/>
          </p:nvPr>
        </p:nvSpPr>
        <p:spPr>
          <a:xfrm>
            <a:off x="6096004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7"/>
          <p:cNvSpPr>
            <a:spLocks noGrp="1"/>
          </p:cNvSpPr>
          <p:nvPr>
            <p:ph type="pic" idx="4"/>
          </p:nvPr>
        </p:nvSpPr>
        <p:spPr>
          <a:xfrm>
            <a:off x="3048008" y="879475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47"/>
          <p:cNvSpPr>
            <a:spLocks noGrp="1"/>
          </p:cNvSpPr>
          <p:nvPr>
            <p:ph type="pic" idx="5"/>
          </p:nvPr>
        </p:nvSpPr>
        <p:spPr>
          <a:xfrm>
            <a:off x="3048008" y="2756056"/>
            <a:ext cx="3048000" cy="18720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7"/>
          <p:cNvSpPr txBox="1">
            <a:spLocks noGrp="1"/>
          </p:cNvSpPr>
          <p:nvPr>
            <p:ph type="body" idx="1"/>
          </p:nvPr>
        </p:nvSpPr>
        <p:spPr>
          <a:xfrm>
            <a:off x="-12" y="2751534"/>
            <a:ext cx="15240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5" name="Google Shape;405;p47"/>
          <p:cNvSpPr txBox="1">
            <a:spLocks noGrp="1"/>
          </p:cNvSpPr>
          <p:nvPr>
            <p:ph type="body" idx="6"/>
          </p:nvPr>
        </p:nvSpPr>
        <p:spPr>
          <a:xfrm>
            <a:off x="-1" y="879475"/>
            <a:ext cx="3048000" cy="4683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6" name="Google Shape;406;p47"/>
          <p:cNvSpPr txBox="1">
            <a:spLocks noGrp="1"/>
          </p:cNvSpPr>
          <p:nvPr>
            <p:ph type="body" idx="7"/>
          </p:nvPr>
        </p:nvSpPr>
        <p:spPr>
          <a:xfrm>
            <a:off x="-1" y="1348781"/>
            <a:ext cx="3048000" cy="700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7" name="Google Shape;407;p47"/>
          <p:cNvSpPr txBox="1">
            <a:spLocks noGrp="1"/>
          </p:cNvSpPr>
          <p:nvPr>
            <p:ph type="body" idx="8"/>
          </p:nvPr>
        </p:nvSpPr>
        <p:spPr>
          <a:xfrm>
            <a:off x="-1" y="2049656"/>
            <a:ext cx="3048000" cy="6975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8" name="Google Shape;408;p47"/>
          <p:cNvSpPr txBox="1">
            <a:spLocks noGrp="1"/>
          </p:cNvSpPr>
          <p:nvPr>
            <p:ph type="body" idx="9"/>
          </p:nvPr>
        </p:nvSpPr>
        <p:spPr>
          <a:xfrm>
            <a:off x="1523999" y="2751534"/>
            <a:ext cx="1524000" cy="18720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Font typeface="Libre Franklin Thin"/>
              <a:buNone/>
              <a:def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9" name="Google Shape;409;p47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0" name="Google Shape;410;p47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47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0">
  <p:cSld name="custom layout 10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>
            <a:spLocks noGrp="1"/>
          </p:cNvSpPr>
          <p:nvPr>
            <p:ph type="body" idx="1"/>
          </p:nvPr>
        </p:nvSpPr>
        <p:spPr>
          <a:xfrm>
            <a:off x="6857775" y="870347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4" name="Google Shape;414;p48"/>
          <p:cNvSpPr txBox="1">
            <a:spLocks noGrp="1"/>
          </p:cNvSpPr>
          <p:nvPr>
            <p:ph type="body" idx="2"/>
          </p:nvPr>
        </p:nvSpPr>
        <p:spPr>
          <a:xfrm>
            <a:off x="6857775" y="2119209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5" name="Google Shape;415;p48"/>
          <p:cNvSpPr txBox="1">
            <a:spLocks noGrp="1"/>
          </p:cNvSpPr>
          <p:nvPr>
            <p:ph type="body" idx="3"/>
          </p:nvPr>
        </p:nvSpPr>
        <p:spPr>
          <a:xfrm>
            <a:off x="6857775" y="3368072"/>
            <a:ext cx="2286300" cy="126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6" name="Google Shape;416;p4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8"/>
          <p:cNvSpPr>
            <a:spLocks noGrp="1"/>
          </p:cNvSpPr>
          <p:nvPr>
            <p:ph type="pic" idx="4"/>
          </p:nvPr>
        </p:nvSpPr>
        <p:spPr>
          <a:xfrm>
            <a:off x="0" y="879476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8"/>
          <p:cNvSpPr>
            <a:spLocks noGrp="1"/>
          </p:cNvSpPr>
          <p:nvPr>
            <p:ph type="pic" idx="5"/>
          </p:nvPr>
        </p:nvSpPr>
        <p:spPr>
          <a:xfrm>
            <a:off x="4571960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8"/>
          <p:cNvSpPr txBox="1">
            <a:spLocks noGrp="1"/>
          </p:cNvSpPr>
          <p:nvPr>
            <p:ph type="body" idx="6"/>
          </p:nvPr>
        </p:nvSpPr>
        <p:spPr>
          <a:xfrm>
            <a:off x="-1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0" name="Google Shape;420;p48"/>
          <p:cNvSpPr txBox="1">
            <a:spLocks noGrp="1"/>
          </p:cNvSpPr>
          <p:nvPr>
            <p:ph type="body" idx="7"/>
          </p:nvPr>
        </p:nvSpPr>
        <p:spPr>
          <a:xfrm>
            <a:off x="4571888" y="4156472"/>
            <a:ext cx="2286000" cy="4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1" name="Google Shape;421;p48"/>
          <p:cNvSpPr>
            <a:spLocks noGrp="1"/>
          </p:cNvSpPr>
          <p:nvPr>
            <p:ph type="pic" idx="8"/>
          </p:nvPr>
        </p:nvSpPr>
        <p:spPr>
          <a:xfrm>
            <a:off x="2285811" y="879475"/>
            <a:ext cx="2286000" cy="32769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8"/>
          <p:cNvSpPr txBox="1">
            <a:spLocks noGrp="1"/>
          </p:cNvSpPr>
          <p:nvPr>
            <p:ph type="body" idx="9"/>
          </p:nvPr>
        </p:nvSpPr>
        <p:spPr>
          <a:xfrm>
            <a:off x="2285811" y="4156472"/>
            <a:ext cx="2286000" cy="4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108000" rIns="0" bIns="0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 Thin"/>
              <a:buChar char="•"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423" name="Google Shape;423;p48"/>
          <p:cNvCxnSpPr/>
          <p:nvPr/>
        </p:nvCxnSpPr>
        <p:spPr>
          <a:xfrm>
            <a:off x="6857775" y="2119209"/>
            <a:ext cx="2286225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4" name="Google Shape;424;p48"/>
          <p:cNvCxnSpPr/>
          <p:nvPr/>
        </p:nvCxnSpPr>
        <p:spPr>
          <a:xfrm>
            <a:off x="6857775" y="3371937"/>
            <a:ext cx="2286225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5" name="Google Shape;425;p48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6" name="Google Shape;426;p48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48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1">
  <p:cSld name="custom layout 11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9"/>
          <p:cNvSpPr txBox="1">
            <a:spLocks noGrp="1"/>
          </p:cNvSpPr>
          <p:nvPr>
            <p:ph type="body" idx="1"/>
          </p:nvPr>
        </p:nvSpPr>
        <p:spPr>
          <a:xfrm>
            <a:off x="6443663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49"/>
          <p:cNvSpPr txBox="1">
            <a:spLocks noGrp="1"/>
          </p:cNvSpPr>
          <p:nvPr>
            <p:ph type="body" idx="2"/>
          </p:nvPr>
        </p:nvSpPr>
        <p:spPr>
          <a:xfrm>
            <a:off x="6443663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1" name="Google Shape;431;p49"/>
          <p:cNvSpPr txBox="1">
            <a:spLocks noGrp="1"/>
          </p:cNvSpPr>
          <p:nvPr>
            <p:ph type="body" idx="3"/>
          </p:nvPr>
        </p:nvSpPr>
        <p:spPr>
          <a:xfrm>
            <a:off x="6443663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2" name="Google Shape;432;p49"/>
          <p:cNvSpPr txBox="1">
            <a:spLocks noGrp="1"/>
          </p:cNvSpPr>
          <p:nvPr>
            <p:ph type="body" idx="4"/>
          </p:nvPr>
        </p:nvSpPr>
        <p:spPr>
          <a:xfrm>
            <a:off x="0" y="870347"/>
            <a:ext cx="2700600" cy="125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3" name="Google Shape;433;p49"/>
          <p:cNvSpPr txBox="1">
            <a:spLocks noGrp="1"/>
          </p:cNvSpPr>
          <p:nvPr>
            <p:ph type="body" idx="5"/>
          </p:nvPr>
        </p:nvSpPr>
        <p:spPr>
          <a:xfrm>
            <a:off x="0" y="2135557"/>
            <a:ext cx="2700600" cy="123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4" name="Google Shape;434;p49"/>
          <p:cNvSpPr txBox="1">
            <a:spLocks noGrp="1"/>
          </p:cNvSpPr>
          <p:nvPr>
            <p:ph type="body" idx="6"/>
          </p:nvPr>
        </p:nvSpPr>
        <p:spPr>
          <a:xfrm>
            <a:off x="0" y="3378568"/>
            <a:ext cx="2700600" cy="124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5" name="Google Shape;435;p4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49"/>
          <p:cNvSpPr>
            <a:spLocks noGrp="1"/>
          </p:cNvSpPr>
          <p:nvPr>
            <p:ph type="pic" idx="7"/>
          </p:nvPr>
        </p:nvSpPr>
        <p:spPr>
          <a:xfrm>
            <a:off x="2700338" y="879475"/>
            <a:ext cx="3758100" cy="3744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37" name="Google Shape;437;p49"/>
          <p:cNvCxnSpPr/>
          <p:nvPr/>
        </p:nvCxnSpPr>
        <p:spPr>
          <a:xfrm>
            <a:off x="6443663" y="2119209"/>
            <a:ext cx="2700337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8" name="Google Shape;438;p49"/>
          <p:cNvCxnSpPr/>
          <p:nvPr/>
        </p:nvCxnSpPr>
        <p:spPr>
          <a:xfrm>
            <a:off x="6443663" y="3371937"/>
            <a:ext cx="2700337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49"/>
          <p:cNvCxnSpPr/>
          <p:nvPr/>
        </p:nvCxnSpPr>
        <p:spPr>
          <a:xfrm>
            <a:off x="-2857" y="2119209"/>
            <a:ext cx="2700337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0" name="Google Shape;440;p49"/>
          <p:cNvCxnSpPr/>
          <p:nvPr/>
        </p:nvCxnSpPr>
        <p:spPr>
          <a:xfrm>
            <a:off x="-2857" y="3371937"/>
            <a:ext cx="2700337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1" name="Google Shape;441;p49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2" name="Google Shape;442;p49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2">
  <p:cSld name="custom layout 12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>
            <a:spLocks noGrp="1"/>
          </p:cNvSpPr>
          <p:nvPr>
            <p:ph type="body" idx="1"/>
          </p:nvPr>
        </p:nvSpPr>
        <p:spPr>
          <a:xfrm>
            <a:off x="3047996" y="13477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6" name="Google Shape;446;p50"/>
          <p:cNvSpPr txBox="1">
            <a:spLocks noGrp="1"/>
          </p:cNvSpPr>
          <p:nvPr>
            <p:ph type="body" idx="2"/>
          </p:nvPr>
        </p:nvSpPr>
        <p:spPr>
          <a:xfrm>
            <a:off x="3047996" y="38052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7" name="Google Shape;447;p50"/>
          <p:cNvSpPr txBox="1">
            <a:spLocks noGrp="1"/>
          </p:cNvSpPr>
          <p:nvPr>
            <p:ph type="body" idx="3"/>
          </p:nvPr>
        </p:nvSpPr>
        <p:spPr>
          <a:xfrm>
            <a:off x="3047996" y="298608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50"/>
          <p:cNvSpPr txBox="1">
            <a:spLocks noGrp="1"/>
          </p:cNvSpPr>
          <p:nvPr>
            <p:ph type="body" idx="4"/>
          </p:nvPr>
        </p:nvSpPr>
        <p:spPr>
          <a:xfrm>
            <a:off x="3047996" y="2166937"/>
            <a:ext cx="3048000" cy="819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9" name="Google Shape;449;p5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50"/>
          <p:cNvSpPr txBox="1">
            <a:spLocks noGrp="1"/>
          </p:cNvSpPr>
          <p:nvPr>
            <p:ph type="body" idx="5"/>
          </p:nvPr>
        </p:nvSpPr>
        <p:spPr>
          <a:xfrm>
            <a:off x="-1" y="879475"/>
            <a:ext cx="9144000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Thin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51" name="Google Shape;451;p50"/>
          <p:cNvSpPr>
            <a:spLocks noGrp="1"/>
          </p:cNvSpPr>
          <p:nvPr>
            <p:ph type="pic" idx="6"/>
          </p:nvPr>
        </p:nvSpPr>
        <p:spPr>
          <a:xfrm>
            <a:off x="-1" y="1347788"/>
            <a:ext cx="3048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50"/>
          <p:cNvSpPr>
            <a:spLocks noGrp="1"/>
          </p:cNvSpPr>
          <p:nvPr>
            <p:ph type="pic" idx="7"/>
          </p:nvPr>
        </p:nvSpPr>
        <p:spPr>
          <a:xfrm>
            <a:off x="6096004" y="1347787"/>
            <a:ext cx="3048000" cy="3276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3" name="Google Shape;453;p50"/>
          <p:cNvCxnSpPr/>
          <p:nvPr/>
        </p:nvCxnSpPr>
        <p:spPr>
          <a:xfrm>
            <a:off x="3047996" y="2137497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3047996" y="298788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5" name="Google Shape;455;p50"/>
          <p:cNvCxnSpPr/>
          <p:nvPr/>
        </p:nvCxnSpPr>
        <p:spPr>
          <a:xfrm>
            <a:off x="3047996" y="3810849"/>
            <a:ext cx="30480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6" name="Google Shape;456;p50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7" name="Google Shape;457;p50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50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>
  <p:cSld name="custom layout 13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51"/>
          <p:cNvSpPr>
            <a:spLocks noGrp="1"/>
          </p:cNvSpPr>
          <p:nvPr>
            <p:ph type="pic" idx="2"/>
          </p:nvPr>
        </p:nvSpPr>
        <p:spPr>
          <a:xfrm>
            <a:off x="5039917" y="879475"/>
            <a:ext cx="4104000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1"/>
          <p:cNvSpPr txBox="1">
            <a:spLocks noGrp="1"/>
          </p:cNvSpPr>
          <p:nvPr>
            <p:ph type="body" idx="1"/>
          </p:nvPr>
        </p:nvSpPr>
        <p:spPr>
          <a:xfrm>
            <a:off x="1" y="879475"/>
            <a:ext cx="2700300" cy="1872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3" name="Google Shape;463;p51"/>
          <p:cNvSpPr txBox="1">
            <a:spLocks noGrp="1"/>
          </p:cNvSpPr>
          <p:nvPr>
            <p:ph type="body" idx="3"/>
          </p:nvPr>
        </p:nvSpPr>
        <p:spPr>
          <a:xfrm>
            <a:off x="0" y="2752344"/>
            <a:ext cx="2700300" cy="187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4" name="Google Shape;464;p51"/>
          <p:cNvSpPr>
            <a:spLocks noGrp="1"/>
          </p:cNvSpPr>
          <p:nvPr>
            <p:ph type="pic" idx="4"/>
          </p:nvPr>
        </p:nvSpPr>
        <p:spPr>
          <a:xfrm>
            <a:off x="2700338" y="895692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1"/>
          <p:cNvSpPr>
            <a:spLocks noGrp="1"/>
          </p:cNvSpPr>
          <p:nvPr>
            <p:ph type="pic" idx="5"/>
          </p:nvPr>
        </p:nvSpPr>
        <p:spPr>
          <a:xfrm>
            <a:off x="2700338" y="2768544"/>
            <a:ext cx="2339700" cy="18558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1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7" name="Google Shape;467;p51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51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5">
  <p:cSld name="custom layout 15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52"/>
          <p:cNvSpPr txBox="1">
            <a:spLocks noGrp="1"/>
          </p:cNvSpPr>
          <p:nvPr>
            <p:ph type="body" idx="1"/>
          </p:nvPr>
        </p:nvSpPr>
        <p:spPr>
          <a:xfrm>
            <a:off x="1350169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2" name="Google Shape;472;p52"/>
          <p:cNvSpPr>
            <a:spLocks noGrp="1"/>
          </p:cNvSpPr>
          <p:nvPr>
            <p:ph type="pic" idx="2"/>
          </p:nvPr>
        </p:nvSpPr>
        <p:spPr>
          <a:xfrm>
            <a:off x="2700337" y="895696"/>
            <a:ext cx="3743400" cy="37287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 txBox="1">
            <a:spLocks noGrp="1"/>
          </p:cNvSpPr>
          <p:nvPr>
            <p:ph type="body" idx="3"/>
          </p:nvPr>
        </p:nvSpPr>
        <p:spPr>
          <a:xfrm>
            <a:off x="1" y="879480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52"/>
          <p:cNvSpPr txBox="1">
            <a:spLocks noGrp="1"/>
          </p:cNvSpPr>
          <p:nvPr>
            <p:ph type="body" idx="4"/>
          </p:nvPr>
        </p:nvSpPr>
        <p:spPr>
          <a:xfrm>
            <a:off x="1350169" y="2127784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5" name="Google Shape;475;p52"/>
          <p:cNvSpPr txBox="1">
            <a:spLocks noGrp="1"/>
          </p:cNvSpPr>
          <p:nvPr>
            <p:ph type="body" idx="5"/>
          </p:nvPr>
        </p:nvSpPr>
        <p:spPr>
          <a:xfrm>
            <a:off x="1" y="2127785"/>
            <a:ext cx="1350300" cy="124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52"/>
          <p:cNvSpPr txBox="1">
            <a:spLocks noGrp="1"/>
          </p:cNvSpPr>
          <p:nvPr>
            <p:ph type="body" idx="6"/>
          </p:nvPr>
        </p:nvSpPr>
        <p:spPr>
          <a:xfrm>
            <a:off x="1350169" y="3376088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7" name="Google Shape;477;p52"/>
          <p:cNvSpPr txBox="1">
            <a:spLocks noGrp="1"/>
          </p:cNvSpPr>
          <p:nvPr>
            <p:ph type="body" idx="7"/>
          </p:nvPr>
        </p:nvSpPr>
        <p:spPr>
          <a:xfrm>
            <a:off x="1" y="3376089"/>
            <a:ext cx="1350300" cy="124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8" name="Google Shape;478;p52"/>
          <p:cNvSpPr txBox="1">
            <a:spLocks noGrp="1"/>
          </p:cNvSpPr>
          <p:nvPr>
            <p:ph type="body" idx="8"/>
          </p:nvPr>
        </p:nvSpPr>
        <p:spPr>
          <a:xfrm>
            <a:off x="779383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529A43"/>
              </a:buClr>
              <a:buSzPts val="1200"/>
              <a:buChar char="•"/>
              <a:defRPr sz="12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2000"/>
              <a:buNone/>
              <a:defRPr sz="2000">
                <a:solidFill>
                  <a:srgbClr val="000000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29A43"/>
              </a:buClr>
              <a:buSzPts val="1800"/>
              <a:buChar char="•"/>
              <a:defRPr sz="18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9" name="Google Shape;479;p52"/>
          <p:cNvSpPr txBox="1">
            <a:spLocks noGrp="1"/>
          </p:cNvSpPr>
          <p:nvPr>
            <p:ph type="body" idx="9"/>
          </p:nvPr>
        </p:nvSpPr>
        <p:spPr>
          <a:xfrm>
            <a:off x="779383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8575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Font typeface="Libre Franklin"/>
              <a:buChar char="•"/>
              <a:defRPr sz="12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0" name="Google Shape;480;p52"/>
          <p:cNvSpPr txBox="1">
            <a:spLocks noGrp="1"/>
          </p:cNvSpPr>
          <p:nvPr>
            <p:ph type="body" idx="13"/>
          </p:nvPr>
        </p:nvSpPr>
        <p:spPr>
          <a:xfrm>
            <a:off x="6443662" y="879476"/>
            <a:ext cx="1350300" cy="18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52"/>
          <p:cNvSpPr txBox="1">
            <a:spLocks noGrp="1"/>
          </p:cNvSpPr>
          <p:nvPr>
            <p:ph type="body" idx="14"/>
          </p:nvPr>
        </p:nvSpPr>
        <p:spPr>
          <a:xfrm>
            <a:off x="6443662" y="2763758"/>
            <a:ext cx="1350300" cy="186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Libre Franklin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2" name="Google Shape;482;p52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3" name="Google Shape;483;p52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52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6">
  <p:cSld name="custom layout 16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53"/>
          <p:cNvSpPr>
            <a:spLocks noGrp="1"/>
          </p:cNvSpPr>
          <p:nvPr>
            <p:ph type="pic" idx="2"/>
          </p:nvPr>
        </p:nvSpPr>
        <p:spPr>
          <a:xfrm>
            <a:off x="5962650" y="898538"/>
            <a:ext cx="3181387" cy="37449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3"/>
          <p:cNvSpPr txBox="1">
            <a:spLocks noGrp="1"/>
          </p:cNvSpPr>
          <p:nvPr>
            <p:ph type="body" idx="1"/>
          </p:nvPr>
        </p:nvSpPr>
        <p:spPr>
          <a:xfrm>
            <a:off x="0" y="898538"/>
            <a:ext cx="4085222" cy="4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7000" tIns="0" rIns="5400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Libre Franklin Medium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  <a:defRPr sz="1700">
                <a:solidFill>
                  <a:schemeClr val="lt1"/>
                </a:solidFill>
              </a:defRPr>
            </a:lvl3pPr>
            <a:lvl4pPr marL="1828800" lvl="3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4pPr>
            <a:lvl5pPr marL="2286000" lvl="4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700"/>
              <a:buChar char="•"/>
              <a:defRPr sz="1700"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9" name="Google Shape;489;p53"/>
          <p:cNvSpPr txBox="1">
            <a:spLocks noGrp="1"/>
          </p:cNvSpPr>
          <p:nvPr>
            <p:ph type="body" idx="3"/>
          </p:nvPr>
        </p:nvSpPr>
        <p:spPr>
          <a:xfrm>
            <a:off x="0" y="1364457"/>
            <a:ext cx="4081750" cy="3278981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0" name="Google Shape;490;p53"/>
          <p:cNvSpPr txBox="1">
            <a:spLocks noGrp="1"/>
          </p:cNvSpPr>
          <p:nvPr>
            <p:ph type="body" idx="4"/>
          </p:nvPr>
        </p:nvSpPr>
        <p:spPr>
          <a:xfrm>
            <a:off x="4104252" y="898538"/>
            <a:ext cx="1856017" cy="1867522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53"/>
          <p:cNvSpPr txBox="1">
            <a:spLocks noGrp="1"/>
          </p:cNvSpPr>
          <p:nvPr>
            <p:ph type="body" idx="5"/>
          </p:nvPr>
        </p:nvSpPr>
        <p:spPr>
          <a:xfrm>
            <a:off x="4104252" y="2788920"/>
            <a:ext cx="1856017" cy="1854518"/>
          </a:xfrm>
          <a:prstGeom prst="rect">
            <a:avLst/>
          </a:prstGeom>
          <a:solidFill>
            <a:srgbClr val="E1E3E1"/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00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2" name="Google Shape;492;p53"/>
          <p:cNvSpPr txBox="1">
            <a:spLocks noGrp="1"/>
          </p:cNvSpPr>
          <p:nvPr>
            <p:ph type="sldNum" idx="12"/>
          </p:nvPr>
        </p:nvSpPr>
        <p:spPr>
          <a:xfrm>
            <a:off x="338137" y="4744094"/>
            <a:ext cx="44033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3" name="Google Shape;493;p53"/>
          <p:cNvSpPr txBox="1">
            <a:spLocks noGrp="1"/>
          </p:cNvSpPr>
          <p:nvPr>
            <p:ph type="dt" idx="10"/>
          </p:nvPr>
        </p:nvSpPr>
        <p:spPr>
          <a:xfrm>
            <a:off x="892775" y="4744094"/>
            <a:ext cx="90513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53"/>
          <p:cNvSpPr txBox="1">
            <a:spLocks noGrp="1"/>
          </p:cNvSpPr>
          <p:nvPr>
            <p:ph type="ftr" idx="11"/>
          </p:nvPr>
        </p:nvSpPr>
        <p:spPr>
          <a:xfrm>
            <a:off x="4998308" y="4744094"/>
            <a:ext cx="291619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47" cy="51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47" cy="375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75"/>
              <a:buFont typeface="Arial"/>
              <a:buChar char="•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7883544" y="4733778"/>
            <a:ext cx="928177" cy="2858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13">
          <p15:clr>
            <a:srgbClr val="F26B43"/>
          </p15:clr>
        </p15:guide>
        <p15:guide id="4" pos="5537">
          <p15:clr>
            <a:srgbClr val="F26B43"/>
          </p15:clr>
        </p15:guide>
        <p15:guide id="5" orient="horz" pos="170">
          <p15:clr>
            <a:srgbClr val="F26B43"/>
          </p15:clr>
        </p15:guide>
        <p15:guide id="6" orient="horz" pos="2925">
          <p15:clr>
            <a:srgbClr val="F26B43"/>
          </p15:clr>
        </p15:guide>
        <p15:guide id="7" pos="1988">
          <p15:clr>
            <a:srgbClr val="F26B43"/>
          </p15:clr>
        </p15:guide>
        <p15:guide id="8" pos="3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rZWVwUG9sbEFjdGl2ZSI6ZmFsc2UsInBvbGxVdWlkIjoiZWNlYTI4MjQtY2FjZS00MGNlLTk3NTEtYTE2MTY4MTljNjZmIiwicHJlc2VudGF0aW9uSWQiOiIxYjBZM3cxX2dZSWwycXh2ajJRdXE3VkhhbERRdGNOVElLdGVBTTJvdTY4YyIsInNsaWRlSWQiOiJTTElERVNfQVBJNzE4MjUxNDE2XzAiLCJ0aW1lbGluZSI6W3sic2hvd1Jlc3VsdHMiOmZhbHNlLCJwb2xsUXVlc3Rpb25VdWlkIjoiOWEyYmVlN2QtNTUyNS00YjkzLWExN2EtYWU5NzVmY2IyNGJjIn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igv.or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YjFkMmRjMWMtNGI1Yy00NGQ3LWFkZWItZTE0N2UyMDkzNjA1IiwicG9sbFV1aWQiOiI3MTQxNjdhYi0wNDVhLTRjODktYTNjMi02ZGFhM2IzN2YxNjEiLCJwcmVzZW50YXRpb25JZCI6IjFiMFkzdzFfZ1lJbDJxeHZqMlF1cTdWSGFsRFF0Y05USUt0ZUFNMm91NjhjIiwic2xpZGVJZCI6IlNMSURFU19BUEkyMTc1NjMyMTBfMCIsInRpbWVsaW5lIjpbeyJzY3JlZW4iOiJRdWl6Sm9pbmluZyJ9LHsicG9sbFF1ZXN0aW9uVXVpZCI6ImIxZDJkYzFjLTRiNWMtNDRkNy1hZGViLWUxNDdlMjA5MzYwNSIsInZvdGluZ0xvY2tlZCI6ZmFsc2UsInNob3dSZXN1bHRzIjpmYWxzZSwic2hvd0NvcnJlY3RBbnN3ZXJzIjpmYWxzZX0seyJzaG93Q29ycmVjdEFuc3dlcnMiOmZhbHNlLCJwb2xsUXVlc3Rpb25VdWlkIjoiYjFkMmRjMWMtNGI1Yy00NGQ3LWFkZWItZTE0N2UyMDkzNjA1Iiwidm90aW5nTG9ja2VkIjp0cnVlLCJzaG93UmVzdWx0cyI6dHJ1ZX0seyJ2b3RpbmdMb2NrZWQiOnRydWUsInBvbGxRdWVzdGlvblV1aWQiOiJiMWQyZGMxYy00YjVjLTQ0ZDctYWRlYi1lMTQ3ZTIwOTM2MDUiLCJzaG93Q29ycmVjdEFuc3dlcnMiOnRydWUsInNob3dSZXN1bHRzIjp0cnVl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ZDNhMGNiOGItNzZhZS00NDVjLWIzMDMtMzI5ZGRhY2M4MTlmIiwicG9sbFV1aWQiOiI3MTQxNjdhYi0wNDVhLTRjODktYTNjMi02ZGFhM2IzN2YxNjEiLCJwcmVzZW50YXRpb25JZCI6IjFiMFkzdzFfZ1lJbDJxeHZqMlF1cTdWSGFsRFF0Y05USUt0ZUFNMm91NjhjIiwic2xpZGVJZCI6IlNMSURFU19BUEkyMDE5NzUyNTc3XzAiLCJ0aW1lbGluZSI6W3sic2NyZWVuIjoiUXVpekdldFJlYWR5In0seyJwb2xsUXVlc3Rpb25VdWlkIjoiZDNhMGNiOGItNzZhZS00NDVjLWIzMDMtMzI5ZGRhY2M4MTlmIiwic2hvd0NvcnJlY3RBbnN3ZXJzIjpmYWxzZSwidm90aW5nTG9ja2VkIjpmYWxzZSwic2hvd1Jlc3VsdHMiOmZhbHNlfSx7InNob3dDb3JyZWN0QW5zd2VycyI6ZmFsc2UsInZvdGluZ0xvY2tlZCI6dHJ1ZSwic2hvd1Jlc3VsdHMiOnRydWUsInBvbGxRdWVzdGlvblV1aWQiOiJkM2EwY2I4Yi03NmFlLTQ0NWMtYjMwMy0zMjlkZGFjYzgxOWYifSx7InBvbGxRdWVzdGlvblV1aWQiOiJkM2EwY2I4Yi03NmFlLTQ0NWMtYjMwMy0zMjlkZGFjYzgxOWYiLCJzaG93Q29ycmVjdEFuc3dlcnMiOnRydWUsInZvdGluZ0xvY2tlZCI6dHJ1ZSwic2hvd1Jlc3VsdHMiOnRydWV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YmNkMTdlZTgtYWY5OS00MTRmLThmOTAtYWFmNDgzZjBmZjE3IiwicG9sbFV1aWQiOiI3MTQxNjdhYi0wNDVhLTRjODktYTNjMi02ZGFhM2IzN2YxNjEiLCJwcmVzZW50YXRpb25JZCI6IjFiMFkzdzFfZ1lJbDJxeHZqMlF1cTdWSGFsRFF0Y05USUt0ZUFNMm91NjhjIiwic2xpZGVJZCI6IlNMSURFU19BUEkxNTY5MjExMjRfMCIsInRpbWVsaW5lIjpbeyJzY3JlZW4iOiJRdWl6R2V0UmVhZHkifSx7InZvdGluZ0xvY2tlZCI6ZmFsc2UsInNob3dDb3JyZWN0QW5zd2VycyI6ZmFsc2UsInBvbGxRdWVzdGlvblV1aWQiOiJiY2QxN2VlOC1hZjk5LTQxNGYtOGY5MC1hYWY0ODNmMGZmMTciLCJzaG93UmVzdWx0cyI6ZmFsc2V9LHsicG9sbFF1ZXN0aW9uVXVpZCI6ImJjZDE3ZWU4LWFmOTktNDE0Zi04ZjkwLWFhZjQ4M2YwZmYxNyIsInZvdGluZ0xvY2tlZCI6dHJ1ZSwic2hvd1Jlc3VsdHMiOnRydWUsInNob3dDb3JyZWN0QW5zd2VycyI6ZmFsc2V9LHsidm90aW5nTG9ja2VkIjp0cnVlLCJwb2xsUXVlc3Rpb25VdWlkIjoiYmNkMTdlZTgtYWY5OS00MTRmLThmOTAtYWFmNDgzZjBmZjE3Iiwic2hvd0NvcnJlY3RBbnN3ZXJzIjp0cnVlLCJzaG93UmVzdWx0cy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ODcwYzdiOWEtNWZiYy00NmY1LTliZDEtMmEzZDViNTQxM2ZiIiwicG9sbFV1aWQiOiI3MTQxNjdhYi0wNDVhLTRjODktYTNjMi02ZGFhM2IzN2YxNjEiLCJwcmVzZW50YXRpb25JZCI6IjFiMFkzdzFfZ1lJbDJxeHZqMlF1cTdWSGFsRFF0Y05USUt0ZUFNMm91NjhjIiwic2xpZGVJZCI6IlNMSURFU19BUEkxODc1MTcxNTU0XzAiLCJ0aW1lbGluZSI6W3sic2NyZWVuIjoiUXVpekdldFJlYWR5In0seyJ2b3RpbmdMb2NrZWQiOmZhbHNlLCJwb2xsUXVlc3Rpb25VdWlkIjoiODcwYzdiOWEtNWZiYy00NmY1LTliZDEtMmEzZDViNTQxM2ZiIiwic2hvd0NvcnJlY3RBbnN3ZXJzIjpmYWxzZSwic2hvd1Jlc3VsdHMiOmZhbHNlfSx7InBvbGxRdWVzdGlvblV1aWQiOiI4NzBjN2I5YS01ZmJjLTQ2ZjUtOWJkMS0yYTNkNWI1NDEzZmIiLCJzaG93UmVzdWx0cyI6dHJ1ZSwic2hvd0NvcnJlY3RBbnN3ZXJzIjpmYWxzZSwidm90aW5nTG9ja2VkIjp0cnVlfSx7InNob3dDb3JyZWN0QW5zd2VycyI6dHJ1ZSwic2hvd1Jlc3VsdHMiOnRydWUsInZvdGluZ0xvY2tlZCI6dHJ1ZSwicG9sbFF1ZXN0aW9uVXVpZCI6Ijg3MGM3YjlhLTVmYmMtNDZmNS05YmQxLTJhM2Q1YjU0MTNmYi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Nzg3N2EzMzAtZGUxMi00YmVhLTlmZWQtMGJjY2UwMzJhYzc3IiwicG9sbFV1aWQiOiI3MTQxNjdhYi0wNDVhLTRjODktYTNjMi02ZGFhM2IzN2YxNjEiLCJwcmVzZW50YXRpb25JZCI6IjFiMFkzdzFfZ1lJbDJxeHZqMlF1cTdWSGFsRFF0Y05USUt0ZUFNMm91NjhjIiwic2xpZGVJZCI6IlNMSURFU19BUEkzMjkyMzg0MzFfMCIsInRpbWVsaW5lIjpbeyJzY3JlZW4iOiJRdWl6R2V0UmVhZHkifSx7InZvdGluZ0xvY2tlZCI6ZmFsc2UsInNob3dDb3JyZWN0QW5zd2VycyI6ZmFsc2UsInBvbGxRdWVzdGlvblV1aWQiOiI3ODc3YTMzMC1kZTEyLTRiZWEtOWZlZC0wYmNjZTAzMmFjNzciLCJzaG93UmVzdWx0cyI6ZmFsc2V9LHsic2hvd0NvcnJlY3RBbnN3ZXJzIjpmYWxzZSwidm90aW5nTG9ja2VkIjp0cnVlLCJwb2xsUXVlc3Rpb25VdWlkIjoiNzg3N2EzMzAtZGUxMi00YmVhLTlmZWQtMGJjY2UwMzJhYzc3Iiwic2hvd1Jlc3VsdHMiOnRydWV9LHsicG9sbFF1ZXN0aW9uVXVpZCI6Ijc4NzdhMzMwLWRlMTItNGJlYS05ZmVkLTBiY2NlMDMyYWM3NyIsInNob3dDb3JyZWN0QW5zd2VycyI6dHJ1ZSwidm90aW5nTG9ja2VkIjp0cnVlLCJzaG93UmVzdWx0cyI6dHJ1ZX0seyJ2b3RpbmdMb2NrZWQiOnRydWUsInBvbGxRdWVzdGlvblV1aWQiOiI3ODc3YTMzMC1kZTEyLTRiZWEtOWZlZC0wYmNjZTAzMmFjNzciLCJzY3JlZW4iOiJRdWl6TGVhZGVyYm9hcmQiLCJzaG93Q29ycmVjdEFuc3dlcnMiOnRydWUsInNob3dSZXN1bHRzIjp0cnVl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3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42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060" y="1574"/>
            <a:ext cx="4273939" cy="3280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-9492"/>
            <a:ext cx="6410225" cy="3292783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5"/>
          <p:cNvSpPr txBox="1"/>
          <p:nvPr/>
        </p:nvSpPr>
        <p:spPr>
          <a:xfrm>
            <a:off x="640556" y="770936"/>
            <a:ext cx="5322000" cy="14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9A43"/>
              </a:buClr>
              <a:buSzPts val="1650"/>
              <a:buFont typeface="Arial"/>
              <a:buNone/>
            </a:pPr>
            <a:r>
              <a:rPr lang="en-GB" sz="3000" b="1">
                <a:solidFill>
                  <a:srgbClr val="FFFFFF"/>
                </a:solidFill>
              </a:rPr>
              <a:t>Regulatory Genomics and Epigenomic Evidence</a:t>
            </a:r>
            <a:endParaRPr/>
          </a:p>
        </p:txBody>
      </p:sp>
      <p:sp>
        <p:nvSpPr>
          <p:cNvPr id="503" name="Google Shape;503;p55"/>
          <p:cNvSpPr txBox="1"/>
          <p:nvPr/>
        </p:nvSpPr>
        <p:spPr>
          <a:xfrm>
            <a:off x="640557" y="2310299"/>
            <a:ext cx="5010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lang="en-GB" sz="1650" b="1">
                <a:solidFill>
                  <a:schemeClr val="lt1"/>
                </a:solidFill>
              </a:rPr>
              <a:t>Session 1</a:t>
            </a:r>
            <a:endParaRPr sz="16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5"/>
          <p:cNvSpPr txBox="1"/>
          <p:nvPr/>
        </p:nvSpPr>
        <p:spPr>
          <a:xfrm>
            <a:off x="640556" y="3581009"/>
            <a:ext cx="38292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lang="en-GB" sz="1800" b="1">
                <a:solidFill>
                  <a:schemeClr val="dk2"/>
                </a:solidFill>
              </a:rPr>
              <a:t>Gabriela A. Merino - Garth Ilsley</a:t>
            </a:r>
            <a:endParaRPr sz="18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5"/>
          <p:cNvSpPr txBox="1"/>
          <p:nvPr/>
        </p:nvSpPr>
        <p:spPr>
          <a:xfrm>
            <a:off x="640548" y="3896000"/>
            <a:ext cx="18840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Senior Bioinformatician, Ensembl Regulation, EMBL-EBI</a:t>
            </a:r>
            <a:endParaRPr/>
          </a:p>
        </p:txBody>
      </p:sp>
      <p:sp>
        <p:nvSpPr>
          <p:cNvPr id="506" name="Google Shape;506;p55"/>
          <p:cNvSpPr txBox="1"/>
          <p:nvPr/>
        </p:nvSpPr>
        <p:spPr>
          <a:xfrm>
            <a:off x="640557" y="4457228"/>
            <a:ext cx="3037200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03/09/2026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2295" y="4298592"/>
            <a:ext cx="1610399" cy="49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5"/>
          <p:cNvSpPr txBox="1"/>
          <p:nvPr/>
        </p:nvSpPr>
        <p:spPr>
          <a:xfrm>
            <a:off x="2850173" y="3896000"/>
            <a:ext cx="22596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/>
              <a:t>Project Lead,</a:t>
            </a:r>
            <a:endParaRPr sz="1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/>
              <a:t>Ensembl Regulation</a:t>
            </a:r>
            <a:endParaRPr sz="1200" b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200"/>
              <a:buFont typeface="Arial"/>
              <a:buNone/>
            </a:pPr>
            <a:r>
              <a:rPr lang="en-GB" sz="1200" b="1">
                <a:solidFill>
                  <a:srgbClr val="000000"/>
                </a:solidFill>
              </a:rPr>
              <a:t>EMBL-EBI</a:t>
            </a:r>
            <a:endParaRPr/>
          </a:p>
        </p:txBody>
      </p:sp>
      <p:sp>
        <p:nvSpPr>
          <p:cNvPr id="509" name="Google Shape;509;p55"/>
          <p:cNvSpPr txBox="1"/>
          <p:nvPr/>
        </p:nvSpPr>
        <p:spPr>
          <a:xfrm>
            <a:off x="640550" y="2755532"/>
            <a:ext cx="5322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rgbClr val="FFFFFF"/>
                </a:solidFill>
              </a:rPr>
              <a:t>T6: Making the most of cis-regulatory annotations for genome-scale analysis</a:t>
            </a:r>
            <a:endParaRPr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"/>
          <p:cNvSpPr/>
          <p:nvPr/>
        </p:nvSpPr>
        <p:spPr>
          <a:xfrm>
            <a:off x="3728375" y="3559762"/>
            <a:ext cx="3822600" cy="6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5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Session map</a:t>
            </a:r>
            <a:endParaRPr/>
          </a:p>
        </p:txBody>
      </p:sp>
      <p:grpSp>
        <p:nvGrpSpPr>
          <p:cNvPr id="516" name="Google Shape;516;p56"/>
          <p:cNvGrpSpPr/>
          <p:nvPr/>
        </p:nvGrpSpPr>
        <p:grpSpPr>
          <a:xfrm>
            <a:off x="1593000" y="2904887"/>
            <a:ext cx="5957975" cy="643500"/>
            <a:chOff x="1593000" y="2322568"/>
            <a:chExt cx="5957975" cy="643500"/>
          </a:xfrm>
        </p:grpSpPr>
        <p:sp>
          <p:nvSpPr>
            <p:cNvPr id="517" name="Google Shape;517;p5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5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5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5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Genome-wide detection of CREs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1" name="Google Shape;521;p5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23" name="Google Shape;523;p5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Commonly-used strategies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CREs catalogues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4" name="Google Shape;524;p56"/>
          <p:cNvGrpSpPr/>
          <p:nvPr/>
        </p:nvGrpSpPr>
        <p:grpSpPr>
          <a:xfrm>
            <a:off x="1593000" y="2249994"/>
            <a:ext cx="5957975" cy="643500"/>
            <a:chOff x="1593000" y="2322568"/>
            <a:chExt cx="5957975" cy="643500"/>
          </a:xfrm>
        </p:grpSpPr>
        <p:sp>
          <p:nvSpPr>
            <p:cNvPr id="525" name="Google Shape;525;p5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5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5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Epigenomic evidence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9" name="Google Shape;529;p5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5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1" name="Google Shape;531;p5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Large-scale community efforts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Evidence useful for defining regulatory annotation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2" name="Google Shape;532;p56"/>
          <p:cNvGrpSpPr/>
          <p:nvPr/>
        </p:nvGrpSpPr>
        <p:grpSpPr>
          <a:xfrm>
            <a:off x="1593000" y="1595135"/>
            <a:ext cx="5957975" cy="643500"/>
            <a:chOff x="1593000" y="2322568"/>
            <a:chExt cx="5957975" cy="643500"/>
          </a:xfrm>
        </p:grpSpPr>
        <p:sp>
          <p:nvSpPr>
            <p:cNvPr id="533" name="Google Shape;533;p5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5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5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5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Regulatory annotation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7" name="Google Shape;537;p5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39" name="Google Shape;539;p5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Definition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From experimental data to regulatory annotations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0" name="Google Shape;540;p56"/>
          <p:cNvGrpSpPr/>
          <p:nvPr/>
        </p:nvGrpSpPr>
        <p:grpSpPr>
          <a:xfrm>
            <a:off x="1593000" y="940260"/>
            <a:ext cx="5957975" cy="643500"/>
            <a:chOff x="1593000" y="2322568"/>
            <a:chExt cx="5957975" cy="643500"/>
          </a:xfrm>
        </p:grpSpPr>
        <p:sp>
          <p:nvSpPr>
            <p:cNvPr id="541" name="Google Shape;541;p56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Gene Regulation and CREs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5" name="Google Shape;545;p5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47" name="Google Shape;547;p5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Definition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B713F"/>
                </a:buClr>
                <a:buSzPts val="800"/>
                <a:buFont typeface="Roboto"/>
                <a:buChar char="●"/>
              </a:pPr>
              <a:r>
                <a:rPr lang="en-GB" sz="800">
                  <a:solidFill>
                    <a:srgbClr val="0B713F"/>
                  </a:solidFill>
                  <a:latin typeface="Roboto"/>
                  <a:ea typeface="Roboto"/>
                  <a:cs typeface="Roboto"/>
                  <a:sym typeface="Roboto"/>
                </a:rPr>
                <a:t>Epigenomic modifications and CREs.</a:t>
              </a: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8" name="Google Shape;548;p56"/>
          <p:cNvGrpSpPr/>
          <p:nvPr/>
        </p:nvGrpSpPr>
        <p:grpSpPr>
          <a:xfrm>
            <a:off x="1593000" y="3559754"/>
            <a:ext cx="5766050" cy="643482"/>
            <a:chOff x="1593000" y="2322568"/>
            <a:chExt cx="5766050" cy="643482"/>
          </a:xfrm>
        </p:grpSpPr>
        <p:sp>
          <p:nvSpPr>
            <p:cNvPr id="549" name="Google Shape;549;p56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6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B71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6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Hands-on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2" name="Google Shape;552;p56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6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C81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554" name="Google Shape;554;p56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0B713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2" name="Google Shape;562;p57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are the main classes of cis-regulatory elements?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5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5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6" name="Google Shape;566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7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 regulation by CREs</a:t>
            </a:r>
            <a:endParaRPr/>
          </a:p>
        </p:txBody>
      </p:sp>
      <p:sp>
        <p:nvSpPr>
          <p:cNvPr id="574" name="Google Shape;574;p58"/>
          <p:cNvSpPr txBox="1">
            <a:spLocks noGrp="1"/>
          </p:cNvSpPr>
          <p:nvPr>
            <p:ph type="body" idx="1"/>
          </p:nvPr>
        </p:nvSpPr>
        <p:spPr>
          <a:xfrm>
            <a:off x="338150" y="889824"/>
            <a:ext cx="8452200" cy="10791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CREs are DNA sequences that regulate the transcription of nearby or distal genes on the same chromosome by recruiting transcription factors (TFs), cofactors, and chromatin-associated proteins.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5" name="Google Shape;575;p58"/>
          <p:cNvPicPr preferRelativeResize="0"/>
          <p:nvPr/>
        </p:nvPicPr>
        <p:blipFill rotWithShape="1">
          <a:blip r:embed="rId3">
            <a:alphaModFix/>
          </a:blip>
          <a:srcRect t="13442"/>
          <a:stretch/>
        </p:blipFill>
        <p:spPr>
          <a:xfrm>
            <a:off x="3040075" y="1920125"/>
            <a:ext cx="5590449" cy="27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8"/>
          <p:cNvSpPr txBox="1">
            <a:spLocks noGrp="1"/>
          </p:cNvSpPr>
          <p:nvPr>
            <p:ph type="body" idx="1"/>
          </p:nvPr>
        </p:nvSpPr>
        <p:spPr>
          <a:xfrm>
            <a:off x="490550" y="2030500"/>
            <a:ext cx="2549400" cy="2723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600"/>
              <a:buChar char="-"/>
            </a:pPr>
            <a:r>
              <a:rPr lang="en-GB"/>
              <a:t>Main clases: 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Promoter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Enhancer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Silencer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Insulator 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 regulation by CREs</a:t>
            </a:r>
            <a:endParaRPr/>
          </a:p>
        </p:txBody>
      </p:sp>
      <p:sp>
        <p:nvSpPr>
          <p:cNvPr id="583" name="Google Shape;583;p59"/>
          <p:cNvSpPr txBox="1">
            <a:spLocks noGrp="1"/>
          </p:cNvSpPr>
          <p:nvPr>
            <p:ph type="body" idx="1"/>
          </p:nvPr>
        </p:nvSpPr>
        <p:spPr>
          <a:xfrm>
            <a:off x="338138" y="889824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Key features of CREs: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Often located in </a:t>
            </a:r>
            <a:r>
              <a:rPr lang="en-GB" b="1"/>
              <a:t>non-coding </a:t>
            </a:r>
            <a:r>
              <a:rPr lang="en-GB"/>
              <a:t>regions of the genome.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Their activity is highly cell-type, tissue, and developmental-stage </a:t>
            </a:r>
            <a:r>
              <a:rPr lang="en-GB" b="1"/>
              <a:t>specific</a:t>
            </a:r>
            <a:r>
              <a:rPr lang="en-GB"/>
              <a:t>. 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To be active, the DNA usually needs to be </a:t>
            </a:r>
            <a:r>
              <a:rPr lang="en-GB" b="1"/>
              <a:t>accessible</a:t>
            </a:r>
            <a:r>
              <a:rPr lang="en-GB"/>
              <a:t> to regulatory proteins.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Promoters, enhancers, and silencers are often associated with characteristic chromatin features, including </a:t>
            </a:r>
            <a:r>
              <a:rPr lang="en-GB" b="1"/>
              <a:t>histone modifications</a:t>
            </a:r>
            <a:r>
              <a:rPr lang="en-GB"/>
              <a:t>.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✓"/>
            </a:pPr>
            <a:r>
              <a:rPr lang="en-GB"/>
              <a:t>Insulators are mainly defined by the presence of architectural proteins such as CTCF and cohesin.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0"/>
          <p:cNvSpPr txBox="1">
            <a:spLocks noGrp="1"/>
          </p:cNvSpPr>
          <p:nvPr>
            <p:ph type="title"/>
          </p:nvPr>
        </p:nvSpPr>
        <p:spPr>
          <a:xfrm>
            <a:off x="125975" y="273850"/>
            <a:ext cx="88518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Epigenetic modifications and CREs</a:t>
            </a:r>
            <a:endParaRPr/>
          </a:p>
        </p:txBody>
      </p:sp>
      <p:pic>
        <p:nvPicPr>
          <p:cNvPr id="589" name="Google Shape;5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450" y="817425"/>
            <a:ext cx="6896724" cy="388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>
            <a:spLocks noGrp="1"/>
          </p:cNvSpPr>
          <p:nvPr>
            <p:ph type="title"/>
          </p:nvPr>
        </p:nvSpPr>
        <p:spPr>
          <a:xfrm>
            <a:off x="125975" y="213596"/>
            <a:ext cx="89724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A regulatory annotation is a claim built from evidence</a:t>
            </a:r>
            <a:endParaRPr/>
          </a:p>
        </p:txBody>
      </p:sp>
      <p:sp>
        <p:nvSpPr>
          <p:cNvPr id="595" name="Google Shape;595;p61"/>
          <p:cNvSpPr txBox="1">
            <a:spLocks noGrp="1"/>
          </p:cNvSpPr>
          <p:nvPr>
            <p:ph type="body" idx="1"/>
          </p:nvPr>
        </p:nvSpPr>
        <p:spPr>
          <a:xfrm>
            <a:off x="345888" y="897649"/>
            <a:ext cx="8452200" cy="3711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Aimed to identify </a:t>
            </a:r>
            <a:r>
              <a:rPr lang="en-GB" b="1"/>
              <a:t>potential regulatory regions</a:t>
            </a:r>
            <a:r>
              <a:rPr lang="en-GB"/>
              <a:t> in the genome.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Usually built by </a:t>
            </a:r>
            <a:r>
              <a:rPr lang="en-GB" b="1"/>
              <a:t>integrating multiple evidence</a:t>
            </a:r>
            <a:r>
              <a:rPr lang="en-GB"/>
              <a:t> layers: chromatin accessibility, histone modifications, transcription factor binding, and gene annotation.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Based on </a:t>
            </a:r>
            <a:r>
              <a:rPr lang="en-GB" b="1"/>
              <a:t>specific patterns</a:t>
            </a:r>
            <a:r>
              <a:rPr lang="en-GB"/>
              <a:t> characterising the different CREs types.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Limited to the availability of useful experimental data.</a:t>
            </a:r>
            <a:endParaRPr/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✓"/>
            </a:pPr>
            <a:r>
              <a:rPr lang="en-GB"/>
              <a:t>Limited to the availability of cell-type, tissue, developmental-stage specific experiments.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"/>
          <p:cNvSpPr txBox="1">
            <a:spLocks noGrp="1"/>
          </p:cNvSpPr>
          <p:nvPr>
            <p:ph type="title"/>
          </p:nvPr>
        </p:nvSpPr>
        <p:spPr>
          <a:xfrm>
            <a:off x="196475" y="273850"/>
            <a:ext cx="88416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GB"/>
              <a:t>Evidence useful for defining regulatory annotation</a:t>
            </a:r>
            <a:endParaRPr/>
          </a:p>
        </p:txBody>
      </p:sp>
      <p:graphicFrame>
        <p:nvGraphicFramePr>
          <p:cNvPr id="601" name="Google Shape;601;p62"/>
          <p:cNvGraphicFramePr/>
          <p:nvPr/>
        </p:nvGraphicFramePr>
        <p:xfrm>
          <a:off x="204200" y="871550"/>
          <a:ext cx="8735575" cy="3261150"/>
        </p:xfrm>
        <a:graphic>
          <a:graphicData uri="http://schemas.openxmlformats.org/drawingml/2006/table">
            <a:tbl>
              <a:tblPr>
                <a:noFill/>
                <a:tableStyleId>{EEC212DD-F114-4DB9-AE68-2979E73E411F}</a:tableStyleId>
              </a:tblPr>
              <a:tblGrid>
                <a:gridCol w="13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Approach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What it tells you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Advantages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Limitations</a:t>
                      </a: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Chromatin accessibility</a:t>
                      </a:r>
                      <a:endParaRPr sz="1000" i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Identifies open DNA where regulatory proteins can bind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Fast genome-wide discovery of candidate CREs; useful first-pass assay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Does not distinguish enhancer, promoter, silencer or insulator by itself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Histone modifications</a:t>
                      </a:r>
                      <a:endParaRPr sz="1000" i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Profiles chromatin states associated with regulatory activity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Helps classify CRE types and activity states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Correlative; depends strongly on selected marks and cell type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TF and cofactor binding</a:t>
                      </a:r>
                      <a:endParaRPr sz="1000" i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Shows where regulatory or architectural proteins bind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Links CREs to regulatory proteins such as TFs, p300/CBP, CTCF or cohesin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Binding does not always imply functional regulation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Transcription-based evidence</a:t>
                      </a:r>
                      <a:endParaRPr sz="1000" i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Detects initiation or nascent transcription from promoters and enhancers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Provides evidence of active regulatory transcription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Weak or unstable enhancer RNAs can be missed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Comparative genomics</a:t>
                      </a:r>
                      <a:endParaRPr sz="1000" i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Finds conserved non-coding regions under evolutionary constraint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Highlights candidate functional elements across species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Misses lineage-specific or rapidly evolving CREs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4A7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i="1"/>
                        <a:t>Functional assays</a:t>
                      </a:r>
                      <a:endParaRPr sz="1000" i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Tests whether a sequence can regulate transcription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Provides direct activity evidence for tested sequences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Often outside native chromatin and genomic context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02" name="Google Shape;602;p62"/>
          <p:cNvSpPr txBox="1"/>
          <p:nvPr/>
        </p:nvSpPr>
        <p:spPr>
          <a:xfrm>
            <a:off x="939075" y="4212000"/>
            <a:ext cx="6746400" cy="9232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</a:rPr>
              <a:t>CRE annotation usually combines indirect genome-wide evidence from different sources; no single method is sufficient on its own.</a:t>
            </a:r>
            <a:endParaRPr sz="16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experimental data to regulatory annotation</a:t>
            </a:r>
            <a:endParaRPr/>
          </a:p>
        </p:txBody>
      </p:sp>
      <p:graphicFrame>
        <p:nvGraphicFramePr>
          <p:cNvPr id="608" name="Google Shape;608;p63"/>
          <p:cNvGraphicFramePr/>
          <p:nvPr/>
        </p:nvGraphicFramePr>
        <p:xfrm>
          <a:off x="417600" y="1014250"/>
          <a:ext cx="8373400" cy="3106400"/>
        </p:xfrm>
        <a:graphic>
          <a:graphicData uri="http://schemas.openxmlformats.org/drawingml/2006/table">
            <a:tbl>
              <a:tblPr>
                <a:noFill/>
                <a:tableStyleId>{EEC212DD-F114-4DB9-AE68-2979E73E411F}</a:tableStyleId>
              </a:tblPr>
              <a:tblGrid>
                <a:gridCol w="86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0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Method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Approach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What it detects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Common use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Main limitation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ATAC-seq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Chromatin accessibility</a:t>
                      </a:r>
                      <a:endParaRPr sz="10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Accessible chromatin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Candidate promoters, enhancers and other open CREs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Open chromatin alone does not define function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DNase-seq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DNase-hypersensitive accessible regions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High-confidence accessible regulatory regions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Requires more input and processing than ATAC-seq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ChIP-seq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Histone modifications / TF binding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Histone marks or protein-DNA binding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Profiles marks such as H3K27ac, H3K4me1, H3K4me3 or TF binding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Resolution and quality depend on antibody and sequencing depth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CUT&amp;RUN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Targeted protein-DNA interactions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Lower-input profiling of histone marks or TF binding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Requires optimized antibodies and protocols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CUT&amp;Tag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Targeted chromatin-associated proteins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Efficient profiling of histone marks and TFs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Can be sensitive to protocol and background differences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4"/>
          <p:cNvSpPr txBox="1">
            <a:spLocks noGrp="1"/>
          </p:cNvSpPr>
          <p:nvPr>
            <p:ph type="title"/>
          </p:nvPr>
        </p:nvSpPr>
        <p:spPr>
          <a:xfrm>
            <a:off x="262050" y="149146"/>
            <a:ext cx="89724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experimental data to regulatory annotation</a:t>
            </a:r>
            <a:endParaRPr/>
          </a:p>
        </p:txBody>
      </p:sp>
      <p:pic>
        <p:nvPicPr>
          <p:cNvPr id="614" name="Google Shape;61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375" y="667550"/>
            <a:ext cx="7103074" cy="399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experimental data to regulatory annotation</a:t>
            </a:r>
            <a:endParaRPr/>
          </a:p>
        </p:txBody>
      </p:sp>
      <p:graphicFrame>
        <p:nvGraphicFramePr>
          <p:cNvPr id="620" name="Google Shape;620;p65"/>
          <p:cNvGraphicFramePr/>
          <p:nvPr/>
        </p:nvGraphicFramePr>
        <p:xfrm>
          <a:off x="417725" y="1014250"/>
          <a:ext cx="8372625" cy="3463650"/>
        </p:xfrm>
        <a:graphic>
          <a:graphicData uri="http://schemas.openxmlformats.org/drawingml/2006/table">
            <a:tbl>
              <a:tblPr>
                <a:noFill/>
                <a:tableStyleId>{EEC212DD-F114-4DB9-AE68-2979E73E411F}</a:tableStyleId>
              </a:tblPr>
              <a:tblGrid>
                <a:gridCol w="95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Method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Approach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What it detects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Common use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/>
                        <a:t>Main limitation</a:t>
                      </a:r>
                      <a:endParaRPr sz="10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CAGE-seq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Transcription-based evidence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Transcription start sites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Identifies active promoters and enhancer transcription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Depends on detectable capped transcripts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GRO-seq / PRO-seq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Nascent transcription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Detects active transcription at genes and enhancers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More specialized assays and analysis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Sequence conservation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Comparative genomics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Evolutionary conserved non-coding regions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Candidate conserved CREs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Misses species-specific regulatory elements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MPRA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Functional assays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Activity of many tested sequences in parallel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High-throughput enhancer or variant testing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Removed from native genomic context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STARR-seq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Enhancer activity of cloned fragments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Genome-scale enhancer activity screening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Activity depends on assay design and cell system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CRISPRi / CRISPRa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Effect of repressing or activating candidate CREs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Links regulatory elements to target genes or phenotypes in their genomic context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Requires guide design, suitable cell model, and careful interpretation of off-target or indirect effects</a:t>
                      </a: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From experimental data to regulatory annotation</a:t>
            </a:r>
            <a:endParaRPr/>
          </a:p>
        </p:txBody>
      </p:sp>
      <p:pic>
        <p:nvPicPr>
          <p:cNvPr id="627" name="Google Shape;62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700" y="758444"/>
            <a:ext cx="7189876" cy="404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7"/>
          <p:cNvSpPr txBox="1">
            <a:spLocks noGrp="1"/>
          </p:cNvSpPr>
          <p:nvPr>
            <p:ph type="title"/>
          </p:nvPr>
        </p:nvSpPr>
        <p:spPr>
          <a:xfrm>
            <a:off x="224850" y="273850"/>
            <a:ext cx="88656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Epigenomic evidence: Large-scale community efforts</a:t>
            </a:r>
            <a:endParaRPr/>
          </a:p>
        </p:txBody>
      </p:sp>
      <p:sp>
        <p:nvSpPr>
          <p:cNvPr id="634" name="Google Shape;634;p67"/>
          <p:cNvSpPr txBox="1">
            <a:spLocks noGrp="1"/>
          </p:cNvSpPr>
          <p:nvPr>
            <p:ph type="body" idx="1"/>
          </p:nvPr>
        </p:nvSpPr>
        <p:spPr>
          <a:xfrm>
            <a:off x="338150" y="889824"/>
            <a:ext cx="8452200" cy="10536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/>
              <a:t>Community consortia that generate </a:t>
            </a:r>
            <a:r>
              <a:rPr lang="en-GB" b="1"/>
              <a:t>standardized</a:t>
            </a:r>
            <a:r>
              <a:rPr lang="en-GB"/>
              <a:t> epigenomic datasets.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/>
              <a:t>They cover </a:t>
            </a:r>
            <a:r>
              <a:rPr lang="en-GB" b="1"/>
              <a:t>multiple</a:t>
            </a:r>
            <a:r>
              <a:rPr lang="en-GB"/>
              <a:t> tissues, cell types, and species.</a:t>
            </a:r>
            <a:endParaRPr/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✓"/>
            </a:pPr>
            <a:r>
              <a:rPr lang="en-GB"/>
              <a:t>Aimed to contribute to the understanding of </a:t>
            </a:r>
            <a:r>
              <a:rPr lang="en-GB" b="1"/>
              <a:t>genome function</a:t>
            </a:r>
            <a:r>
              <a:rPr lang="en-GB"/>
              <a:t>.</a:t>
            </a:r>
            <a:endParaRPr/>
          </a:p>
        </p:txBody>
      </p:sp>
      <p:pic>
        <p:nvPicPr>
          <p:cNvPr id="635" name="Google Shape;63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700" y="2085975"/>
            <a:ext cx="161925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7"/>
          <p:cNvSpPr txBox="1">
            <a:spLocks noGrp="1"/>
          </p:cNvSpPr>
          <p:nvPr>
            <p:ph type="body" idx="1"/>
          </p:nvPr>
        </p:nvSpPr>
        <p:spPr>
          <a:xfrm>
            <a:off x="768825" y="3200075"/>
            <a:ext cx="3610500" cy="1704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100"/>
              <a:buChar char="✓"/>
            </a:pPr>
            <a:r>
              <a:rPr lang="en-GB" sz="1100"/>
              <a:t>Focused on human and mouse</a:t>
            </a:r>
            <a:endParaRPr sz="1100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✓"/>
            </a:pPr>
            <a:r>
              <a:rPr lang="en-GB" sz="1100"/>
              <a:t>Data types: chromatin accessibility, histone marks, TF binding, DNA methylation, RNA expression, 3D genome assays.</a:t>
            </a:r>
            <a:endParaRPr sz="1100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✓"/>
            </a:pPr>
            <a:r>
              <a:rPr lang="en-GB" sz="1100"/>
              <a:t>Outputs: peaks, genome annotations, candidate CREs.</a:t>
            </a:r>
            <a:endParaRPr sz="1100"/>
          </a:p>
        </p:txBody>
      </p:sp>
      <p:pic>
        <p:nvPicPr>
          <p:cNvPr id="637" name="Google Shape;63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0000" y="2074275"/>
            <a:ext cx="2053700" cy="99495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67"/>
          <p:cNvSpPr txBox="1">
            <a:spLocks noGrp="1"/>
          </p:cNvSpPr>
          <p:nvPr>
            <p:ph type="body" idx="1"/>
          </p:nvPr>
        </p:nvSpPr>
        <p:spPr>
          <a:xfrm>
            <a:off x="4941800" y="3154375"/>
            <a:ext cx="3610500" cy="1704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8974C"/>
              </a:buClr>
              <a:buSzPts val="1100"/>
              <a:buChar char="✓"/>
            </a:pPr>
            <a:r>
              <a:rPr lang="en-GB" sz="1100"/>
              <a:t>Focused on animal genomes, especially farmed animals.</a:t>
            </a:r>
            <a:endParaRPr sz="1100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✓"/>
            </a:pPr>
            <a:r>
              <a:rPr lang="en-GB" sz="1100"/>
              <a:t>Data types: coordinated epigenomic and transcriptomic assays across tissues and species.</a:t>
            </a:r>
            <a:endParaRPr sz="1100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✓"/>
            </a:pPr>
            <a:r>
              <a:rPr lang="en-GB" sz="1100"/>
              <a:t>Outputs: standardized datasets, metadata, genome annotations.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for genome-wide detection of CREs</a:t>
            </a:r>
            <a:endParaRPr/>
          </a:p>
        </p:txBody>
      </p:sp>
      <p:sp>
        <p:nvSpPr>
          <p:cNvPr id="645" name="Google Shape;645;p68"/>
          <p:cNvSpPr txBox="1"/>
          <p:nvPr/>
        </p:nvSpPr>
        <p:spPr>
          <a:xfrm>
            <a:off x="143225" y="873700"/>
            <a:ext cx="82575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Mainly based on strategies combining </a:t>
            </a:r>
            <a:r>
              <a:rPr lang="en-GB" sz="1600" b="1">
                <a:solidFill>
                  <a:schemeClr val="dk1"/>
                </a:solidFill>
              </a:rPr>
              <a:t>open chromatin and histone/TF ChIP-seq </a:t>
            </a:r>
            <a:r>
              <a:rPr lang="en-GB" sz="1600">
                <a:solidFill>
                  <a:schemeClr val="dk1"/>
                </a:solidFill>
              </a:rPr>
              <a:t>experiments from </a:t>
            </a:r>
            <a:r>
              <a:rPr lang="en-GB" sz="1600" b="1">
                <a:solidFill>
                  <a:schemeClr val="dk1"/>
                </a:solidFill>
              </a:rPr>
              <a:t>large-scale efforts</a:t>
            </a:r>
            <a:r>
              <a:rPr lang="en-GB" sz="1600">
                <a:solidFill>
                  <a:schemeClr val="dk1"/>
                </a:solidFill>
              </a:rPr>
              <a:t> involving several species.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Focused on detecting: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Promoter-like sequences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Enhancer-like sequences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Open chromatin regions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Transcription factor </a:t>
            </a:r>
            <a:endParaRPr sz="16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binding regions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46" name="Google Shape;646;p68"/>
          <p:cNvPicPr preferRelativeResize="0"/>
          <p:nvPr/>
        </p:nvPicPr>
        <p:blipFill rotWithShape="1">
          <a:blip r:embed="rId3">
            <a:alphaModFix/>
          </a:blip>
          <a:srcRect r="60695"/>
          <a:stretch/>
        </p:blipFill>
        <p:spPr>
          <a:xfrm>
            <a:off x="6905901" y="1783350"/>
            <a:ext cx="2155674" cy="2503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3711" y="2532724"/>
            <a:ext cx="3272200" cy="19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0950" y="1940900"/>
            <a:ext cx="3137725" cy="5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8"/>
          <p:cNvSpPr txBox="1"/>
          <p:nvPr/>
        </p:nvSpPr>
        <p:spPr>
          <a:xfrm>
            <a:off x="6905900" y="4332775"/>
            <a:ext cx="3000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/>
              <a:t>https://www.nature.com/articles/s41586-025-09909-9</a:t>
            </a:r>
            <a:endParaRPr sz="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for genome-wide detection of CREs</a:t>
            </a:r>
            <a:endParaRPr/>
          </a:p>
        </p:txBody>
      </p:sp>
      <p:sp>
        <p:nvSpPr>
          <p:cNvPr id="656" name="Google Shape;656;p69"/>
          <p:cNvSpPr txBox="1"/>
          <p:nvPr/>
        </p:nvSpPr>
        <p:spPr>
          <a:xfrm>
            <a:off x="143225" y="873700"/>
            <a:ext cx="82575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Require genome-wide experimental assays in several cell lines, tissues and developmental-stages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Each assay will usually produce two tracks: 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Signal</a:t>
            </a:r>
            <a:r>
              <a:rPr lang="en-GB" sz="1600">
                <a:solidFill>
                  <a:schemeClr val="dk1"/>
                </a:solidFill>
              </a:rPr>
              <a:t>: Quantitative coverage or enrichment signal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 b="1">
                <a:solidFill>
                  <a:schemeClr val="dk1"/>
                </a:solidFill>
              </a:rPr>
              <a:t>Peaks</a:t>
            </a:r>
            <a:r>
              <a:rPr lang="en-GB" sz="1600">
                <a:solidFill>
                  <a:schemeClr val="dk1"/>
                </a:solidFill>
              </a:rPr>
              <a:t>: Genomic intervals identified through statistical analysis of signal tracks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57" name="Google Shape;657;p69" title="region_example_sesion_1.png"/>
          <p:cNvPicPr preferRelativeResize="0"/>
          <p:nvPr/>
        </p:nvPicPr>
        <p:blipFill rotWithShape="1">
          <a:blip r:embed="rId3">
            <a:alphaModFix/>
          </a:blip>
          <a:srcRect b="49637"/>
          <a:stretch/>
        </p:blipFill>
        <p:spPr>
          <a:xfrm>
            <a:off x="944262" y="2782300"/>
            <a:ext cx="7239977" cy="19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for genome-wide detection of CREs</a:t>
            </a:r>
            <a:endParaRPr/>
          </a:p>
        </p:txBody>
      </p:sp>
      <p:sp>
        <p:nvSpPr>
          <p:cNvPr id="664" name="Google Shape;664;p70"/>
          <p:cNvSpPr txBox="1"/>
          <p:nvPr/>
        </p:nvSpPr>
        <p:spPr>
          <a:xfrm>
            <a:off x="143225" y="873700"/>
            <a:ext cx="825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✓"/>
            </a:pPr>
            <a:r>
              <a:rPr lang="en-GB" i="1">
                <a:solidFill>
                  <a:schemeClr val="dk1"/>
                </a:solidFill>
              </a:rPr>
              <a:t>Genome segmentation by unsupervised machine learning methods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665" name="Google Shape;665;p70"/>
          <p:cNvPicPr preferRelativeResize="0"/>
          <p:nvPr/>
        </p:nvPicPr>
        <p:blipFill rotWithShape="1">
          <a:blip r:embed="rId3">
            <a:alphaModFix/>
          </a:blip>
          <a:srcRect b="40811"/>
          <a:stretch/>
        </p:blipFill>
        <p:spPr>
          <a:xfrm>
            <a:off x="405029" y="1347890"/>
            <a:ext cx="4572200" cy="3170627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70"/>
          <p:cNvSpPr txBox="1"/>
          <p:nvPr/>
        </p:nvSpPr>
        <p:spPr>
          <a:xfrm>
            <a:off x="377054" y="4469515"/>
            <a:ext cx="519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Figure extracted from </a:t>
            </a:r>
            <a:r>
              <a:rPr lang="en-GB" sz="900" i="1"/>
              <a:t>Chromatin-state discovery and genome annotation with ChromHMM</a:t>
            </a:r>
            <a:r>
              <a:rPr lang="en-GB" sz="900" baseline="30000"/>
              <a:t>1</a:t>
            </a:r>
            <a:r>
              <a:rPr lang="en-GB" sz="900"/>
              <a:t>.</a:t>
            </a:r>
            <a:endParaRPr sz="900"/>
          </a:p>
        </p:txBody>
      </p:sp>
      <p:sp>
        <p:nvSpPr>
          <p:cNvPr id="667" name="Google Shape;667;p70"/>
          <p:cNvSpPr txBox="1"/>
          <p:nvPr/>
        </p:nvSpPr>
        <p:spPr>
          <a:xfrm>
            <a:off x="0" y="4866600"/>
            <a:ext cx="761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aseline="30000">
                <a:solidFill>
                  <a:schemeClr val="dk1"/>
                </a:solidFill>
              </a:rPr>
              <a:t>1</a:t>
            </a:r>
            <a:r>
              <a:rPr lang="en-GB" sz="600">
                <a:solidFill>
                  <a:schemeClr val="dk1"/>
                </a:solidFill>
              </a:rPr>
              <a:t>Ernst, J., Kellis, M. Chromatin-state discovery and genome annotation with ChromHMM. Nat Protoc 12, 2478–2492 (2017). https://doi.org/10.1038/nprot.2017.124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68" name="Google Shape;668;p70"/>
          <p:cNvSpPr txBox="1"/>
          <p:nvPr/>
        </p:nvSpPr>
        <p:spPr>
          <a:xfrm>
            <a:off x="4977225" y="1552625"/>
            <a:ext cx="3967200" cy="29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Strengths:</a:t>
            </a:r>
            <a:endParaRPr sz="12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Integrates several histone marks/accessibility tracks into one compact genome-wide annotation.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Learns recurrent mark combinations de novo.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Produces interpretable state definitions: e.g. H3K4me3 + H3K27ac-rich states suggest active promoters; H3K4me1 + H3K27ac suggests enhancers.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Gives every genomic bin a label, making the non-coding genome easier to visualise and compare across cell types.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Widely used and scalable.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1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for genome-wide detection of CREs</a:t>
            </a:r>
            <a:endParaRPr/>
          </a:p>
        </p:txBody>
      </p:sp>
      <p:sp>
        <p:nvSpPr>
          <p:cNvPr id="675" name="Google Shape;675;p71"/>
          <p:cNvSpPr txBox="1"/>
          <p:nvPr/>
        </p:nvSpPr>
        <p:spPr>
          <a:xfrm>
            <a:off x="143225" y="873700"/>
            <a:ext cx="825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✓"/>
            </a:pPr>
            <a:r>
              <a:rPr lang="en-GB" i="1">
                <a:solidFill>
                  <a:schemeClr val="dk1"/>
                </a:solidFill>
              </a:rPr>
              <a:t>Genome segmentation by unsupervised machine learning methods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676" name="Google Shape;676;p71"/>
          <p:cNvPicPr preferRelativeResize="0"/>
          <p:nvPr/>
        </p:nvPicPr>
        <p:blipFill rotWithShape="1">
          <a:blip r:embed="rId3">
            <a:alphaModFix/>
          </a:blip>
          <a:srcRect b="40811"/>
          <a:stretch/>
        </p:blipFill>
        <p:spPr>
          <a:xfrm>
            <a:off x="405029" y="1347890"/>
            <a:ext cx="4572200" cy="3170627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71"/>
          <p:cNvSpPr txBox="1"/>
          <p:nvPr/>
        </p:nvSpPr>
        <p:spPr>
          <a:xfrm>
            <a:off x="377054" y="4469515"/>
            <a:ext cx="5195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Figure extracted from </a:t>
            </a:r>
            <a:r>
              <a:rPr lang="en-GB" sz="900" i="1"/>
              <a:t>Chromatin-state discovery and genome annotation with ChromHMM</a:t>
            </a:r>
            <a:r>
              <a:rPr lang="en-GB" sz="900" baseline="30000"/>
              <a:t>1</a:t>
            </a:r>
            <a:r>
              <a:rPr lang="en-GB" sz="900"/>
              <a:t>.</a:t>
            </a:r>
            <a:endParaRPr sz="900"/>
          </a:p>
        </p:txBody>
      </p:sp>
      <p:sp>
        <p:nvSpPr>
          <p:cNvPr id="678" name="Google Shape;678;p71"/>
          <p:cNvSpPr txBox="1"/>
          <p:nvPr/>
        </p:nvSpPr>
        <p:spPr>
          <a:xfrm>
            <a:off x="0" y="4866600"/>
            <a:ext cx="7613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 baseline="30000">
                <a:solidFill>
                  <a:schemeClr val="dk1"/>
                </a:solidFill>
              </a:rPr>
              <a:t>1</a:t>
            </a:r>
            <a:r>
              <a:rPr lang="en-GB" sz="600">
                <a:solidFill>
                  <a:schemeClr val="dk1"/>
                </a:solidFill>
              </a:rPr>
              <a:t>Ernst, J., Kellis, M. Chromatin-state discovery and genome annotation with ChromHMM. Nat Protoc 12, 2478–2492 (2017). https://doi.org/10.1038/nprot.2017.124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679" name="Google Shape;679;p71"/>
          <p:cNvSpPr txBox="1"/>
          <p:nvPr/>
        </p:nvSpPr>
        <p:spPr>
          <a:xfrm>
            <a:off x="4977225" y="1552613"/>
            <a:ext cx="4033200" cy="29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Limitations:</a:t>
            </a:r>
            <a:endParaRPr sz="12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State names are interpretations, </a:t>
            </a:r>
            <a:r>
              <a:rPr lang="en-GB" sz="1100" b="1">
                <a:solidFill>
                  <a:schemeClr val="dk1"/>
                </a:solidFill>
              </a:rPr>
              <a:t>not guarantees</a:t>
            </a:r>
            <a:r>
              <a:rPr lang="en-GB" sz="1100">
                <a:solidFill>
                  <a:schemeClr val="dk1"/>
                </a:solidFill>
              </a:rPr>
              <a:t>: an “enhancer” state is a candidate enhancer annotation, not proof that every bin with this state functions as an enhancer.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The number of states is chosen by the user; too few states can merge biology, too many can create hard-to-interpret subclasses.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Resolution is limited by bin size and assay resolution.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Results depend strongly on input marks, data quality, binarisation, and missing assays.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for genome-wide detection of CREs</a:t>
            </a:r>
            <a:endParaRPr/>
          </a:p>
        </p:txBody>
      </p:sp>
      <p:sp>
        <p:nvSpPr>
          <p:cNvPr id="686" name="Google Shape;686;p72"/>
          <p:cNvSpPr txBox="1"/>
          <p:nvPr/>
        </p:nvSpPr>
        <p:spPr>
          <a:xfrm>
            <a:off x="143225" y="873700"/>
            <a:ext cx="825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✓"/>
            </a:pPr>
            <a:r>
              <a:rPr lang="en-GB" i="1">
                <a:solidFill>
                  <a:schemeClr val="dk1"/>
                </a:solidFill>
              </a:rPr>
              <a:t>Open chromatin-guided annotation of CREs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687" name="Google Shape;687;p72"/>
          <p:cNvSpPr txBox="1"/>
          <p:nvPr/>
        </p:nvSpPr>
        <p:spPr>
          <a:xfrm>
            <a:off x="5009375" y="1217275"/>
            <a:ext cx="4033200" cy="29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Strengths:</a:t>
            </a:r>
            <a:endParaRPr sz="12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Directly uses chromatin accessibility, a strong hallmark of active or poised regulatory DNA.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Produces focal candidate regions, often easier to intersect with variants than broad chromatin states.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More transparent than unsupervised segmentation: rules like H3K4me3 near TSS = promoter-like, H3K27ac distal = enhancer-like.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Scales well across many tissues/cell types.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Useful for variant interpretation because it gives a practical catalogue of candidate regulatory elements.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88" name="Google Shape;688;p72" title="open_chromatin_cre_detection.png"/>
          <p:cNvPicPr preferRelativeResize="0"/>
          <p:nvPr/>
        </p:nvPicPr>
        <p:blipFill rotWithShape="1">
          <a:blip r:embed="rId3">
            <a:alphaModFix/>
          </a:blip>
          <a:srcRect l="2433" r="2888" b="16562"/>
          <a:stretch/>
        </p:blipFill>
        <p:spPr>
          <a:xfrm>
            <a:off x="143225" y="1568650"/>
            <a:ext cx="4916851" cy="243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3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for genome-wide detection of CREs</a:t>
            </a:r>
            <a:endParaRPr/>
          </a:p>
        </p:txBody>
      </p:sp>
      <p:sp>
        <p:nvSpPr>
          <p:cNvPr id="695" name="Google Shape;695;p73"/>
          <p:cNvSpPr txBox="1"/>
          <p:nvPr/>
        </p:nvSpPr>
        <p:spPr>
          <a:xfrm>
            <a:off x="143225" y="873700"/>
            <a:ext cx="825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400"/>
              <a:buChar char="✓"/>
            </a:pPr>
            <a:r>
              <a:rPr lang="en-GB" i="1">
                <a:solidFill>
                  <a:schemeClr val="dk1"/>
                </a:solidFill>
              </a:rPr>
              <a:t>Open chromatin-guided annotation of CREs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696" name="Google Shape;696;p73"/>
          <p:cNvSpPr txBox="1"/>
          <p:nvPr/>
        </p:nvSpPr>
        <p:spPr>
          <a:xfrm>
            <a:off x="4987925" y="964538"/>
            <a:ext cx="4033200" cy="3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Limitations:</a:t>
            </a:r>
            <a:endParaRPr sz="12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Open chromatin is not proof of regulatory function; it marks candidate, not validated CREs.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Functional labels are heuristic: “enhancer-like” does not guarantee enhancer activity.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Cell type-, tissue-, stage-, or condition-specific elements may be missed if those contexts are not represented in the open chromatin data.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Classification depends on assay availability and quality; missing H3K27ac, H3K4me3, CTCF, or TF-binding data can limit annotation.</a:t>
            </a:r>
            <a:endParaRPr sz="1100">
              <a:solidFill>
                <a:schemeClr val="dk1"/>
              </a:solidFill>
            </a:endParaRPr>
          </a:p>
          <a:p>
            <a:pPr marL="269999" lvl="0" indent="-159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Target genes, direction of effect, and causal nucleotides require extra evidence such as eQTLs, CRISPR perturbation, reporter assays, or chromatin contacts.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97" name="Google Shape;697;p73" title="open_chromatin_cre_detection.png"/>
          <p:cNvPicPr preferRelativeResize="0"/>
          <p:nvPr/>
        </p:nvPicPr>
        <p:blipFill rotWithShape="1">
          <a:blip r:embed="rId3">
            <a:alphaModFix/>
          </a:blip>
          <a:srcRect l="2433" r="2888" b="16562"/>
          <a:stretch/>
        </p:blipFill>
        <p:spPr>
          <a:xfrm>
            <a:off x="143225" y="1568650"/>
            <a:ext cx="4916851" cy="243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5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  <p:grpSp>
        <p:nvGrpSpPr>
          <p:cNvPr id="710" name="Google Shape;710;p75"/>
          <p:cNvGrpSpPr/>
          <p:nvPr/>
        </p:nvGrpSpPr>
        <p:grpSpPr>
          <a:xfrm>
            <a:off x="1788346" y="1314725"/>
            <a:ext cx="776475" cy="2406685"/>
            <a:chOff x="3226825" y="1139765"/>
            <a:chExt cx="776475" cy="2406685"/>
          </a:xfrm>
        </p:grpSpPr>
        <p:sp>
          <p:nvSpPr>
            <p:cNvPr id="711" name="Google Shape;711;p75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2" name="Google Shape;712;p75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274E1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3" name="Google Shape;713;p75"/>
          <p:cNvGrpSpPr/>
          <p:nvPr/>
        </p:nvGrpSpPr>
        <p:grpSpPr>
          <a:xfrm>
            <a:off x="6367779" y="1366550"/>
            <a:ext cx="776475" cy="2406685"/>
            <a:chOff x="3226825" y="1139765"/>
            <a:chExt cx="776475" cy="2406685"/>
          </a:xfrm>
        </p:grpSpPr>
        <p:sp>
          <p:nvSpPr>
            <p:cNvPr id="714" name="Google Shape;714;p75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5" name="Google Shape;715;p75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B6D7A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6" name="Google Shape;716;p75"/>
          <p:cNvGrpSpPr/>
          <p:nvPr/>
        </p:nvGrpSpPr>
        <p:grpSpPr>
          <a:xfrm>
            <a:off x="2933204" y="1366550"/>
            <a:ext cx="776475" cy="2406685"/>
            <a:chOff x="3226825" y="1139765"/>
            <a:chExt cx="776475" cy="2406685"/>
          </a:xfrm>
        </p:grpSpPr>
        <p:sp>
          <p:nvSpPr>
            <p:cNvPr id="717" name="Google Shape;717;p75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" name="Google Shape;718;p75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" name="Google Shape;719;p75"/>
          <p:cNvGrpSpPr/>
          <p:nvPr/>
        </p:nvGrpSpPr>
        <p:grpSpPr>
          <a:xfrm>
            <a:off x="4078063" y="1366550"/>
            <a:ext cx="776475" cy="2406685"/>
            <a:chOff x="3226825" y="1139765"/>
            <a:chExt cx="776475" cy="2406685"/>
          </a:xfrm>
        </p:grpSpPr>
        <p:sp>
          <p:nvSpPr>
            <p:cNvPr id="720" name="Google Shape;720;p75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" name="Google Shape;721;p75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2" name="Google Shape;722;p75"/>
          <p:cNvGrpSpPr/>
          <p:nvPr/>
        </p:nvGrpSpPr>
        <p:grpSpPr>
          <a:xfrm>
            <a:off x="5222921" y="1366550"/>
            <a:ext cx="776475" cy="2406685"/>
            <a:chOff x="3226825" y="1139765"/>
            <a:chExt cx="776475" cy="2406685"/>
          </a:xfrm>
        </p:grpSpPr>
        <p:sp>
          <p:nvSpPr>
            <p:cNvPr id="723" name="Google Shape;723;p75"/>
            <p:cNvSpPr/>
            <p:nvPr/>
          </p:nvSpPr>
          <p:spPr>
            <a:xfrm>
              <a:off x="3226825" y="1139765"/>
              <a:ext cx="776475" cy="2145375"/>
            </a:xfrm>
            <a:custGeom>
              <a:avLst/>
              <a:gdLst/>
              <a:ahLst/>
              <a:cxnLst/>
              <a:rect l="l" t="t" r="r" b="b"/>
              <a:pathLst>
                <a:path w="31059" h="85815" extrusionOk="0">
                  <a:moveTo>
                    <a:pt x="0" y="14021"/>
                  </a:moveTo>
                  <a:cubicBezTo>
                    <a:pt x="0" y="9152"/>
                    <a:pt x="2195" y="2810"/>
                    <a:pt x="6739" y="1062"/>
                  </a:cubicBezTo>
                  <a:cubicBezTo>
                    <a:pt x="14810" y="-2042"/>
                    <a:pt x="30061" y="2040"/>
                    <a:pt x="30843" y="10652"/>
                  </a:cubicBezTo>
                  <a:cubicBezTo>
                    <a:pt x="31710" y="20191"/>
                    <a:pt x="28640" y="30416"/>
                    <a:pt x="23327" y="38385"/>
                  </a:cubicBezTo>
                  <a:cubicBezTo>
                    <a:pt x="20036" y="43322"/>
                    <a:pt x="14613" y="46612"/>
                    <a:pt x="11405" y="51603"/>
                  </a:cubicBezTo>
                  <a:cubicBezTo>
                    <a:pt x="5161" y="61317"/>
                    <a:pt x="5962" y="74268"/>
                    <a:pt x="5962" y="85815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" name="Google Shape;724;p75"/>
            <p:cNvSpPr/>
            <p:nvPr/>
          </p:nvSpPr>
          <p:spPr>
            <a:xfrm>
              <a:off x="3316488" y="3427700"/>
              <a:ext cx="120625" cy="118750"/>
            </a:xfrm>
            <a:custGeom>
              <a:avLst/>
              <a:gdLst/>
              <a:ahLst/>
              <a:cxnLst/>
              <a:rect l="l" t="t" r="r" b="b"/>
              <a:pathLst>
                <a:path w="4825" h="4750" extrusionOk="0">
                  <a:moveTo>
                    <a:pt x="301" y="0"/>
                  </a:moveTo>
                  <a:cubicBezTo>
                    <a:pt x="-852" y="1732"/>
                    <a:pt x="2396" y="5007"/>
                    <a:pt x="4448" y="4665"/>
                  </a:cubicBezTo>
                  <a:cubicBezTo>
                    <a:pt x="6272" y="4361"/>
                    <a:pt x="627" y="-458"/>
                    <a:pt x="42" y="1296"/>
                  </a:cubicBezTo>
                </a:path>
              </a:pathLst>
            </a:custGeom>
            <a:noFill/>
            <a:ln w="228600" cap="flat" cmpd="sng">
              <a:solidFill>
                <a:srgbClr val="93C47D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6"/>
          <p:cNvSpPr txBox="1">
            <a:spLocks noGrp="1"/>
          </p:cNvSpPr>
          <p:nvPr>
            <p:ph type="body" idx="1"/>
          </p:nvPr>
        </p:nvSpPr>
        <p:spPr>
          <a:xfrm>
            <a:off x="403622" y="665164"/>
            <a:ext cx="931500" cy="931500"/>
          </a:xfrm>
          <a:prstGeom prst="rect">
            <a:avLst/>
          </a:prstGeom>
        </p:spPr>
        <p:txBody>
          <a:bodyPr spcFirstLastPara="1" wrap="square" lIns="0" tIns="0" rIns="91425" bIns="4570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731" name="Google Shape;731;p76"/>
          <p:cNvSpPr txBox="1">
            <a:spLocks noGrp="1"/>
          </p:cNvSpPr>
          <p:nvPr>
            <p:ph type="body" idx="2"/>
          </p:nvPr>
        </p:nvSpPr>
        <p:spPr>
          <a:xfrm>
            <a:off x="1335122" y="665164"/>
            <a:ext cx="2808000" cy="931500"/>
          </a:xfrm>
          <a:prstGeom prst="rect">
            <a:avLst/>
          </a:prstGeom>
        </p:spPr>
        <p:txBody>
          <a:bodyPr spcFirstLastPara="1" wrap="square" lIns="288000" tIns="0" rIns="91425" bIns="45700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/>
              <a:t>Hands-on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Integrative Genomics Viewer (IGV)</a:t>
            </a:r>
            <a:endParaRPr/>
          </a:p>
        </p:txBody>
      </p:sp>
      <p:pic>
        <p:nvPicPr>
          <p:cNvPr id="737" name="Google Shape;73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647" y="3590604"/>
            <a:ext cx="1327275" cy="1327275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77"/>
          <p:cNvSpPr txBox="1"/>
          <p:nvPr/>
        </p:nvSpPr>
        <p:spPr>
          <a:xfrm>
            <a:off x="482750" y="999225"/>
            <a:ext cx="82476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The </a:t>
            </a:r>
            <a:r>
              <a:rPr lang="en-GB" sz="1600" b="1">
                <a:solidFill>
                  <a:schemeClr val="dk1"/>
                </a:solidFill>
              </a:rPr>
              <a:t>Integrative Genomics Viewer (IGV)</a:t>
            </a:r>
            <a:r>
              <a:rPr lang="en-GB" sz="1600">
                <a:solidFill>
                  <a:schemeClr val="dk1"/>
                </a:solidFill>
              </a:rPr>
              <a:t> is a high-performance, easy-to-use, interactive tool for the visual exploration of genomic data. It supports flexible integration of all the common types of genomic data and metadata, investigator-generated or publicly available, loaded from local or cloud sources.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IGV is available in multiple forms, including: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the original IGV - a Java desktop application,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IGV-Web - a web application,</a:t>
            </a:r>
            <a:endParaRPr sz="1600"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igv.js - a JavaScript component that can be embedded in web pages (for developers)</a:t>
            </a:r>
            <a:endParaRPr sz="16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8974C"/>
              </a:buClr>
              <a:buSzPts val="1600"/>
              <a:buChar char="✓"/>
            </a:pPr>
            <a:r>
              <a:rPr lang="en-GB" sz="1600">
                <a:solidFill>
                  <a:schemeClr val="dk1"/>
                </a:solidFill>
              </a:rPr>
              <a:t>See </a:t>
            </a:r>
            <a:r>
              <a:rPr lang="en-GB" sz="1600" u="sng">
                <a:solidFill>
                  <a:schemeClr val="hlink"/>
                </a:solidFill>
                <a:hlinkClick r:id="rId4"/>
              </a:rPr>
              <a:t>https://igv.org</a:t>
            </a:r>
            <a:r>
              <a:rPr lang="en-GB" sz="1600">
                <a:solidFill>
                  <a:schemeClr val="dk1"/>
                </a:solidFill>
              </a:rPr>
              <a:t> for links to all forms of IGV.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325" y="1021251"/>
            <a:ext cx="6345601" cy="3765501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78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IGV window</a:t>
            </a:r>
            <a:endParaRPr/>
          </a:p>
        </p:txBody>
      </p:sp>
      <p:sp>
        <p:nvSpPr>
          <p:cNvPr id="745" name="Google Shape;745;p78"/>
          <p:cNvSpPr txBox="1"/>
          <p:nvPr/>
        </p:nvSpPr>
        <p:spPr>
          <a:xfrm>
            <a:off x="3496775" y="2660475"/>
            <a:ext cx="130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Lobster"/>
                <a:ea typeface="Lobster"/>
                <a:cs typeface="Lobster"/>
                <a:sym typeface="Lobster"/>
              </a:rPr>
              <a:t>Gene annotation</a:t>
            </a:r>
            <a:endParaRPr>
              <a:solidFill>
                <a:srgbClr val="00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46" name="Google Shape;746;p78"/>
          <p:cNvSpPr txBox="1"/>
          <p:nvPr/>
        </p:nvSpPr>
        <p:spPr>
          <a:xfrm>
            <a:off x="683825" y="1862250"/>
            <a:ext cx="101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  <a:latin typeface="Lobster"/>
                <a:ea typeface="Lobster"/>
                <a:cs typeface="Lobster"/>
                <a:sym typeface="Lobster"/>
              </a:rPr>
              <a:t>Alignments</a:t>
            </a:r>
            <a:endParaRPr>
              <a:solidFill>
                <a:srgbClr val="66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47" name="Google Shape;747;p78"/>
          <p:cNvSpPr txBox="1"/>
          <p:nvPr/>
        </p:nvSpPr>
        <p:spPr>
          <a:xfrm>
            <a:off x="5524875" y="4675200"/>
            <a:ext cx="207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6666"/>
                </a:solidFill>
                <a:latin typeface="Lobster"/>
                <a:ea typeface="Lobster"/>
                <a:cs typeface="Lobster"/>
                <a:sym typeface="Lobster"/>
              </a:rPr>
              <a:t>ATAC-seq signal and peaks</a:t>
            </a:r>
            <a:endParaRPr>
              <a:solidFill>
                <a:srgbClr val="00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48" name="Google Shape;748;p78"/>
          <p:cNvSpPr txBox="1"/>
          <p:nvPr/>
        </p:nvSpPr>
        <p:spPr>
          <a:xfrm>
            <a:off x="951344" y="915798"/>
            <a:ext cx="110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FF"/>
                </a:solidFill>
                <a:latin typeface="Lobster"/>
                <a:ea typeface="Lobster"/>
                <a:cs typeface="Lobster"/>
                <a:sym typeface="Lobster"/>
              </a:rPr>
              <a:t>Genome</a:t>
            </a:r>
            <a:endParaRPr sz="1600">
              <a:solidFill>
                <a:srgbClr val="99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49" name="Google Shape;749;p78"/>
          <p:cNvSpPr txBox="1"/>
          <p:nvPr/>
        </p:nvSpPr>
        <p:spPr>
          <a:xfrm>
            <a:off x="2093364" y="689704"/>
            <a:ext cx="148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FF"/>
                </a:solidFill>
                <a:latin typeface="Lobster"/>
                <a:ea typeface="Lobster"/>
                <a:cs typeface="Lobster"/>
                <a:sym typeface="Lobster"/>
              </a:rPr>
              <a:t>Chromosome</a:t>
            </a:r>
            <a:endParaRPr sz="1600">
              <a:solidFill>
                <a:srgbClr val="99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50" name="Google Shape;750;p78"/>
          <p:cNvSpPr txBox="1"/>
          <p:nvPr/>
        </p:nvSpPr>
        <p:spPr>
          <a:xfrm>
            <a:off x="3224539" y="689704"/>
            <a:ext cx="148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FF"/>
                </a:solidFill>
                <a:latin typeface="Lobster"/>
                <a:ea typeface="Lobster"/>
                <a:cs typeface="Lobster"/>
                <a:sym typeface="Lobster"/>
              </a:rPr>
              <a:t>Location</a:t>
            </a:r>
            <a:endParaRPr sz="1600">
              <a:solidFill>
                <a:srgbClr val="99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51" name="Google Shape;751;p78"/>
          <p:cNvSpPr txBox="1"/>
          <p:nvPr/>
        </p:nvSpPr>
        <p:spPr>
          <a:xfrm>
            <a:off x="7214364" y="689704"/>
            <a:ext cx="148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FF"/>
                </a:solidFill>
                <a:latin typeface="Lobster"/>
                <a:ea typeface="Lobster"/>
                <a:cs typeface="Lobster"/>
                <a:sym typeface="Lobster"/>
              </a:rPr>
              <a:t>Zoom tool</a:t>
            </a:r>
            <a:endParaRPr sz="1600">
              <a:solidFill>
                <a:srgbClr val="99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52" name="Google Shape;752;p78"/>
          <p:cNvSpPr txBox="1"/>
          <p:nvPr/>
        </p:nvSpPr>
        <p:spPr>
          <a:xfrm>
            <a:off x="567339" y="1209879"/>
            <a:ext cx="148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FF"/>
                </a:solidFill>
                <a:latin typeface="Lobster"/>
                <a:ea typeface="Lobster"/>
                <a:cs typeface="Lobster"/>
                <a:sym typeface="Lobster"/>
              </a:rPr>
              <a:t>Genome ruler</a:t>
            </a:r>
            <a:endParaRPr sz="1600">
              <a:solidFill>
                <a:srgbClr val="99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gene annotation tracks</a:t>
            </a:r>
            <a:endParaRPr/>
          </a:p>
        </p:txBody>
      </p:sp>
      <p:pic>
        <p:nvPicPr>
          <p:cNvPr id="758" name="Google Shape;758;p79" title="igv_snapshot_gene_anno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" y="1257774"/>
            <a:ext cx="9128450" cy="3142801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9"/>
          <p:cNvSpPr txBox="1"/>
          <p:nvPr/>
        </p:nvSpPr>
        <p:spPr>
          <a:xfrm>
            <a:off x="6887737" y="3263329"/>
            <a:ext cx="1920900" cy="41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4425" tIns="94425" rIns="94425" bIns="94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46">
                <a:solidFill>
                  <a:srgbClr val="0000FF"/>
                </a:solidFill>
                <a:latin typeface="Lobster"/>
                <a:ea typeface="Lobster"/>
                <a:cs typeface="Lobster"/>
                <a:sym typeface="Lobster"/>
              </a:rPr>
              <a:t>Reverse strand features</a:t>
            </a:r>
            <a:endParaRPr sz="1446">
              <a:solidFill>
                <a:srgbClr val="0000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60" name="Google Shape;760;p79"/>
          <p:cNvSpPr txBox="1"/>
          <p:nvPr/>
        </p:nvSpPr>
        <p:spPr>
          <a:xfrm>
            <a:off x="6700065" y="1661007"/>
            <a:ext cx="2010000" cy="41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4425" tIns="94425" rIns="94425" bIns="94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46">
                <a:solidFill>
                  <a:srgbClr val="3399FF"/>
                </a:solidFill>
                <a:latin typeface="Lobster"/>
                <a:ea typeface="Lobster"/>
                <a:cs typeface="Lobster"/>
                <a:sym typeface="Lobster"/>
              </a:rPr>
              <a:t>Forward strand features</a:t>
            </a:r>
            <a:endParaRPr sz="1446">
              <a:solidFill>
                <a:srgbClr val="3399F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61" name="Google Shape;761;p79"/>
          <p:cNvSpPr txBox="1"/>
          <p:nvPr/>
        </p:nvSpPr>
        <p:spPr>
          <a:xfrm>
            <a:off x="3554786" y="1661007"/>
            <a:ext cx="620400" cy="41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4425" tIns="94425" rIns="94425" bIns="94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46">
                <a:solidFill>
                  <a:srgbClr val="222222"/>
                </a:solidFill>
                <a:latin typeface="Lobster"/>
                <a:ea typeface="Lobster"/>
                <a:cs typeface="Lobster"/>
                <a:sym typeface="Lobster"/>
              </a:rPr>
              <a:t>Genes</a:t>
            </a:r>
            <a:endParaRPr sz="1446">
              <a:solidFill>
                <a:srgbClr val="222222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62" name="Google Shape;762;p79"/>
          <p:cNvSpPr txBox="1"/>
          <p:nvPr/>
        </p:nvSpPr>
        <p:spPr>
          <a:xfrm>
            <a:off x="2349281" y="3060244"/>
            <a:ext cx="1107600" cy="413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4425" tIns="94425" rIns="94425" bIns="94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46">
                <a:solidFill>
                  <a:srgbClr val="38761D"/>
                </a:solidFill>
                <a:latin typeface="Lobster"/>
                <a:ea typeface="Lobster"/>
                <a:cs typeface="Lobster"/>
                <a:sym typeface="Lobster"/>
              </a:rPr>
              <a:t>Transcripts</a:t>
            </a:r>
            <a:endParaRPr sz="1446">
              <a:solidFill>
                <a:srgbClr val="38761D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80" title="igv_snapshot_gene_anno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" y="1257774"/>
            <a:ext cx="9128450" cy="3142801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80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gene annotation tracks</a:t>
            </a:r>
            <a:endParaRPr/>
          </a:p>
        </p:txBody>
      </p:sp>
      <p:sp>
        <p:nvSpPr>
          <p:cNvPr id="769" name="Google Shape;769;p80"/>
          <p:cNvSpPr txBox="1"/>
          <p:nvPr/>
        </p:nvSpPr>
        <p:spPr>
          <a:xfrm>
            <a:off x="3785088" y="3556575"/>
            <a:ext cx="2427000" cy="1015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Are these features in the reverse or forward strand?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0" name="Google Shape;770;p80"/>
          <p:cNvSpPr/>
          <p:nvPr/>
        </p:nvSpPr>
        <p:spPr>
          <a:xfrm>
            <a:off x="4036275" y="2278925"/>
            <a:ext cx="1860000" cy="3627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71" name="Google Shape;77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1913" y="3556575"/>
            <a:ext cx="10158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8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79" name="Google Shape;779;p81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81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Are these features in the reverse or forward strand?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Google Shape;781;p8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8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83" name="Google Shape;783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81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4650"/>
            <a:ext cx="9143968" cy="3429622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82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epigenomics tracks</a:t>
            </a:r>
            <a:endParaRPr/>
          </a:p>
        </p:txBody>
      </p:sp>
      <p:sp>
        <p:nvSpPr>
          <p:cNvPr id="791" name="Google Shape;791;p82"/>
          <p:cNvSpPr txBox="1"/>
          <p:nvPr/>
        </p:nvSpPr>
        <p:spPr>
          <a:xfrm>
            <a:off x="2642724" y="3400803"/>
            <a:ext cx="1148700" cy="428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7925" tIns="97925" rIns="97925" bIns="979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26666"/>
                </a:solidFill>
                <a:latin typeface="Lobster"/>
                <a:ea typeface="Lobster"/>
                <a:cs typeface="Lobster"/>
                <a:sym typeface="Lobster"/>
              </a:rPr>
              <a:t>ATAC-seq </a:t>
            </a:r>
            <a:endParaRPr sz="1500">
              <a:solidFill>
                <a:srgbClr val="02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92" name="Google Shape;792;p82"/>
          <p:cNvSpPr txBox="1"/>
          <p:nvPr/>
        </p:nvSpPr>
        <p:spPr>
          <a:xfrm>
            <a:off x="2593346" y="3829455"/>
            <a:ext cx="1148700" cy="428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7925" tIns="97925" rIns="97925" bIns="979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9899"/>
                </a:solidFill>
                <a:latin typeface="Lobster"/>
                <a:ea typeface="Lobster"/>
                <a:cs typeface="Lobster"/>
                <a:sym typeface="Lobster"/>
              </a:rPr>
              <a:t>DNase-seq </a:t>
            </a:r>
            <a:endParaRPr sz="1500">
              <a:solidFill>
                <a:srgbClr val="00989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793" name="Google Shape;793;p82"/>
          <p:cNvSpPr txBox="1"/>
          <p:nvPr/>
        </p:nvSpPr>
        <p:spPr>
          <a:xfrm>
            <a:off x="3668363" y="2202300"/>
            <a:ext cx="2721300" cy="738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Is there evidence of open chromatin here?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Google Shape;794;p82"/>
          <p:cNvSpPr/>
          <p:nvPr/>
        </p:nvSpPr>
        <p:spPr>
          <a:xfrm>
            <a:off x="3880575" y="3400800"/>
            <a:ext cx="760200" cy="9411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95" name="Google Shape;795;p82"/>
          <p:cNvSpPr/>
          <p:nvPr/>
        </p:nvSpPr>
        <p:spPr>
          <a:xfrm>
            <a:off x="1477700" y="3400800"/>
            <a:ext cx="760200" cy="9411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796" name="Google Shape;79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325" y="2063850"/>
            <a:ext cx="10158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8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4" name="Google Shape;804;p8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8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Is there evidence of open chromatin here?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8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8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8" name="Google Shape;80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8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4650"/>
            <a:ext cx="9143986" cy="342962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84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epigenomics tracks</a:t>
            </a:r>
            <a:endParaRPr/>
          </a:p>
        </p:txBody>
      </p:sp>
      <p:sp>
        <p:nvSpPr>
          <p:cNvPr id="816" name="Google Shape;816;p84"/>
          <p:cNvSpPr txBox="1"/>
          <p:nvPr/>
        </p:nvSpPr>
        <p:spPr>
          <a:xfrm>
            <a:off x="2642725" y="3400808"/>
            <a:ext cx="1148700" cy="428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7925" tIns="97925" rIns="97925" bIns="979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26666"/>
                </a:solidFill>
                <a:latin typeface="Lobster"/>
                <a:ea typeface="Lobster"/>
                <a:cs typeface="Lobster"/>
                <a:sym typeface="Lobster"/>
              </a:rPr>
              <a:t>ATAC-seq </a:t>
            </a:r>
            <a:endParaRPr sz="1500">
              <a:solidFill>
                <a:srgbClr val="02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17" name="Google Shape;817;p84"/>
          <p:cNvSpPr txBox="1"/>
          <p:nvPr/>
        </p:nvSpPr>
        <p:spPr>
          <a:xfrm>
            <a:off x="2593348" y="3829462"/>
            <a:ext cx="1148700" cy="4287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7925" tIns="97925" rIns="97925" bIns="979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9899"/>
                </a:solidFill>
                <a:latin typeface="Lobster"/>
                <a:ea typeface="Lobster"/>
                <a:cs typeface="Lobster"/>
                <a:sym typeface="Lobster"/>
              </a:rPr>
              <a:t>DNase-seq </a:t>
            </a:r>
            <a:endParaRPr sz="1500">
              <a:solidFill>
                <a:srgbClr val="00989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18" name="Google Shape;818;p84"/>
          <p:cNvSpPr/>
          <p:nvPr/>
        </p:nvSpPr>
        <p:spPr>
          <a:xfrm>
            <a:off x="4609875" y="3422325"/>
            <a:ext cx="942600" cy="9411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19" name="Google Shape;819;p84"/>
          <p:cNvSpPr/>
          <p:nvPr/>
        </p:nvSpPr>
        <p:spPr>
          <a:xfrm>
            <a:off x="6370925" y="3422325"/>
            <a:ext cx="582900" cy="9411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20" name="Google Shape;820;p84"/>
          <p:cNvSpPr txBox="1"/>
          <p:nvPr/>
        </p:nvSpPr>
        <p:spPr>
          <a:xfrm>
            <a:off x="3668363" y="2227913"/>
            <a:ext cx="2721300" cy="738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Is there evidence of open chromatin here?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21" name="Google Shape;82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325" y="2089463"/>
            <a:ext cx="10158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8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29" name="Google Shape;829;p85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8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Is there evidence of open chromatin here?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1" name="Google Shape;831;p8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8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3" name="Google Shape;833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85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6600"/>
            <a:ext cx="9143999" cy="4083318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86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epigenomics tracks</a:t>
            </a:r>
            <a:endParaRPr/>
          </a:p>
        </p:txBody>
      </p:sp>
      <p:sp>
        <p:nvSpPr>
          <p:cNvPr id="841" name="Google Shape;841;p86"/>
          <p:cNvSpPr txBox="1"/>
          <p:nvPr/>
        </p:nvSpPr>
        <p:spPr>
          <a:xfrm>
            <a:off x="4627118" y="2932920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006666"/>
                </a:solidFill>
                <a:latin typeface="Lobster"/>
                <a:ea typeface="Lobster"/>
                <a:cs typeface="Lobster"/>
                <a:sym typeface="Lobster"/>
              </a:rPr>
              <a:t>ATAC-seq tracks</a:t>
            </a:r>
            <a:endParaRPr sz="1527">
              <a:solidFill>
                <a:srgbClr val="00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2" name="Google Shape;842;p86"/>
          <p:cNvSpPr txBox="1"/>
          <p:nvPr/>
        </p:nvSpPr>
        <p:spPr>
          <a:xfrm>
            <a:off x="2374840" y="3327436"/>
            <a:ext cx="1540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009999"/>
                </a:solidFill>
                <a:latin typeface="Lobster"/>
                <a:ea typeface="Lobster"/>
                <a:cs typeface="Lobster"/>
                <a:sym typeface="Lobster"/>
              </a:rPr>
              <a:t>DNase-seq tracks</a:t>
            </a:r>
            <a:endParaRPr sz="1527">
              <a:solidFill>
                <a:srgbClr val="00999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3" name="Google Shape;843;p86"/>
          <p:cNvSpPr txBox="1"/>
          <p:nvPr/>
        </p:nvSpPr>
        <p:spPr>
          <a:xfrm>
            <a:off x="6206355" y="3729560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0000"/>
                </a:solidFill>
                <a:latin typeface="Lobster"/>
                <a:ea typeface="Lobster"/>
                <a:cs typeface="Lobster"/>
                <a:sym typeface="Lobster"/>
              </a:rPr>
              <a:t>H3K4me3 tracks</a:t>
            </a:r>
            <a:endParaRPr sz="1527">
              <a:solidFill>
                <a:srgbClr val="FF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4" name="Google Shape;844;p86"/>
          <p:cNvSpPr txBox="1"/>
          <p:nvPr/>
        </p:nvSpPr>
        <p:spPr>
          <a:xfrm>
            <a:off x="2454376" y="4136729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9900"/>
                </a:solidFill>
                <a:latin typeface="Lobster"/>
                <a:ea typeface="Lobster"/>
                <a:cs typeface="Lobster"/>
                <a:sym typeface="Lobster"/>
              </a:rPr>
              <a:t>H3K27ac tracks</a:t>
            </a:r>
            <a:endParaRPr sz="1527">
              <a:solidFill>
                <a:srgbClr val="FF99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45" name="Google Shape;845;p86"/>
          <p:cNvSpPr txBox="1"/>
          <p:nvPr/>
        </p:nvSpPr>
        <p:spPr>
          <a:xfrm>
            <a:off x="3819286" y="4707004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6600"/>
                </a:solidFill>
                <a:latin typeface="Lobster"/>
                <a:ea typeface="Lobster"/>
                <a:cs typeface="Lobster"/>
                <a:sym typeface="Lobster"/>
              </a:rPr>
              <a:t>H3K4me1 tracks</a:t>
            </a:r>
            <a:endParaRPr sz="1527">
              <a:solidFill>
                <a:srgbClr val="FF6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6600"/>
            <a:ext cx="9143999" cy="4083318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87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epigenomics tracks</a:t>
            </a:r>
            <a:endParaRPr/>
          </a:p>
        </p:txBody>
      </p:sp>
      <p:sp>
        <p:nvSpPr>
          <p:cNvPr id="852" name="Google Shape;852;p87"/>
          <p:cNvSpPr txBox="1"/>
          <p:nvPr/>
        </p:nvSpPr>
        <p:spPr>
          <a:xfrm>
            <a:off x="4627118" y="2932920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006666"/>
                </a:solidFill>
                <a:latin typeface="Lobster"/>
                <a:ea typeface="Lobster"/>
                <a:cs typeface="Lobster"/>
                <a:sym typeface="Lobster"/>
              </a:rPr>
              <a:t>ATAC-seq tracks</a:t>
            </a:r>
            <a:endParaRPr sz="1527">
              <a:solidFill>
                <a:srgbClr val="00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53" name="Google Shape;853;p87"/>
          <p:cNvSpPr txBox="1"/>
          <p:nvPr/>
        </p:nvSpPr>
        <p:spPr>
          <a:xfrm>
            <a:off x="2374840" y="3327436"/>
            <a:ext cx="1540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009999"/>
                </a:solidFill>
                <a:latin typeface="Lobster"/>
                <a:ea typeface="Lobster"/>
                <a:cs typeface="Lobster"/>
                <a:sym typeface="Lobster"/>
              </a:rPr>
              <a:t>DNase-seq tracks</a:t>
            </a:r>
            <a:endParaRPr sz="1527">
              <a:solidFill>
                <a:srgbClr val="00999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54" name="Google Shape;854;p87"/>
          <p:cNvSpPr txBox="1"/>
          <p:nvPr/>
        </p:nvSpPr>
        <p:spPr>
          <a:xfrm>
            <a:off x="6206355" y="3729560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0000"/>
                </a:solidFill>
                <a:latin typeface="Lobster"/>
                <a:ea typeface="Lobster"/>
                <a:cs typeface="Lobster"/>
                <a:sym typeface="Lobster"/>
              </a:rPr>
              <a:t>H3K4me3 tracks</a:t>
            </a:r>
            <a:endParaRPr sz="1527">
              <a:solidFill>
                <a:srgbClr val="FF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55" name="Google Shape;855;p87"/>
          <p:cNvSpPr txBox="1"/>
          <p:nvPr/>
        </p:nvSpPr>
        <p:spPr>
          <a:xfrm>
            <a:off x="2454376" y="4136729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9900"/>
                </a:solidFill>
                <a:latin typeface="Lobster"/>
                <a:ea typeface="Lobster"/>
                <a:cs typeface="Lobster"/>
                <a:sym typeface="Lobster"/>
              </a:rPr>
              <a:t>H3K27ac tracks</a:t>
            </a:r>
            <a:endParaRPr sz="1527">
              <a:solidFill>
                <a:srgbClr val="FF99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56" name="Google Shape;856;p87"/>
          <p:cNvSpPr txBox="1"/>
          <p:nvPr/>
        </p:nvSpPr>
        <p:spPr>
          <a:xfrm>
            <a:off x="3819286" y="4707004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6600"/>
                </a:solidFill>
                <a:latin typeface="Lobster"/>
                <a:ea typeface="Lobster"/>
                <a:cs typeface="Lobster"/>
                <a:sym typeface="Lobster"/>
              </a:rPr>
              <a:t>H3K4me1 tracks</a:t>
            </a:r>
            <a:endParaRPr sz="1527">
              <a:solidFill>
                <a:srgbClr val="FF6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57" name="Google Shape;857;p87"/>
          <p:cNvSpPr/>
          <p:nvPr/>
        </p:nvSpPr>
        <p:spPr>
          <a:xfrm>
            <a:off x="7962950" y="2966825"/>
            <a:ext cx="573900" cy="1638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58" name="Google Shape;858;p87"/>
          <p:cNvSpPr txBox="1"/>
          <p:nvPr/>
        </p:nvSpPr>
        <p:spPr>
          <a:xfrm>
            <a:off x="3668363" y="2227913"/>
            <a:ext cx="2721300" cy="738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Which CRE could be annotated here?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9" name="Google Shape;85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325" y="2089463"/>
            <a:ext cx="10158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8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67" name="Google Shape;867;p88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8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CRE could be annotated here?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9" name="Google Shape;869;p8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8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1" name="Google Shape;871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88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6600"/>
            <a:ext cx="9143999" cy="4083318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338138" y="273844"/>
            <a:ext cx="8452200" cy="518400"/>
          </a:xfrm>
          <a:prstGeom prst="rect">
            <a:avLst/>
          </a:prstGeom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epigenomics tracks</a:t>
            </a:r>
            <a:endParaRPr/>
          </a:p>
        </p:txBody>
      </p:sp>
      <p:sp>
        <p:nvSpPr>
          <p:cNvPr id="879" name="Google Shape;879;p89"/>
          <p:cNvSpPr txBox="1"/>
          <p:nvPr/>
        </p:nvSpPr>
        <p:spPr>
          <a:xfrm>
            <a:off x="2374840" y="3327436"/>
            <a:ext cx="15408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009999"/>
                </a:solidFill>
                <a:latin typeface="Lobster"/>
                <a:ea typeface="Lobster"/>
                <a:cs typeface="Lobster"/>
                <a:sym typeface="Lobster"/>
              </a:rPr>
              <a:t>DNase-seq tracks</a:t>
            </a:r>
            <a:endParaRPr sz="1527">
              <a:solidFill>
                <a:srgbClr val="00999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80" name="Google Shape;880;p89"/>
          <p:cNvSpPr txBox="1"/>
          <p:nvPr/>
        </p:nvSpPr>
        <p:spPr>
          <a:xfrm>
            <a:off x="2454376" y="4136729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9900"/>
                </a:solidFill>
                <a:latin typeface="Lobster"/>
                <a:ea typeface="Lobster"/>
                <a:cs typeface="Lobster"/>
                <a:sym typeface="Lobster"/>
              </a:rPr>
              <a:t>H3K27ac tracks</a:t>
            </a:r>
            <a:endParaRPr sz="1527">
              <a:solidFill>
                <a:srgbClr val="FF99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81" name="Google Shape;881;p89"/>
          <p:cNvSpPr txBox="1"/>
          <p:nvPr/>
        </p:nvSpPr>
        <p:spPr>
          <a:xfrm>
            <a:off x="3819286" y="4707004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6600"/>
                </a:solidFill>
                <a:latin typeface="Lobster"/>
                <a:ea typeface="Lobster"/>
                <a:cs typeface="Lobster"/>
                <a:sym typeface="Lobster"/>
              </a:rPr>
              <a:t>H3K4me1 tracks</a:t>
            </a:r>
            <a:endParaRPr sz="1527">
              <a:solidFill>
                <a:srgbClr val="FF66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82" name="Google Shape;882;p89"/>
          <p:cNvSpPr/>
          <p:nvPr/>
        </p:nvSpPr>
        <p:spPr>
          <a:xfrm>
            <a:off x="1257850" y="2966825"/>
            <a:ext cx="573900" cy="1638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3" name="Google Shape;883;p89"/>
          <p:cNvSpPr txBox="1"/>
          <p:nvPr/>
        </p:nvSpPr>
        <p:spPr>
          <a:xfrm>
            <a:off x="3668363" y="2227913"/>
            <a:ext cx="2721300" cy="7389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Which CRE could be annotated here?</a:t>
            </a:r>
            <a:endParaRPr sz="180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4" name="Google Shape;88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325" y="2089463"/>
            <a:ext cx="1015800" cy="10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89"/>
          <p:cNvSpPr/>
          <p:nvPr/>
        </p:nvSpPr>
        <p:spPr>
          <a:xfrm>
            <a:off x="1880475" y="2966825"/>
            <a:ext cx="573900" cy="1638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6" name="Google Shape;886;p89"/>
          <p:cNvSpPr/>
          <p:nvPr/>
        </p:nvSpPr>
        <p:spPr>
          <a:xfrm>
            <a:off x="5893000" y="3005450"/>
            <a:ext cx="573900" cy="16380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7" name="Google Shape;887;p89"/>
          <p:cNvSpPr txBox="1"/>
          <p:nvPr/>
        </p:nvSpPr>
        <p:spPr>
          <a:xfrm>
            <a:off x="4627118" y="2932920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006666"/>
                </a:solidFill>
                <a:latin typeface="Lobster"/>
                <a:ea typeface="Lobster"/>
                <a:cs typeface="Lobster"/>
                <a:sym typeface="Lobster"/>
              </a:rPr>
              <a:t>ATAC-seq tracks</a:t>
            </a:r>
            <a:endParaRPr sz="1527">
              <a:solidFill>
                <a:srgbClr val="006666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888" name="Google Shape;888;p89"/>
          <p:cNvSpPr txBox="1"/>
          <p:nvPr/>
        </p:nvSpPr>
        <p:spPr>
          <a:xfrm>
            <a:off x="6206355" y="3729560"/>
            <a:ext cx="15054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25" tIns="99725" rIns="99725" bIns="997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27">
                <a:solidFill>
                  <a:srgbClr val="FF0000"/>
                </a:solidFill>
                <a:latin typeface="Lobster"/>
                <a:ea typeface="Lobster"/>
                <a:cs typeface="Lobster"/>
                <a:sym typeface="Lobster"/>
              </a:rPr>
              <a:t>H3K4me3 tracks</a:t>
            </a:r>
            <a:endParaRPr sz="1527">
              <a:solidFill>
                <a:srgbClr val="FF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9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6" name="Google Shape;896;p90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9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CRE could be annotated here?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8" name="Google Shape;898;p9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9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00" name="Google Shape;900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90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EMBL template">
      <a:dk1>
        <a:srgbClr val="000000"/>
      </a:dk1>
      <a:lt1>
        <a:srgbClr val="FFFFFF"/>
      </a:lt1>
      <a:dk2>
        <a:srgbClr val="007B53"/>
      </a:dk2>
      <a:lt2>
        <a:srgbClr val="707372"/>
      </a:lt2>
      <a:accent1>
        <a:srgbClr val="18974C"/>
      </a:accent1>
      <a:accent2>
        <a:srgbClr val="A1BE1F"/>
      </a:accent2>
      <a:accent3>
        <a:srgbClr val="F49E17"/>
      </a:accent3>
      <a:accent4>
        <a:srgbClr val="F4C61F"/>
      </a:accent4>
      <a:accent5>
        <a:srgbClr val="D41645"/>
      </a:accent5>
      <a:accent6>
        <a:srgbClr val="3B6FB6"/>
      </a:accent6>
      <a:hlink>
        <a:srgbClr val="2A57A3"/>
      </a:hlink>
      <a:folHlink>
        <a:srgbClr val="7345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2142</Words>
  <Application>Microsoft Macintosh PowerPoint</Application>
  <PresentationFormat>On-screen Show (16:9)</PresentationFormat>
  <Paragraphs>308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Lobster</vt:lpstr>
      <vt:lpstr>Arial Black</vt:lpstr>
      <vt:lpstr>Roboto</vt:lpstr>
      <vt:lpstr>Roboto Thin</vt:lpstr>
      <vt:lpstr>Calibri</vt:lpstr>
      <vt:lpstr>Libre Franklin Thin</vt:lpstr>
      <vt:lpstr>Libre Franklin Medium</vt:lpstr>
      <vt:lpstr>Arial</vt:lpstr>
      <vt:lpstr>Franklin Gothic</vt:lpstr>
      <vt:lpstr>Inter</vt:lpstr>
      <vt:lpstr>Libre Franklin</vt:lpstr>
      <vt:lpstr>Roboto Medium</vt:lpstr>
      <vt:lpstr>Custom Design</vt:lpstr>
      <vt:lpstr>PowerPoint Presentation</vt:lpstr>
      <vt:lpstr>Session map</vt:lpstr>
      <vt:lpstr>PowerPoint Presentation</vt:lpstr>
      <vt:lpstr>Gene regulation by CREs</vt:lpstr>
      <vt:lpstr>Gene regulation by CREs</vt:lpstr>
      <vt:lpstr>Epigenetic modifications and CREs</vt:lpstr>
      <vt:lpstr>A regulatory annotation is a claim built from evidence</vt:lpstr>
      <vt:lpstr>Evidence useful for defining regulatory annotation</vt:lpstr>
      <vt:lpstr>From experimental data to regulatory annotation</vt:lpstr>
      <vt:lpstr>From experimental data to regulatory annotation</vt:lpstr>
      <vt:lpstr>From experimental data to regulatory annotation</vt:lpstr>
      <vt:lpstr>From experimental data to regulatory annotation</vt:lpstr>
      <vt:lpstr>Epigenomic evidence: Large-scale community efforts</vt:lpstr>
      <vt:lpstr>Strategies for genome-wide detection of CREs</vt:lpstr>
      <vt:lpstr>Strategies for genome-wide detection of CREs</vt:lpstr>
      <vt:lpstr>Strategies for genome-wide detection of CREs</vt:lpstr>
      <vt:lpstr>Strategies for genome-wide detection of CREs</vt:lpstr>
      <vt:lpstr>Strategies for genome-wide detection of CREs</vt:lpstr>
      <vt:lpstr>Strategies for genome-wide detection of CREs</vt:lpstr>
      <vt:lpstr>Questions?</vt:lpstr>
      <vt:lpstr>PowerPoint Presentation</vt:lpstr>
      <vt:lpstr>The Integrative Genomics Viewer (IGV)</vt:lpstr>
      <vt:lpstr>The IGV window</vt:lpstr>
      <vt:lpstr>Understanding gene annotation tracks</vt:lpstr>
      <vt:lpstr>Understanding gene annotation tracks</vt:lpstr>
      <vt:lpstr>PowerPoint Presentation</vt:lpstr>
      <vt:lpstr>Understanding epigenomics tracks</vt:lpstr>
      <vt:lpstr>PowerPoint Presentation</vt:lpstr>
      <vt:lpstr>Understanding epigenomics tracks</vt:lpstr>
      <vt:lpstr>PowerPoint Presentation</vt:lpstr>
      <vt:lpstr>Understanding epigenomics tracks</vt:lpstr>
      <vt:lpstr>Understanding epigenomics tracks</vt:lpstr>
      <vt:lpstr>PowerPoint Presentation</vt:lpstr>
      <vt:lpstr>Understanding epigenomics tracks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Louisse Paola Mirabueno</cp:lastModifiedBy>
  <cp:revision>2</cp:revision>
  <dcterms:modified xsi:type="dcterms:W3CDTF">2026-09-02T18:25:43Z</dcterms:modified>
</cp:coreProperties>
</file>