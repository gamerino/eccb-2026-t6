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26"/>
    </p:embeddedFont>
    <p:embeddedFont>
      <p:font typeface="Franklin Gothic" panose="020B0603020102020204" pitchFamily="34" charset="0"/>
      <p:regular r:id="rId27"/>
      <p:bold r:id="rId28"/>
      <p:italic r:id="rId29"/>
      <p:boldItalic r:id="rId30"/>
    </p:embeddedFont>
    <p:embeddedFont>
      <p:font typeface="Inter" panose="02000503000000020004" pitchFamily="2" charset="0"/>
      <p:regular r:id="rId31"/>
      <p:bold r:id="rId32"/>
      <p:italic r:id="rId33"/>
      <p:boldItalic r:id="rId34"/>
    </p:embeddedFont>
    <p:embeddedFont>
      <p:font typeface="Libre Franklin" pitchFamily="2" charset="77"/>
      <p:regular r:id="rId35"/>
      <p:bold r:id="rId36"/>
      <p:italic r:id="rId37"/>
      <p:boldItalic r:id="rId38"/>
    </p:embeddedFont>
    <p:embeddedFont>
      <p:font typeface="Libre Franklin Medium" pitchFamily="2" charset="77"/>
      <p:regular r:id="rId39"/>
      <p:italic r:id="rId40"/>
    </p:embeddedFont>
    <p:embeddedFont>
      <p:font typeface="Libre Franklin Thin" pitchFamily="2" charset="77"/>
      <p:regular r:id="rId41"/>
      <p: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Roboto Medium" panose="02000000000000000000" pitchFamily="2" charset="0"/>
      <p:regular r:id="rId47"/>
      <p:italic r:id="rId48"/>
    </p:embeddedFont>
    <p:embeddedFont>
      <p:font typeface="Roboto Thin" panose="02000000000000000000"/>
      <p:regular r:id="rId49"/>
      <p: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9589"/>
  </p:normalViewPr>
  <p:slideViewPr>
    <p:cSldViewPr snapToGrid="0">
      <p:cViewPr varScale="1">
        <p:scale>
          <a:sx n="135" d="100"/>
          <a:sy n="135" d="100"/>
        </p:scale>
        <p:origin x="168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font" Target="fonts/font2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fd462de6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fd462de6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SLIDES_API7091338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SLIDES_API7091338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SLIDES_API70913381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SLIDES_API70913381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15fe6f51737d1a2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g315fe6f51737d1a2_554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dirty="0"/>
              <a:t>From raw reads to meaningful data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dirty="0"/>
              <a:t>”translate” a sequence into biological info</a:t>
            </a:r>
            <a:endParaRPr dirty="0"/>
          </a:p>
        </p:txBody>
      </p:sp>
      <p:sp>
        <p:nvSpPr>
          <p:cNvPr id="578" name="Google Shape;578;g315fe6f51737d1a2_5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eff01db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eff01dbe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c221be4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ec221be4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Ensembl = online genome browser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IGV = another genome browser (online or as desktop app)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Customisable, flexibility, visualise own data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c221be4e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ec221be4e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Available reference genomes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ec221be4e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ec221be4e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Load your own genome in JSON or FASTA via file, URL or from UCSC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Switching genomes clears session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0d3bf5493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d0d3bf5493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Interactive genome browser with zoom options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Option to show amino acid translation (3 frames) and switch strand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ec221be4e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ec221be4e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Load your annotation (tracks) in common file formats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Customise name, colour and track height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c221be4e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ec221be4e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Customise display design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Group by strand and change track colour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c221be4e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ec221be4e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GB" dirty="0"/>
              <a:t>Clicking feature opens more details (the data from your imported GFF file)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da7b63efa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da7b63efa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Customise track design (style, name, colour)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ec221be4e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ec221be4e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Load and visualise quantitative data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ec221be4e5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ec221be4e5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Customise data range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ec221be4e5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ec221be4e5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Change name and colour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ec221be4e5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ec221be4e5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Reg annotation in </a:t>
            </a:r>
            <a:r>
              <a:rPr lang="en-GB" dirty="0" err="1"/>
              <a:t>bigBED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ec221be4e5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ec221be4e5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Load various tracks to explore epigenomic activity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abbbb50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fabbbb50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da7b63efa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da7b63efa8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g3da7b63efa8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59c5e8e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f59c5e8e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f66810da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f66810da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Title - South Building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Cell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Staff_Associati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4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4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4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4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4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" name="Google Shape;421;p4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4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4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4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4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4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7" name="Google Shape;437;p4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2" name="Google Shape;452;p5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5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5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5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5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- white 1">
  <p:cSld name="Default - white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55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98" name="Google Shape;498;p5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UwNzAxYmI1LWVlN2YtNGJjNi05NDBmLTFjOTI3ZDBkN2QwMyIsInByZXNlbnRhdGlvbklkIjoiMXVsNEUxSVRab0VJT0RGWTd6YVdBUUdJLUpKemp2QTlGTU5wc1ZqdG1lU3ciLCJzbGlkZUlkIjoiU0xJREVTX0FQSTcwOTEzMzgxM18wIiwidGltZWxpbmUiOlt7InBvbGxRdWVzdGlvblV1aWQiOiI4ZDFjNjRmNS01NjY4LTQ3ZjEtYjVjOC0yNDlhNDNiYmU4ZTYiLCJzaG93UmVzdWx0cyI6dHJ1ZX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www.sli.do/features-google-slides?interaction-type=TXVsdGlwbGVDaG9pY2U%3D" TargetMode="External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mQwYWNjZjdjLTc1ZGYtNGQ5OC1iNzIxLWI3MDE1YWMwZjBmZSIsInByZXNlbnRhdGlvbklkIjoiMXVsNEUxSVRab0VJT0RGWTd6YVdBUUdJLUpKemp2QTlGTU5wc1ZqdG1lU3ciLCJzbGlkZUlkIjoiU0xJREVTX0FQSTcwOTEzMzgxM18xMSIsInRpbWVsaW5lIjpbeyJwb2xsUXVlc3Rpb25VdWlkIjoiYzY3YTBmZjMtNWYxNy00ZTI4LTlmZmQtOTZjOGE2ZDRjMjhmIiwic2hvd1Jlc3VsdHMiOnRydWV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5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6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gv.org/doc/deskto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Visualization with Genome Browsers</a:t>
            </a:r>
            <a:endParaRPr/>
          </a:p>
        </p:txBody>
      </p:sp>
      <p:sp>
        <p:nvSpPr>
          <p:cNvPr id="505" name="Google Shape;505;p5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Session 5</a:t>
            </a:r>
            <a:endParaRPr/>
          </a:p>
        </p:txBody>
      </p:sp>
      <p:sp>
        <p:nvSpPr>
          <p:cNvPr id="506" name="Google Shape;506;p57"/>
          <p:cNvSpPr txBox="1"/>
          <p:nvPr/>
        </p:nvSpPr>
        <p:spPr>
          <a:xfrm>
            <a:off x="640550" y="3581000"/>
            <a:ext cx="53859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007B53"/>
                </a:solidFill>
              </a:rPr>
              <a:t>Gabriela A. Merino - Louisse Paola Mirabueno</a:t>
            </a:r>
            <a:endParaRPr sz="1800" b="1" i="0" u="none" strike="noStrike" cap="none">
              <a:solidFill>
                <a:srgbClr val="007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7"/>
          <p:cNvSpPr txBox="1"/>
          <p:nvPr/>
        </p:nvSpPr>
        <p:spPr>
          <a:xfrm>
            <a:off x="6405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 b="1">
                <a:solidFill>
                  <a:srgbClr val="000000"/>
                </a:solidFill>
              </a:rPr>
              <a:t>Senior Bioinformatician, Ensembl Regulation, EMBL-EBI</a:t>
            </a:r>
            <a:endParaRPr/>
          </a:p>
        </p:txBody>
      </p:sp>
      <p:sp>
        <p:nvSpPr>
          <p:cNvPr id="508" name="Google Shape;508;p57"/>
          <p:cNvSpPr txBox="1"/>
          <p:nvPr/>
        </p:nvSpPr>
        <p:spPr>
          <a:xfrm>
            <a:off x="640557" y="45496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03/09/2026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7"/>
          <p:cNvSpPr txBox="1"/>
          <p:nvPr/>
        </p:nvSpPr>
        <p:spPr>
          <a:xfrm>
            <a:off x="28539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Outreach Officer, 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Ensembl Outreach,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EMBL-EBI</a:t>
            </a:r>
            <a:endParaRPr sz="1200" b="1"/>
          </a:p>
        </p:txBody>
      </p:sp>
      <p:sp>
        <p:nvSpPr>
          <p:cNvPr id="510" name="Google Shape;510;p57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T6: Making the most of cis-regulatory annotations for genome-scale analysis</a:t>
            </a:r>
            <a:endParaRPr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Session map</a:t>
            </a:r>
            <a:endParaRPr/>
          </a:p>
        </p:txBody>
      </p:sp>
      <p:grpSp>
        <p:nvGrpSpPr>
          <p:cNvPr id="516" name="Google Shape;516;p58"/>
          <p:cNvGrpSpPr/>
          <p:nvPr/>
        </p:nvGrpSpPr>
        <p:grpSpPr>
          <a:xfrm>
            <a:off x="1593000" y="2783800"/>
            <a:ext cx="5957975" cy="643500"/>
            <a:chOff x="1593000" y="2322568"/>
            <a:chExt cx="5957975" cy="643500"/>
          </a:xfrm>
        </p:grpSpPr>
        <p:sp>
          <p:nvSpPr>
            <p:cNvPr id="517" name="Google Shape;517;p5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Hands-on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1" name="Google Shape;521;p5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23" name="Google Shape;523;p5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4" name="Google Shape;524;p58"/>
          <p:cNvGrpSpPr/>
          <p:nvPr/>
        </p:nvGrpSpPr>
        <p:grpSpPr>
          <a:xfrm>
            <a:off x="1593000" y="2128941"/>
            <a:ext cx="5957975" cy="643500"/>
            <a:chOff x="1593000" y="2322568"/>
            <a:chExt cx="5957975" cy="643500"/>
          </a:xfrm>
        </p:grpSpPr>
        <p:sp>
          <p:nvSpPr>
            <p:cNvPr id="525" name="Google Shape;525;p5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Using IGV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9" name="Google Shape;529;p5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31" name="Google Shape;531;p5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Loading/selecting reference genome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Loading tracks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Tracks customization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2" name="Google Shape;532;p58"/>
          <p:cNvGrpSpPr/>
          <p:nvPr/>
        </p:nvGrpSpPr>
        <p:grpSpPr>
          <a:xfrm>
            <a:off x="1593000" y="1474066"/>
            <a:ext cx="5957975" cy="643500"/>
            <a:chOff x="1593000" y="2322568"/>
            <a:chExt cx="5957975" cy="643500"/>
          </a:xfrm>
        </p:grpSpPr>
        <p:sp>
          <p:nvSpPr>
            <p:cNvPr id="533" name="Google Shape;533;p5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IGV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7" name="Google Shape;537;p5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39" name="Google Shape;539;p5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Definition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Availability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5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6" name="Google Shape;546;p59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5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Have you used genome browsers before?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5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5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0" name="Google Shape;550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9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6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8" name="Google Shape;558;p60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6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If you have used genome browser before, which one(s) do you prefer the most?</a:t>
            </a:r>
            <a:endParaRPr sz="34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0" name="Google Shape;560;p6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2" name="Google Shape;562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0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/>
        </p:nvSpPr>
        <p:spPr>
          <a:xfrm>
            <a:off x="-21850" y="816650"/>
            <a:ext cx="9172200" cy="39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CGGCCTTTGGGCTCCGCCTTCAGCTCAAGACTTAACTTCCCTCCCAGCTGTCCCAGATGACGCCATCTGAAATTTCTTGGAAACACGATCACTTTAACGGAATATTGCTGTTTTGGGGAAGTGTTTTACAGCTGCTGGGCACGCTGTATTTGCCTTACTTAAGCCCCTGGTAATTGCTGTATTCCGA</a:t>
            </a:r>
            <a:r>
              <a:rPr lang="en-GB" sz="1300" b="1" i="0" u="none" strike="noStrike" cap="none" dirty="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AGACATGCTGATGGGAATTA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CAGGCGGCGTTGGTCTCTAACTGGAGCCCTCTGTCCCCACTAGCCACGCGTCACTGGTTAGCGTGATTGAAACTAAATCGTATGAAAATCCTCTTCTCTAGTCGCACTAGCCACGTTTCGAGTGCTTAATGTGGCTAGTGGCACCGGTTTGGACAGCACAGCTGTAAAATGTTCCCATCCTCACAGTAAGCTGTTACCGTTCCAGGAGATGGGACTGAATTAGAATTCAAACAAATTTTCCAGCGCTTCTGAGTTTTACCTCAGTCACATAATAAGGAATGCATCCCTGTGTAAGTGCATTTTGGTCTTCTGTTTTGCAGACTTATTTACCAAGCATTGGAGGAATATCGTAGGTAAAA</a:t>
            </a:r>
            <a:r>
              <a:rPr lang="en-GB" sz="1300" b="1" i="0" u="none" strike="noStrike" cap="none" dirty="0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ATGCCTATTGGATCCAAAGAGAGGCCAACATTTTTTGAAATTTTTAAGACACGCTGCAACAAAGCAGGTATTGACAAATTTTATATAACTTTATAAATTACACCGAGAAAGTGTTTTCTAAAAAATGCTTGCTAAAAACCCAGTACGTCACAGTGTTGCTTAGAACCATAAACTGTTCCTTATGTGTGTATAAATCCAGTTAACAACATAATCATCGTTTGCAGGTTAACCACATGATAAATATAGAACGTCTAGTGGATAAAGAGGAAACTGGCCCCTTGACTAGCAGTAGGAACAATTACTAACAAATCAGAAGCATTAATGTTACTTTATGGCAGAAGTTGTCCAACTTTTTGGTTTCAGTACTCCTTATACTCTTAAAAATGATCTAGGACCCCCGGAGTGCTTTTGTTTATGTAGCTTACCATATTAGAAATTTAAAACTAAGAATTTAAGGCTGGGCGTGGTGGCTCACGCCTGTAATCCCAGCACTTTGGGAGGCCGAGGTGGGCGGATCACTTGAGGCCAGAAGTTTGAGACCAGCCTGGCCAACATGGTGAAACCCTATCTCTACTAAAAAT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AAAAAATGTGCTGCGTGTGGTGGTGCGTGCCTGTAATCCCAGCTACACGGGAGGTGGAGGCAGGAGAATCGCTTGAACCCTGGAGGCAGAGGTTGCAGTGAGCCAAGATCATGCCACTGCACTCTAGCCTGGGCCACATAGCATGACTCTGTCTCAAAACAAACAAACAAACAAAAAACTAAGAATTTAAAGTTAATTTACTTAAAAATAATGAAAGCTAACCCATTGCATATTATCACAACATTCTTAGGAAAAATAACTTTTTGAAAACAAGTGAGTGGAATAGTTTTTACATTTTTGCAGTTCTCTTTAATGTCTGGCTAAATAGAGATAGCTGGATTCACTTATCTGTGTCTAATCTGTTATTTTGGTAGAAGTATGTGAAAAAAAATTAACCTCACGTTGAAAAAAGGAATATTTTAATAGTTTTCAGTTACTTTTTGGTATTTTTCCTTGTACTTTGCATAGATTTTTCAAAGATCTAATAGATATACCATAGGTCTTTCC</a:t>
            </a:r>
            <a:r>
              <a:rPr lang="en-GB" sz="1300" b="1" i="0" u="none" strike="noStrike" cap="none" dirty="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ATGTCGCAACATCATGCAGTGATTATTTGGAAGATAGTGGTGTTCTGAATTA</a:t>
            </a:r>
            <a:endParaRPr sz="13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1" name="Google Shape;581;p6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Using genome browsers to visualise annotation</a:t>
            </a:r>
            <a:endParaRPr/>
          </a:p>
        </p:txBody>
      </p:sp>
      <p:sp>
        <p:nvSpPr>
          <p:cNvPr id="582" name="Google Shape;582;p61"/>
          <p:cNvSpPr txBox="1"/>
          <p:nvPr/>
        </p:nvSpPr>
        <p:spPr>
          <a:xfrm>
            <a:off x="453154" y="877256"/>
            <a:ext cx="2211300" cy="369300"/>
          </a:xfrm>
          <a:prstGeom prst="rect">
            <a:avLst/>
          </a:prstGeom>
          <a:solidFill>
            <a:srgbClr val="FFFFFF">
              <a:alpha val="8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Regulatory element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61"/>
          <p:cNvSpPr/>
          <p:nvPr/>
        </p:nvSpPr>
        <p:spPr>
          <a:xfrm>
            <a:off x="545854" y="1221485"/>
            <a:ext cx="2025900" cy="279900"/>
          </a:xfrm>
          <a:prstGeom prst="rect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61"/>
          <p:cNvSpPr txBox="1"/>
          <p:nvPr/>
        </p:nvSpPr>
        <p:spPr>
          <a:xfrm>
            <a:off x="4040777" y="1654211"/>
            <a:ext cx="1047000" cy="369300"/>
          </a:xfrm>
          <a:prstGeom prst="rect">
            <a:avLst/>
          </a:prstGeom>
          <a:solidFill>
            <a:srgbClr val="FFFFFF">
              <a:alpha val="8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99FF"/>
                </a:solidFill>
                <a:latin typeface="Arial"/>
                <a:ea typeface="Arial"/>
                <a:cs typeface="Arial"/>
                <a:sym typeface="Arial"/>
              </a:rPr>
              <a:t>Gene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61"/>
          <p:cNvSpPr/>
          <p:nvPr/>
        </p:nvSpPr>
        <p:spPr>
          <a:xfrm>
            <a:off x="47106" y="2023543"/>
            <a:ext cx="9040800" cy="1411200"/>
          </a:xfrm>
          <a:prstGeom prst="rect">
            <a:avLst/>
          </a:prstGeom>
          <a:noFill/>
          <a:ln w="25400" cap="flat" cmpd="sng">
            <a:solidFill>
              <a:srgbClr val="009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61"/>
          <p:cNvSpPr txBox="1"/>
          <p:nvPr/>
        </p:nvSpPr>
        <p:spPr>
          <a:xfrm>
            <a:off x="2433139" y="4014654"/>
            <a:ext cx="1026900" cy="369300"/>
          </a:xfrm>
          <a:prstGeom prst="rect">
            <a:avLst/>
          </a:prstGeom>
          <a:solidFill>
            <a:srgbClr val="FFFFFF">
              <a:alpha val="8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Variant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1"/>
          <p:cNvSpPr/>
          <p:nvPr/>
        </p:nvSpPr>
        <p:spPr>
          <a:xfrm>
            <a:off x="2867997" y="4383961"/>
            <a:ext cx="157200" cy="279900"/>
          </a:xfrm>
          <a:prstGeom prst="rect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327C89"/>
                </a:solidFill>
              </a:rPr>
              <a:t>`</a:t>
            </a:r>
            <a:endParaRPr sz="1400" b="0" i="0" u="none" strike="noStrike" cap="none">
              <a:solidFill>
                <a:srgbClr val="327C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Genome browsers </a:t>
            </a:r>
            <a:endParaRPr/>
          </a:p>
        </p:txBody>
      </p:sp>
      <p:sp>
        <p:nvSpPr>
          <p:cNvPr id="582" name="Google Shape;582;p6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750"/>
              </a:spcBef>
              <a:spcAft>
                <a:spcPts val="0"/>
              </a:spcAft>
              <a:buClr>
                <a:srgbClr val="0C8148"/>
              </a:buClr>
              <a:buSzPts val="1800"/>
              <a:buChar char="✓"/>
            </a:pPr>
            <a:r>
              <a:rPr lang="en-GB"/>
              <a:t>They integrate and allow you to search, browse, retrieve, compare and analyse genomic data.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C8148"/>
              </a:buClr>
              <a:buSzPts val="1800"/>
              <a:buChar char="✓"/>
            </a:pPr>
            <a:r>
              <a:rPr lang="en-GB"/>
              <a:t>They put genes, regulatory elements and experimental evidence on the same genomic map.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Clr>
                <a:srgbClr val="0C8148"/>
              </a:buClr>
              <a:buSzPts val="1800"/>
              <a:buChar char="✓"/>
            </a:pPr>
            <a:r>
              <a:rPr lang="en-GB"/>
              <a:t>They help with the interpretation of regulatory variants and support better experimental hypotheses.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3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79383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Is a high-performance, easy-to-use, interactive tool for the visual exploration of genomic data. 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It supports flexible integration of all the common types of genomic data and metadata, investigator-generated or publicly available, loaded from local or cloud sources.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Is available in multiple forms, including: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The original IGV - a Java desktop application,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IGV-Web - a web application,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igv.js - a JavaScript component that can be embedded in web pages (for developers)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Is focused on the IGV desktop application. </a:t>
            </a:r>
            <a:endParaRPr/>
          </a:p>
        </p:txBody>
      </p:sp>
      <p:sp>
        <p:nvSpPr>
          <p:cNvPr id="588" name="Google Shape;588;p6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Integrative Genomics Viewer (IGV)</a:t>
            </a:r>
            <a:endParaRPr/>
          </a:p>
        </p:txBody>
      </p:sp>
      <p:sp>
        <p:nvSpPr>
          <p:cNvPr id="589" name="Google Shape;589;p63"/>
          <p:cNvSpPr txBox="1"/>
          <p:nvPr/>
        </p:nvSpPr>
        <p:spPr>
          <a:xfrm>
            <a:off x="338150" y="4792500"/>
            <a:ext cx="30000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hlink"/>
                </a:solidFill>
                <a:hlinkClick r:id="rId3"/>
              </a:rPr>
              <a:t>https://igv.org/doc/desktop/#</a:t>
            </a:r>
            <a:endParaRPr sz="1200"/>
          </a:p>
        </p:txBody>
      </p:sp>
      <p:pic>
        <p:nvPicPr>
          <p:cNvPr id="590" name="Google Shape;59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2900" y="2472725"/>
            <a:ext cx="3282925" cy="127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8600" y="0"/>
            <a:ext cx="1085400" cy="10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4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776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The genome dropdown menu on the left end of the IGV window toolbar displays the current reference genome, and contains a selection list of recently loaded genomes.</a:t>
            </a:r>
            <a:endParaRPr/>
          </a:p>
        </p:txBody>
      </p:sp>
      <p:sp>
        <p:nvSpPr>
          <p:cNvPr id="597" name="Google Shape;597;p6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Selecting genomes on IGV</a:t>
            </a:r>
            <a:endParaRPr/>
          </a:p>
        </p:txBody>
      </p:sp>
      <p:pic>
        <p:nvPicPr>
          <p:cNvPr id="598" name="Google Shape;59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225" y="1731070"/>
            <a:ext cx="2826150" cy="2583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5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Options for changing loading a genome not yet on the selection list: 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Selecting a predefined genome from the "hosted genome" list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Loading a UCSC track hub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Loading a custom genome json or sequence file:</a:t>
            </a:r>
            <a:endParaRPr/>
          </a:p>
          <a:p>
            <a:pPr marL="137160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JSON: allow to load sequence and annotation</a:t>
            </a:r>
            <a:endParaRPr/>
          </a:p>
          <a:p>
            <a:pPr marL="137160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FASTA: genome sequence, must be indexed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When you switch to a different reference genome, IGV will clear the current session.</a:t>
            </a:r>
            <a:endParaRPr/>
          </a:p>
        </p:txBody>
      </p:sp>
      <p:sp>
        <p:nvSpPr>
          <p:cNvPr id="604" name="Google Shape;604;p6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new genomes on IGV</a:t>
            </a:r>
            <a:endParaRPr/>
          </a:p>
        </p:txBody>
      </p:sp>
      <p:pic>
        <p:nvPicPr>
          <p:cNvPr id="605" name="Google Shape;605;p65"/>
          <p:cNvPicPr preferRelativeResize="0"/>
          <p:nvPr/>
        </p:nvPicPr>
        <p:blipFill rotWithShape="1">
          <a:blip r:embed="rId3">
            <a:alphaModFix/>
          </a:blip>
          <a:srcRect b="17999"/>
          <a:stretch/>
        </p:blipFill>
        <p:spPr>
          <a:xfrm>
            <a:off x="1616000" y="3345775"/>
            <a:ext cx="5323075" cy="15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8600" y="-9651"/>
            <a:ext cx="1085400" cy="10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genome sequence on IGV</a:t>
            </a:r>
            <a:endParaRPr/>
          </a:p>
        </p:txBody>
      </p:sp>
      <p:pic>
        <p:nvPicPr>
          <p:cNvPr id="612" name="Google Shape;61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663" y="834925"/>
            <a:ext cx="4896299" cy="9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2663" y="1827451"/>
            <a:ext cx="4896299" cy="997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2663" y="2869400"/>
            <a:ext cx="4896299" cy="94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3547" y="4001325"/>
            <a:ext cx="3688999" cy="72995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66"/>
          <p:cNvSpPr/>
          <p:nvPr/>
        </p:nvSpPr>
        <p:spPr>
          <a:xfrm>
            <a:off x="1791002" y="1143700"/>
            <a:ext cx="357000" cy="2363400"/>
          </a:xfrm>
          <a:prstGeom prst="downArrow">
            <a:avLst>
              <a:gd name="adj1" fmla="val 35715"/>
              <a:gd name="adj2" fmla="val 47943"/>
            </a:avLst>
          </a:prstGeom>
          <a:solidFill>
            <a:srgbClr val="FCE5CD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17" name="Google Shape;617;p66"/>
          <p:cNvSpPr txBox="1"/>
          <p:nvPr/>
        </p:nvSpPr>
        <p:spPr>
          <a:xfrm>
            <a:off x="1514337" y="834925"/>
            <a:ext cx="98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accent3"/>
                </a:solidFill>
              </a:rPr>
              <a:t>Zoom-in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618" name="Google Shape;618;p66"/>
          <p:cNvSpPr txBox="1"/>
          <p:nvPr/>
        </p:nvSpPr>
        <p:spPr>
          <a:xfrm>
            <a:off x="7383969" y="3686725"/>
            <a:ext cx="14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accent3"/>
                </a:solidFill>
              </a:rPr>
              <a:t>Change strand</a:t>
            </a:r>
            <a:endParaRPr sz="1200" b="1">
              <a:solidFill>
                <a:schemeClr val="accent3"/>
              </a:solidFill>
            </a:endParaRPr>
          </a:p>
        </p:txBody>
      </p:sp>
      <p:pic>
        <p:nvPicPr>
          <p:cNvPr id="619" name="Google Shape;619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085" y="3956251"/>
            <a:ext cx="3572465" cy="9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6"/>
          <p:cNvSpPr txBox="1"/>
          <p:nvPr/>
        </p:nvSpPr>
        <p:spPr>
          <a:xfrm>
            <a:off x="212744" y="3632025"/>
            <a:ext cx="14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accent3"/>
                </a:solidFill>
              </a:rPr>
              <a:t>Show translation</a:t>
            </a:r>
            <a:endParaRPr sz="1200" b="1">
              <a:solidFill>
                <a:schemeClr val="accent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7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5538600" cy="40341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Tracks can be loaded from local files, URLs, and remote track servers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File formats include:</a:t>
            </a:r>
            <a:endParaRPr sz="14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BAM (SAM): Must be sorted and indexed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BED - bigBed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bedGraph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bigWig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narrowPeak, broadPeak (ENCODE)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GFF/GTF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VCF</a:t>
            </a:r>
            <a:endParaRPr sz="12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Common attributes:</a:t>
            </a:r>
            <a:endParaRPr sz="14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Name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Color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Height</a:t>
            </a:r>
            <a:endParaRPr sz="1200"/>
          </a:p>
        </p:txBody>
      </p:sp>
      <p:sp>
        <p:nvSpPr>
          <p:cNvPr id="626" name="Google Shape;626;p6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tracks</a:t>
            </a:r>
            <a:endParaRPr/>
          </a:p>
        </p:txBody>
      </p:sp>
      <p:pic>
        <p:nvPicPr>
          <p:cNvPr id="627" name="Google Shape;62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454276"/>
            <a:ext cx="4349575" cy="90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8600" y="-9650"/>
            <a:ext cx="1085400" cy="10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8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347500" cy="289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Formats: bed, bigBed, gtf, gff, psl, and narrowPeak and broadPeak.</a:t>
            </a:r>
            <a:endParaRPr/>
          </a:p>
        </p:txBody>
      </p:sp>
      <p:sp>
        <p:nvSpPr>
          <p:cNvPr id="634" name="Google Shape;634;p6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and displaying gene annotation</a:t>
            </a:r>
            <a:endParaRPr/>
          </a:p>
        </p:txBody>
      </p:sp>
      <p:pic>
        <p:nvPicPr>
          <p:cNvPr id="635" name="Google Shape;63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75" y="1764427"/>
            <a:ext cx="2396901" cy="117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625" y="1568480"/>
            <a:ext cx="2478101" cy="181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3613" y="1508152"/>
            <a:ext cx="2994149" cy="1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3288" y="3739873"/>
            <a:ext cx="2180124" cy="12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1875" y="3556363"/>
            <a:ext cx="2535250" cy="1419324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68"/>
          <p:cNvSpPr txBox="1">
            <a:spLocks noGrp="1"/>
          </p:cNvSpPr>
          <p:nvPr>
            <p:ph type="body" idx="1"/>
          </p:nvPr>
        </p:nvSpPr>
        <p:spPr>
          <a:xfrm>
            <a:off x="338150" y="1206650"/>
            <a:ext cx="7720200" cy="360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Display options: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1" name="Google Shape;641;p68"/>
          <p:cNvSpPr txBox="1">
            <a:spLocks noGrp="1"/>
          </p:cNvSpPr>
          <p:nvPr>
            <p:ph type="body" idx="1"/>
          </p:nvPr>
        </p:nvSpPr>
        <p:spPr>
          <a:xfrm>
            <a:off x="338150" y="3080600"/>
            <a:ext cx="8347500" cy="518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100" dirty="0"/>
          </a:p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Group and </a:t>
            </a:r>
            <a:r>
              <a:rPr lang="en-GB" dirty="0" err="1"/>
              <a:t>color</a:t>
            </a:r>
            <a:r>
              <a:rPr lang="en-GB" dirty="0"/>
              <a:t> by strand: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9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347500" cy="289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Exploring feature details</a:t>
            </a:r>
            <a:endParaRPr/>
          </a:p>
        </p:txBody>
      </p:sp>
      <p:sp>
        <p:nvSpPr>
          <p:cNvPr id="647" name="Google Shape;647;p6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and displaying gene annotation</a:t>
            </a:r>
            <a:endParaRPr/>
          </a:p>
        </p:txBody>
      </p:sp>
      <p:pic>
        <p:nvPicPr>
          <p:cNvPr id="648" name="Google Shape;6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012" y="1591017"/>
            <a:ext cx="5551001" cy="327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peak tracks</a:t>
            </a:r>
            <a:endParaRPr/>
          </a:p>
        </p:txBody>
      </p:sp>
      <p:sp>
        <p:nvSpPr>
          <p:cNvPr id="654" name="Google Shape;654;p70"/>
          <p:cNvSpPr txBox="1"/>
          <p:nvPr/>
        </p:nvSpPr>
        <p:spPr>
          <a:xfrm>
            <a:off x="848100" y="1741100"/>
            <a:ext cx="287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655" name="Google Shape;655;p70"/>
          <p:cNvSpPr txBox="1">
            <a:spLocks noGrp="1"/>
          </p:cNvSpPr>
          <p:nvPr>
            <p:ph type="body" idx="1"/>
          </p:nvPr>
        </p:nvSpPr>
        <p:spPr>
          <a:xfrm>
            <a:off x="5167350" y="1403700"/>
            <a:ext cx="2929500" cy="289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Track display options</a:t>
            </a:r>
            <a:endParaRPr/>
          </a:p>
        </p:txBody>
      </p:sp>
      <p:sp>
        <p:nvSpPr>
          <p:cNvPr id="656" name="Google Shape;656;p70"/>
          <p:cNvSpPr txBox="1">
            <a:spLocks noGrp="1"/>
          </p:cNvSpPr>
          <p:nvPr>
            <p:ph type="body" idx="1"/>
          </p:nvPr>
        </p:nvSpPr>
        <p:spPr>
          <a:xfrm>
            <a:off x="106650" y="3632250"/>
            <a:ext cx="3435000" cy="722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Change name and color</a:t>
            </a:r>
            <a:endParaRPr/>
          </a:p>
        </p:txBody>
      </p:sp>
      <p:pic>
        <p:nvPicPr>
          <p:cNvPr id="657" name="Google Shape;65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50" y="818450"/>
            <a:ext cx="4728549" cy="197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500" y="2815825"/>
            <a:ext cx="4991223" cy="19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signal tracks</a:t>
            </a:r>
            <a:endParaRPr/>
          </a:p>
        </p:txBody>
      </p:sp>
      <p:sp>
        <p:nvSpPr>
          <p:cNvPr id="664" name="Google Shape;664;p71"/>
          <p:cNvSpPr txBox="1"/>
          <p:nvPr/>
        </p:nvSpPr>
        <p:spPr>
          <a:xfrm>
            <a:off x="848100" y="1741100"/>
            <a:ext cx="287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665" name="Google Shape;665;p71"/>
          <p:cNvSpPr txBox="1">
            <a:spLocks noGrp="1"/>
          </p:cNvSpPr>
          <p:nvPr>
            <p:ph type="body" idx="1"/>
          </p:nvPr>
        </p:nvSpPr>
        <p:spPr>
          <a:xfrm>
            <a:off x="338150" y="820000"/>
            <a:ext cx="6122400" cy="402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Quantitative tracks file format include: wig, bigWig, bedGraph</a:t>
            </a:r>
            <a:endParaRPr/>
          </a:p>
        </p:txBody>
      </p:sp>
      <p:pic>
        <p:nvPicPr>
          <p:cNvPr id="666" name="Google Shape;66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8600" y="-9650"/>
            <a:ext cx="1085400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1"/>
          <p:cNvSpPr txBox="1">
            <a:spLocks noGrp="1"/>
          </p:cNvSpPr>
          <p:nvPr>
            <p:ph type="body" idx="1"/>
          </p:nvPr>
        </p:nvSpPr>
        <p:spPr>
          <a:xfrm>
            <a:off x="338150" y="2795750"/>
            <a:ext cx="6122400" cy="402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Display graph type</a:t>
            </a:r>
            <a:endParaRPr/>
          </a:p>
        </p:txBody>
      </p:sp>
      <p:pic>
        <p:nvPicPr>
          <p:cNvPr id="668" name="Google Shape;66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3175" y="4028250"/>
            <a:ext cx="1801662" cy="10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71"/>
          <p:cNvPicPr preferRelativeResize="0"/>
          <p:nvPr/>
        </p:nvPicPr>
        <p:blipFill rotWithShape="1">
          <a:blip r:embed="rId5">
            <a:alphaModFix/>
          </a:blip>
          <a:srcRect b="9264"/>
          <a:stretch/>
        </p:blipFill>
        <p:spPr>
          <a:xfrm>
            <a:off x="3767707" y="2996900"/>
            <a:ext cx="1746409" cy="103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71"/>
          <p:cNvPicPr preferRelativeResize="0"/>
          <p:nvPr/>
        </p:nvPicPr>
        <p:blipFill rotWithShape="1">
          <a:blip r:embed="rId6">
            <a:alphaModFix/>
          </a:blip>
          <a:srcRect b="6855"/>
          <a:stretch/>
        </p:blipFill>
        <p:spPr>
          <a:xfrm>
            <a:off x="5295250" y="4028250"/>
            <a:ext cx="1746400" cy="97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71"/>
          <p:cNvPicPr preferRelativeResize="0"/>
          <p:nvPr/>
        </p:nvPicPr>
        <p:blipFill rotWithShape="1">
          <a:blip r:embed="rId7">
            <a:alphaModFix/>
          </a:blip>
          <a:srcRect b="5767"/>
          <a:stretch/>
        </p:blipFill>
        <p:spPr>
          <a:xfrm>
            <a:off x="6641350" y="2834124"/>
            <a:ext cx="1889025" cy="1078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73184" y="1316504"/>
            <a:ext cx="4687366" cy="164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8148" y="3078471"/>
            <a:ext cx="2302326" cy="12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signal tracks</a:t>
            </a:r>
            <a:endParaRPr/>
          </a:p>
        </p:txBody>
      </p:sp>
      <p:sp>
        <p:nvSpPr>
          <p:cNvPr id="679" name="Google Shape;679;p72"/>
          <p:cNvSpPr txBox="1">
            <a:spLocks noGrp="1"/>
          </p:cNvSpPr>
          <p:nvPr>
            <p:ph type="body" idx="1"/>
          </p:nvPr>
        </p:nvSpPr>
        <p:spPr>
          <a:xfrm>
            <a:off x="338150" y="820000"/>
            <a:ext cx="6122400" cy="402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Data range: can be fixed or variable</a:t>
            </a:r>
            <a:endParaRPr/>
          </a:p>
        </p:txBody>
      </p:sp>
      <p:pic>
        <p:nvPicPr>
          <p:cNvPr id="680" name="Google Shape;68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8600" y="0"/>
            <a:ext cx="1085400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72"/>
          <p:cNvSpPr txBox="1"/>
          <p:nvPr/>
        </p:nvSpPr>
        <p:spPr>
          <a:xfrm>
            <a:off x="1077600" y="3589182"/>
            <a:ext cx="78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9900"/>
                </a:solidFill>
              </a:rPr>
              <a:t>Fixed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682" name="Google Shape;682;p72"/>
          <p:cNvSpPr txBox="1"/>
          <p:nvPr/>
        </p:nvSpPr>
        <p:spPr>
          <a:xfrm>
            <a:off x="3463125" y="2515500"/>
            <a:ext cx="120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9900"/>
                </a:solidFill>
              </a:rPr>
              <a:t>Autoscale</a:t>
            </a:r>
            <a:endParaRPr sz="1600" b="1">
              <a:solidFill>
                <a:srgbClr val="FF9900"/>
              </a:solidFill>
            </a:endParaRPr>
          </a:p>
        </p:txBody>
      </p:sp>
      <p:sp>
        <p:nvSpPr>
          <p:cNvPr id="683" name="Google Shape;683;p72"/>
          <p:cNvSpPr txBox="1"/>
          <p:nvPr/>
        </p:nvSpPr>
        <p:spPr>
          <a:xfrm>
            <a:off x="6045225" y="3820325"/>
            <a:ext cx="2310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accent3"/>
                </a:solidFill>
              </a:rPr>
              <a:t>Autoscale + zoom-in</a:t>
            </a:r>
            <a:endParaRPr sz="1600" b="1">
              <a:solidFill>
                <a:schemeClr val="accent3"/>
              </a:solidFill>
            </a:endParaRPr>
          </a:p>
        </p:txBody>
      </p:sp>
      <p:pic>
        <p:nvPicPr>
          <p:cNvPr id="684" name="Google Shape;68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950" y="1549307"/>
            <a:ext cx="2525899" cy="209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9363" y="2946600"/>
            <a:ext cx="2310900" cy="2009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1248" y="1582075"/>
            <a:ext cx="3369107" cy="2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signal tracks</a:t>
            </a:r>
            <a:endParaRPr/>
          </a:p>
        </p:txBody>
      </p:sp>
      <p:sp>
        <p:nvSpPr>
          <p:cNvPr id="692" name="Google Shape;692;p73"/>
          <p:cNvSpPr txBox="1"/>
          <p:nvPr/>
        </p:nvSpPr>
        <p:spPr>
          <a:xfrm>
            <a:off x="848100" y="1741100"/>
            <a:ext cx="287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693" name="Google Shape;693;p73"/>
          <p:cNvSpPr txBox="1">
            <a:spLocks noGrp="1"/>
          </p:cNvSpPr>
          <p:nvPr>
            <p:ph type="body" idx="1"/>
          </p:nvPr>
        </p:nvSpPr>
        <p:spPr>
          <a:xfrm>
            <a:off x="338150" y="820000"/>
            <a:ext cx="6122400" cy="402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Change name and color</a:t>
            </a:r>
            <a:endParaRPr/>
          </a:p>
        </p:txBody>
      </p:sp>
      <p:pic>
        <p:nvPicPr>
          <p:cNvPr id="694" name="Google Shape;69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000" y="2172200"/>
            <a:ext cx="7749950" cy="24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950" y="528825"/>
            <a:ext cx="1698225" cy="156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regulatory features track</a:t>
            </a:r>
            <a:endParaRPr/>
          </a:p>
        </p:txBody>
      </p:sp>
      <p:sp>
        <p:nvSpPr>
          <p:cNvPr id="701" name="Google Shape;701;p74"/>
          <p:cNvSpPr txBox="1"/>
          <p:nvPr/>
        </p:nvSpPr>
        <p:spPr>
          <a:xfrm>
            <a:off x="848100" y="1741100"/>
            <a:ext cx="287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702" name="Google Shape;70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00" y="829600"/>
            <a:ext cx="5565626" cy="2532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7023" y="2172200"/>
            <a:ext cx="4785128" cy="253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regulatory features track</a:t>
            </a:r>
            <a:endParaRPr/>
          </a:p>
        </p:txBody>
      </p:sp>
      <p:sp>
        <p:nvSpPr>
          <p:cNvPr id="709" name="Google Shape;709;p75"/>
          <p:cNvSpPr txBox="1"/>
          <p:nvPr/>
        </p:nvSpPr>
        <p:spPr>
          <a:xfrm>
            <a:off x="848100" y="1741100"/>
            <a:ext cx="287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710" name="Google Shape;71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00" y="1029650"/>
            <a:ext cx="8452201" cy="335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grpSp>
        <p:nvGrpSpPr>
          <p:cNvPr id="716" name="Google Shape;716;p76"/>
          <p:cNvGrpSpPr/>
          <p:nvPr/>
        </p:nvGrpSpPr>
        <p:grpSpPr>
          <a:xfrm>
            <a:off x="1788346" y="1314725"/>
            <a:ext cx="776475" cy="2406685"/>
            <a:chOff x="3226825" y="1139765"/>
            <a:chExt cx="776475" cy="2406685"/>
          </a:xfrm>
        </p:grpSpPr>
        <p:sp>
          <p:nvSpPr>
            <p:cNvPr id="717" name="Google Shape;717;p76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" name="Google Shape;718;p76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" name="Google Shape;719;p76"/>
          <p:cNvGrpSpPr/>
          <p:nvPr/>
        </p:nvGrpSpPr>
        <p:grpSpPr>
          <a:xfrm>
            <a:off x="6367779" y="1366550"/>
            <a:ext cx="776475" cy="2406685"/>
            <a:chOff x="3226825" y="1139765"/>
            <a:chExt cx="776475" cy="2406685"/>
          </a:xfrm>
        </p:grpSpPr>
        <p:sp>
          <p:nvSpPr>
            <p:cNvPr id="720" name="Google Shape;720;p76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" name="Google Shape;721;p76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2" name="Google Shape;722;p76"/>
          <p:cNvGrpSpPr/>
          <p:nvPr/>
        </p:nvGrpSpPr>
        <p:grpSpPr>
          <a:xfrm>
            <a:off x="2933204" y="1366550"/>
            <a:ext cx="776475" cy="2406685"/>
            <a:chOff x="3226825" y="1139765"/>
            <a:chExt cx="776475" cy="2406685"/>
          </a:xfrm>
        </p:grpSpPr>
        <p:sp>
          <p:nvSpPr>
            <p:cNvPr id="723" name="Google Shape;723;p76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" name="Google Shape;724;p76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5" name="Google Shape;725;p76"/>
          <p:cNvGrpSpPr/>
          <p:nvPr/>
        </p:nvGrpSpPr>
        <p:grpSpPr>
          <a:xfrm>
            <a:off x="4078063" y="1366550"/>
            <a:ext cx="776475" cy="2406685"/>
            <a:chOff x="3226825" y="1139765"/>
            <a:chExt cx="776475" cy="2406685"/>
          </a:xfrm>
        </p:grpSpPr>
        <p:sp>
          <p:nvSpPr>
            <p:cNvPr id="726" name="Google Shape;726;p76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" name="Google Shape;727;p76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8" name="Google Shape;728;p76"/>
          <p:cNvGrpSpPr/>
          <p:nvPr/>
        </p:nvGrpSpPr>
        <p:grpSpPr>
          <a:xfrm>
            <a:off x="5222921" y="1366550"/>
            <a:ext cx="776475" cy="2406685"/>
            <a:chOff x="3226825" y="1139765"/>
            <a:chExt cx="776475" cy="2406685"/>
          </a:xfrm>
        </p:grpSpPr>
        <p:sp>
          <p:nvSpPr>
            <p:cNvPr id="729" name="Google Shape;729;p76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0" name="Google Shape;730;p76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7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37" name="Google Shape;737;p77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Before starting… files provenance</a:t>
            </a:r>
            <a:endParaRPr/>
          </a:p>
        </p:txBody>
      </p:sp>
      <p:pic>
        <p:nvPicPr>
          <p:cNvPr id="743" name="Google Shape;74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825" y="978624"/>
            <a:ext cx="7810851" cy="34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</a:t>
            </a:r>
            <a:endParaRPr/>
          </a:p>
        </p:txBody>
      </p:sp>
      <p:sp>
        <p:nvSpPr>
          <p:cNvPr id="749" name="Google Shape;749;p79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Start a clean IGV session.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Select/load the correct reference genome (GRCh38/GRCm39/mm10)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Load user-defined regions, signal tracks, peak tracks and regulatory elements annotation for the indicated epigenome: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Human, HCT116 (male, 48 years old).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Mouse, Forebrain E13.5.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Rename, reorder, and color tracks by evidence layer, using the following color scale: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b="1">
                <a:solidFill>
                  <a:srgbClr val="38761D"/>
                </a:solidFill>
              </a:rPr>
              <a:t>ATAC-seq</a:t>
            </a:r>
            <a:endParaRPr b="1">
              <a:solidFill>
                <a:srgbClr val="38761D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b="1">
                <a:solidFill>
                  <a:schemeClr val="accent2"/>
                </a:solidFill>
              </a:rPr>
              <a:t>DNase-seq</a:t>
            </a:r>
            <a:endParaRPr b="1">
              <a:solidFill>
                <a:schemeClr val="accent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b="1">
                <a:solidFill>
                  <a:srgbClr val="FF0000"/>
                </a:solidFill>
              </a:rPr>
              <a:t>H3K4me3</a:t>
            </a:r>
            <a:endParaRPr b="1">
              <a:solidFill>
                <a:srgbClr val="0000FF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Set adequate display options for signal and annotation tracks.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Inspect the indicated locus and identify:	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Elements where CRE annotations are concordant.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One conflict between annotation or evidence layers.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One missing-context example.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Locus: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-GB"/>
              <a:t>GRCh38, chr8:127,682,026-127,744,101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-GB"/>
              <a:t>GRCm39/mm39, chr6:6,740,753-6,891,103; GRCm38/mm10 chr6:6,740,753-6,891,103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Save an IGV session, screenshot, or launchable view.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79"/>
          <p:cNvSpPr txBox="1"/>
          <p:nvPr/>
        </p:nvSpPr>
        <p:spPr>
          <a:xfrm>
            <a:off x="2013600" y="2334975"/>
            <a:ext cx="30000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b="1">
                <a:solidFill>
                  <a:srgbClr val="F1C232"/>
                </a:solidFill>
              </a:rPr>
              <a:t>H3K27ac</a:t>
            </a:r>
            <a:endParaRPr b="1">
              <a:solidFill>
                <a:srgbClr val="F1C232"/>
              </a:solidFill>
            </a:endParaRPr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b="1">
                <a:solidFill>
                  <a:schemeClr val="accent3"/>
                </a:solidFill>
              </a:rPr>
              <a:t>H3K4me1</a:t>
            </a:r>
            <a:endParaRPr b="1">
              <a:solidFill>
                <a:schemeClr val="accent3"/>
              </a:solidFill>
            </a:endParaRPr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b="1">
                <a:solidFill>
                  <a:srgbClr val="0000FF"/>
                </a:solidFill>
              </a:rPr>
              <a:t>Custom regions</a:t>
            </a:r>
            <a:endParaRPr/>
          </a:p>
        </p:txBody>
      </p:sp>
      <p:pic>
        <p:nvPicPr>
          <p:cNvPr id="751" name="Google Shape;751;p79"/>
          <p:cNvPicPr preferRelativeResize="0"/>
          <p:nvPr/>
        </p:nvPicPr>
        <p:blipFill rotWithShape="1">
          <a:blip r:embed="rId3">
            <a:alphaModFix/>
          </a:blip>
          <a:srcRect t="14858" b="13570"/>
          <a:stretch/>
        </p:blipFill>
        <p:spPr>
          <a:xfrm>
            <a:off x="7300425" y="0"/>
            <a:ext cx="1843575" cy="13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983</Words>
  <Application>Microsoft Macintosh PowerPoint</Application>
  <PresentationFormat>On-screen Show (16:9)</PresentationFormat>
  <Paragraphs>164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 Black</vt:lpstr>
      <vt:lpstr>Roboto</vt:lpstr>
      <vt:lpstr>Roboto Thin</vt:lpstr>
      <vt:lpstr>Courier New</vt:lpstr>
      <vt:lpstr>Libre Franklin Thin</vt:lpstr>
      <vt:lpstr>Libre Franklin Medium</vt:lpstr>
      <vt:lpstr>Arial</vt:lpstr>
      <vt:lpstr>Franklin Gothic</vt:lpstr>
      <vt:lpstr>Inter</vt:lpstr>
      <vt:lpstr>Libre Franklin</vt:lpstr>
      <vt:lpstr>Roboto Medium</vt:lpstr>
      <vt:lpstr>Custom Design</vt:lpstr>
      <vt:lpstr>Visualization with Genome Browsers</vt:lpstr>
      <vt:lpstr>Session map</vt:lpstr>
      <vt:lpstr>PowerPoint Presentation</vt:lpstr>
      <vt:lpstr>PowerPoint Presentation</vt:lpstr>
      <vt:lpstr>Using genome browsers to visualise annotation</vt:lpstr>
      <vt:lpstr>Genome browsers </vt:lpstr>
      <vt:lpstr>The Integrative Genomics Viewer (IGV)</vt:lpstr>
      <vt:lpstr>Selecting genomes on IGV</vt:lpstr>
      <vt:lpstr>Loading new genomes on IGV</vt:lpstr>
      <vt:lpstr>Exploring the genome sequence on IGV</vt:lpstr>
      <vt:lpstr>Loading tracks</vt:lpstr>
      <vt:lpstr>Loading and displaying gene annotation</vt:lpstr>
      <vt:lpstr>Loading and displaying gene annotation</vt:lpstr>
      <vt:lpstr>Loading peak tracks</vt:lpstr>
      <vt:lpstr>Loading signal tracks</vt:lpstr>
      <vt:lpstr>Loading signal tracks</vt:lpstr>
      <vt:lpstr>Loading signal tracks</vt:lpstr>
      <vt:lpstr>Loading regulatory features track</vt:lpstr>
      <vt:lpstr>Loading regulatory features track</vt:lpstr>
      <vt:lpstr>Questions?</vt:lpstr>
      <vt:lpstr>PowerPoint Presentation</vt:lpstr>
      <vt:lpstr>Before starting… files provenance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Louisse Paola Mirabueno</cp:lastModifiedBy>
  <cp:revision>5</cp:revision>
  <dcterms:modified xsi:type="dcterms:W3CDTF">2026-09-02T23:04:16Z</dcterms:modified>
</cp:coreProperties>
</file>