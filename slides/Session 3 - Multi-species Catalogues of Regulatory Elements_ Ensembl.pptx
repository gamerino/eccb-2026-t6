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37"/>
    </p:embeddedFont>
    <p:embeddedFont>
      <p:font typeface="Franklin Gothic" panose="020B0603020102020204" pitchFamily="34" charset="0"/>
      <p:regular r:id="rId38"/>
      <p:bold r:id="rId39"/>
      <p:italic r:id="rId40"/>
      <p:boldItalic r:id="rId41"/>
    </p:embeddedFont>
    <p:embeddedFont>
      <p:font typeface="Inter" panose="02000503000000020004"/>
      <p:regular r:id="rId42"/>
      <p:bold r:id="rId43"/>
      <p:italic r:id="rId44"/>
      <p:boldItalic r:id="rId45"/>
    </p:embeddedFont>
    <p:embeddedFont>
      <p:font typeface="Libre Franklin" pitchFamily="2" charset="77"/>
      <p:regular r:id="rId46"/>
      <p:bold r:id="rId47"/>
      <p:italic r:id="rId48"/>
      <p:boldItalic r:id="rId49"/>
    </p:embeddedFont>
    <p:embeddedFont>
      <p:font typeface="Libre Franklin Medium" pitchFamily="2" charset="77"/>
      <p:regular r:id="rId50"/>
      <p:italic r:id="rId51"/>
    </p:embeddedFont>
    <p:embeddedFont>
      <p:font typeface="Libre Franklin Thin" pitchFamily="2" charset="77"/>
      <p:regular r:id="rId52"/>
      <p:italic r:id="rId53"/>
    </p:embeddedFont>
    <p:embeddedFont>
      <p:font typeface="Roboto" panose="02000000000000000000" pitchFamily="2" charset="0"/>
      <p:regular r:id="rId54"/>
      <p:bold r:id="rId55"/>
      <p:italic r:id="rId56"/>
      <p:boldItalic r:id="rId57"/>
    </p:embeddedFont>
    <p:embeddedFont>
      <p:font typeface="Roboto Medium" panose="02000000000000000000" pitchFamily="2" charset="0"/>
      <p:regular r:id="rId58"/>
      <p:italic r:id="rId59"/>
    </p:embeddedFont>
    <p:embeddedFont>
      <p:font typeface="Roboto Thin" panose="02000000000000000000"/>
      <p:regular r:id="rId60"/>
      <p:italic r:id="rId61"/>
    </p:embeddedFont>
  </p:embeddedFontLst>
  <p:custDataLst>
    <p:tags r:id="rId6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A24227-F492-472F-826B-EC29D6F5AE07}">
  <a:tblStyle styleId="{36A24227-F492-472F-826B-EC29D6F5AE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62"/>
    <p:restoredTop sz="96301"/>
  </p:normalViewPr>
  <p:slideViewPr>
    <p:cSldViewPr snapToGrid="0">
      <p:cViewPr>
        <p:scale>
          <a:sx n="89" d="100"/>
          <a:sy n="89" d="100"/>
        </p:scale>
        <p:origin x="200" y="13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font" Target="fonts/font19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8" Type="http://schemas.openxmlformats.org/officeDocument/2006/relationships/font" Target="fonts/font22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2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font" Target="fonts/font20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font" Target="fonts/font23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font" Target="fonts/font2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60" Type="http://schemas.openxmlformats.org/officeDocument/2006/relationships/font" Target="fonts/font24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fd5d49720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g3efd5d4972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15fe6f51737d1a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g315fe6f51737d1a2_0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dirty="0"/>
              <a:t>[LPM]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GB" dirty="0"/>
              <a:t>How e! started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GB" dirty="0"/>
              <a:t>Mission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GB" dirty="0"/>
              <a:t>New Ensembl site (infrastructure, UI, accessibility, availability)</a:t>
            </a:r>
            <a:endParaRPr dirty="0"/>
          </a:p>
        </p:txBody>
      </p:sp>
      <p:sp>
        <p:nvSpPr>
          <p:cNvPr id="558" name="Google Shape;558;g315fe6f51737d1a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SLIDES_API179432932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SLIDES_API179432932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15fe6f51737d1a2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g315fe6f51737d1a2_554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/>
              <a:t>[LPM]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GB" dirty="0"/>
              <a:t>From raw reads to meaningful data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GB" dirty="0"/>
              <a:t>Ensembl </a:t>
            </a:r>
            <a:r>
              <a:rPr lang="en-GB" dirty="0" err="1"/>
              <a:t>annotates+links</a:t>
            </a:r>
            <a:r>
              <a:rPr lang="en-GB" dirty="0"/>
              <a:t> with other biological data (e.g. phenotypes, GO)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GB" dirty="0"/>
              <a:t>Open access </a:t>
            </a:r>
            <a:endParaRPr dirty="0"/>
          </a:p>
        </p:txBody>
      </p:sp>
      <p:sp>
        <p:nvSpPr>
          <p:cNvPr id="578" name="Google Shape;578;g315fe6f51737d1a2_5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15fe6f51737d1a2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15fe6f51737d1a2_52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Open access = all imported data public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Annotation by data teams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Make available for user</a:t>
            </a:r>
            <a:endParaRPr dirty="0"/>
          </a:p>
        </p:txBody>
      </p:sp>
      <p:sp>
        <p:nvSpPr>
          <p:cNvPr id="591" name="Google Shape;591;g315fe6f51737d1a2_5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d0e1ed9864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d0e1ed9864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[GI]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edb70b9ac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edb70b9ac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[GI]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d0e1ed9864_0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d0e1ed9864_0_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[GI]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edb70b9ac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edb70b9ac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[GI]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f77baba4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f77baba4f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regulation.ensembl.org</a:t>
            </a:r>
            <a:r>
              <a:rPr lang="en-GB" dirty="0"/>
              <a:t> homepage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edb70b9ac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edb70b9acf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An epigenome = cell-type-specific set of molecular features that regulates gene activity without altering the DNA sequence, comprising: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DNA methylation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Histone mods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TF binding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Chromatin access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Epigenetic modifications help different cell types adopt distinct functions despite sharing the same genome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 Ens Reg subsite: list available epigenomes (incl. metadata, sources, and assays)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fabb8f900b_0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fabb8f900b_0_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Filter table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Order columns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f77baba4fe_0_10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f77baba4fe_0_10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List Reg features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Filter by type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edb70b9acf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edb70b9acf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Selecting a specific regulatory feature opens more details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Activity in different tissue types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Option to visualise</a:t>
            </a: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f77baba4fe_0_1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f77baba4fe_0_1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Visualising locus (Genome view)</a:t>
            </a: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f77baba4fe_0_2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f77baba4fe_0_2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[LPM; 1:28220-28599]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Zoom out for wider genomic context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f77baba4fe_0_20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f77baba4fe_0_20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[LPM; 1:28220-28599]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Click chr number to change chr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f77baba4fe_0_30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f77baba4fe_0_30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Genes card = genes found in the locus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Click coordinates to visualise full gene in Gene view</a:t>
            </a: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efd5d49720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3efd5d49720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Back in Genes card, click ID to open Genes page</a:t>
            </a: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f7181fdfe8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f7181fdfe8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Gene information page including gene expression activity</a:t>
            </a: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ee6fc5b7a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ee6fc5b7a4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Reg feature selection: list of Reg feat found in your locus</a:t>
            </a: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edb70b9acf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3edb70b9acf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Reg activity card visually lists Reg activity of epigenomes (tracks)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Zoom tools apply to Reg activity card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f7181fdfe8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3f7181fdfe8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Genes tab = annotated genes for species</a:t>
            </a: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d0e1ed9864_0_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3d0e1ed9864_0_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[GI]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ef4d4e4ea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ef4d4e4ea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[GI]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f76badb7b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f76badb7b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[GI]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efd5d49720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efd5d49720_0_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[GI]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f76badb7b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3f76badb7bc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[GI]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f76badb7b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f76badb7b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[GI]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f76badb7bc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3f76badb7bc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[GI]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fabb8f900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3fabb8f900b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d0e1ed9864_0_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3d0e1ed9864_0_5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g3d0e1ed9864_0_5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ee6fc5b7a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3ee6fc5b7a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grey">
  <p:cSld name="Title_And_Elements_gre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7793831" y="4557712"/>
            <a:ext cx="1143000" cy="5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white">
  <p:cSld name="Title_and_elements_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Title - South Building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53567" y="0"/>
            <a:ext cx="4275376" cy="32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Cell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3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3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4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5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6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7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8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9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0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TRAINING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INDUSTRY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6" cy="328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_NoImage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3998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noImage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Staff_Association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6925" y="4118125"/>
            <a:ext cx="2091450" cy="727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grey ">
  <p:cSld name="Staff Association grey 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3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3" name="Google Shape;183;p23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5" name="Google Shape;185;p2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white">
  <p:cSld name="Staff Association whit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2" name="Google Shape;19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">
  <p:cSld name="Two Elements_gre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5"/>
          <p:cNvSpPr/>
          <p:nvPr/>
        </p:nvSpPr>
        <p:spPr>
          <a:xfrm>
            <a:off x="0" y="869951"/>
            <a:ext cx="9144000" cy="375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5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white">
  <p:cSld name="Two Elements_whi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2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Elements_grey_green">
  <p:cSld name="Two_Elements_grey_green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7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1" name="Google Shape;211;p27"/>
          <p:cNvSpPr txBox="1">
            <a:spLocks noGrp="1"/>
          </p:cNvSpPr>
          <p:nvPr>
            <p:ph type="body" idx="1"/>
          </p:nvPr>
        </p:nvSpPr>
        <p:spPr>
          <a:xfrm>
            <a:off x="1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body" idx="2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4" name="Google Shape;214;p2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_green_right">
  <p:cSld name="Two Elements_grey_green_right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8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9" name="Google Shape;219;p28"/>
          <p:cNvSpPr txBox="1">
            <a:spLocks noGrp="1"/>
          </p:cNvSpPr>
          <p:nvPr>
            <p:ph type="body" idx="1"/>
          </p:nvPr>
        </p:nvSpPr>
        <p:spPr>
          <a:xfrm>
            <a:off x="5988844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y_green_right">
  <p:cSld name="Three Elements_grey_green_righ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9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1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dark_grey">
  <p:cSld name="Three Elements_dark_grey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36" name="Google Shape;236;p30"/>
          <p:cNvSpPr txBox="1">
            <a:spLocks noGrp="1"/>
          </p:cNvSpPr>
          <p:nvPr>
            <p:ph type="body" idx="1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body" idx="2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en_left_grey">
  <p:cSld name="Three Elements_green_left_gre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45" name="Google Shape;245;p31"/>
          <p:cNvSpPr txBox="1">
            <a:spLocks noGrp="1"/>
          </p:cNvSpPr>
          <p:nvPr>
            <p:ph type="body" idx="1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2"/>
          </p:nvPr>
        </p:nvSpPr>
        <p:spPr>
          <a:xfrm>
            <a:off x="79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body" idx="3"/>
          </p:nvPr>
        </p:nvSpPr>
        <p:spPr>
          <a:xfrm>
            <a:off x="794" y="2757758"/>
            <a:ext cx="3155100" cy="185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Elements_green">
  <p:cSld name="Six Elements_green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>
            <a:spLocks noGrp="1"/>
          </p:cNvSpPr>
          <p:nvPr>
            <p:ph type="pic" idx="2"/>
          </p:nvPr>
        </p:nvSpPr>
        <p:spPr>
          <a:xfrm>
            <a:off x="61038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2"/>
          <p:cNvSpPr>
            <a:spLocks noGrp="1"/>
          </p:cNvSpPr>
          <p:nvPr>
            <p:ph type="pic" idx="3"/>
          </p:nvPr>
        </p:nvSpPr>
        <p:spPr>
          <a:xfrm>
            <a:off x="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2"/>
          <p:cNvSpPr>
            <a:spLocks noGrp="1"/>
          </p:cNvSpPr>
          <p:nvPr>
            <p:ph type="pic" idx="4"/>
          </p:nvPr>
        </p:nvSpPr>
        <p:spPr>
          <a:xfrm>
            <a:off x="30519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32"/>
          <p:cNvSpPr txBox="1">
            <a:spLocks noGrp="1"/>
          </p:cNvSpPr>
          <p:nvPr>
            <p:ph type="body" idx="1"/>
          </p:nvPr>
        </p:nvSpPr>
        <p:spPr>
          <a:xfrm>
            <a:off x="6103144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body" idx="5"/>
          </p:nvPr>
        </p:nvSpPr>
        <p:spPr>
          <a:xfrm>
            <a:off x="1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body" idx="6"/>
          </p:nvPr>
        </p:nvSpPr>
        <p:spPr>
          <a:xfrm>
            <a:off x="3051573" y="2746675"/>
            <a:ext cx="3040800" cy="186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59" name="Google Shape;259;p32"/>
          <p:cNvCxnSpPr/>
          <p:nvPr/>
        </p:nvCxnSpPr>
        <p:spPr>
          <a:xfrm>
            <a:off x="3051573" y="2736057"/>
            <a:ext cx="0" cy="1907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0" name="Google Shape;260;p32"/>
          <p:cNvCxnSpPr/>
          <p:nvPr/>
        </p:nvCxnSpPr>
        <p:spPr>
          <a:xfrm>
            <a:off x="6097513" y="2736057"/>
            <a:ext cx="0" cy="1907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1" name="Google Shape;261;p3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en">
  <p:cSld name="Eight Elements_green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3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3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3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33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74" name="Google Shape;274;p33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5" name="Google Shape;275;p33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6" name="Google Shape;276;p33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7" name="Google Shape;277;p3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8" name="Google Shape;278;p3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y">
  <p:cSld name="Eight Elements_grey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4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34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34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4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4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34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90" name="Google Shape;290;p34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1" name="Google Shape;291;p34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2" name="Google Shape;292;p34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3" name="Google Shape;293;p3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4" name="Google Shape;294;p3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with_Footer">
  <p:cSld name="Blank_with_Footer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85">
          <p15:clr>
            <a:srgbClr val="FBAE40"/>
          </p15:clr>
        </p15:guide>
        <p15:guide id="2" pos="2160">
          <p15:clr>
            <a:srgbClr val="FBAE40"/>
          </p15:clr>
        </p15:guide>
        <p15:guide id="3" orient="horz" pos="1964">
          <p15:clr>
            <a:srgbClr val="FBAE40"/>
          </p15:clr>
        </p15:guide>
        <p15:guide id="4" orient="horz" pos="1742">
          <p15:clr>
            <a:srgbClr val="FBAE40"/>
          </p15:clr>
        </p15:guide>
        <p15:guide id="5" orient="horz" pos="1521">
          <p15:clr>
            <a:srgbClr val="FBAE40"/>
          </p15:clr>
        </p15:guide>
        <p15:guide id="6" orient="horz" pos="1300">
          <p15:clr>
            <a:srgbClr val="FBAE40"/>
          </p15:clr>
        </p15:guide>
        <p15:guide id="7" orient="horz" pos="1079">
          <p15:clr>
            <a:srgbClr val="FBAE40"/>
          </p15:clr>
        </p15:guide>
        <p15:guide id="8" orient="horz" pos="858">
          <p15:clr>
            <a:srgbClr val="FBAE40"/>
          </p15:clr>
        </p15:guide>
        <p15:guide id="9" orient="horz" pos="637">
          <p15:clr>
            <a:srgbClr val="FBAE40"/>
          </p15:clr>
        </p15:guide>
        <p15:guide id="10" orient="horz" pos="411">
          <p15:clr>
            <a:srgbClr val="FBAE40"/>
          </p15:clr>
        </p15:guide>
        <p15:guide id="11" orient="horz" pos="194">
          <p15:clr>
            <a:srgbClr val="FBAE40"/>
          </p15:clr>
        </p15:guide>
        <p15:guide id="12" pos="2381">
          <p15:clr>
            <a:srgbClr val="FBAE40"/>
          </p15:clr>
        </p15:guide>
        <p15:guide id="13" pos="2603">
          <p15:clr>
            <a:srgbClr val="FBAE40"/>
          </p15:clr>
        </p15:guide>
        <p15:guide id="14" pos="2824">
          <p15:clr>
            <a:srgbClr val="FBAE40"/>
          </p15:clr>
        </p15:guide>
        <p15:guide id="15" pos="3044">
          <p15:clr>
            <a:srgbClr val="FBAE40"/>
          </p15:clr>
        </p15:guide>
        <p15:guide id="16" pos="3266">
          <p15:clr>
            <a:srgbClr val="FBAE40"/>
          </p15:clr>
        </p15:guide>
        <p15:guide id="17" pos="3487">
          <p15:clr>
            <a:srgbClr val="FBAE40"/>
          </p15:clr>
        </p15:guide>
        <p15:guide id="18" pos="3708">
          <p15:clr>
            <a:srgbClr val="FBAE40"/>
          </p15:clr>
        </p15:guide>
        <p15:guide id="19" pos="3929">
          <p15:clr>
            <a:srgbClr val="FBAE40"/>
          </p15:clr>
        </p15:guide>
        <p15:guide id="20" pos="4151">
          <p15:clr>
            <a:srgbClr val="FBAE40"/>
          </p15:clr>
        </p15:guide>
        <p15:guide id="21" pos="1939">
          <p15:clr>
            <a:srgbClr val="FBAE40"/>
          </p15:clr>
        </p15:guide>
        <p15:guide id="22" pos="1718">
          <p15:clr>
            <a:srgbClr val="FBAE40"/>
          </p15:clr>
        </p15:guide>
        <p15:guide id="23" pos="1496">
          <p15:clr>
            <a:srgbClr val="FBAE40"/>
          </p15:clr>
        </p15:guide>
        <p15:guide id="24" pos="1276">
          <p15:clr>
            <a:srgbClr val="FBAE40"/>
          </p15:clr>
        </p15:guide>
        <p15:guide id="25" pos="1055">
          <p15:clr>
            <a:srgbClr val="FBAE40"/>
          </p15:clr>
        </p15:guide>
        <p15:guide id="26" pos="833">
          <p15:clr>
            <a:srgbClr val="FBAE40"/>
          </p15:clr>
        </p15:guide>
        <p15:guide id="27" pos="612">
          <p15:clr>
            <a:srgbClr val="FBAE40"/>
          </p15:clr>
        </p15:guide>
        <p15:guide id="28" pos="391">
          <p15:clr>
            <a:srgbClr val="FBAE40"/>
          </p15:clr>
        </p15:guide>
        <p15:guide id="29" pos="17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individual_image">
  <p:cSld name="Divider_individual_image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>
            <a:spLocks noGrp="1"/>
          </p:cNvSpPr>
          <p:nvPr>
            <p:ph type="pic" idx="2"/>
          </p:nvPr>
        </p:nvSpPr>
        <p:spPr>
          <a:xfrm>
            <a:off x="0" y="2"/>
            <a:ext cx="9144000" cy="46233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36"/>
          <p:cNvSpPr txBox="1">
            <a:spLocks noGrp="1"/>
          </p:cNvSpPr>
          <p:nvPr>
            <p:ph type="title"/>
          </p:nvPr>
        </p:nvSpPr>
        <p:spPr>
          <a:xfrm>
            <a:off x="0" y="1112941"/>
            <a:ext cx="7527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6"/>
          <p:cNvSpPr txBox="1">
            <a:spLocks noGrp="1"/>
          </p:cNvSpPr>
          <p:nvPr>
            <p:ph type="body" idx="1"/>
          </p:nvPr>
        </p:nvSpPr>
        <p:spPr>
          <a:xfrm>
            <a:off x="0" y="1638301"/>
            <a:ext cx="75354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3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5" name="Google Shape;305;p3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2">
  <p:cSld name="Section Headline_2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1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7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7"/>
          <p:cNvSpPr txBox="1">
            <a:spLocks noGrp="1"/>
          </p:cNvSpPr>
          <p:nvPr>
            <p:ph type="body" idx="2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3">
  <p:cSld name="Section Headline_3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"/>
            <a:ext cx="9143998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29804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8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38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4">
  <p:cSld name="Section Headline_4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39"/>
          <p:cNvSpPr txBox="1">
            <a:spLocks noGrp="1"/>
          </p:cNvSpPr>
          <p:nvPr>
            <p:ph type="body" idx="1"/>
          </p:nvPr>
        </p:nvSpPr>
        <p:spPr>
          <a:xfrm>
            <a:off x="1298972" y="88423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39"/>
          <p:cNvSpPr txBox="1">
            <a:spLocks noGrp="1"/>
          </p:cNvSpPr>
          <p:nvPr>
            <p:ph type="body" idx="3"/>
          </p:nvPr>
        </p:nvSpPr>
        <p:spPr>
          <a:xfrm>
            <a:off x="2230472" y="88423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5">
  <p:cSld name="Section Headline_5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0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40"/>
          <p:cNvSpPr txBox="1">
            <a:spLocks noGrp="1"/>
          </p:cNvSpPr>
          <p:nvPr>
            <p:ph type="body" idx="3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41"/>
          <p:cNvCxnSpPr/>
          <p:nvPr/>
        </p:nvCxnSpPr>
        <p:spPr>
          <a:xfrm rot="10800000">
            <a:off x="-8" y="2749548"/>
            <a:ext cx="609600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8" name="Google Shape;328;p4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41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3773100"/>
          </a:xfrm>
          <a:prstGeom prst="rect">
            <a:avLst/>
          </a:prstGeom>
          <a:solidFill>
            <a:srgbClr val="C4C7C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41"/>
          <p:cNvSpPr txBox="1">
            <a:spLocks noGrp="1"/>
          </p:cNvSpPr>
          <p:nvPr>
            <p:ph type="body" idx="2"/>
          </p:nvPr>
        </p:nvSpPr>
        <p:spPr>
          <a:xfrm>
            <a:off x="-18510" y="2759927"/>
            <a:ext cx="5981100" cy="18834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41"/>
          <p:cNvSpPr txBox="1">
            <a:spLocks noGrp="1"/>
          </p:cNvSpPr>
          <p:nvPr>
            <p:ph type="body" idx="3"/>
          </p:nvPr>
        </p:nvSpPr>
        <p:spPr>
          <a:xfrm>
            <a:off x="-18510" y="870348"/>
            <a:ext cx="5981100" cy="187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4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3" name="Google Shape;333;p4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4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 layout 2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/>
        </p:nvSpPr>
        <p:spPr>
          <a:xfrm>
            <a:off x="0" y="870348"/>
            <a:ext cx="9144000" cy="375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37" name="Google Shape;337;p42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42"/>
          <p:cNvSpPr txBox="1">
            <a:spLocks noGrp="1"/>
          </p:cNvSpPr>
          <p:nvPr>
            <p:ph type="body" idx="2"/>
          </p:nvPr>
        </p:nvSpPr>
        <p:spPr>
          <a:xfrm>
            <a:off x="5962650" y="1810044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9" name="Google Shape;339;p42"/>
          <p:cNvSpPr txBox="1">
            <a:spLocks noGrp="1"/>
          </p:cNvSpPr>
          <p:nvPr>
            <p:ph type="body" idx="3"/>
          </p:nvPr>
        </p:nvSpPr>
        <p:spPr>
          <a:xfrm>
            <a:off x="5962650" y="2749740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0" name="Google Shape;340;p42"/>
          <p:cNvSpPr txBox="1">
            <a:spLocks noGrp="1"/>
          </p:cNvSpPr>
          <p:nvPr>
            <p:ph type="body" idx="4"/>
          </p:nvPr>
        </p:nvSpPr>
        <p:spPr>
          <a:xfrm>
            <a:off x="5962650" y="3689436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 layout 3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/>
          <p:nvPr/>
        </p:nvSpPr>
        <p:spPr>
          <a:xfrm>
            <a:off x="0" y="2764154"/>
            <a:ext cx="9144000" cy="18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3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3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3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3"/>
          <p:cNvSpPr txBox="1">
            <a:spLocks noGrp="1"/>
          </p:cNvSpPr>
          <p:nvPr>
            <p:ph type="body" idx="1"/>
          </p:nvPr>
        </p:nvSpPr>
        <p:spPr>
          <a:xfrm>
            <a:off x="-1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43"/>
          <p:cNvSpPr txBox="1">
            <a:spLocks noGrp="1"/>
          </p:cNvSpPr>
          <p:nvPr>
            <p:ph type="body" idx="5"/>
          </p:nvPr>
        </p:nvSpPr>
        <p:spPr>
          <a:xfrm>
            <a:off x="6095976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43"/>
          <p:cNvSpPr txBox="1">
            <a:spLocks noGrp="1"/>
          </p:cNvSpPr>
          <p:nvPr>
            <p:ph type="body" idx="6"/>
          </p:nvPr>
        </p:nvSpPr>
        <p:spPr>
          <a:xfrm>
            <a:off x="-1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4" name="Google Shape;354;p43"/>
          <p:cNvSpPr txBox="1">
            <a:spLocks noGrp="1"/>
          </p:cNvSpPr>
          <p:nvPr>
            <p:ph type="body" idx="7"/>
          </p:nvPr>
        </p:nvSpPr>
        <p:spPr>
          <a:xfrm>
            <a:off x="3047987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5" name="Google Shape;355;p43"/>
          <p:cNvSpPr txBox="1">
            <a:spLocks noGrp="1"/>
          </p:cNvSpPr>
          <p:nvPr>
            <p:ph type="body" idx="8"/>
          </p:nvPr>
        </p:nvSpPr>
        <p:spPr>
          <a:xfrm>
            <a:off x="6095976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body" idx="9"/>
          </p:nvPr>
        </p:nvSpPr>
        <p:spPr>
          <a:xfrm>
            <a:off x="3063239" y="2764154"/>
            <a:ext cx="3048000" cy="1980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7" name="Google Shape;357;p4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8" name="Google Shape;358;p4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4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 layout 6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44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4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44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44"/>
          <p:cNvSpPr txBox="1">
            <a:spLocks noGrp="1"/>
          </p:cNvSpPr>
          <p:nvPr>
            <p:ph type="body" idx="1"/>
          </p:nvPr>
        </p:nvSpPr>
        <p:spPr>
          <a:xfrm>
            <a:off x="-1" y="2764153"/>
            <a:ext cx="30480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6" name="Google Shape;366;p44"/>
          <p:cNvSpPr txBox="1">
            <a:spLocks noGrp="1"/>
          </p:cNvSpPr>
          <p:nvPr>
            <p:ph type="body" idx="5"/>
          </p:nvPr>
        </p:nvSpPr>
        <p:spPr>
          <a:xfrm>
            <a:off x="3048004" y="2764153"/>
            <a:ext cx="3048000" cy="45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44"/>
          <p:cNvSpPr txBox="1">
            <a:spLocks noGrp="1"/>
          </p:cNvSpPr>
          <p:nvPr>
            <p:ph type="body" idx="6"/>
          </p:nvPr>
        </p:nvSpPr>
        <p:spPr>
          <a:xfrm>
            <a:off x="-1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8" name="Google Shape;368;p44"/>
          <p:cNvSpPr txBox="1">
            <a:spLocks noGrp="1"/>
          </p:cNvSpPr>
          <p:nvPr>
            <p:ph type="body" idx="7"/>
          </p:nvPr>
        </p:nvSpPr>
        <p:spPr>
          <a:xfrm>
            <a:off x="6095993" y="2764153"/>
            <a:ext cx="3048000" cy="45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44"/>
          <p:cNvSpPr txBox="1">
            <a:spLocks noGrp="1"/>
          </p:cNvSpPr>
          <p:nvPr>
            <p:ph type="body" idx="8"/>
          </p:nvPr>
        </p:nvSpPr>
        <p:spPr>
          <a:xfrm>
            <a:off x="6095993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0" name="Google Shape;370;p44"/>
          <p:cNvSpPr txBox="1">
            <a:spLocks noGrp="1"/>
          </p:cNvSpPr>
          <p:nvPr>
            <p:ph type="body" idx="9"/>
          </p:nvPr>
        </p:nvSpPr>
        <p:spPr>
          <a:xfrm>
            <a:off x="3048004" y="3219449"/>
            <a:ext cx="3048000" cy="144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4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2" name="Google Shape;372;p4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4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 layout 7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5"/>
          <p:cNvSpPr txBox="1">
            <a:spLocks noGrp="1"/>
          </p:cNvSpPr>
          <p:nvPr>
            <p:ph type="body" idx="1"/>
          </p:nvPr>
        </p:nvSpPr>
        <p:spPr>
          <a:xfrm>
            <a:off x="5976156" y="1356109"/>
            <a:ext cx="3167700" cy="23229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6" name="Google Shape;376;p4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45"/>
          <p:cNvSpPr txBox="1">
            <a:spLocks noGrp="1"/>
          </p:cNvSpPr>
          <p:nvPr>
            <p:ph type="body" idx="2"/>
          </p:nvPr>
        </p:nvSpPr>
        <p:spPr>
          <a:xfrm>
            <a:off x="1" y="3687365"/>
            <a:ext cx="5976900" cy="94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8" name="Google Shape;378;p45"/>
          <p:cNvSpPr txBox="1">
            <a:spLocks noGrp="1"/>
          </p:cNvSpPr>
          <p:nvPr>
            <p:ph type="body" idx="3"/>
          </p:nvPr>
        </p:nvSpPr>
        <p:spPr>
          <a:xfrm>
            <a:off x="5976902" y="3687366"/>
            <a:ext cx="3167100" cy="94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9" name="Google Shape;379;p45"/>
          <p:cNvSpPr txBox="1">
            <a:spLocks noGrp="1"/>
          </p:cNvSpPr>
          <p:nvPr>
            <p:ph type="body" idx="4"/>
          </p:nvPr>
        </p:nvSpPr>
        <p:spPr>
          <a:xfrm>
            <a:off x="0" y="1338146"/>
            <a:ext cx="5962800" cy="23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0" name="Google Shape;380;p45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44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1" name="Google Shape;381;p4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2" name="Google Shape;382;p4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4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8">
  <p:cSld name="custom layout 8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86" name="Google Shape;386;p46"/>
          <p:cNvCxnSpPr/>
          <p:nvPr/>
        </p:nvCxnSpPr>
        <p:spPr>
          <a:xfrm>
            <a:off x="-1" y="868209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C4C7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7" name="Google Shape;387;p46"/>
          <p:cNvSpPr txBox="1">
            <a:spLocks noGrp="1"/>
          </p:cNvSpPr>
          <p:nvPr>
            <p:ph type="body" idx="1"/>
          </p:nvPr>
        </p:nvSpPr>
        <p:spPr>
          <a:xfrm>
            <a:off x="0" y="4156473"/>
            <a:ext cx="9144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8" name="Google Shape;388;p46"/>
          <p:cNvSpPr>
            <a:spLocks noGrp="1"/>
          </p:cNvSpPr>
          <p:nvPr>
            <p:ph type="pic" idx="2"/>
          </p:nvPr>
        </p:nvSpPr>
        <p:spPr>
          <a:xfrm>
            <a:off x="-1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46"/>
          <p:cNvSpPr>
            <a:spLocks noGrp="1"/>
          </p:cNvSpPr>
          <p:nvPr>
            <p:ph type="pic" idx="3"/>
          </p:nvPr>
        </p:nvSpPr>
        <p:spPr>
          <a:xfrm>
            <a:off x="6096004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46"/>
          <p:cNvSpPr txBox="1">
            <a:spLocks noGrp="1"/>
          </p:cNvSpPr>
          <p:nvPr>
            <p:ph type="body" idx="4"/>
          </p:nvPr>
        </p:nvSpPr>
        <p:spPr>
          <a:xfrm>
            <a:off x="3048004" y="876301"/>
            <a:ext cx="3048000" cy="3286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1" name="Google Shape;391;p4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2" name="Google Shape;392;p4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4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9">
  <p:cSld name="custom layout 9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47"/>
          <p:cNvSpPr>
            <a:spLocks noGrp="1"/>
          </p:cNvSpPr>
          <p:nvPr>
            <p:ph type="pic" idx="2"/>
          </p:nvPr>
        </p:nvSpPr>
        <p:spPr>
          <a:xfrm>
            <a:off x="6096004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47"/>
          <p:cNvSpPr>
            <a:spLocks noGrp="1"/>
          </p:cNvSpPr>
          <p:nvPr>
            <p:ph type="pic" idx="3"/>
          </p:nvPr>
        </p:nvSpPr>
        <p:spPr>
          <a:xfrm>
            <a:off x="6096004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7"/>
          <p:cNvSpPr>
            <a:spLocks noGrp="1"/>
          </p:cNvSpPr>
          <p:nvPr>
            <p:ph type="pic" idx="4"/>
          </p:nvPr>
        </p:nvSpPr>
        <p:spPr>
          <a:xfrm>
            <a:off x="3048008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7"/>
          <p:cNvSpPr>
            <a:spLocks noGrp="1"/>
          </p:cNvSpPr>
          <p:nvPr>
            <p:ph type="pic" idx="5"/>
          </p:nvPr>
        </p:nvSpPr>
        <p:spPr>
          <a:xfrm>
            <a:off x="3048008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47"/>
          <p:cNvSpPr txBox="1">
            <a:spLocks noGrp="1"/>
          </p:cNvSpPr>
          <p:nvPr>
            <p:ph type="body" idx="1"/>
          </p:nvPr>
        </p:nvSpPr>
        <p:spPr>
          <a:xfrm>
            <a:off x="-12" y="2751534"/>
            <a:ext cx="15240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1" name="Google Shape;401;p47"/>
          <p:cNvSpPr txBox="1">
            <a:spLocks noGrp="1"/>
          </p:cNvSpPr>
          <p:nvPr>
            <p:ph type="body" idx="6"/>
          </p:nvPr>
        </p:nvSpPr>
        <p:spPr>
          <a:xfrm>
            <a:off x="-1" y="879475"/>
            <a:ext cx="3048000" cy="468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2" name="Google Shape;402;p47"/>
          <p:cNvSpPr txBox="1">
            <a:spLocks noGrp="1"/>
          </p:cNvSpPr>
          <p:nvPr>
            <p:ph type="body" idx="7"/>
          </p:nvPr>
        </p:nvSpPr>
        <p:spPr>
          <a:xfrm>
            <a:off x="-1" y="1348781"/>
            <a:ext cx="3048000" cy="700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3" name="Google Shape;403;p47"/>
          <p:cNvSpPr txBox="1">
            <a:spLocks noGrp="1"/>
          </p:cNvSpPr>
          <p:nvPr>
            <p:ph type="body" idx="8"/>
          </p:nvPr>
        </p:nvSpPr>
        <p:spPr>
          <a:xfrm>
            <a:off x="-1" y="2049656"/>
            <a:ext cx="3048000" cy="6975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4" name="Google Shape;404;p47"/>
          <p:cNvSpPr txBox="1">
            <a:spLocks noGrp="1"/>
          </p:cNvSpPr>
          <p:nvPr>
            <p:ph type="body" idx="9"/>
          </p:nvPr>
        </p:nvSpPr>
        <p:spPr>
          <a:xfrm>
            <a:off x="1523999" y="2751534"/>
            <a:ext cx="1524000" cy="18720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5" name="Google Shape;405;p4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6" name="Google Shape;406;p4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4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0">
  <p:cSld name="custom layout 10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8"/>
          <p:cNvSpPr txBox="1">
            <a:spLocks noGrp="1"/>
          </p:cNvSpPr>
          <p:nvPr>
            <p:ph type="body" idx="1"/>
          </p:nvPr>
        </p:nvSpPr>
        <p:spPr>
          <a:xfrm>
            <a:off x="6857775" y="870347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body" idx="2"/>
          </p:nvPr>
        </p:nvSpPr>
        <p:spPr>
          <a:xfrm>
            <a:off x="6857775" y="2119209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body" idx="3"/>
          </p:nvPr>
        </p:nvSpPr>
        <p:spPr>
          <a:xfrm>
            <a:off x="6857775" y="3368072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4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48"/>
          <p:cNvSpPr>
            <a:spLocks noGrp="1"/>
          </p:cNvSpPr>
          <p:nvPr>
            <p:ph type="pic" idx="4"/>
          </p:nvPr>
        </p:nvSpPr>
        <p:spPr>
          <a:xfrm>
            <a:off x="0" y="879476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8"/>
          <p:cNvSpPr>
            <a:spLocks noGrp="1"/>
          </p:cNvSpPr>
          <p:nvPr>
            <p:ph type="pic" idx="5"/>
          </p:nvPr>
        </p:nvSpPr>
        <p:spPr>
          <a:xfrm>
            <a:off x="4571960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48"/>
          <p:cNvSpPr txBox="1">
            <a:spLocks noGrp="1"/>
          </p:cNvSpPr>
          <p:nvPr>
            <p:ph type="body" idx="6"/>
          </p:nvPr>
        </p:nvSpPr>
        <p:spPr>
          <a:xfrm>
            <a:off x="-1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6" name="Google Shape;416;p48"/>
          <p:cNvSpPr txBox="1">
            <a:spLocks noGrp="1"/>
          </p:cNvSpPr>
          <p:nvPr>
            <p:ph type="body" idx="7"/>
          </p:nvPr>
        </p:nvSpPr>
        <p:spPr>
          <a:xfrm>
            <a:off x="4571888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7" name="Google Shape;417;p48"/>
          <p:cNvSpPr>
            <a:spLocks noGrp="1"/>
          </p:cNvSpPr>
          <p:nvPr>
            <p:ph type="pic" idx="8"/>
          </p:nvPr>
        </p:nvSpPr>
        <p:spPr>
          <a:xfrm>
            <a:off x="2285811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8"/>
          <p:cNvSpPr txBox="1">
            <a:spLocks noGrp="1"/>
          </p:cNvSpPr>
          <p:nvPr>
            <p:ph type="body" idx="9"/>
          </p:nvPr>
        </p:nvSpPr>
        <p:spPr>
          <a:xfrm>
            <a:off x="2285811" y="4156472"/>
            <a:ext cx="2286000" cy="4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419" name="Google Shape;419;p48"/>
          <p:cNvCxnSpPr/>
          <p:nvPr/>
        </p:nvCxnSpPr>
        <p:spPr>
          <a:xfrm>
            <a:off x="6857775" y="2119209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0" name="Google Shape;420;p48"/>
          <p:cNvCxnSpPr/>
          <p:nvPr/>
        </p:nvCxnSpPr>
        <p:spPr>
          <a:xfrm>
            <a:off x="6857775" y="3371937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1" name="Google Shape;421;p4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2" name="Google Shape;422;p4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4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1">
  <p:cSld name="custom layout 1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9"/>
          <p:cNvSpPr txBox="1">
            <a:spLocks noGrp="1"/>
          </p:cNvSpPr>
          <p:nvPr>
            <p:ph type="body" idx="1"/>
          </p:nvPr>
        </p:nvSpPr>
        <p:spPr>
          <a:xfrm>
            <a:off x="6443663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6" name="Google Shape;426;p49"/>
          <p:cNvSpPr txBox="1">
            <a:spLocks noGrp="1"/>
          </p:cNvSpPr>
          <p:nvPr>
            <p:ph type="body" idx="2"/>
          </p:nvPr>
        </p:nvSpPr>
        <p:spPr>
          <a:xfrm>
            <a:off x="6443663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7" name="Google Shape;427;p49"/>
          <p:cNvSpPr txBox="1">
            <a:spLocks noGrp="1"/>
          </p:cNvSpPr>
          <p:nvPr>
            <p:ph type="body" idx="3"/>
          </p:nvPr>
        </p:nvSpPr>
        <p:spPr>
          <a:xfrm>
            <a:off x="6443663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8" name="Google Shape;428;p49"/>
          <p:cNvSpPr txBox="1">
            <a:spLocks noGrp="1"/>
          </p:cNvSpPr>
          <p:nvPr>
            <p:ph type="body" idx="4"/>
          </p:nvPr>
        </p:nvSpPr>
        <p:spPr>
          <a:xfrm>
            <a:off x="0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9" name="Google Shape;429;p49"/>
          <p:cNvSpPr txBox="1">
            <a:spLocks noGrp="1"/>
          </p:cNvSpPr>
          <p:nvPr>
            <p:ph type="body" idx="5"/>
          </p:nvPr>
        </p:nvSpPr>
        <p:spPr>
          <a:xfrm>
            <a:off x="0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p49"/>
          <p:cNvSpPr txBox="1">
            <a:spLocks noGrp="1"/>
          </p:cNvSpPr>
          <p:nvPr>
            <p:ph type="body" idx="6"/>
          </p:nvPr>
        </p:nvSpPr>
        <p:spPr>
          <a:xfrm>
            <a:off x="0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1" name="Google Shape;431;p4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49"/>
          <p:cNvSpPr>
            <a:spLocks noGrp="1"/>
          </p:cNvSpPr>
          <p:nvPr>
            <p:ph type="pic" idx="7"/>
          </p:nvPr>
        </p:nvSpPr>
        <p:spPr>
          <a:xfrm>
            <a:off x="2700338" y="879475"/>
            <a:ext cx="3758100" cy="3744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33" name="Google Shape;433;p49"/>
          <p:cNvCxnSpPr/>
          <p:nvPr/>
        </p:nvCxnSpPr>
        <p:spPr>
          <a:xfrm>
            <a:off x="6443663" y="2119209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4" name="Google Shape;434;p49"/>
          <p:cNvCxnSpPr/>
          <p:nvPr/>
        </p:nvCxnSpPr>
        <p:spPr>
          <a:xfrm>
            <a:off x="6443663" y="3371937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5" name="Google Shape;435;p49"/>
          <p:cNvCxnSpPr/>
          <p:nvPr/>
        </p:nvCxnSpPr>
        <p:spPr>
          <a:xfrm>
            <a:off x="-2857" y="2119209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6" name="Google Shape;436;p49"/>
          <p:cNvCxnSpPr/>
          <p:nvPr/>
        </p:nvCxnSpPr>
        <p:spPr>
          <a:xfrm>
            <a:off x="-2857" y="3371937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7" name="Google Shape;437;p4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8" name="Google Shape;438;p4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4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2">
  <p:cSld name="custom layout 12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"/>
          <p:cNvSpPr txBox="1">
            <a:spLocks noGrp="1"/>
          </p:cNvSpPr>
          <p:nvPr>
            <p:ph type="body" idx="1"/>
          </p:nvPr>
        </p:nvSpPr>
        <p:spPr>
          <a:xfrm>
            <a:off x="3047996" y="13477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2" name="Google Shape;442;p50"/>
          <p:cNvSpPr txBox="1">
            <a:spLocks noGrp="1"/>
          </p:cNvSpPr>
          <p:nvPr>
            <p:ph type="body" idx="2"/>
          </p:nvPr>
        </p:nvSpPr>
        <p:spPr>
          <a:xfrm>
            <a:off x="3047996" y="38052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3" name="Google Shape;443;p50"/>
          <p:cNvSpPr txBox="1">
            <a:spLocks noGrp="1"/>
          </p:cNvSpPr>
          <p:nvPr>
            <p:ph type="body" idx="3"/>
          </p:nvPr>
        </p:nvSpPr>
        <p:spPr>
          <a:xfrm>
            <a:off x="3047996" y="29860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4" name="Google Shape;444;p50"/>
          <p:cNvSpPr txBox="1">
            <a:spLocks noGrp="1"/>
          </p:cNvSpPr>
          <p:nvPr>
            <p:ph type="body" idx="4"/>
          </p:nvPr>
        </p:nvSpPr>
        <p:spPr>
          <a:xfrm>
            <a:off x="3047996" y="21669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5" name="Google Shape;445;p5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50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7" name="Google Shape;447;p50"/>
          <p:cNvSpPr>
            <a:spLocks noGrp="1"/>
          </p:cNvSpPr>
          <p:nvPr>
            <p:ph type="pic" idx="6"/>
          </p:nvPr>
        </p:nvSpPr>
        <p:spPr>
          <a:xfrm>
            <a:off x="-1" y="1347788"/>
            <a:ext cx="3048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0"/>
          <p:cNvSpPr>
            <a:spLocks noGrp="1"/>
          </p:cNvSpPr>
          <p:nvPr>
            <p:ph type="pic" idx="7"/>
          </p:nvPr>
        </p:nvSpPr>
        <p:spPr>
          <a:xfrm>
            <a:off x="6096004" y="1347787"/>
            <a:ext cx="3048000" cy="3276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49" name="Google Shape;449;p50"/>
          <p:cNvCxnSpPr/>
          <p:nvPr/>
        </p:nvCxnSpPr>
        <p:spPr>
          <a:xfrm>
            <a:off x="3047996" y="2137497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0" name="Google Shape;450;p50"/>
          <p:cNvCxnSpPr/>
          <p:nvPr/>
        </p:nvCxnSpPr>
        <p:spPr>
          <a:xfrm>
            <a:off x="3047996" y="298788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3047996" y="381084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2" name="Google Shape;452;p5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3" name="Google Shape;453;p5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4" name="Google Shape;454;p5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3">
  <p:cSld name="custom layout 13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51"/>
          <p:cNvSpPr>
            <a:spLocks noGrp="1"/>
          </p:cNvSpPr>
          <p:nvPr>
            <p:ph type="pic" idx="2"/>
          </p:nvPr>
        </p:nvSpPr>
        <p:spPr>
          <a:xfrm>
            <a:off x="5039917" y="879475"/>
            <a:ext cx="41040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1"/>
          <p:cNvSpPr txBox="1">
            <a:spLocks noGrp="1"/>
          </p:cNvSpPr>
          <p:nvPr>
            <p:ph type="body" idx="1"/>
          </p:nvPr>
        </p:nvSpPr>
        <p:spPr>
          <a:xfrm>
            <a:off x="1" y="879475"/>
            <a:ext cx="27003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9" name="Google Shape;459;p51"/>
          <p:cNvSpPr txBox="1">
            <a:spLocks noGrp="1"/>
          </p:cNvSpPr>
          <p:nvPr>
            <p:ph type="body" idx="3"/>
          </p:nvPr>
        </p:nvSpPr>
        <p:spPr>
          <a:xfrm>
            <a:off x="0" y="2752344"/>
            <a:ext cx="2700300" cy="187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0" name="Google Shape;460;p51"/>
          <p:cNvSpPr>
            <a:spLocks noGrp="1"/>
          </p:cNvSpPr>
          <p:nvPr>
            <p:ph type="pic" idx="4"/>
          </p:nvPr>
        </p:nvSpPr>
        <p:spPr>
          <a:xfrm>
            <a:off x="2700338" y="895692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1"/>
          <p:cNvSpPr>
            <a:spLocks noGrp="1"/>
          </p:cNvSpPr>
          <p:nvPr>
            <p:ph type="pic" idx="5"/>
          </p:nvPr>
        </p:nvSpPr>
        <p:spPr>
          <a:xfrm>
            <a:off x="2700338" y="2768544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3" name="Google Shape;463;p5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5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5">
  <p:cSld name="custom layout 15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52"/>
          <p:cNvSpPr txBox="1">
            <a:spLocks noGrp="1"/>
          </p:cNvSpPr>
          <p:nvPr>
            <p:ph type="body" idx="1"/>
          </p:nvPr>
        </p:nvSpPr>
        <p:spPr>
          <a:xfrm>
            <a:off x="1350169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8" name="Google Shape;468;p52"/>
          <p:cNvSpPr>
            <a:spLocks noGrp="1"/>
          </p:cNvSpPr>
          <p:nvPr>
            <p:ph type="pic" idx="2"/>
          </p:nvPr>
        </p:nvSpPr>
        <p:spPr>
          <a:xfrm>
            <a:off x="2700337" y="895696"/>
            <a:ext cx="3743400" cy="37287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 txBox="1">
            <a:spLocks noGrp="1"/>
          </p:cNvSpPr>
          <p:nvPr>
            <p:ph type="body" idx="3"/>
          </p:nvPr>
        </p:nvSpPr>
        <p:spPr>
          <a:xfrm>
            <a:off x="1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0" name="Google Shape;470;p52"/>
          <p:cNvSpPr txBox="1">
            <a:spLocks noGrp="1"/>
          </p:cNvSpPr>
          <p:nvPr>
            <p:ph type="body" idx="4"/>
          </p:nvPr>
        </p:nvSpPr>
        <p:spPr>
          <a:xfrm>
            <a:off x="1350169" y="2127784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1" name="Google Shape;471;p52"/>
          <p:cNvSpPr txBox="1">
            <a:spLocks noGrp="1"/>
          </p:cNvSpPr>
          <p:nvPr>
            <p:ph type="body" idx="5"/>
          </p:nvPr>
        </p:nvSpPr>
        <p:spPr>
          <a:xfrm>
            <a:off x="1" y="2127785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2" name="Google Shape;472;p52"/>
          <p:cNvSpPr txBox="1">
            <a:spLocks noGrp="1"/>
          </p:cNvSpPr>
          <p:nvPr>
            <p:ph type="body" idx="6"/>
          </p:nvPr>
        </p:nvSpPr>
        <p:spPr>
          <a:xfrm>
            <a:off x="1350169" y="3376088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3" name="Google Shape;473;p52"/>
          <p:cNvSpPr txBox="1">
            <a:spLocks noGrp="1"/>
          </p:cNvSpPr>
          <p:nvPr>
            <p:ph type="body" idx="7"/>
          </p:nvPr>
        </p:nvSpPr>
        <p:spPr>
          <a:xfrm>
            <a:off x="1" y="3376089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4" name="Google Shape;474;p52"/>
          <p:cNvSpPr txBox="1">
            <a:spLocks noGrp="1"/>
          </p:cNvSpPr>
          <p:nvPr>
            <p:ph type="body" idx="8"/>
          </p:nvPr>
        </p:nvSpPr>
        <p:spPr>
          <a:xfrm>
            <a:off x="779383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1200"/>
              <a:buChar char="•"/>
              <a:defRPr sz="1200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2000"/>
              <a:buNone/>
              <a:defRPr sz="2000"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75" name="Google Shape;475;p52"/>
          <p:cNvSpPr txBox="1">
            <a:spLocks noGrp="1"/>
          </p:cNvSpPr>
          <p:nvPr>
            <p:ph type="body" idx="9"/>
          </p:nvPr>
        </p:nvSpPr>
        <p:spPr>
          <a:xfrm>
            <a:off x="779383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6" name="Google Shape;476;p52"/>
          <p:cNvSpPr txBox="1">
            <a:spLocks noGrp="1"/>
          </p:cNvSpPr>
          <p:nvPr>
            <p:ph type="body" idx="13"/>
          </p:nvPr>
        </p:nvSpPr>
        <p:spPr>
          <a:xfrm>
            <a:off x="644366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7" name="Google Shape;477;p52"/>
          <p:cNvSpPr txBox="1">
            <a:spLocks noGrp="1"/>
          </p:cNvSpPr>
          <p:nvPr>
            <p:ph type="body" idx="14"/>
          </p:nvPr>
        </p:nvSpPr>
        <p:spPr>
          <a:xfrm>
            <a:off x="644366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8" name="Google Shape;478;p5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9" name="Google Shape;479;p5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5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6">
  <p:cSld name="custom layout 16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53"/>
          <p:cNvSpPr>
            <a:spLocks noGrp="1"/>
          </p:cNvSpPr>
          <p:nvPr>
            <p:ph type="pic" idx="2"/>
          </p:nvPr>
        </p:nvSpPr>
        <p:spPr>
          <a:xfrm>
            <a:off x="5962650" y="898538"/>
            <a:ext cx="31815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53"/>
          <p:cNvSpPr txBox="1">
            <a:spLocks noGrp="1"/>
          </p:cNvSpPr>
          <p:nvPr>
            <p:ph type="body" idx="1"/>
          </p:nvPr>
        </p:nvSpPr>
        <p:spPr>
          <a:xfrm>
            <a:off x="0" y="898538"/>
            <a:ext cx="40851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Medium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5" name="Google Shape;485;p53"/>
          <p:cNvSpPr txBox="1">
            <a:spLocks noGrp="1"/>
          </p:cNvSpPr>
          <p:nvPr>
            <p:ph type="body" idx="3"/>
          </p:nvPr>
        </p:nvSpPr>
        <p:spPr>
          <a:xfrm>
            <a:off x="0" y="1364457"/>
            <a:ext cx="4081800" cy="32790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6" name="Google Shape;486;p53"/>
          <p:cNvSpPr txBox="1">
            <a:spLocks noGrp="1"/>
          </p:cNvSpPr>
          <p:nvPr>
            <p:ph type="body" idx="4"/>
          </p:nvPr>
        </p:nvSpPr>
        <p:spPr>
          <a:xfrm>
            <a:off x="4104252" y="898538"/>
            <a:ext cx="1856100" cy="18675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7" name="Google Shape;487;p53"/>
          <p:cNvSpPr txBox="1">
            <a:spLocks noGrp="1"/>
          </p:cNvSpPr>
          <p:nvPr>
            <p:ph type="body" idx="5"/>
          </p:nvPr>
        </p:nvSpPr>
        <p:spPr>
          <a:xfrm>
            <a:off x="4104252" y="2788920"/>
            <a:ext cx="1856100" cy="18546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8" name="Google Shape;488;p5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9" name="Google Shape;489;p5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5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3" name="Google Shape;493;p5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4" name="Google Shape;49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- white 1">
  <p:cSld name="Default - white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55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rgbClr val="0099FF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98" name="Google Shape;498;p5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7883544" y="4733778"/>
            <a:ext cx="928177" cy="2858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13">
          <p15:clr>
            <a:srgbClr val="F26B43"/>
          </p15:clr>
        </p15:guide>
        <p15:guide id="4" pos="5537">
          <p15:clr>
            <a:srgbClr val="F26B43"/>
          </p15:clr>
        </p15:guide>
        <p15:guide id="5" orient="horz" pos="170">
          <p15:clr>
            <a:srgbClr val="F26B43"/>
          </p15:clr>
        </p15:guide>
        <p15:guide id="6" orient="horz" pos="2925">
          <p15:clr>
            <a:srgbClr val="F26B43"/>
          </p15:clr>
        </p15:guide>
        <p15:guide id="7" pos="1988">
          <p15:clr>
            <a:srgbClr val="F26B43"/>
          </p15:clr>
        </p15:guide>
        <p15:guide id="8" pos="37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jYyM2VkNDU5LWU5NDgtNGViYy1iMjMwLWFiOWQ1MDM4M2QyMyIsInByZXNlbnRhdGlvbklkIjoiMWVXUjBiTE90XzJfLVl6d2J3MWV0VVRJeEdQWmdEdzRPZzVDeTRwclBCajgiLCJzbGlkZUlkIjoiU0xJREVTX0FQSTE3OTQzMjkzMjZfMCIsInRpbWVsaW5lIjpbeyJwb2xsUXVlc3Rpb25VdWlkIjoiNTg4NmQxNDUtMzU1Ny00Yzk2LWJlZWUtODA2NDEwNzNhNmE0Iiwic2hvd1Jlc3VsdHMiOnRydWV9XSwidHlwZSI6IlNsaWRvUG9sbCJ9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5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24.png"/><Relationship Id="rId4" Type="http://schemas.openxmlformats.org/officeDocument/2006/relationships/hyperlink" Target="https://www.sli.do/features-google-slides?interaction-type=TXVsdGlwbGVDaG9pY2U%3D" TargetMode="External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hyperlink" Target="https://regulation.ensembl.org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regulation.ensembl.org/help/primary_processin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gulation.ensembl.org/help/regulatory_build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hyperlink" Target="https://regulation.ensembl.org/epigenomes/homo_sapiens/pFOsBSZHQYKdKBpIMxzRxQ" TargetMode="External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gulation.ensembl.org/epigenomes/homo_sapiens" TargetMode="Externa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Multi-species Catalogues of Regulatory Elements: Ensembl</a:t>
            </a:r>
            <a:endParaRPr/>
          </a:p>
        </p:txBody>
      </p:sp>
      <p:sp>
        <p:nvSpPr>
          <p:cNvPr id="505" name="Google Shape;505;p5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Session 3</a:t>
            </a:r>
            <a:endParaRPr/>
          </a:p>
        </p:txBody>
      </p:sp>
      <p:sp>
        <p:nvSpPr>
          <p:cNvPr id="506" name="Google Shape;506;p57"/>
          <p:cNvSpPr txBox="1"/>
          <p:nvPr/>
        </p:nvSpPr>
        <p:spPr>
          <a:xfrm>
            <a:off x="640550" y="3581000"/>
            <a:ext cx="53859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007B53"/>
                </a:solidFill>
              </a:rPr>
              <a:t>Louisse Paola Mirabueno - Garth Ilsley</a:t>
            </a:r>
            <a:endParaRPr sz="1800" b="1" i="0" u="none" strike="noStrike" cap="none">
              <a:solidFill>
                <a:srgbClr val="007B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57"/>
          <p:cNvSpPr txBox="1"/>
          <p:nvPr/>
        </p:nvSpPr>
        <p:spPr>
          <a:xfrm>
            <a:off x="640557" y="45496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000000"/>
                </a:solidFill>
              </a:rPr>
              <a:t>03/09/2026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57"/>
          <p:cNvSpPr txBox="1"/>
          <p:nvPr/>
        </p:nvSpPr>
        <p:spPr>
          <a:xfrm>
            <a:off x="3677748" y="3896000"/>
            <a:ext cx="22596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Project Lead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Ensembl Regulation,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EMBL-EBI</a:t>
            </a:r>
            <a:endParaRPr sz="1200" b="1"/>
          </a:p>
        </p:txBody>
      </p:sp>
      <p:sp>
        <p:nvSpPr>
          <p:cNvPr id="509" name="Google Shape;509;p57"/>
          <p:cNvSpPr txBox="1"/>
          <p:nvPr/>
        </p:nvSpPr>
        <p:spPr>
          <a:xfrm>
            <a:off x="640548" y="3896000"/>
            <a:ext cx="22596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Ensembl Outreach Officer, 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Ensembl Outreach,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EMBL-EBI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endParaRPr sz="1200" b="1"/>
          </a:p>
        </p:txBody>
      </p:sp>
      <p:sp>
        <p:nvSpPr>
          <p:cNvPr id="510" name="Google Shape;510;p57"/>
          <p:cNvSpPr txBox="1"/>
          <p:nvPr/>
        </p:nvSpPr>
        <p:spPr>
          <a:xfrm>
            <a:off x="640550" y="2755532"/>
            <a:ext cx="53220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FFFFFF"/>
                </a:solidFill>
              </a:rPr>
              <a:t>T6: Making the most of cis-regulatory annotations for genome-scale analysis</a:t>
            </a:r>
            <a:endParaRPr sz="1000" b="1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8"/>
          <p:cNvSpPr/>
          <p:nvPr/>
        </p:nvSpPr>
        <p:spPr>
          <a:xfrm>
            <a:off x="3728375" y="3807868"/>
            <a:ext cx="3822600" cy="6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5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Session map</a:t>
            </a:r>
            <a:endParaRPr/>
          </a:p>
        </p:txBody>
      </p:sp>
      <p:grpSp>
        <p:nvGrpSpPr>
          <p:cNvPr id="517" name="Google Shape;517;p58"/>
          <p:cNvGrpSpPr/>
          <p:nvPr/>
        </p:nvGrpSpPr>
        <p:grpSpPr>
          <a:xfrm>
            <a:off x="1593000" y="2489459"/>
            <a:ext cx="5957975" cy="643500"/>
            <a:chOff x="1593000" y="2322568"/>
            <a:chExt cx="5957975" cy="643500"/>
          </a:xfrm>
        </p:grpSpPr>
        <p:sp>
          <p:nvSpPr>
            <p:cNvPr id="518" name="Google Shape;518;p5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5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5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5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The Ensembl Regulation subsite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2" name="Google Shape;522;p5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5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Epigenomes data and metadata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The regulatory features tab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Exploring genome annotation and regulatory activity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4" name="Google Shape;524;p58"/>
          <p:cNvGrpSpPr/>
          <p:nvPr/>
        </p:nvGrpSpPr>
        <p:grpSpPr>
          <a:xfrm>
            <a:off x="1593000" y="1834600"/>
            <a:ext cx="5957975" cy="643500"/>
            <a:chOff x="1593000" y="2322568"/>
            <a:chExt cx="5957975" cy="643500"/>
          </a:xfrm>
        </p:grpSpPr>
        <p:sp>
          <p:nvSpPr>
            <p:cNvPr id="525" name="Google Shape;525;p5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5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5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5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Ensembl Regulation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9" name="Google Shape;529;p5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58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31" name="Google Shape;531;p5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Regulatory pipelines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Available datasets and Regulatory annotation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Defining and accessing reference epigenome data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2" name="Google Shape;532;p58"/>
          <p:cNvGrpSpPr/>
          <p:nvPr/>
        </p:nvGrpSpPr>
        <p:grpSpPr>
          <a:xfrm>
            <a:off x="1593000" y="1179725"/>
            <a:ext cx="5957975" cy="643500"/>
            <a:chOff x="1593000" y="2322568"/>
            <a:chExt cx="5957975" cy="643500"/>
          </a:xfrm>
        </p:grpSpPr>
        <p:sp>
          <p:nvSpPr>
            <p:cNvPr id="533" name="Google Shape;533;p5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5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5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5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The Ensembl Project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7" name="Google Shape;537;p5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58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39" name="Google Shape;539;p5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General description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0" name="Google Shape;540;p58"/>
          <p:cNvGrpSpPr/>
          <p:nvPr/>
        </p:nvGrpSpPr>
        <p:grpSpPr>
          <a:xfrm>
            <a:off x="1593000" y="3806463"/>
            <a:ext cx="5766050" cy="643482"/>
            <a:chOff x="1593000" y="2322568"/>
            <a:chExt cx="5766050" cy="643482"/>
          </a:xfrm>
        </p:grpSpPr>
        <p:sp>
          <p:nvSpPr>
            <p:cNvPr id="541" name="Google Shape;541;p5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5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5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Hands-on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4" name="Google Shape;544;p5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58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46" name="Google Shape;546;p5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7" name="Google Shape;547;p58"/>
          <p:cNvGrpSpPr/>
          <p:nvPr/>
        </p:nvGrpSpPr>
        <p:grpSpPr>
          <a:xfrm>
            <a:off x="1593000" y="3146263"/>
            <a:ext cx="5957975" cy="643500"/>
            <a:chOff x="1593000" y="2322568"/>
            <a:chExt cx="5957975" cy="643500"/>
          </a:xfrm>
        </p:grpSpPr>
        <p:sp>
          <p:nvSpPr>
            <p:cNvPr id="548" name="Google Shape;548;p5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5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5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5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Comparison of CREs frameworks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2" name="Google Shape;552;p5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8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54" name="Google Shape;554;p5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Most-popular genome-wide resources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Strengths and weaknesses of each approach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9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ctr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GB"/>
              <a:t>The mission of Ensembl is to provide </a:t>
            </a:r>
            <a:r>
              <a:rPr lang="en-GB">
                <a:solidFill>
                  <a:srgbClr val="0099FF"/>
                </a:solidFill>
              </a:rPr>
              <a:t>comprehensive and accurate annotation</a:t>
            </a:r>
            <a:r>
              <a:rPr lang="en-GB"/>
              <a:t> of genomes, </a:t>
            </a:r>
            <a:r>
              <a:rPr lang="en-GB">
                <a:solidFill>
                  <a:srgbClr val="0099FF"/>
                </a:solidFill>
              </a:rPr>
              <a:t>integrating</a:t>
            </a:r>
            <a:r>
              <a:rPr lang="en-GB"/>
              <a:t> this information with other biological data and making it </a:t>
            </a:r>
            <a:r>
              <a:rPr lang="en-GB">
                <a:solidFill>
                  <a:srgbClr val="0099FF"/>
                </a:solidFill>
              </a:rPr>
              <a:t>publicly accessible</a:t>
            </a:r>
            <a:r>
              <a:rPr lang="en-GB"/>
              <a:t> via the web.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ctr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ctr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561" name="Google Shape;561;p5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Ensembl Project</a:t>
            </a:r>
            <a:endParaRPr/>
          </a:p>
        </p:txBody>
      </p:sp>
      <p:pic>
        <p:nvPicPr>
          <p:cNvPr id="562" name="Google Shape;56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225" y="2732550"/>
            <a:ext cx="5397574" cy="16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0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60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9" name="Google Shape;569;p60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60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Have you used Ensembl before?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1" name="Google Shape;571;p60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60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73" name="Google Shape;573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60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1"/>
          <p:cNvSpPr txBox="1"/>
          <p:nvPr/>
        </p:nvSpPr>
        <p:spPr>
          <a:xfrm>
            <a:off x="-21850" y="816650"/>
            <a:ext cx="9172200" cy="39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CGGCCTTTGGGCTCCGCCTTCAGCTCAAGACTTAACTTCCCTCCCAGCTGTCCCAGATGACGCCATCTGAAATTTCTTGGAAACACGATCACTTTAACGGAATATTGCTGTTTTGGGGAAGTGTTTTACAGCTGCTGGGCACGCTGTATTTGCCTTACTTAAGCCCCTGGTAATTGCTGTATTCCGA</a:t>
            </a:r>
            <a:r>
              <a:rPr lang="en-GB" sz="1300" b="1" i="0" u="none" strike="noStrike" cap="none" dirty="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AGACATGCTGATGGGAATTA</a:t>
            </a:r>
            <a:r>
              <a:rPr lang="en-GB" sz="13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CAGGCGGCGTTGGTCTCTAACTGGAGCCCTCTGTCCCCACTAGCCACGCGTCACTGGTTAGCGTGATTGAAACTAAATCGTATGAAAATCCTCTTCTCTAGTCGCACTAGCCACGTTTCGAGTGCTTAATGTGGCTAGTGGCACCGGTTTGGACAGCACAGCTGTAAAATGTTCCCATCCTCACAGTAAGCTGTTACCGTTCCAGGAGATGGGACTGAATTAGAATTCAAACAAATTTTCCAGCGCTTCTGAGTTTTACCTCAGTCACATAATAAGGAATGCATCCCTGTGTAAGTGCATTTTGGTCTTCTGTTTTGCAGACTTATTTACCAAGCATTGGAGGAATATCGTAGGTAAAA</a:t>
            </a:r>
            <a:r>
              <a:rPr lang="en-GB" sz="1300" b="1" i="0" u="none" strike="noStrike" cap="none" dirty="0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ATGCCTATTGGATCCAAAGAGAGGCCAACATTTTTTGAAATTTTTAAGACACGCTGCAACAAAGCAGGTATTGACAAATTTTATATAACTTTATAAATTACACCGAGAAAGTGTTTTCTAAAAAATGCTTGCTAAAAACCCAGTACGTCACAGTGTTGCTTAGAACCATAAACTGTTCCTTATGTGTGTATAAATCCAGTTAACAACATAATCATCGTTTGCAGGTTAACCACATGATAAATATAGAACGTCTAGTGGATAAAGAGGAAACTGGCCCCTTGACTAGCAGTAGGAACAATTACTAACAAATCAGAAGCATTAATGTTACTTTATGGCAGAAGTTGTCCAACTTTTTGGTTTCAGTACTCCTTATACTCTTAAAAATGATCTAGGACCCCCGGAGTGCTTTTGTTTATGTAGCTTACCATATTAGAAATTTAAAACTAAGAATTTAAGGCTGGGCGTGGTGGCTCACGCCTGTAATCCCAGCACTTTGGGAGGCCGAGGTGGGCGGATCACTTGAGGCCAGAAGTTTGAGACCAGCCTGGCCAACATGGTGAAACCCTATCTCTACTAAAAAT</a:t>
            </a:r>
            <a:r>
              <a:rPr lang="en-GB" sz="13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AAAAAATGTGCTGCGTGTGGTGGTGCGTGCCTGTAATCCCAGCTACACGGGAGGTGGAGGCAGGAGAATCGCTTGAACCCTGGAGGCAGAGGTTGCAGTGAGCCAAGATCATGCCACTGCACTCTAGCCTGGGCCACATAGCATGACTCTGTCTCAAAACAAACAAACAAACAAAAAACTAAGAATTTAAAGTTAATTTACTTAAAAATAATGAAAGCTAACCCATTGCATATTATCACAACATTCTTAGGAAAAATAACTTTTTGAAAACAAGTGAGTGGAATAGTTTTTACATTTTTGCAGTTCTCTTTAATGTCTGGCTAAATAGAGATAGCTGGATTCACTTATCTGTGTCTAATCTGTTATTTTGGTAGAAGTATGTGAAAAAAAATTAACCTCACGTTGAAAAAAGGAATATTTTAATAGTTTTCAGTTACTTTTTGGTATTTTTCCTTGTACTTTGCATAGATTTTTCAAAGATCTAATAGATATACCATAGGTCTTTCC</a:t>
            </a:r>
            <a:r>
              <a:rPr lang="en-GB" sz="1300" b="1" i="0" u="none" strike="noStrike" cap="none" dirty="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GB" sz="13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ATGTCGCAACATCATGCAGTGATTATTTGGAAGATAGTGGTGTTCTGAATTA</a:t>
            </a:r>
            <a:endParaRPr sz="13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1" name="Google Shape;581;p6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Using genome browsers to visualise annotation</a:t>
            </a:r>
            <a:endParaRPr/>
          </a:p>
        </p:txBody>
      </p:sp>
      <p:sp>
        <p:nvSpPr>
          <p:cNvPr id="582" name="Google Shape;582;p61"/>
          <p:cNvSpPr txBox="1"/>
          <p:nvPr/>
        </p:nvSpPr>
        <p:spPr>
          <a:xfrm>
            <a:off x="453154" y="877256"/>
            <a:ext cx="2211300" cy="369300"/>
          </a:xfrm>
          <a:prstGeom prst="rect">
            <a:avLst/>
          </a:prstGeom>
          <a:solidFill>
            <a:srgbClr val="FFFFFF">
              <a:alpha val="89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Regulatory element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61"/>
          <p:cNvSpPr/>
          <p:nvPr/>
        </p:nvSpPr>
        <p:spPr>
          <a:xfrm>
            <a:off x="545854" y="1221485"/>
            <a:ext cx="2025900" cy="279900"/>
          </a:xfrm>
          <a:prstGeom prst="rect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61"/>
          <p:cNvSpPr txBox="1"/>
          <p:nvPr/>
        </p:nvSpPr>
        <p:spPr>
          <a:xfrm>
            <a:off x="4040777" y="1654211"/>
            <a:ext cx="1047000" cy="369300"/>
          </a:xfrm>
          <a:prstGeom prst="rect">
            <a:avLst/>
          </a:prstGeom>
          <a:solidFill>
            <a:srgbClr val="FFFFFF">
              <a:alpha val="89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99FF"/>
                </a:solidFill>
                <a:latin typeface="Arial"/>
                <a:ea typeface="Arial"/>
                <a:cs typeface="Arial"/>
                <a:sym typeface="Arial"/>
              </a:rPr>
              <a:t>Gene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61"/>
          <p:cNvSpPr/>
          <p:nvPr/>
        </p:nvSpPr>
        <p:spPr>
          <a:xfrm>
            <a:off x="47106" y="2023543"/>
            <a:ext cx="9040800" cy="1411200"/>
          </a:xfrm>
          <a:prstGeom prst="rect">
            <a:avLst/>
          </a:prstGeom>
          <a:noFill/>
          <a:ln w="25400" cap="flat" cmpd="sng">
            <a:solidFill>
              <a:srgbClr val="0099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61"/>
          <p:cNvSpPr txBox="1"/>
          <p:nvPr/>
        </p:nvSpPr>
        <p:spPr>
          <a:xfrm>
            <a:off x="2433139" y="4014654"/>
            <a:ext cx="1026900" cy="369300"/>
          </a:xfrm>
          <a:prstGeom prst="rect">
            <a:avLst/>
          </a:prstGeom>
          <a:solidFill>
            <a:srgbClr val="FFFFFF">
              <a:alpha val="89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Variant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61"/>
          <p:cNvSpPr/>
          <p:nvPr/>
        </p:nvSpPr>
        <p:spPr>
          <a:xfrm>
            <a:off x="2867997" y="4383961"/>
            <a:ext cx="157200" cy="279900"/>
          </a:xfrm>
          <a:prstGeom prst="rect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rgbClr val="327C89"/>
                </a:solidFill>
              </a:rPr>
              <a:t>`</a:t>
            </a:r>
            <a:endParaRPr sz="1400" b="0" i="0" u="none" strike="noStrike" cap="none">
              <a:solidFill>
                <a:srgbClr val="327C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enables genome analyses</a:t>
            </a:r>
            <a:endParaRPr/>
          </a:p>
        </p:txBody>
      </p:sp>
      <p:sp>
        <p:nvSpPr>
          <p:cNvPr id="594" name="Google Shape;594;p62"/>
          <p:cNvSpPr/>
          <p:nvPr/>
        </p:nvSpPr>
        <p:spPr>
          <a:xfrm>
            <a:off x="125300" y="2477600"/>
            <a:ext cx="1173300" cy="8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Public data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5" name="Google Shape;595;p62"/>
          <p:cNvSpPr/>
          <p:nvPr/>
        </p:nvSpPr>
        <p:spPr>
          <a:xfrm>
            <a:off x="7845400" y="2424300"/>
            <a:ext cx="1173300" cy="8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Genome analysis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6" name="Google Shape;596;p62"/>
          <p:cNvSpPr/>
          <p:nvPr/>
        </p:nvSpPr>
        <p:spPr>
          <a:xfrm>
            <a:off x="1772750" y="1158050"/>
            <a:ext cx="5548500" cy="3485400"/>
          </a:xfrm>
          <a:prstGeom prst="rect">
            <a:avLst/>
          </a:prstGeom>
          <a:solidFill>
            <a:srgbClr val="0099FF">
              <a:alpha val="10130"/>
            </a:srgbClr>
          </a:solidFill>
          <a:ln w="19050" cap="flat" cmpd="sng">
            <a:solidFill>
              <a:srgbClr val="0099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97" name="Google Shape;597;p62"/>
          <p:cNvSpPr txBox="1"/>
          <p:nvPr/>
        </p:nvSpPr>
        <p:spPr>
          <a:xfrm>
            <a:off x="2160475" y="2641500"/>
            <a:ext cx="1077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099FF"/>
                </a:solidFill>
              </a:rPr>
              <a:t>Ensembl workflows</a:t>
            </a:r>
            <a:endParaRPr b="1">
              <a:solidFill>
                <a:srgbClr val="0099FF"/>
              </a:solidFill>
            </a:endParaRPr>
          </a:p>
        </p:txBody>
      </p:sp>
      <p:sp>
        <p:nvSpPr>
          <p:cNvPr id="598" name="Google Shape;598;p62"/>
          <p:cNvSpPr txBox="1"/>
          <p:nvPr/>
        </p:nvSpPr>
        <p:spPr>
          <a:xfrm>
            <a:off x="5956025" y="2641550"/>
            <a:ext cx="8223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099FF"/>
                </a:solidFill>
              </a:rPr>
              <a:t>APIs</a:t>
            </a:r>
            <a:endParaRPr b="1">
              <a:solidFill>
                <a:srgbClr val="0099FF"/>
              </a:solidFill>
            </a:endParaRPr>
          </a:p>
        </p:txBody>
      </p:sp>
      <p:sp>
        <p:nvSpPr>
          <p:cNvPr id="599" name="Google Shape;599;p62"/>
          <p:cNvSpPr txBox="1"/>
          <p:nvPr/>
        </p:nvSpPr>
        <p:spPr>
          <a:xfrm>
            <a:off x="5729425" y="1680400"/>
            <a:ext cx="1275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099FF"/>
                </a:solidFill>
              </a:rPr>
              <a:t>Genome browser</a:t>
            </a:r>
            <a:endParaRPr b="1">
              <a:solidFill>
                <a:srgbClr val="0099FF"/>
              </a:solidFill>
            </a:endParaRPr>
          </a:p>
        </p:txBody>
      </p:sp>
      <p:sp>
        <p:nvSpPr>
          <p:cNvPr id="600" name="Google Shape;600;p62"/>
          <p:cNvSpPr txBox="1"/>
          <p:nvPr/>
        </p:nvSpPr>
        <p:spPr>
          <a:xfrm>
            <a:off x="5729425" y="3518150"/>
            <a:ext cx="1275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099FF"/>
                </a:solidFill>
              </a:rPr>
              <a:t>Tools</a:t>
            </a:r>
            <a:endParaRPr b="1">
              <a:solidFill>
                <a:srgbClr val="0099FF"/>
              </a:solidFill>
            </a:endParaRPr>
          </a:p>
        </p:txBody>
      </p:sp>
      <p:sp>
        <p:nvSpPr>
          <p:cNvPr id="601" name="Google Shape;601;p62"/>
          <p:cNvSpPr/>
          <p:nvPr/>
        </p:nvSpPr>
        <p:spPr>
          <a:xfrm>
            <a:off x="4099950" y="1259100"/>
            <a:ext cx="1077600" cy="518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Genes &amp; repeats 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602" name="Google Shape;602;p62"/>
          <p:cNvSpPr/>
          <p:nvPr/>
        </p:nvSpPr>
        <p:spPr>
          <a:xfrm>
            <a:off x="4099950" y="1950325"/>
            <a:ext cx="1077600" cy="518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Regulatory regions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603" name="Google Shape;603;p62"/>
          <p:cNvSpPr/>
          <p:nvPr/>
        </p:nvSpPr>
        <p:spPr>
          <a:xfrm>
            <a:off x="4099950" y="2641550"/>
            <a:ext cx="1077600" cy="518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Comparative genomics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604" name="Google Shape;604;p62"/>
          <p:cNvSpPr/>
          <p:nvPr/>
        </p:nvSpPr>
        <p:spPr>
          <a:xfrm>
            <a:off x="4099950" y="3332775"/>
            <a:ext cx="1077600" cy="518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Genomic variation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605" name="Google Shape;605;p62"/>
          <p:cNvSpPr/>
          <p:nvPr/>
        </p:nvSpPr>
        <p:spPr>
          <a:xfrm>
            <a:off x="4099950" y="4024000"/>
            <a:ext cx="1077600" cy="518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Phenotype associations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606" name="Google Shape;606;p62"/>
          <p:cNvSpPr/>
          <p:nvPr/>
        </p:nvSpPr>
        <p:spPr>
          <a:xfrm>
            <a:off x="1262488" y="2698700"/>
            <a:ext cx="884100" cy="404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07" name="Google Shape;607;p62"/>
          <p:cNvSpPr/>
          <p:nvPr/>
        </p:nvSpPr>
        <p:spPr>
          <a:xfrm>
            <a:off x="7005013" y="2698650"/>
            <a:ext cx="884100" cy="404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08" name="Google Shape;608;p62"/>
          <p:cNvSpPr/>
          <p:nvPr/>
        </p:nvSpPr>
        <p:spPr>
          <a:xfrm>
            <a:off x="5250725" y="1259100"/>
            <a:ext cx="166500" cy="3283200"/>
          </a:xfrm>
          <a:prstGeom prst="rightBracket">
            <a:avLst>
              <a:gd name="adj" fmla="val 8333"/>
            </a:avLst>
          </a:prstGeom>
          <a:noFill/>
          <a:ln w="19050" cap="flat" cmpd="sng">
            <a:solidFill>
              <a:srgbClr val="0099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609" name="Google Shape;609;p62"/>
          <p:cNvCxnSpPr>
            <a:stCxn id="608" idx="2"/>
          </p:cNvCxnSpPr>
          <p:nvPr/>
        </p:nvCxnSpPr>
        <p:spPr>
          <a:xfrm rot="10800000" flipH="1">
            <a:off x="5417225" y="2219400"/>
            <a:ext cx="543900" cy="681300"/>
          </a:xfrm>
          <a:prstGeom prst="straightConnector1">
            <a:avLst/>
          </a:prstGeom>
          <a:noFill/>
          <a:ln w="19050" cap="flat" cmpd="sng">
            <a:solidFill>
              <a:srgbClr val="0099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0" name="Google Shape;610;p62"/>
          <p:cNvCxnSpPr>
            <a:stCxn id="608" idx="2"/>
          </p:cNvCxnSpPr>
          <p:nvPr/>
        </p:nvCxnSpPr>
        <p:spPr>
          <a:xfrm>
            <a:off x="5417225" y="2900700"/>
            <a:ext cx="524700" cy="616800"/>
          </a:xfrm>
          <a:prstGeom prst="straightConnector1">
            <a:avLst/>
          </a:prstGeom>
          <a:noFill/>
          <a:ln w="19050" cap="flat" cmpd="sng">
            <a:solidFill>
              <a:srgbClr val="0099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1" name="Google Shape;611;p62"/>
          <p:cNvCxnSpPr>
            <a:stCxn id="608" idx="2"/>
            <a:endCxn id="598" idx="1"/>
          </p:cNvCxnSpPr>
          <p:nvPr/>
        </p:nvCxnSpPr>
        <p:spPr>
          <a:xfrm>
            <a:off x="5417225" y="2900700"/>
            <a:ext cx="538800" cy="0"/>
          </a:xfrm>
          <a:prstGeom prst="straightConnector1">
            <a:avLst/>
          </a:prstGeom>
          <a:noFill/>
          <a:ln w="19050" cap="flat" cmpd="sng">
            <a:solidFill>
              <a:srgbClr val="0099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2" name="Google Shape;612;p62"/>
          <p:cNvCxnSpPr>
            <a:stCxn id="597" idx="3"/>
            <a:endCxn id="601" idx="1"/>
          </p:cNvCxnSpPr>
          <p:nvPr/>
        </p:nvCxnSpPr>
        <p:spPr>
          <a:xfrm rot="10800000" flipH="1">
            <a:off x="3238075" y="1518300"/>
            <a:ext cx="861900" cy="1382400"/>
          </a:xfrm>
          <a:prstGeom prst="straightConnector1">
            <a:avLst/>
          </a:prstGeom>
          <a:noFill/>
          <a:ln w="19050" cap="flat" cmpd="sng">
            <a:solidFill>
              <a:srgbClr val="0099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3" name="Google Shape;613;p62"/>
          <p:cNvCxnSpPr>
            <a:stCxn id="597" idx="3"/>
            <a:endCxn id="602" idx="1"/>
          </p:cNvCxnSpPr>
          <p:nvPr/>
        </p:nvCxnSpPr>
        <p:spPr>
          <a:xfrm rot="10800000" flipH="1">
            <a:off x="3238075" y="2209500"/>
            <a:ext cx="861900" cy="691200"/>
          </a:xfrm>
          <a:prstGeom prst="straightConnector1">
            <a:avLst/>
          </a:prstGeom>
          <a:noFill/>
          <a:ln w="19050" cap="flat" cmpd="sng">
            <a:solidFill>
              <a:srgbClr val="0099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4" name="Google Shape;614;p62"/>
          <p:cNvCxnSpPr>
            <a:stCxn id="597" idx="3"/>
            <a:endCxn id="603" idx="1"/>
          </p:cNvCxnSpPr>
          <p:nvPr/>
        </p:nvCxnSpPr>
        <p:spPr>
          <a:xfrm>
            <a:off x="3238075" y="2900700"/>
            <a:ext cx="861900" cy="0"/>
          </a:xfrm>
          <a:prstGeom prst="straightConnector1">
            <a:avLst/>
          </a:prstGeom>
          <a:noFill/>
          <a:ln w="19050" cap="flat" cmpd="sng">
            <a:solidFill>
              <a:srgbClr val="0099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5" name="Google Shape;615;p62"/>
          <p:cNvCxnSpPr>
            <a:stCxn id="597" idx="3"/>
            <a:endCxn id="604" idx="1"/>
          </p:cNvCxnSpPr>
          <p:nvPr/>
        </p:nvCxnSpPr>
        <p:spPr>
          <a:xfrm>
            <a:off x="3238075" y="2900700"/>
            <a:ext cx="861900" cy="691200"/>
          </a:xfrm>
          <a:prstGeom prst="straightConnector1">
            <a:avLst/>
          </a:prstGeom>
          <a:noFill/>
          <a:ln w="19050" cap="flat" cmpd="sng">
            <a:solidFill>
              <a:srgbClr val="0099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6" name="Google Shape;616;p62"/>
          <p:cNvCxnSpPr>
            <a:stCxn id="597" idx="3"/>
            <a:endCxn id="605" idx="1"/>
          </p:cNvCxnSpPr>
          <p:nvPr/>
        </p:nvCxnSpPr>
        <p:spPr>
          <a:xfrm>
            <a:off x="3238075" y="2900700"/>
            <a:ext cx="861900" cy="1382400"/>
          </a:xfrm>
          <a:prstGeom prst="straightConnector1">
            <a:avLst/>
          </a:prstGeom>
          <a:noFill/>
          <a:ln w="19050" cap="flat" cmpd="sng">
            <a:solidFill>
              <a:srgbClr val="0099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3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8452200" cy="2168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just" rtl="0"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Aim: Develop, adapt and run computational methods to identify and characterise genomic regulatory elements, such as promoters, enhancers and CTCF binding sites.</a:t>
            </a:r>
            <a:endParaRPr/>
          </a:p>
          <a:p>
            <a:pPr marL="457200" lvl="0" indent="-330200" algn="just" rtl="0">
              <a:spcBef>
                <a:spcPts val="100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Focus: Species of key importance to biomedical and agricultural research. </a:t>
            </a:r>
            <a:endParaRPr/>
          </a:p>
          <a:p>
            <a:pPr marL="457200" lvl="0" indent="-330200" algn="just" rtl="0">
              <a:spcBef>
                <a:spcPts val="100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Annotations are based primarily on ChIP-seq, DNase-seq, and ATAC-seq data generated by the ENCODE and FAANG consortia, and gene annotation from Ensembl/GENCODE.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6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</a:t>
            </a:r>
            <a:endParaRPr/>
          </a:p>
        </p:txBody>
      </p:sp>
      <p:pic>
        <p:nvPicPr>
          <p:cNvPr id="623" name="Google Shape;62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0075" y="3126750"/>
            <a:ext cx="1132125" cy="1132125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63"/>
          <p:cNvSpPr txBox="1"/>
          <p:nvPr/>
        </p:nvSpPr>
        <p:spPr>
          <a:xfrm>
            <a:off x="3750600" y="4805350"/>
            <a:ext cx="1642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u="sng">
                <a:solidFill>
                  <a:schemeClr val="hlink"/>
                </a:solidFill>
                <a:hlinkClick r:id="rId4"/>
              </a:rPr>
              <a:t>https://regulation.ensembl.org/</a:t>
            </a:r>
            <a:r>
              <a:rPr lang="en-GB" sz="800"/>
              <a:t> </a:t>
            </a:r>
            <a:endParaRPr sz="800"/>
          </a:p>
        </p:txBody>
      </p:sp>
      <p:pic>
        <p:nvPicPr>
          <p:cNvPr id="625" name="Google Shape;625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4200" y="2528325"/>
            <a:ext cx="3842676" cy="232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Ensembl Regulatory Build</a:t>
            </a:r>
            <a:endParaRPr/>
          </a:p>
        </p:txBody>
      </p:sp>
      <p:pic>
        <p:nvPicPr>
          <p:cNvPr id="631" name="Google Shape;63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5300" y="2140350"/>
            <a:ext cx="862775" cy="862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2" name="Google Shape;632;p64"/>
          <p:cNvCxnSpPr/>
          <p:nvPr/>
        </p:nvCxnSpPr>
        <p:spPr>
          <a:xfrm>
            <a:off x="1645550" y="2571754"/>
            <a:ext cx="783300" cy="0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3" name="Google Shape;633;p64"/>
          <p:cNvCxnSpPr/>
          <p:nvPr/>
        </p:nvCxnSpPr>
        <p:spPr>
          <a:xfrm>
            <a:off x="3258075" y="2571754"/>
            <a:ext cx="783300" cy="0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4" name="Google Shape;634;p64"/>
          <p:cNvSpPr/>
          <p:nvPr/>
        </p:nvSpPr>
        <p:spPr>
          <a:xfrm>
            <a:off x="4074500" y="1376825"/>
            <a:ext cx="1728600" cy="2300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Primary analysis pipeline</a:t>
            </a:r>
            <a:endParaRPr/>
          </a:p>
        </p:txBody>
      </p:sp>
      <p:cxnSp>
        <p:nvCxnSpPr>
          <p:cNvPr id="635" name="Google Shape;635;p64"/>
          <p:cNvCxnSpPr/>
          <p:nvPr/>
        </p:nvCxnSpPr>
        <p:spPr>
          <a:xfrm>
            <a:off x="5803100" y="2518525"/>
            <a:ext cx="979500" cy="2400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6" name="Google Shape;636;p64"/>
          <p:cNvSpPr/>
          <p:nvPr/>
        </p:nvSpPr>
        <p:spPr>
          <a:xfrm>
            <a:off x="6835100" y="2046175"/>
            <a:ext cx="1455000" cy="10512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Regulatory annotation pipeline</a:t>
            </a:r>
            <a:endParaRPr/>
          </a:p>
        </p:txBody>
      </p:sp>
      <p:sp>
        <p:nvSpPr>
          <p:cNvPr id="637" name="Google Shape;637;p64"/>
          <p:cNvSpPr/>
          <p:nvPr/>
        </p:nvSpPr>
        <p:spPr>
          <a:xfrm>
            <a:off x="4126150" y="1559850"/>
            <a:ext cx="812700" cy="7125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ATAC-seq pipeline</a:t>
            </a:r>
            <a:endParaRPr sz="900"/>
          </a:p>
        </p:txBody>
      </p:sp>
      <p:sp>
        <p:nvSpPr>
          <p:cNvPr id="638" name="Google Shape;638;p64"/>
          <p:cNvSpPr/>
          <p:nvPr/>
        </p:nvSpPr>
        <p:spPr>
          <a:xfrm>
            <a:off x="4970300" y="1559850"/>
            <a:ext cx="783300" cy="7125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DNase-seq pipeline</a:t>
            </a:r>
            <a:endParaRPr sz="900"/>
          </a:p>
        </p:txBody>
      </p:sp>
      <p:sp>
        <p:nvSpPr>
          <p:cNvPr id="639" name="Google Shape;639;p64"/>
          <p:cNvSpPr/>
          <p:nvPr/>
        </p:nvSpPr>
        <p:spPr>
          <a:xfrm>
            <a:off x="4126150" y="2339075"/>
            <a:ext cx="812700" cy="7125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ChIP-seq narrow marks pipeline</a:t>
            </a:r>
            <a:endParaRPr sz="900"/>
          </a:p>
        </p:txBody>
      </p:sp>
      <p:sp>
        <p:nvSpPr>
          <p:cNvPr id="640" name="Google Shape;640;p64"/>
          <p:cNvSpPr/>
          <p:nvPr/>
        </p:nvSpPr>
        <p:spPr>
          <a:xfrm>
            <a:off x="4962200" y="2339075"/>
            <a:ext cx="783300" cy="7125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ChIP-seq broad marks pipeline</a:t>
            </a:r>
            <a:endParaRPr sz="900"/>
          </a:p>
        </p:txBody>
      </p:sp>
      <p:cxnSp>
        <p:nvCxnSpPr>
          <p:cNvPr id="641" name="Google Shape;641;p64"/>
          <p:cNvCxnSpPr>
            <a:stCxn id="634" idx="2"/>
            <a:endCxn id="631" idx="2"/>
          </p:cNvCxnSpPr>
          <p:nvPr/>
        </p:nvCxnSpPr>
        <p:spPr>
          <a:xfrm rot="5400000" flipH="1">
            <a:off x="3545750" y="2284175"/>
            <a:ext cx="674100" cy="2112000"/>
          </a:xfrm>
          <a:prstGeom prst="bentConnector3">
            <a:avLst>
              <a:gd name="adj1" fmla="val -35325"/>
            </a:avLst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642" name="Google Shape;642;p64"/>
          <p:cNvGrpSpPr/>
          <p:nvPr/>
        </p:nvGrpSpPr>
        <p:grpSpPr>
          <a:xfrm>
            <a:off x="190275" y="1175508"/>
            <a:ext cx="1455275" cy="1921817"/>
            <a:chOff x="190275" y="1175508"/>
            <a:chExt cx="1455275" cy="1921817"/>
          </a:xfrm>
        </p:grpSpPr>
        <p:grpSp>
          <p:nvGrpSpPr>
            <p:cNvPr id="643" name="Google Shape;643;p64"/>
            <p:cNvGrpSpPr/>
            <p:nvPr/>
          </p:nvGrpSpPr>
          <p:grpSpPr>
            <a:xfrm>
              <a:off x="190275" y="1175508"/>
              <a:ext cx="1421700" cy="1921817"/>
              <a:chOff x="1264875" y="1331434"/>
              <a:chExt cx="1421700" cy="1733241"/>
            </a:xfrm>
          </p:grpSpPr>
          <p:sp>
            <p:nvSpPr>
              <p:cNvPr id="644" name="Google Shape;644;p64"/>
              <p:cNvSpPr/>
              <p:nvPr/>
            </p:nvSpPr>
            <p:spPr>
              <a:xfrm>
                <a:off x="1264875" y="2116675"/>
                <a:ext cx="1421700" cy="948000"/>
              </a:xfrm>
              <a:prstGeom prst="roundRect">
                <a:avLst>
                  <a:gd name="adj" fmla="val 16667"/>
                </a:avLst>
              </a:prstGeom>
              <a:solidFill>
                <a:srgbClr val="C9DAF8"/>
              </a:solidFill>
              <a:ln w="9525" cap="flat" cmpd="sng">
                <a:solidFill>
                  <a:srgbClr val="1155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/>
                  <a:t>Experiments and metadata import</a:t>
                </a:r>
                <a:endParaRPr/>
              </a:p>
            </p:txBody>
          </p:sp>
          <p:pic>
            <p:nvPicPr>
              <p:cNvPr id="645" name="Google Shape;645;p64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353437" y="1678068"/>
                <a:ext cx="750122" cy="3649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46" name="Google Shape;646;p6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46375" y="1331434"/>
                <a:ext cx="1011850" cy="2919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47" name="Google Shape;647;p6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17975" y="1609625"/>
              <a:ext cx="627575" cy="3644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48" name="Google Shape;648;p64"/>
          <p:cNvCxnSpPr/>
          <p:nvPr/>
        </p:nvCxnSpPr>
        <p:spPr>
          <a:xfrm rot="10800000">
            <a:off x="2826687" y="2140350"/>
            <a:ext cx="5484600" cy="428700"/>
          </a:xfrm>
          <a:prstGeom prst="bentConnector4">
            <a:avLst>
              <a:gd name="adj1" fmla="val -5919"/>
              <a:gd name="adj2" fmla="val 340769"/>
            </a:avLst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5"/>
          <p:cNvSpPr txBox="1">
            <a:spLocks noGrp="1"/>
          </p:cNvSpPr>
          <p:nvPr>
            <p:ph type="body" idx="1"/>
          </p:nvPr>
        </p:nvSpPr>
        <p:spPr>
          <a:xfrm>
            <a:off x="338150" y="889824"/>
            <a:ext cx="8452200" cy="3549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Processes read files to produce peak (BED) and signal (bigWig) files.</a:t>
            </a:r>
            <a:endParaRPr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6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Primary analysis pipeline</a:t>
            </a:r>
            <a:endParaRPr/>
          </a:p>
        </p:txBody>
      </p:sp>
      <p:grpSp>
        <p:nvGrpSpPr>
          <p:cNvPr id="655" name="Google Shape;655;p65"/>
          <p:cNvGrpSpPr/>
          <p:nvPr/>
        </p:nvGrpSpPr>
        <p:grpSpPr>
          <a:xfrm>
            <a:off x="725725" y="1335528"/>
            <a:ext cx="7579750" cy="332700"/>
            <a:chOff x="725725" y="1385925"/>
            <a:chExt cx="7579750" cy="332700"/>
          </a:xfrm>
        </p:grpSpPr>
        <p:sp>
          <p:nvSpPr>
            <p:cNvPr id="656" name="Google Shape;656;p65"/>
            <p:cNvSpPr/>
            <p:nvPr/>
          </p:nvSpPr>
          <p:spPr>
            <a:xfrm>
              <a:off x="725725" y="1385925"/>
              <a:ext cx="1357200" cy="332700"/>
            </a:xfrm>
            <a:prstGeom prst="rect">
              <a:avLst/>
            </a:prstGeom>
            <a:solidFill>
              <a:srgbClr val="0099FF"/>
            </a:solidFill>
            <a:ln w="9525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>
                  <a:solidFill>
                    <a:schemeClr val="lt1"/>
                  </a:solidFill>
                </a:rPr>
                <a:t>Preprocessing</a:t>
              </a:r>
              <a:endParaRPr sz="1300" b="1">
                <a:solidFill>
                  <a:schemeClr val="lt1"/>
                </a:solidFill>
              </a:endParaRPr>
            </a:p>
          </p:txBody>
        </p:sp>
        <p:sp>
          <p:nvSpPr>
            <p:cNvPr id="657" name="Google Shape;657;p65"/>
            <p:cNvSpPr/>
            <p:nvPr/>
          </p:nvSpPr>
          <p:spPr>
            <a:xfrm>
              <a:off x="2799908" y="1385925"/>
              <a:ext cx="1357200" cy="332700"/>
            </a:xfrm>
            <a:prstGeom prst="rect">
              <a:avLst/>
            </a:prstGeom>
            <a:solidFill>
              <a:srgbClr val="0099FF"/>
            </a:solidFill>
            <a:ln w="9525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>
                  <a:solidFill>
                    <a:schemeClr val="lt1"/>
                  </a:solidFill>
                </a:rPr>
                <a:t>Alignment</a:t>
              </a:r>
              <a:endParaRPr sz="1300" b="1">
                <a:solidFill>
                  <a:schemeClr val="lt1"/>
                </a:solidFill>
              </a:endParaRPr>
            </a:p>
          </p:txBody>
        </p:sp>
        <p:sp>
          <p:nvSpPr>
            <p:cNvPr id="658" name="Google Shape;658;p65"/>
            <p:cNvSpPr/>
            <p:nvPr/>
          </p:nvSpPr>
          <p:spPr>
            <a:xfrm>
              <a:off x="4874092" y="1385925"/>
              <a:ext cx="1357200" cy="332700"/>
            </a:xfrm>
            <a:prstGeom prst="rect">
              <a:avLst/>
            </a:prstGeom>
            <a:solidFill>
              <a:srgbClr val="0099FF"/>
            </a:solidFill>
            <a:ln w="9525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>
                  <a:solidFill>
                    <a:schemeClr val="lt1"/>
                  </a:solidFill>
                </a:rPr>
                <a:t>Peak calling</a:t>
              </a:r>
              <a:endParaRPr sz="1300" b="1">
                <a:solidFill>
                  <a:schemeClr val="lt1"/>
                </a:solidFill>
              </a:endParaRPr>
            </a:p>
          </p:txBody>
        </p:sp>
        <p:sp>
          <p:nvSpPr>
            <p:cNvPr id="659" name="Google Shape;659;p65"/>
            <p:cNvSpPr/>
            <p:nvPr/>
          </p:nvSpPr>
          <p:spPr>
            <a:xfrm>
              <a:off x="6948275" y="1385925"/>
              <a:ext cx="1357200" cy="332700"/>
            </a:xfrm>
            <a:prstGeom prst="rect">
              <a:avLst/>
            </a:prstGeom>
            <a:solidFill>
              <a:srgbClr val="0099FF"/>
            </a:solidFill>
            <a:ln w="9525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>
                  <a:solidFill>
                    <a:schemeClr val="lt1"/>
                  </a:solidFill>
                </a:rPr>
                <a:t>Signal files</a:t>
              </a:r>
              <a:endParaRPr sz="1300" b="1">
                <a:solidFill>
                  <a:schemeClr val="lt1"/>
                </a:solidFill>
              </a:endParaRPr>
            </a:p>
          </p:txBody>
        </p:sp>
        <p:cxnSp>
          <p:nvCxnSpPr>
            <p:cNvPr id="660" name="Google Shape;660;p65"/>
            <p:cNvCxnSpPr>
              <a:endCxn id="657" idx="1"/>
            </p:cNvCxnSpPr>
            <p:nvPr/>
          </p:nvCxnSpPr>
          <p:spPr>
            <a:xfrm>
              <a:off x="2081408" y="1552275"/>
              <a:ext cx="718500" cy="0"/>
            </a:xfrm>
            <a:prstGeom prst="straightConnector1">
              <a:avLst/>
            </a:prstGeom>
            <a:noFill/>
            <a:ln w="9525" cap="flat" cmpd="sng">
              <a:solidFill>
                <a:srgbClr val="4A86E8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661" name="Google Shape;661;p65"/>
            <p:cNvCxnSpPr>
              <a:stCxn id="657" idx="3"/>
              <a:endCxn id="658" idx="1"/>
            </p:cNvCxnSpPr>
            <p:nvPr/>
          </p:nvCxnSpPr>
          <p:spPr>
            <a:xfrm>
              <a:off x="4157108" y="1552275"/>
              <a:ext cx="717000" cy="0"/>
            </a:xfrm>
            <a:prstGeom prst="straightConnector1">
              <a:avLst/>
            </a:prstGeom>
            <a:noFill/>
            <a:ln w="9525" cap="flat" cmpd="sng">
              <a:solidFill>
                <a:srgbClr val="4A86E8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662" name="Google Shape;662;p65"/>
            <p:cNvCxnSpPr>
              <a:stCxn id="658" idx="3"/>
              <a:endCxn id="659" idx="1"/>
            </p:cNvCxnSpPr>
            <p:nvPr/>
          </p:nvCxnSpPr>
          <p:spPr>
            <a:xfrm>
              <a:off x="6231292" y="1552275"/>
              <a:ext cx="717000" cy="0"/>
            </a:xfrm>
            <a:prstGeom prst="straightConnector1">
              <a:avLst/>
            </a:prstGeom>
            <a:noFill/>
            <a:ln w="9525" cap="flat" cmpd="sng">
              <a:solidFill>
                <a:srgbClr val="4A86E8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pic>
        <p:nvPicPr>
          <p:cNvPr id="663" name="Google Shape;66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1875" y="0"/>
            <a:ext cx="1132125" cy="1132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65"/>
          <p:cNvSpPr txBox="1"/>
          <p:nvPr/>
        </p:nvSpPr>
        <p:spPr>
          <a:xfrm>
            <a:off x="3654950" y="4484375"/>
            <a:ext cx="3636300" cy="43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Standardised data analysis pipelines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665" name="Google Shape;665;p65"/>
          <p:cNvSpPr txBox="1">
            <a:spLocks noGrp="1"/>
          </p:cNvSpPr>
          <p:nvPr>
            <p:ph type="body" idx="1"/>
          </p:nvPr>
        </p:nvSpPr>
        <p:spPr>
          <a:xfrm>
            <a:off x="338150" y="1813300"/>
            <a:ext cx="7170900" cy="2576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914400" lvl="0" indent="-330200" algn="l" rtl="0"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GB"/>
              <a:t>Preprocessing: Adapters trimming with NGmerge/fastp.</a:t>
            </a:r>
            <a:endParaRPr/>
          </a:p>
          <a:p>
            <a:pPr marL="9144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GB"/>
              <a:t>Alignment: Bowtie2.</a:t>
            </a:r>
            <a:endParaRPr/>
          </a:p>
          <a:p>
            <a:pPr marL="9144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GB"/>
              <a:t>Peak calling: </a:t>
            </a:r>
            <a:endParaRPr/>
          </a:p>
          <a:p>
            <a:pPr marL="13716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GB"/>
              <a:t>Genome mask:</a:t>
            </a:r>
            <a:endParaRPr/>
          </a:p>
          <a:p>
            <a:pPr marL="1828800" lvl="2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GB"/>
              <a:t>ENCODE masks for human and mouse.</a:t>
            </a:r>
            <a:endParaRPr/>
          </a:p>
          <a:p>
            <a:pPr marL="1828800" lvl="2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GB"/>
              <a:t>Custom masking strategy for other species.</a:t>
            </a:r>
            <a:endParaRPr/>
          </a:p>
          <a:p>
            <a:pPr marL="13716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GB"/>
              <a:t>Genrich with different configurations for each experiment type.</a:t>
            </a:r>
            <a:endParaRPr/>
          </a:p>
          <a:p>
            <a:pPr marL="914400" lvl="0" indent="-330200" algn="l" rtl="0">
              <a:spcBef>
                <a:spcPts val="1000"/>
              </a:spcBef>
              <a:spcAft>
                <a:spcPts val="1000"/>
              </a:spcAft>
              <a:buSzPts val="1600"/>
              <a:buChar char="•"/>
            </a:pPr>
            <a:r>
              <a:rPr lang="en-GB"/>
              <a:t>Signal: Estimated from Genrich pileups</a:t>
            </a:r>
            <a:endParaRPr/>
          </a:p>
        </p:txBody>
      </p:sp>
      <p:sp>
        <p:nvSpPr>
          <p:cNvPr id="666" name="Google Shape;666;p65"/>
          <p:cNvSpPr txBox="1"/>
          <p:nvPr/>
        </p:nvSpPr>
        <p:spPr>
          <a:xfrm>
            <a:off x="0" y="4835700"/>
            <a:ext cx="5122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u="sng">
                <a:solidFill>
                  <a:schemeClr val="hlink"/>
                </a:solidFill>
                <a:hlinkClick r:id="rId4"/>
              </a:rPr>
              <a:t>https://regulation.ensembl.org/help/primary_processing</a:t>
            </a:r>
            <a:r>
              <a:rPr lang="en-GB" sz="800"/>
              <a:t> </a:t>
            </a:r>
            <a:endParaRPr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Regulatory annotation pipeline</a:t>
            </a:r>
            <a:endParaRPr/>
          </a:p>
        </p:txBody>
      </p:sp>
      <p:sp>
        <p:nvSpPr>
          <p:cNvPr id="672" name="Google Shape;672;p66"/>
          <p:cNvSpPr txBox="1"/>
          <p:nvPr/>
        </p:nvSpPr>
        <p:spPr>
          <a:xfrm>
            <a:off x="-20175" y="4829925"/>
            <a:ext cx="5122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u="sng">
                <a:solidFill>
                  <a:srgbClr val="2A57A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https://regulation.ensembl.org/help/regulatory_build</a:t>
            </a:r>
            <a:r>
              <a:rPr lang="en-GB" sz="800"/>
              <a:t> </a:t>
            </a:r>
            <a:endParaRPr sz="800"/>
          </a:p>
        </p:txBody>
      </p:sp>
      <p:sp>
        <p:nvSpPr>
          <p:cNvPr id="673" name="Google Shape;673;p66"/>
          <p:cNvSpPr txBox="1"/>
          <p:nvPr/>
        </p:nvSpPr>
        <p:spPr>
          <a:xfrm>
            <a:off x="6115650" y="919650"/>
            <a:ext cx="2984100" cy="38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00000"/>
                </a:solidFill>
              </a:rPr>
              <a:t>Input:</a:t>
            </a:r>
            <a:endParaRPr b="1">
              <a:solidFill>
                <a:srgbClr val="000000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GB" sz="900" b="1">
                <a:solidFill>
                  <a:srgbClr val="000000"/>
                </a:solidFill>
              </a:rPr>
              <a:t>ATAC-seq &amp; DNase-seq</a:t>
            </a:r>
            <a:r>
              <a:rPr lang="en-GB" sz="900">
                <a:solidFill>
                  <a:srgbClr val="000000"/>
                </a:solidFill>
              </a:rPr>
              <a:t> peaks for all the epigenomes of the target species</a:t>
            </a:r>
            <a:endParaRPr sz="900">
              <a:solidFill>
                <a:srgbClr val="000000"/>
              </a:solidFill>
            </a:endParaRPr>
          </a:p>
          <a:p>
            <a:pPr marL="45720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GB" sz="900">
                <a:solidFill>
                  <a:srgbClr val="000000"/>
                </a:solidFill>
              </a:rPr>
              <a:t>H3K27ac, H3K4me1, and H3K4me3 ChIP-seq peaks for all the epigenomes of the target species (</a:t>
            </a:r>
            <a:r>
              <a:rPr lang="en-GB" sz="900" b="1">
                <a:solidFill>
                  <a:srgbClr val="000000"/>
                </a:solidFill>
              </a:rPr>
              <a:t>optional</a:t>
            </a:r>
            <a:r>
              <a:rPr lang="en-GB" sz="900">
                <a:solidFill>
                  <a:srgbClr val="000000"/>
                </a:solidFill>
              </a:rPr>
              <a:t>)</a:t>
            </a:r>
            <a:endParaRPr sz="900">
              <a:solidFill>
                <a:srgbClr val="000000"/>
              </a:solidFill>
            </a:endParaRPr>
          </a:p>
          <a:p>
            <a:pPr marL="45720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GB" sz="900">
                <a:solidFill>
                  <a:srgbClr val="000000"/>
                </a:solidFill>
              </a:rPr>
              <a:t>Annotated TSSs and CDSs from transcripts of interest</a:t>
            </a:r>
            <a:endParaRPr sz="9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00000"/>
                </a:solidFill>
              </a:rPr>
              <a:t>Output:</a:t>
            </a:r>
            <a:endParaRPr b="1">
              <a:solidFill>
                <a:srgbClr val="000000"/>
              </a:solidFill>
            </a:endParaRPr>
          </a:p>
          <a:p>
            <a:pPr marL="457200" marR="0" lvl="0" indent="-28575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GB" sz="900">
                <a:solidFill>
                  <a:srgbClr val="000000"/>
                </a:solidFill>
              </a:rPr>
              <a:t>Set of regulatory features: </a:t>
            </a:r>
            <a:r>
              <a:rPr lang="en-GB" sz="900" b="1">
                <a:solidFill>
                  <a:srgbClr val="000000"/>
                </a:solidFill>
              </a:rPr>
              <a:t>Promoters, Enhancers, OCR</a:t>
            </a:r>
            <a:endParaRPr sz="900" b="1">
              <a:solidFill>
                <a:srgbClr val="000000"/>
              </a:solidFill>
            </a:endParaRPr>
          </a:p>
          <a:p>
            <a:pPr marL="45720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</a:pPr>
            <a:r>
              <a:rPr lang="en-GB" sz="900">
                <a:solidFill>
                  <a:srgbClr val="000000"/>
                </a:solidFill>
              </a:rPr>
              <a:t>Regulatory features (RFs) </a:t>
            </a:r>
            <a:r>
              <a:rPr lang="en-GB" sz="900" b="1">
                <a:solidFill>
                  <a:srgbClr val="000000"/>
                </a:solidFill>
              </a:rPr>
              <a:t>activity</a:t>
            </a:r>
            <a:r>
              <a:rPr lang="en-GB" sz="900">
                <a:solidFill>
                  <a:srgbClr val="000000"/>
                </a:solidFill>
              </a:rPr>
              <a:t> across different epigenomes with open </a:t>
            </a:r>
            <a:r>
              <a:rPr lang="en-GB" sz="900" b="1">
                <a:solidFill>
                  <a:srgbClr val="000000"/>
                </a:solidFill>
              </a:rPr>
              <a:t>chromatin data</a:t>
            </a:r>
            <a:endParaRPr sz="90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00000"/>
                </a:solidFill>
              </a:rPr>
              <a:t>	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sz="900">
              <a:solidFill>
                <a:srgbClr val="000000"/>
              </a:solidFill>
            </a:endParaRPr>
          </a:p>
        </p:txBody>
      </p:sp>
      <p:pic>
        <p:nvPicPr>
          <p:cNvPr id="674" name="Google Shape;674;p66" title="regBuild_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000" y="1461439"/>
            <a:ext cx="6014648" cy="2187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11875" y="0"/>
            <a:ext cx="1132125" cy="11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0" name="Google Shape;680;p67"/>
          <p:cNvPicPr preferRelativeResize="0"/>
          <p:nvPr/>
        </p:nvPicPr>
        <p:blipFill rotWithShape="1">
          <a:blip r:embed="rId3">
            <a:alphaModFix/>
          </a:blip>
          <a:srcRect r="1478"/>
          <a:stretch/>
        </p:blipFill>
        <p:spPr>
          <a:xfrm>
            <a:off x="125" y="1066879"/>
            <a:ext cx="9143843" cy="4076632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6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Ensembl Regulation Subsite</a:t>
            </a:r>
            <a:endParaRPr/>
          </a:p>
        </p:txBody>
      </p:sp>
      <p:sp>
        <p:nvSpPr>
          <p:cNvPr id="682" name="Google Shape;682;p67"/>
          <p:cNvSpPr txBox="1"/>
          <p:nvPr/>
        </p:nvSpPr>
        <p:spPr>
          <a:xfrm>
            <a:off x="5896316" y="1662567"/>
            <a:ext cx="1068300" cy="45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8750" tIns="98750" rIns="98750" bIns="98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28" b="1">
                <a:solidFill>
                  <a:schemeClr val="lt1"/>
                </a:solidFill>
              </a:rPr>
              <a:t>Release</a:t>
            </a:r>
            <a:endParaRPr sz="1628" b="1">
              <a:solidFill>
                <a:schemeClr val="lt1"/>
              </a:solidFill>
            </a:endParaRPr>
          </a:p>
        </p:txBody>
      </p:sp>
      <p:sp>
        <p:nvSpPr>
          <p:cNvPr id="683" name="Google Shape;683;p67"/>
          <p:cNvSpPr txBox="1"/>
          <p:nvPr/>
        </p:nvSpPr>
        <p:spPr>
          <a:xfrm>
            <a:off x="2921115" y="911967"/>
            <a:ext cx="1802400" cy="45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8750" tIns="98750" rIns="98750" bIns="98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28" b="1">
                <a:solidFill>
                  <a:schemeClr val="lt1"/>
                </a:solidFill>
              </a:rPr>
              <a:t>Page selector</a:t>
            </a:r>
            <a:endParaRPr sz="1628" b="1">
              <a:solidFill>
                <a:schemeClr val="lt1"/>
              </a:solidFill>
            </a:endParaRPr>
          </a:p>
        </p:txBody>
      </p:sp>
      <p:sp>
        <p:nvSpPr>
          <p:cNvPr id="684" name="Google Shape;684;p67"/>
          <p:cNvSpPr txBox="1"/>
          <p:nvPr/>
        </p:nvSpPr>
        <p:spPr>
          <a:xfrm>
            <a:off x="3043690" y="4134234"/>
            <a:ext cx="1966200" cy="45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8750" tIns="98750" rIns="98750" bIns="98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28" b="1">
                <a:solidFill>
                  <a:schemeClr val="lt1"/>
                </a:solidFill>
              </a:rPr>
              <a:t>Species selector</a:t>
            </a:r>
            <a:endParaRPr sz="1628" b="1">
              <a:solidFill>
                <a:schemeClr val="lt1"/>
              </a:solidFill>
            </a:endParaRPr>
          </a:p>
        </p:txBody>
      </p:sp>
      <p:sp>
        <p:nvSpPr>
          <p:cNvPr id="685" name="Google Shape;685;p67"/>
          <p:cNvSpPr/>
          <p:nvPr/>
        </p:nvSpPr>
        <p:spPr>
          <a:xfrm>
            <a:off x="3043663" y="3019586"/>
            <a:ext cx="4689300" cy="1114500"/>
          </a:xfrm>
          <a:prstGeom prst="rect">
            <a:avLst/>
          </a:prstGeom>
          <a:solidFill>
            <a:srgbClr val="F49E17">
              <a:alpha val="10000"/>
            </a:srgbClr>
          </a:solidFill>
          <a:ln w="20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8750" tIns="98750" rIns="98750" bIns="98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12">
              <a:solidFill>
                <a:schemeClr val="lt1"/>
              </a:solidFill>
            </a:endParaRPr>
          </a:p>
        </p:txBody>
      </p:sp>
      <p:sp>
        <p:nvSpPr>
          <p:cNvPr id="686" name="Google Shape;686;p67"/>
          <p:cNvSpPr/>
          <p:nvPr/>
        </p:nvSpPr>
        <p:spPr>
          <a:xfrm>
            <a:off x="478641" y="1749996"/>
            <a:ext cx="2565000" cy="2944200"/>
          </a:xfrm>
          <a:prstGeom prst="rect">
            <a:avLst/>
          </a:prstGeom>
          <a:solidFill>
            <a:srgbClr val="F49E17">
              <a:alpha val="10000"/>
            </a:srgbClr>
          </a:solidFill>
          <a:ln w="20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8750" tIns="98750" rIns="98750" bIns="98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12">
              <a:solidFill>
                <a:schemeClr val="lt1"/>
              </a:solidFill>
            </a:endParaRPr>
          </a:p>
        </p:txBody>
      </p:sp>
      <p:sp>
        <p:nvSpPr>
          <p:cNvPr id="687" name="Google Shape;687;p67"/>
          <p:cNvSpPr/>
          <p:nvPr/>
        </p:nvSpPr>
        <p:spPr>
          <a:xfrm>
            <a:off x="1945675" y="1371574"/>
            <a:ext cx="3753300" cy="291000"/>
          </a:xfrm>
          <a:prstGeom prst="rect">
            <a:avLst/>
          </a:prstGeom>
          <a:solidFill>
            <a:srgbClr val="F49E17">
              <a:alpha val="10000"/>
            </a:srgbClr>
          </a:solidFill>
          <a:ln w="20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8750" tIns="98750" rIns="98750" bIns="98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12">
              <a:solidFill>
                <a:schemeClr val="lt1"/>
              </a:solidFill>
            </a:endParaRPr>
          </a:p>
        </p:txBody>
      </p:sp>
      <p:sp>
        <p:nvSpPr>
          <p:cNvPr id="688" name="Google Shape;688;p67"/>
          <p:cNvSpPr/>
          <p:nvPr/>
        </p:nvSpPr>
        <p:spPr>
          <a:xfrm>
            <a:off x="5744528" y="1371574"/>
            <a:ext cx="1371900" cy="291000"/>
          </a:xfrm>
          <a:prstGeom prst="rect">
            <a:avLst/>
          </a:prstGeom>
          <a:solidFill>
            <a:srgbClr val="F49E17">
              <a:alpha val="10000"/>
            </a:srgbClr>
          </a:solidFill>
          <a:ln w="20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8750" tIns="98750" rIns="98750" bIns="98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12">
              <a:solidFill>
                <a:schemeClr val="lt1"/>
              </a:solidFill>
            </a:endParaRPr>
          </a:p>
        </p:txBody>
      </p:sp>
      <p:sp>
        <p:nvSpPr>
          <p:cNvPr id="689" name="Google Shape;689;p67"/>
          <p:cNvSpPr txBox="1"/>
          <p:nvPr/>
        </p:nvSpPr>
        <p:spPr>
          <a:xfrm>
            <a:off x="7341697" y="607400"/>
            <a:ext cx="1802400" cy="45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8750" tIns="98750" rIns="98750" bIns="98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28" b="1" dirty="0">
                <a:solidFill>
                  <a:schemeClr val="lt1"/>
                </a:solidFill>
              </a:rPr>
              <a:t>Contact form</a:t>
            </a:r>
            <a:endParaRPr sz="1628" b="1" dirty="0">
              <a:solidFill>
                <a:schemeClr val="lt1"/>
              </a:solidFill>
            </a:endParaRPr>
          </a:p>
        </p:txBody>
      </p:sp>
      <p:sp>
        <p:nvSpPr>
          <p:cNvPr id="690" name="Google Shape;690;p67"/>
          <p:cNvSpPr/>
          <p:nvPr/>
        </p:nvSpPr>
        <p:spPr>
          <a:xfrm>
            <a:off x="8340550" y="1066875"/>
            <a:ext cx="803400" cy="231900"/>
          </a:xfrm>
          <a:prstGeom prst="rect">
            <a:avLst/>
          </a:prstGeom>
          <a:solidFill>
            <a:srgbClr val="F49E17">
              <a:alpha val="10000"/>
            </a:srgbClr>
          </a:solidFill>
          <a:ln w="20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8750" tIns="98750" rIns="98750" bIns="98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12">
              <a:solidFill>
                <a:schemeClr val="lt1"/>
              </a:solidFill>
            </a:endParaRPr>
          </a:p>
        </p:txBody>
      </p:sp>
      <p:sp>
        <p:nvSpPr>
          <p:cNvPr id="691" name="Google Shape;691;p67"/>
          <p:cNvSpPr txBox="1"/>
          <p:nvPr/>
        </p:nvSpPr>
        <p:spPr>
          <a:xfrm>
            <a:off x="7341697" y="2122147"/>
            <a:ext cx="1802400" cy="5324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8750" tIns="98750" rIns="98750" bIns="98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28" b="1" dirty="0">
                <a:solidFill>
                  <a:schemeClr val="lt1"/>
                </a:solidFill>
              </a:rPr>
              <a:t>Configuration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28" b="1" dirty="0">
                <a:solidFill>
                  <a:schemeClr val="lt1"/>
                </a:solidFill>
              </a:rPr>
              <a:t>tool</a:t>
            </a:r>
            <a:endParaRPr sz="1628" b="1" dirty="0">
              <a:solidFill>
                <a:schemeClr val="lt1"/>
              </a:solidFill>
            </a:endParaRPr>
          </a:p>
        </p:txBody>
      </p:sp>
      <p:sp>
        <p:nvSpPr>
          <p:cNvPr id="692" name="Google Shape;692;p67"/>
          <p:cNvSpPr/>
          <p:nvPr/>
        </p:nvSpPr>
        <p:spPr>
          <a:xfrm>
            <a:off x="8917039" y="1831166"/>
            <a:ext cx="226800" cy="291000"/>
          </a:xfrm>
          <a:prstGeom prst="rect">
            <a:avLst/>
          </a:prstGeom>
          <a:solidFill>
            <a:srgbClr val="F49E17">
              <a:alpha val="10000"/>
            </a:srgbClr>
          </a:solidFill>
          <a:ln w="20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8750" tIns="98750" rIns="98750" bIns="98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12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Ensembl Regulation Subsite: Epigenomes tab</a:t>
            </a:r>
            <a:endParaRPr/>
          </a:p>
        </p:txBody>
      </p:sp>
      <p:pic>
        <p:nvPicPr>
          <p:cNvPr id="698" name="Google Shape;698;p6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9975" y="927950"/>
            <a:ext cx="4180700" cy="314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8900" y="3878150"/>
            <a:ext cx="1132125" cy="113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68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550" y="1254850"/>
            <a:ext cx="4698849" cy="234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8">
            <a:hlinkClick r:id="rId3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44263" y="3878150"/>
            <a:ext cx="1132125" cy="11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Epigenomes tab</a:t>
            </a:r>
            <a:endParaRPr/>
          </a:p>
        </p:txBody>
      </p:sp>
      <p:pic>
        <p:nvPicPr>
          <p:cNvPr id="707" name="Google Shape;70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624" y="792250"/>
            <a:ext cx="7277249" cy="393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0"/>
          <p:cNvSpPr txBox="1">
            <a:spLocks noGrp="1"/>
          </p:cNvSpPr>
          <p:nvPr>
            <p:ph type="title"/>
          </p:nvPr>
        </p:nvSpPr>
        <p:spPr>
          <a:xfrm>
            <a:off x="300688" y="269869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Regulatory Features tab</a:t>
            </a:r>
            <a:endParaRPr/>
          </a:p>
        </p:txBody>
      </p:sp>
      <p:pic>
        <p:nvPicPr>
          <p:cNvPr id="713" name="Google Shape;71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73750"/>
            <a:ext cx="5479361" cy="2841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2050" y="2198600"/>
            <a:ext cx="5212526" cy="251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11875" y="0"/>
            <a:ext cx="1132125" cy="11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Google Shape;72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86625"/>
            <a:ext cx="9144002" cy="37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71"/>
          <p:cNvSpPr txBox="1">
            <a:spLocks noGrp="1"/>
          </p:cNvSpPr>
          <p:nvPr>
            <p:ph type="title"/>
          </p:nvPr>
        </p:nvSpPr>
        <p:spPr>
          <a:xfrm>
            <a:off x="315738" y="306857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Regulatory Features tab</a:t>
            </a:r>
            <a:endParaRPr/>
          </a:p>
        </p:txBody>
      </p:sp>
      <p:sp>
        <p:nvSpPr>
          <p:cNvPr id="722" name="Google Shape;722;p71"/>
          <p:cNvSpPr/>
          <p:nvPr/>
        </p:nvSpPr>
        <p:spPr>
          <a:xfrm>
            <a:off x="1498224" y="2425450"/>
            <a:ext cx="1042800" cy="219000"/>
          </a:xfrm>
          <a:prstGeom prst="rect">
            <a:avLst/>
          </a:prstGeom>
          <a:solidFill>
            <a:srgbClr val="F49E17">
              <a:alpha val="10000"/>
            </a:srgbClr>
          </a:solidFill>
          <a:ln w="24225" cap="flat" cmpd="sng">
            <a:solidFill>
              <a:srgbClr val="F49E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0">
              <a:solidFill>
                <a:srgbClr val="FFFFFF"/>
              </a:solidFill>
            </a:endParaRPr>
          </a:p>
        </p:txBody>
      </p:sp>
      <p:sp>
        <p:nvSpPr>
          <p:cNvPr id="723" name="Google Shape;723;p71"/>
          <p:cNvSpPr txBox="1"/>
          <p:nvPr/>
        </p:nvSpPr>
        <p:spPr>
          <a:xfrm>
            <a:off x="510625" y="2078650"/>
            <a:ext cx="2902200" cy="346800"/>
          </a:xfrm>
          <a:prstGeom prst="rect">
            <a:avLst/>
          </a:prstGeom>
          <a:solidFill>
            <a:srgbClr val="F49E17"/>
          </a:solidFill>
          <a:ln>
            <a:noFill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Click to visualise location</a:t>
            </a:r>
            <a:endParaRPr sz="1600" b="1" dirty="0">
              <a:solidFill>
                <a:srgbClr val="FFFFFF"/>
              </a:solidFill>
            </a:endParaRPr>
          </a:p>
        </p:txBody>
      </p:sp>
      <p:pic>
        <p:nvPicPr>
          <p:cNvPr id="724" name="Google Shape;72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1875" y="0"/>
            <a:ext cx="1132125" cy="11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2" grpId="0" animBg="1"/>
      <p:bldP spid="7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113" y="849950"/>
            <a:ext cx="6181773" cy="427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72"/>
          <p:cNvSpPr txBox="1">
            <a:spLocks noGrp="1"/>
          </p:cNvSpPr>
          <p:nvPr>
            <p:ph type="title"/>
          </p:nvPr>
        </p:nvSpPr>
        <p:spPr>
          <a:xfrm>
            <a:off x="354713" y="306857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Genome view tab</a:t>
            </a:r>
            <a:endParaRPr/>
          </a:p>
        </p:txBody>
      </p:sp>
      <p:sp>
        <p:nvSpPr>
          <p:cNvPr id="731" name="Google Shape;731;p72"/>
          <p:cNvSpPr txBox="1"/>
          <p:nvPr/>
        </p:nvSpPr>
        <p:spPr>
          <a:xfrm>
            <a:off x="5255950" y="1199875"/>
            <a:ext cx="2244300" cy="32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lt1"/>
                </a:solidFill>
              </a:rPr>
              <a:t>Search coordinates</a:t>
            </a:r>
            <a:endParaRPr sz="1600" b="1" dirty="0">
              <a:solidFill>
                <a:schemeClr val="lt1"/>
              </a:solidFill>
            </a:endParaRPr>
          </a:p>
        </p:txBody>
      </p:sp>
      <p:sp>
        <p:nvSpPr>
          <p:cNvPr id="732" name="Google Shape;732;p72"/>
          <p:cNvSpPr/>
          <p:nvPr/>
        </p:nvSpPr>
        <p:spPr>
          <a:xfrm>
            <a:off x="5690500" y="1524175"/>
            <a:ext cx="1375200" cy="184800"/>
          </a:xfrm>
          <a:prstGeom prst="rect">
            <a:avLst/>
          </a:prstGeom>
          <a:solidFill>
            <a:srgbClr val="F49E17">
              <a:alpha val="10000"/>
            </a:srgbClr>
          </a:solidFill>
          <a:ln w="242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0">
              <a:solidFill>
                <a:schemeClr val="lt1"/>
              </a:solidFill>
            </a:endParaRPr>
          </a:p>
        </p:txBody>
      </p:sp>
      <p:sp>
        <p:nvSpPr>
          <p:cNvPr id="733" name="Google Shape;733;p72"/>
          <p:cNvSpPr/>
          <p:nvPr/>
        </p:nvSpPr>
        <p:spPr>
          <a:xfrm>
            <a:off x="5702975" y="1706575"/>
            <a:ext cx="1362600" cy="145800"/>
          </a:xfrm>
          <a:prstGeom prst="rect">
            <a:avLst/>
          </a:prstGeom>
          <a:solidFill>
            <a:srgbClr val="F49E17">
              <a:alpha val="10000"/>
            </a:srgbClr>
          </a:solidFill>
          <a:ln w="242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0">
              <a:solidFill>
                <a:schemeClr val="lt1"/>
              </a:solidFill>
            </a:endParaRPr>
          </a:p>
        </p:txBody>
      </p:sp>
      <p:sp>
        <p:nvSpPr>
          <p:cNvPr id="734" name="Google Shape;734;p72"/>
          <p:cNvSpPr txBox="1"/>
          <p:nvPr/>
        </p:nvSpPr>
        <p:spPr>
          <a:xfrm>
            <a:off x="5643850" y="1852375"/>
            <a:ext cx="1468500" cy="32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lt1"/>
                </a:solidFill>
              </a:rPr>
              <a:t>Zoom tools</a:t>
            </a:r>
            <a:endParaRPr sz="1600" b="1" dirty="0">
              <a:solidFill>
                <a:schemeClr val="lt1"/>
              </a:solidFill>
            </a:endParaRPr>
          </a:p>
        </p:txBody>
      </p:sp>
      <p:sp>
        <p:nvSpPr>
          <p:cNvPr id="735" name="Google Shape;735;p72"/>
          <p:cNvSpPr txBox="1"/>
          <p:nvPr/>
        </p:nvSpPr>
        <p:spPr>
          <a:xfrm>
            <a:off x="1943375" y="1852375"/>
            <a:ext cx="1811700" cy="32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</a:rPr>
              <a:t>Current location</a:t>
            </a:r>
            <a:endParaRPr sz="1600" b="1">
              <a:solidFill>
                <a:schemeClr val="lt1"/>
              </a:solidFill>
            </a:endParaRPr>
          </a:p>
        </p:txBody>
      </p:sp>
      <p:sp>
        <p:nvSpPr>
          <p:cNvPr id="736" name="Google Shape;736;p72"/>
          <p:cNvSpPr/>
          <p:nvPr/>
        </p:nvSpPr>
        <p:spPr>
          <a:xfrm>
            <a:off x="2542474" y="1674900"/>
            <a:ext cx="613500" cy="184800"/>
          </a:xfrm>
          <a:prstGeom prst="rect">
            <a:avLst/>
          </a:prstGeom>
          <a:solidFill>
            <a:srgbClr val="F49E17">
              <a:alpha val="10000"/>
            </a:srgbClr>
          </a:solidFill>
          <a:ln w="242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0">
              <a:solidFill>
                <a:schemeClr val="lt1"/>
              </a:solidFill>
            </a:endParaRPr>
          </a:p>
        </p:txBody>
      </p:sp>
      <p:sp>
        <p:nvSpPr>
          <p:cNvPr id="737" name="Google Shape;737;p72"/>
          <p:cNvSpPr/>
          <p:nvPr/>
        </p:nvSpPr>
        <p:spPr>
          <a:xfrm>
            <a:off x="2075974" y="3625875"/>
            <a:ext cx="5009700" cy="277500"/>
          </a:xfrm>
          <a:prstGeom prst="rect">
            <a:avLst/>
          </a:prstGeom>
          <a:solidFill>
            <a:srgbClr val="F49E17">
              <a:alpha val="10000"/>
            </a:srgbClr>
          </a:solidFill>
          <a:ln w="242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0">
              <a:solidFill>
                <a:schemeClr val="lt1"/>
              </a:solidFill>
            </a:endParaRPr>
          </a:p>
        </p:txBody>
      </p:sp>
      <p:sp>
        <p:nvSpPr>
          <p:cNvPr id="738" name="Google Shape;738;p72"/>
          <p:cNvSpPr txBox="1"/>
          <p:nvPr/>
        </p:nvSpPr>
        <p:spPr>
          <a:xfrm>
            <a:off x="3168425" y="3301575"/>
            <a:ext cx="2824800" cy="32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lt1"/>
                </a:solidFill>
              </a:rPr>
              <a:t>Regulatory features card</a:t>
            </a:r>
            <a:endParaRPr sz="1600" b="1" dirty="0">
              <a:solidFill>
                <a:schemeClr val="lt1"/>
              </a:solidFill>
            </a:endParaRPr>
          </a:p>
        </p:txBody>
      </p:sp>
      <p:sp>
        <p:nvSpPr>
          <p:cNvPr id="739" name="Google Shape;739;p72"/>
          <p:cNvSpPr/>
          <p:nvPr/>
        </p:nvSpPr>
        <p:spPr>
          <a:xfrm>
            <a:off x="2075975" y="4265775"/>
            <a:ext cx="5009700" cy="824100"/>
          </a:xfrm>
          <a:prstGeom prst="rect">
            <a:avLst/>
          </a:prstGeom>
          <a:solidFill>
            <a:srgbClr val="F49E17">
              <a:alpha val="10000"/>
            </a:srgbClr>
          </a:solidFill>
          <a:ln w="242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0">
              <a:solidFill>
                <a:schemeClr val="lt1"/>
              </a:solidFill>
            </a:endParaRPr>
          </a:p>
        </p:txBody>
      </p:sp>
      <p:sp>
        <p:nvSpPr>
          <p:cNvPr id="740" name="Google Shape;740;p72"/>
          <p:cNvSpPr txBox="1"/>
          <p:nvPr/>
        </p:nvSpPr>
        <p:spPr>
          <a:xfrm>
            <a:off x="3458675" y="3941475"/>
            <a:ext cx="2244300" cy="32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lt1"/>
                </a:solidFill>
              </a:rPr>
              <a:t>Filtered epigenomes</a:t>
            </a:r>
            <a:endParaRPr sz="1600" b="1" dirty="0">
              <a:solidFill>
                <a:schemeClr val="lt1"/>
              </a:solidFill>
            </a:endParaRPr>
          </a:p>
        </p:txBody>
      </p:sp>
      <p:pic>
        <p:nvPicPr>
          <p:cNvPr id="741" name="Google Shape;74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1875" y="3"/>
            <a:ext cx="1132125" cy="11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" grpId="0" animBg="1"/>
      <p:bldP spid="732" grpId="0" animBg="1"/>
      <p:bldP spid="733" grpId="0" animBg="1"/>
      <p:bldP spid="734" grpId="0" animBg="1"/>
      <p:bldP spid="735" grpId="0" animBg="1"/>
      <p:bldP spid="736" grpId="0" animBg="1"/>
      <p:bldP spid="737" grpId="0" animBg="1"/>
      <p:bldP spid="738" grpId="0" animBg="1"/>
      <p:bldP spid="739" grpId="0" animBg="1"/>
      <p:bldP spid="74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950" y="1130400"/>
            <a:ext cx="7811700" cy="34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73"/>
          <p:cNvSpPr/>
          <p:nvPr/>
        </p:nvSpPr>
        <p:spPr>
          <a:xfrm>
            <a:off x="7314925" y="4625200"/>
            <a:ext cx="1829100" cy="51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48" name="Google Shape;748;p73"/>
          <p:cNvSpPr txBox="1">
            <a:spLocks noGrp="1"/>
          </p:cNvSpPr>
          <p:nvPr>
            <p:ph type="title"/>
          </p:nvPr>
        </p:nvSpPr>
        <p:spPr>
          <a:xfrm>
            <a:off x="345888" y="35079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Genome view tab: zoomed out</a:t>
            </a:r>
            <a:endParaRPr/>
          </a:p>
        </p:txBody>
      </p:sp>
      <p:sp>
        <p:nvSpPr>
          <p:cNvPr id="749" name="Google Shape;749;p73"/>
          <p:cNvSpPr txBox="1"/>
          <p:nvPr/>
        </p:nvSpPr>
        <p:spPr>
          <a:xfrm>
            <a:off x="871225" y="2304575"/>
            <a:ext cx="1026900" cy="41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lt1"/>
                </a:solidFill>
              </a:rPr>
              <a:t>Scale</a:t>
            </a:r>
            <a:endParaRPr sz="1600" b="1" dirty="0">
              <a:solidFill>
                <a:schemeClr val="lt1"/>
              </a:solidFill>
            </a:endParaRPr>
          </a:p>
        </p:txBody>
      </p:sp>
      <p:sp>
        <p:nvSpPr>
          <p:cNvPr id="750" name="Google Shape;750;p73"/>
          <p:cNvSpPr/>
          <p:nvPr/>
        </p:nvSpPr>
        <p:spPr>
          <a:xfrm>
            <a:off x="1146625" y="2145275"/>
            <a:ext cx="476100" cy="159300"/>
          </a:xfrm>
          <a:prstGeom prst="rect">
            <a:avLst/>
          </a:prstGeom>
          <a:solidFill>
            <a:srgbClr val="F49E17">
              <a:alpha val="10000"/>
            </a:srgbClr>
          </a:solidFill>
          <a:ln w="242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0">
              <a:solidFill>
                <a:schemeClr val="lt1"/>
              </a:solidFill>
            </a:endParaRPr>
          </a:p>
        </p:txBody>
      </p:sp>
      <p:sp>
        <p:nvSpPr>
          <p:cNvPr id="751" name="Google Shape;751;p73"/>
          <p:cNvSpPr/>
          <p:nvPr/>
        </p:nvSpPr>
        <p:spPr>
          <a:xfrm>
            <a:off x="6844500" y="1966825"/>
            <a:ext cx="410400" cy="232200"/>
          </a:xfrm>
          <a:prstGeom prst="rect">
            <a:avLst/>
          </a:prstGeom>
          <a:solidFill>
            <a:srgbClr val="F49E17">
              <a:alpha val="10000"/>
            </a:srgbClr>
          </a:solidFill>
          <a:ln w="242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0">
              <a:solidFill>
                <a:schemeClr val="lt1"/>
              </a:solidFill>
            </a:endParaRPr>
          </a:p>
        </p:txBody>
      </p:sp>
      <p:sp>
        <p:nvSpPr>
          <p:cNvPr id="752" name="Google Shape;752;p73"/>
          <p:cNvSpPr txBox="1"/>
          <p:nvPr/>
        </p:nvSpPr>
        <p:spPr>
          <a:xfrm>
            <a:off x="6273900" y="2199025"/>
            <a:ext cx="1551600" cy="41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lt1"/>
                </a:solidFill>
              </a:rPr>
              <a:t>Zoom out</a:t>
            </a:r>
            <a:endParaRPr sz="1600" b="1" dirty="0">
              <a:solidFill>
                <a:schemeClr val="lt1"/>
              </a:solidFill>
            </a:endParaRPr>
          </a:p>
        </p:txBody>
      </p:sp>
      <p:sp>
        <p:nvSpPr>
          <p:cNvPr id="753" name="Google Shape;753;p73"/>
          <p:cNvSpPr txBox="1"/>
          <p:nvPr/>
        </p:nvSpPr>
        <p:spPr>
          <a:xfrm>
            <a:off x="650000" y="1567475"/>
            <a:ext cx="2220000" cy="41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lt1"/>
                </a:solidFill>
              </a:rPr>
              <a:t>Current coordinates</a:t>
            </a:r>
            <a:endParaRPr sz="1600" b="1" dirty="0">
              <a:solidFill>
                <a:schemeClr val="lt1"/>
              </a:solidFill>
            </a:endParaRPr>
          </a:p>
        </p:txBody>
      </p:sp>
      <p:sp>
        <p:nvSpPr>
          <p:cNvPr id="754" name="Google Shape;754;p73"/>
          <p:cNvSpPr/>
          <p:nvPr/>
        </p:nvSpPr>
        <p:spPr>
          <a:xfrm>
            <a:off x="1278050" y="1985975"/>
            <a:ext cx="963900" cy="159300"/>
          </a:xfrm>
          <a:prstGeom prst="rect">
            <a:avLst/>
          </a:prstGeom>
          <a:solidFill>
            <a:srgbClr val="F49E17">
              <a:alpha val="10000"/>
            </a:srgbClr>
          </a:solidFill>
          <a:ln w="242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0">
              <a:solidFill>
                <a:schemeClr val="lt1"/>
              </a:solidFill>
            </a:endParaRPr>
          </a:p>
        </p:txBody>
      </p:sp>
      <p:pic>
        <p:nvPicPr>
          <p:cNvPr id="755" name="Google Shape;75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3588" y="0"/>
            <a:ext cx="1130400" cy="11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9" grpId="0" animBg="1"/>
      <p:bldP spid="750" grpId="0" animBg="1"/>
      <p:bldP spid="751" grpId="0" animBg="1"/>
      <p:bldP spid="752" grpId="0" animBg="1"/>
      <p:bldP spid="753" grpId="0" animBg="1"/>
      <p:bldP spid="75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4"/>
          <p:cNvSpPr txBox="1">
            <a:spLocks noGrp="1"/>
          </p:cNvSpPr>
          <p:nvPr>
            <p:ph type="title"/>
          </p:nvPr>
        </p:nvSpPr>
        <p:spPr>
          <a:xfrm>
            <a:off x="345888" y="390969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Genome view tab: chromosome change</a:t>
            </a:r>
            <a:endParaRPr/>
          </a:p>
        </p:txBody>
      </p:sp>
      <p:pic>
        <p:nvPicPr>
          <p:cNvPr id="761" name="Google Shape;76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9150" y="909375"/>
            <a:ext cx="4225704" cy="4234124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74"/>
          <p:cNvSpPr txBox="1"/>
          <p:nvPr/>
        </p:nvSpPr>
        <p:spPr>
          <a:xfrm>
            <a:off x="2243600" y="1495175"/>
            <a:ext cx="2624700" cy="41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</a:rPr>
              <a:t>Change chromosome</a:t>
            </a:r>
            <a:endParaRPr sz="1600" b="1">
              <a:solidFill>
                <a:schemeClr val="lt1"/>
              </a:solidFill>
            </a:endParaRPr>
          </a:p>
        </p:txBody>
      </p:sp>
      <p:sp>
        <p:nvSpPr>
          <p:cNvPr id="763" name="Google Shape;763;p74"/>
          <p:cNvSpPr/>
          <p:nvPr/>
        </p:nvSpPr>
        <p:spPr>
          <a:xfrm>
            <a:off x="2824550" y="1910675"/>
            <a:ext cx="1462800" cy="2732700"/>
          </a:xfrm>
          <a:prstGeom prst="rect">
            <a:avLst/>
          </a:prstGeom>
          <a:solidFill>
            <a:srgbClr val="F49E17">
              <a:alpha val="10000"/>
            </a:srgbClr>
          </a:solidFill>
          <a:ln w="242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0">
              <a:solidFill>
                <a:schemeClr val="lt1"/>
              </a:solidFill>
            </a:endParaRPr>
          </a:p>
        </p:txBody>
      </p:sp>
      <p:pic>
        <p:nvPicPr>
          <p:cNvPr id="764" name="Google Shape;76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1875" y="3"/>
            <a:ext cx="1132125" cy="11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7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Genome view tab: Gene search</a:t>
            </a:r>
            <a:endParaRPr/>
          </a:p>
        </p:txBody>
      </p:sp>
      <p:pic>
        <p:nvPicPr>
          <p:cNvPr id="770" name="Google Shape;77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2250"/>
            <a:ext cx="4762589" cy="4351251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75"/>
          <p:cNvSpPr/>
          <p:nvPr/>
        </p:nvSpPr>
        <p:spPr>
          <a:xfrm>
            <a:off x="54376" y="3047525"/>
            <a:ext cx="4652400" cy="1252200"/>
          </a:xfrm>
          <a:prstGeom prst="rect">
            <a:avLst/>
          </a:prstGeom>
          <a:solidFill>
            <a:srgbClr val="F49E17">
              <a:alpha val="10000"/>
            </a:srgbClr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0">
              <a:solidFill>
                <a:schemeClr val="lt1"/>
              </a:solidFill>
            </a:endParaRPr>
          </a:p>
        </p:txBody>
      </p:sp>
      <p:sp>
        <p:nvSpPr>
          <p:cNvPr id="772" name="Google Shape;772;p75"/>
          <p:cNvSpPr txBox="1"/>
          <p:nvPr/>
        </p:nvSpPr>
        <p:spPr>
          <a:xfrm>
            <a:off x="1472475" y="2632025"/>
            <a:ext cx="1816200" cy="41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lt1"/>
                </a:solidFill>
              </a:rPr>
              <a:t>Genes card</a:t>
            </a:r>
            <a:endParaRPr sz="1600" b="1" dirty="0">
              <a:solidFill>
                <a:schemeClr val="lt1"/>
              </a:solidFill>
            </a:endParaRPr>
          </a:p>
        </p:txBody>
      </p:sp>
      <p:pic>
        <p:nvPicPr>
          <p:cNvPr id="773" name="Google Shape;773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9225" y="1192775"/>
            <a:ext cx="4850575" cy="2259499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74" name="Google Shape;774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11875" y="0"/>
            <a:ext cx="1132125" cy="11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1" grpId="0" animBg="1"/>
      <p:bldP spid="77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Genome view tab: Gene page link</a:t>
            </a:r>
            <a:endParaRPr/>
          </a:p>
        </p:txBody>
      </p:sp>
      <p:pic>
        <p:nvPicPr>
          <p:cNvPr id="780" name="Google Shape;78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0399" y="792250"/>
            <a:ext cx="5863194" cy="4351249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76"/>
          <p:cNvSpPr/>
          <p:nvPr/>
        </p:nvSpPr>
        <p:spPr>
          <a:xfrm>
            <a:off x="1897475" y="4643450"/>
            <a:ext cx="756000" cy="195300"/>
          </a:xfrm>
          <a:prstGeom prst="rect">
            <a:avLst/>
          </a:prstGeom>
          <a:solidFill>
            <a:srgbClr val="F49E17">
              <a:alpha val="10000"/>
            </a:srgbClr>
          </a:solidFill>
          <a:ln w="24225" cap="flat" cmpd="sng">
            <a:solidFill>
              <a:srgbClr val="F49E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0">
              <a:solidFill>
                <a:srgbClr val="FFFFFF"/>
              </a:solidFill>
            </a:endParaRPr>
          </a:p>
        </p:txBody>
      </p:sp>
      <p:sp>
        <p:nvSpPr>
          <p:cNvPr id="782" name="Google Shape;782;p76"/>
          <p:cNvSpPr txBox="1"/>
          <p:nvPr/>
        </p:nvSpPr>
        <p:spPr>
          <a:xfrm>
            <a:off x="1362125" y="4291850"/>
            <a:ext cx="1826700" cy="351600"/>
          </a:xfrm>
          <a:prstGeom prst="rect">
            <a:avLst/>
          </a:prstGeom>
          <a:solidFill>
            <a:srgbClr val="F49E17"/>
          </a:solidFill>
          <a:ln w="9525" cap="flat" cmpd="sng">
            <a:solidFill>
              <a:srgbClr val="F49E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Gene page link</a:t>
            </a:r>
            <a:endParaRPr sz="1600" b="1" dirty="0">
              <a:solidFill>
                <a:srgbClr val="FFFFFF"/>
              </a:solidFill>
            </a:endParaRPr>
          </a:p>
        </p:txBody>
      </p:sp>
      <p:pic>
        <p:nvPicPr>
          <p:cNvPr id="783" name="Google Shape;783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1875" y="0"/>
            <a:ext cx="1132125" cy="11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1" grpId="0" animBg="1"/>
      <p:bldP spid="78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77"/>
          <p:cNvSpPr/>
          <p:nvPr/>
        </p:nvSpPr>
        <p:spPr>
          <a:xfrm>
            <a:off x="7250100" y="4700400"/>
            <a:ext cx="1893900" cy="44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89" name="Google Shape;789;p7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Genes tab</a:t>
            </a:r>
            <a:endParaRPr/>
          </a:p>
        </p:txBody>
      </p:sp>
      <p:pic>
        <p:nvPicPr>
          <p:cNvPr id="790" name="Google Shape;79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125" y="792250"/>
            <a:ext cx="7157740" cy="43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1875" y="0"/>
            <a:ext cx="1132125" cy="11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Genome view tab: Regulatory feature selection</a:t>
            </a:r>
            <a:endParaRPr/>
          </a:p>
        </p:txBody>
      </p:sp>
      <p:pic>
        <p:nvPicPr>
          <p:cNvPr id="797" name="Google Shape;79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3697" y="792250"/>
            <a:ext cx="5089002" cy="4295526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78"/>
          <p:cNvSpPr/>
          <p:nvPr/>
        </p:nvSpPr>
        <p:spPr>
          <a:xfrm>
            <a:off x="2243700" y="3099575"/>
            <a:ext cx="5088900" cy="2044200"/>
          </a:xfrm>
          <a:prstGeom prst="rect">
            <a:avLst/>
          </a:prstGeom>
          <a:solidFill>
            <a:srgbClr val="F49E17">
              <a:alpha val="10000"/>
            </a:srgbClr>
          </a:solidFill>
          <a:ln w="24225" cap="flat" cmpd="sng">
            <a:solidFill>
              <a:srgbClr val="F49E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0">
              <a:solidFill>
                <a:srgbClr val="FFFFFF"/>
              </a:solidFill>
            </a:endParaRPr>
          </a:p>
        </p:txBody>
      </p:sp>
      <p:sp>
        <p:nvSpPr>
          <p:cNvPr id="799" name="Google Shape;799;p78"/>
          <p:cNvSpPr txBox="1"/>
          <p:nvPr/>
        </p:nvSpPr>
        <p:spPr>
          <a:xfrm>
            <a:off x="2963100" y="2684075"/>
            <a:ext cx="3217800" cy="415500"/>
          </a:xfrm>
          <a:prstGeom prst="rect">
            <a:avLst/>
          </a:prstGeom>
          <a:solidFill>
            <a:srgbClr val="F49E17"/>
          </a:solidFill>
          <a:ln>
            <a:noFill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Regulatory features selection</a:t>
            </a:r>
            <a:endParaRPr sz="16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" grpId="0" animBg="1"/>
      <p:bldP spid="79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79"/>
          <p:cNvSpPr txBox="1">
            <a:spLocks noGrp="1"/>
          </p:cNvSpPr>
          <p:nvPr>
            <p:ph type="title"/>
          </p:nvPr>
        </p:nvSpPr>
        <p:spPr>
          <a:xfrm>
            <a:off x="345888" y="390969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Genome view tab: Regulatory activity</a:t>
            </a:r>
            <a:endParaRPr/>
          </a:p>
        </p:txBody>
      </p:sp>
      <p:pic>
        <p:nvPicPr>
          <p:cNvPr id="805" name="Google Shape;80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713" y="909375"/>
            <a:ext cx="5576578" cy="4234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9150" y="0"/>
            <a:ext cx="1132125" cy="11321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9"/>
          <p:cNvSpPr/>
          <p:nvPr/>
        </p:nvSpPr>
        <p:spPr>
          <a:xfrm>
            <a:off x="1783763" y="3834250"/>
            <a:ext cx="5576700" cy="1309500"/>
          </a:xfrm>
          <a:prstGeom prst="rect">
            <a:avLst/>
          </a:prstGeom>
          <a:solidFill>
            <a:srgbClr val="F49E17">
              <a:alpha val="10000"/>
            </a:srgbClr>
          </a:solidFill>
          <a:ln w="32075" cap="flat" cmpd="sng">
            <a:solidFill>
              <a:srgbClr val="F49E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3850" tIns="153850" rIns="153850" bIns="153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56">
              <a:solidFill>
                <a:srgbClr val="FFFFFF"/>
              </a:solidFill>
            </a:endParaRPr>
          </a:p>
        </p:txBody>
      </p:sp>
      <p:sp>
        <p:nvSpPr>
          <p:cNvPr id="808" name="Google Shape;808;p79"/>
          <p:cNvSpPr txBox="1"/>
          <p:nvPr/>
        </p:nvSpPr>
        <p:spPr>
          <a:xfrm>
            <a:off x="3470850" y="3394750"/>
            <a:ext cx="2202300" cy="439500"/>
          </a:xfrm>
          <a:prstGeom prst="rect">
            <a:avLst/>
          </a:prstGeom>
          <a:solidFill>
            <a:srgbClr val="F49E17"/>
          </a:solidFill>
          <a:ln>
            <a:noFill/>
          </a:ln>
        </p:spPr>
        <p:txBody>
          <a:bodyPr spcFirstLastPara="1" wrap="square" lIns="153850" tIns="153850" rIns="153850" bIns="153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Regulatory activity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2" name="Google Shape;733;p72">
            <a:extLst>
              <a:ext uri="{FF2B5EF4-FFF2-40B4-BE49-F238E27FC236}">
                <a16:creationId xmlns:a16="http://schemas.microsoft.com/office/drawing/2014/main" id="{BAA83066-386B-5E08-DE12-8DF844EA4363}"/>
              </a:ext>
            </a:extLst>
          </p:cNvPr>
          <p:cNvSpPr/>
          <p:nvPr/>
        </p:nvSpPr>
        <p:spPr>
          <a:xfrm>
            <a:off x="5732274" y="1389310"/>
            <a:ext cx="1582925" cy="145800"/>
          </a:xfrm>
          <a:prstGeom prst="rect">
            <a:avLst/>
          </a:prstGeom>
          <a:solidFill>
            <a:srgbClr val="F49E17">
              <a:alpha val="10000"/>
            </a:srgbClr>
          </a:solidFill>
          <a:ln w="242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0">
              <a:solidFill>
                <a:schemeClr val="lt1"/>
              </a:solidFill>
            </a:endParaRPr>
          </a:p>
        </p:txBody>
      </p:sp>
      <p:sp>
        <p:nvSpPr>
          <p:cNvPr id="3" name="Google Shape;734;p72">
            <a:extLst>
              <a:ext uri="{FF2B5EF4-FFF2-40B4-BE49-F238E27FC236}">
                <a16:creationId xmlns:a16="http://schemas.microsoft.com/office/drawing/2014/main" id="{0356F8DE-1675-B270-0602-5835E5D8B817}"/>
              </a:ext>
            </a:extLst>
          </p:cNvPr>
          <p:cNvSpPr txBox="1"/>
          <p:nvPr/>
        </p:nvSpPr>
        <p:spPr>
          <a:xfrm>
            <a:off x="5789486" y="1535110"/>
            <a:ext cx="1468500" cy="32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lt1"/>
                </a:solidFill>
              </a:rPr>
              <a:t>Zoom tools</a:t>
            </a:r>
            <a:endParaRPr sz="1600"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7" grpId="0" animBg="1"/>
      <p:bldP spid="808" grpId="0" animBg="1"/>
      <p:bldP spid="2" grpId="0" animBg="1"/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8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Genes tab</a:t>
            </a:r>
            <a:endParaRPr/>
          </a:p>
        </p:txBody>
      </p:sp>
      <p:pic>
        <p:nvPicPr>
          <p:cNvPr id="814" name="Google Shape;81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050" y="855644"/>
            <a:ext cx="6185203" cy="4046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1875" y="0"/>
            <a:ext cx="1132125" cy="11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81"/>
          <p:cNvSpPr txBox="1">
            <a:spLocks noGrp="1"/>
          </p:cNvSpPr>
          <p:nvPr>
            <p:ph type="title"/>
          </p:nvPr>
        </p:nvSpPr>
        <p:spPr>
          <a:xfrm>
            <a:off x="65263" y="185900"/>
            <a:ext cx="91440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Differences between regulatory annotation frameworks</a:t>
            </a:r>
            <a:endParaRPr/>
          </a:p>
        </p:txBody>
      </p:sp>
      <p:graphicFrame>
        <p:nvGraphicFramePr>
          <p:cNvPr id="821" name="Google Shape;821;p81"/>
          <p:cNvGraphicFramePr/>
          <p:nvPr/>
        </p:nvGraphicFramePr>
        <p:xfrm>
          <a:off x="281325" y="827975"/>
          <a:ext cx="8711875" cy="3908575"/>
        </p:xfrm>
        <a:graphic>
          <a:graphicData uri="http://schemas.openxmlformats.org/drawingml/2006/table">
            <a:tbl>
              <a:tblPr>
                <a:noFill/>
                <a:tableStyleId>{36A24227-F492-472F-826B-EC29D6F5AE07}</a:tableStyleId>
              </a:tblPr>
              <a:tblGrid>
                <a:gridCol w="107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Resource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29A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Main evidence categories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29A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What it is useful for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29A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Main caveat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29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i="1"/>
                        <a:t>Ensembl Regulation</a:t>
                      </a:r>
                      <a:endParaRPr sz="1000" i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Chromatin accessibility, histone modifications, </a:t>
                      </a:r>
                      <a:r>
                        <a:rPr lang="en-GB" sz="1000">
                          <a:solidFill>
                            <a:srgbClr val="000000"/>
                          </a:solidFill>
                        </a:rPr>
                        <a:t>CTCF ChIP-seq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Integrated regulatory features: promoters, enhancers, open chromatin regions, CTCF sites; activity across epigenomes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Evidence-based annotation, not direct proof of regulatory function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i="1"/>
                        <a:t>ENCODE cCREs / SCREEN</a:t>
                      </a:r>
                      <a:endParaRPr sz="1000" i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000000"/>
                          </a:solidFill>
                        </a:rPr>
                        <a:t>Chromatin</a:t>
                      </a:r>
                      <a:r>
                        <a:rPr lang="en-GB" sz="1000"/>
                        <a:t> accessibility, histone </a:t>
                      </a:r>
                      <a:r>
                        <a:rPr lang="en-GB" sz="1000">
                          <a:solidFill>
                            <a:srgbClr val="000000"/>
                          </a:solidFill>
                        </a:rPr>
                        <a:t>modifications</a:t>
                      </a:r>
                      <a:r>
                        <a:rPr lang="en-GB" sz="1000"/>
                        <a:t>, CTCF/TF ChIP-seq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Candidate cis-regulatory elements with promoter-like, enhancer-like, CTCF-like and other classes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Strong genome-wide catalogue, but still “candidate” elements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i="1"/>
                        <a:t>RefSeq Functional Elements</a:t>
                      </a:r>
                      <a:endParaRPr sz="1000" i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Manually curated experimental evidence, literature, protein binding, functional assays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High-confidence functional regions such as enhancers, silencers, insulators and locus control regions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Curated and evidence-rich, but less comprehensive genome-wide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i="1"/>
                        <a:t>FANTOM5</a:t>
                      </a:r>
                      <a:endParaRPr sz="1000" i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Transcription-based evidence, mainly CAGE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Active promoters and transcribed enhancers across many cell types/tissues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Best for active transcribed elements; may miss poised or non-transcribed CREs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i="1"/>
                        <a:t>Roadmap Epigenomics / ChromHMM</a:t>
                      </a:r>
                      <a:endParaRPr sz="1000" i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Chromatin accessibility, histone modifications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Chromatin-state annotations across many tissues/cell types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State labels are model-based and assay-dependent. Older technologies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i="1"/>
                        <a:t>VISTA Browser</a:t>
                      </a:r>
                      <a:endParaRPr sz="1000" i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Comparative genomics plus in vivo reporter assays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Experimentally validated developmental enhancers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Very valuable but focused on tested fragments, not comprehensive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82"/>
          <p:cNvSpPr txBox="1">
            <a:spLocks noGrp="1"/>
          </p:cNvSpPr>
          <p:nvPr>
            <p:ph type="title"/>
          </p:nvPr>
        </p:nvSpPr>
        <p:spPr>
          <a:xfrm>
            <a:off x="338138" y="3494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Differences between regulatory annotation frameworks: GRCh38</a:t>
            </a:r>
            <a:endParaRPr/>
          </a:p>
        </p:txBody>
      </p:sp>
      <p:pic>
        <p:nvPicPr>
          <p:cNvPr id="827" name="Google Shape;82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150" y="945750"/>
            <a:ext cx="7106699" cy="381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8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Differences between regulatory annotation frameworks: GRCh38</a:t>
            </a:r>
            <a:endParaRPr/>
          </a:p>
        </p:txBody>
      </p:sp>
      <p:pic>
        <p:nvPicPr>
          <p:cNvPr id="833" name="Google Shape;83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0200" y="866775"/>
            <a:ext cx="7114501" cy="38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84"/>
          <p:cNvSpPr txBox="1">
            <a:spLocks noGrp="1"/>
          </p:cNvSpPr>
          <p:nvPr>
            <p:ph type="title"/>
          </p:nvPr>
        </p:nvSpPr>
        <p:spPr>
          <a:xfrm>
            <a:off x="338138" y="3494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Differences between regulatory annotation frameworks: GRCh38</a:t>
            </a:r>
            <a:endParaRPr/>
          </a:p>
        </p:txBody>
      </p:sp>
      <p:pic>
        <p:nvPicPr>
          <p:cNvPr id="839" name="Google Shape;83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450" y="867850"/>
            <a:ext cx="7137873" cy="38517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0" name="Google Shape;840;p84"/>
          <p:cNvCxnSpPr/>
          <p:nvPr/>
        </p:nvCxnSpPr>
        <p:spPr>
          <a:xfrm rot="10800000">
            <a:off x="2445600" y="2819525"/>
            <a:ext cx="54600" cy="412800"/>
          </a:xfrm>
          <a:prstGeom prst="straightConnector1">
            <a:avLst/>
          </a:prstGeom>
          <a:noFill/>
          <a:ln w="19050" cap="flat" cmpd="sng">
            <a:solidFill>
              <a:srgbClr val="18974C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41" name="Google Shape;841;p84"/>
          <p:cNvCxnSpPr/>
          <p:nvPr/>
        </p:nvCxnSpPr>
        <p:spPr>
          <a:xfrm rot="10800000" flipH="1">
            <a:off x="4950275" y="2765050"/>
            <a:ext cx="548700" cy="323700"/>
          </a:xfrm>
          <a:prstGeom prst="straightConnector1">
            <a:avLst/>
          </a:prstGeom>
          <a:noFill/>
          <a:ln w="19050" cap="flat" cmpd="sng">
            <a:solidFill>
              <a:srgbClr val="18974C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42" name="Google Shape;842;p84"/>
          <p:cNvCxnSpPr/>
          <p:nvPr/>
        </p:nvCxnSpPr>
        <p:spPr>
          <a:xfrm rot="10800000" flipH="1">
            <a:off x="6707175" y="2804050"/>
            <a:ext cx="333900" cy="284700"/>
          </a:xfrm>
          <a:prstGeom prst="straightConnector1">
            <a:avLst/>
          </a:prstGeom>
          <a:noFill/>
          <a:ln w="19050" cap="flat" cmpd="sng">
            <a:solidFill>
              <a:srgbClr val="18974C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Differences between regulatory annotation frameworks: GRCh38</a:t>
            </a:r>
            <a:endParaRPr/>
          </a:p>
        </p:txBody>
      </p:sp>
      <p:pic>
        <p:nvPicPr>
          <p:cNvPr id="848" name="Google Shape;84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788" y="687619"/>
            <a:ext cx="7634924" cy="4046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8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Differences between regulatory annotation frameworks: GRCh38</a:t>
            </a:r>
            <a:endParaRPr/>
          </a:p>
        </p:txBody>
      </p:sp>
      <p:pic>
        <p:nvPicPr>
          <p:cNvPr id="854" name="Google Shape;85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900" y="792250"/>
            <a:ext cx="7161575" cy="4007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5" name="Google Shape;855;p86"/>
          <p:cNvCxnSpPr/>
          <p:nvPr/>
        </p:nvCxnSpPr>
        <p:spPr>
          <a:xfrm rot="10800000" flipH="1">
            <a:off x="1935675" y="3281600"/>
            <a:ext cx="1488600" cy="428400"/>
          </a:xfrm>
          <a:prstGeom prst="straightConnector1">
            <a:avLst/>
          </a:prstGeom>
          <a:noFill/>
          <a:ln w="19050" cap="flat" cmpd="sng">
            <a:solidFill>
              <a:srgbClr val="18974C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56" name="Google Shape;856;p86"/>
          <p:cNvCxnSpPr/>
          <p:nvPr/>
        </p:nvCxnSpPr>
        <p:spPr>
          <a:xfrm rot="10800000">
            <a:off x="3591825" y="3846100"/>
            <a:ext cx="310200" cy="372300"/>
          </a:xfrm>
          <a:prstGeom prst="straightConnector1">
            <a:avLst/>
          </a:prstGeom>
          <a:noFill/>
          <a:ln w="19050" cap="flat" cmpd="sng">
            <a:solidFill>
              <a:srgbClr val="18974C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57" name="Google Shape;857;p86"/>
          <p:cNvCxnSpPr/>
          <p:nvPr/>
        </p:nvCxnSpPr>
        <p:spPr>
          <a:xfrm rot="10800000">
            <a:off x="4144150" y="3120125"/>
            <a:ext cx="353400" cy="285600"/>
          </a:xfrm>
          <a:prstGeom prst="straightConnector1">
            <a:avLst/>
          </a:prstGeom>
          <a:noFill/>
          <a:ln w="19050" cap="flat" cmpd="sng">
            <a:solidFill>
              <a:srgbClr val="18974C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58" name="Google Shape;858;p86"/>
          <p:cNvCxnSpPr/>
          <p:nvPr/>
        </p:nvCxnSpPr>
        <p:spPr>
          <a:xfrm rot="10800000" flipH="1">
            <a:off x="6650175" y="2785275"/>
            <a:ext cx="155100" cy="316500"/>
          </a:xfrm>
          <a:prstGeom prst="straightConnector1">
            <a:avLst/>
          </a:prstGeom>
          <a:noFill/>
          <a:ln w="19050" cap="flat" cmpd="sng">
            <a:solidFill>
              <a:srgbClr val="18974C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8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Differences between regulatory annotation frameworks: GRCh38</a:t>
            </a:r>
            <a:endParaRPr/>
          </a:p>
        </p:txBody>
      </p:sp>
      <p:pic>
        <p:nvPicPr>
          <p:cNvPr id="864" name="Google Shape;864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5125" y="1074924"/>
            <a:ext cx="6372874" cy="362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8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Questions?</a:t>
            </a:r>
            <a:endParaRPr/>
          </a:p>
        </p:txBody>
      </p:sp>
      <p:grpSp>
        <p:nvGrpSpPr>
          <p:cNvPr id="870" name="Google Shape;870;p88"/>
          <p:cNvGrpSpPr/>
          <p:nvPr/>
        </p:nvGrpSpPr>
        <p:grpSpPr>
          <a:xfrm>
            <a:off x="1788346" y="1314725"/>
            <a:ext cx="776475" cy="2406685"/>
            <a:chOff x="3226825" y="1139765"/>
            <a:chExt cx="776475" cy="2406685"/>
          </a:xfrm>
        </p:grpSpPr>
        <p:sp>
          <p:nvSpPr>
            <p:cNvPr id="871" name="Google Shape;871;p88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274E1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2" name="Google Shape;872;p88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274E1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3" name="Google Shape;873;p88"/>
          <p:cNvGrpSpPr/>
          <p:nvPr/>
        </p:nvGrpSpPr>
        <p:grpSpPr>
          <a:xfrm>
            <a:off x="6367779" y="1366550"/>
            <a:ext cx="776475" cy="2406685"/>
            <a:chOff x="3226825" y="1139765"/>
            <a:chExt cx="776475" cy="2406685"/>
          </a:xfrm>
        </p:grpSpPr>
        <p:sp>
          <p:nvSpPr>
            <p:cNvPr id="874" name="Google Shape;874;p88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B6D7A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5" name="Google Shape;875;p88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B6D7A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6" name="Google Shape;876;p88"/>
          <p:cNvGrpSpPr/>
          <p:nvPr/>
        </p:nvGrpSpPr>
        <p:grpSpPr>
          <a:xfrm>
            <a:off x="2933204" y="1366550"/>
            <a:ext cx="776475" cy="2406685"/>
            <a:chOff x="3226825" y="1139765"/>
            <a:chExt cx="776475" cy="2406685"/>
          </a:xfrm>
        </p:grpSpPr>
        <p:sp>
          <p:nvSpPr>
            <p:cNvPr id="877" name="Google Shape;877;p88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8" name="Google Shape;878;p88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9" name="Google Shape;879;p88"/>
          <p:cNvGrpSpPr/>
          <p:nvPr/>
        </p:nvGrpSpPr>
        <p:grpSpPr>
          <a:xfrm>
            <a:off x="4078063" y="1366550"/>
            <a:ext cx="776475" cy="2406685"/>
            <a:chOff x="3226825" y="1139765"/>
            <a:chExt cx="776475" cy="2406685"/>
          </a:xfrm>
        </p:grpSpPr>
        <p:sp>
          <p:nvSpPr>
            <p:cNvPr id="880" name="Google Shape;880;p88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1" name="Google Shape;881;p88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82" name="Google Shape;882;p88"/>
          <p:cNvGrpSpPr/>
          <p:nvPr/>
        </p:nvGrpSpPr>
        <p:grpSpPr>
          <a:xfrm>
            <a:off x="5222921" y="1366550"/>
            <a:ext cx="776475" cy="2406685"/>
            <a:chOff x="3226825" y="1139765"/>
            <a:chExt cx="776475" cy="2406685"/>
          </a:xfrm>
        </p:grpSpPr>
        <p:sp>
          <p:nvSpPr>
            <p:cNvPr id="883" name="Google Shape;883;p88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93C47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" name="Google Shape;884;p88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93C47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89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</p:spPr>
        <p:txBody>
          <a:bodyPr spcFirstLastPara="1" wrap="square" lIns="0" tIns="0" rIns="91425" bIns="45700" anchor="ctr" anchorCtr="0">
            <a:noAutofit/>
          </a:bodyPr>
          <a:lstStyle/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891" name="Google Shape;891;p89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</p:spPr>
        <p:txBody>
          <a:bodyPr spcFirstLastPara="1" wrap="square" lIns="288000" tIns="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/>
              <a:t>Hands-on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9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</a:t>
            </a:r>
            <a:endParaRPr/>
          </a:p>
        </p:txBody>
      </p:sp>
      <p:sp>
        <p:nvSpPr>
          <p:cNvPr id="897" name="Google Shape;897;p90"/>
          <p:cNvSpPr txBox="1">
            <a:spLocks noGrp="1"/>
          </p:cNvSpPr>
          <p:nvPr>
            <p:ph type="body" idx="1"/>
          </p:nvPr>
        </p:nvSpPr>
        <p:spPr>
          <a:xfrm>
            <a:off x="338138" y="878365"/>
            <a:ext cx="8452200" cy="3711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Answer the following questions: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Explore the </a:t>
            </a:r>
            <a:r>
              <a:rPr lang="en-GB" b="1"/>
              <a:t>indicated locus</a:t>
            </a:r>
            <a:r>
              <a:rPr lang="en-GB"/>
              <a:t> on the Genome View tab: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GRCh38, chr8:127,682,026-127,744,101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GRCm39/mm39, chr6:6,740,753-6,891,103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Display and explore regulatory features using the Regulation card.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Filter epigenomes based on the given criteria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Compare regulatory activity across the group of selected epigenemes: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GRCh38: Caco-2 and HCT116 cell lines</a:t>
            </a:r>
            <a:endParaRPr sz="14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GRCm39: Forebrain epigenomes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Inspect supporting epigenomic evidence in the indicated epigenome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Identify at least one context-dependent example.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Compare the results with the ones obtained in the previous session. </a:t>
            </a:r>
            <a:endParaRPr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48995fff-9394-464a-bb0c-f2050ab8ffdd"/>
  <p:tag name="SLIDO_EVENT_UUID" val="d448684c-6bb3-4808-bcb0-5483e2fa6985"/>
  <p:tag name="SLIDO_EVENT_SECTION_UUID" val="41561dd6-6412-425f-a7e8-46dc32d44d9f"/>
</p:tagLst>
</file>

<file path=ppt/theme/theme1.xml><?xml version="1.0" encoding="utf-8"?>
<a:theme xmlns:a="http://schemas.openxmlformats.org/drawingml/2006/main" name="Custom Design">
  <a:themeElements>
    <a:clrScheme name="EMBL template">
      <a:dk1>
        <a:srgbClr val="000000"/>
      </a:dk1>
      <a:lt1>
        <a:srgbClr val="FFFFFF"/>
      </a:lt1>
      <a:dk2>
        <a:srgbClr val="007B53"/>
      </a:dk2>
      <a:lt2>
        <a:srgbClr val="707372"/>
      </a:lt2>
      <a:accent1>
        <a:srgbClr val="18974C"/>
      </a:accent1>
      <a:accent2>
        <a:srgbClr val="A1BE1F"/>
      </a:accent2>
      <a:accent3>
        <a:srgbClr val="F49E17"/>
      </a:accent3>
      <a:accent4>
        <a:srgbClr val="F4C61F"/>
      </a:accent4>
      <a:accent5>
        <a:srgbClr val="D41645"/>
      </a:accent5>
      <a:accent6>
        <a:srgbClr val="3B6FB6"/>
      </a:accent6>
      <a:hlink>
        <a:srgbClr val="2A57A3"/>
      </a:hlink>
      <a:folHlink>
        <a:srgbClr val="7345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1280</Words>
  <Application>Microsoft Macintosh PowerPoint</Application>
  <PresentationFormat>On-screen Show (16:9)</PresentationFormat>
  <Paragraphs>248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Arial Black</vt:lpstr>
      <vt:lpstr>Roboto</vt:lpstr>
      <vt:lpstr>Roboto Thin</vt:lpstr>
      <vt:lpstr>Courier New</vt:lpstr>
      <vt:lpstr>Libre Franklin Thin</vt:lpstr>
      <vt:lpstr>Libre Franklin Medium</vt:lpstr>
      <vt:lpstr>Arial</vt:lpstr>
      <vt:lpstr>Franklin Gothic</vt:lpstr>
      <vt:lpstr>Inter</vt:lpstr>
      <vt:lpstr>Libre Franklin</vt:lpstr>
      <vt:lpstr>Roboto Medium</vt:lpstr>
      <vt:lpstr>Custom Design</vt:lpstr>
      <vt:lpstr>Multi-species Catalogues of Regulatory Elements: Ensembl</vt:lpstr>
      <vt:lpstr>Session map</vt:lpstr>
      <vt:lpstr>The Ensembl Project</vt:lpstr>
      <vt:lpstr>PowerPoint Presentation</vt:lpstr>
      <vt:lpstr>Using genome browsers to visualise annotation</vt:lpstr>
      <vt:lpstr>Ensembl enables genome analyses</vt:lpstr>
      <vt:lpstr>Ensembl Regulation</vt:lpstr>
      <vt:lpstr>The Ensembl Regulatory Build</vt:lpstr>
      <vt:lpstr>Primary analysis pipeline</vt:lpstr>
      <vt:lpstr>Regulatory annotation pipeline</vt:lpstr>
      <vt:lpstr>The Ensembl Regulation Subsite</vt:lpstr>
      <vt:lpstr>The Ensembl Regulation Subsite: Epigenomes tab</vt:lpstr>
      <vt:lpstr>Epigenomes tab</vt:lpstr>
      <vt:lpstr>Regulatory Features tab</vt:lpstr>
      <vt:lpstr>Regulatory Features tab</vt:lpstr>
      <vt:lpstr>Genome view tab</vt:lpstr>
      <vt:lpstr>Genome view tab: zoomed out</vt:lpstr>
      <vt:lpstr>Genome view tab: chromosome change</vt:lpstr>
      <vt:lpstr>Genome view tab: Gene search</vt:lpstr>
      <vt:lpstr>Genome view tab: Gene page link</vt:lpstr>
      <vt:lpstr>Genes tab</vt:lpstr>
      <vt:lpstr>Genome view tab: Regulatory feature selection</vt:lpstr>
      <vt:lpstr>Genome view tab: Regulatory activity</vt:lpstr>
      <vt:lpstr>Genes tab</vt:lpstr>
      <vt:lpstr>Differences between regulatory annotation frameworks</vt:lpstr>
      <vt:lpstr>Differences between regulatory annotation frameworks: GRCh38</vt:lpstr>
      <vt:lpstr>Differences between regulatory annotation frameworks: GRCh38</vt:lpstr>
      <vt:lpstr>Differences between regulatory annotation frameworks: GRCh38</vt:lpstr>
      <vt:lpstr>Differences between regulatory annotation frameworks: GRCh38</vt:lpstr>
      <vt:lpstr>Differences between regulatory annotation frameworks: GRCh38</vt:lpstr>
      <vt:lpstr>Differences between regulatory annotation frameworks: GRCh38</vt:lpstr>
      <vt:lpstr>Questions?</vt:lpstr>
      <vt:lpstr>PowerPoint Presentation</vt:lpstr>
      <vt:lpstr>Ensembl Regulation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Louisse Paola Mirabueno</cp:lastModifiedBy>
  <cp:revision>13</cp:revision>
  <dcterms:modified xsi:type="dcterms:W3CDTF">2026-09-02T22:13:54Z</dcterms:modified>
</cp:coreProperties>
</file>