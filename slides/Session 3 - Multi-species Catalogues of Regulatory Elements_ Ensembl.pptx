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3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y="5143500" cx="9144000"/>
  <p:notesSz cx="6858000" cy="9144000"/>
  <p:embeddedFontLst>
    <p:embeddedFont>
      <p:font typeface="Roboto Thin"/>
      <p:regular r:id="rId41"/>
      <p:bold r:id="rId42"/>
      <p:italic r:id="rId43"/>
      <p:boldItalic r:id="rId44"/>
    </p:embeddedFont>
    <p:embeddedFont>
      <p:font typeface="Roboto Medium"/>
      <p:regular r:id="rId45"/>
      <p:bold r:id="rId46"/>
      <p:italic r:id="rId47"/>
      <p:boldItalic r:id="rId48"/>
    </p:embeddedFont>
    <p:embeddedFont>
      <p:font typeface="Roboto"/>
      <p:regular r:id="rId49"/>
      <p:bold r:id="rId50"/>
      <p:italic r:id="rId51"/>
      <p:boldItalic r:id="rId52"/>
    </p:embeddedFont>
    <p:embeddedFont>
      <p:font typeface="Franklin Gothic"/>
      <p:bold r:id="rId53"/>
    </p:embeddedFont>
    <p:embeddedFont>
      <p:font typeface="Inter"/>
      <p:regular r:id="rId54"/>
      <p:bold r:id="rId55"/>
      <p:italic r:id="rId56"/>
      <p:boldItalic r:id="rId57"/>
    </p:embeddedFont>
    <p:embeddedFont>
      <p:font typeface="Arial Black"/>
      <p:regular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A24227-F492-472F-826B-EC29D6F5AE07}">
  <a:tblStyle styleId="{36A24227-F492-472F-826B-EC29D6F5AE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font" Target="fonts/RobotoThin-bold.fntdata"/><Relationship Id="rId41" Type="http://schemas.openxmlformats.org/officeDocument/2006/relationships/font" Target="fonts/RobotoThin-regular.fntdata"/><Relationship Id="rId44" Type="http://schemas.openxmlformats.org/officeDocument/2006/relationships/font" Target="fonts/RobotoThin-boldItalic.fntdata"/><Relationship Id="rId43" Type="http://schemas.openxmlformats.org/officeDocument/2006/relationships/font" Target="fonts/RobotoThin-italic.fntdata"/><Relationship Id="rId46" Type="http://schemas.openxmlformats.org/officeDocument/2006/relationships/font" Target="fonts/RobotoMedium-bold.fntdata"/><Relationship Id="rId45" Type="http://schemas.openxmlformats.org/officeDocument/2006/relationships/font" Target="fonts/Roboto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RobotoMedium-boldItalic.fntdata"/><Relationship Id="rId47" Type="http://schemas.openxmlformats.org/officeDocument/2006/relationships/font" Target="fonts/RobotoMedium-italic.fntdata"/><Relationship Id="rId49" Type="http://schemas.openxmlformats.org/officeDocument/2006/relationships/font" Target="fonts/Robot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oboto-italic.fntdata"/><Relationship Id="rId50" Type="http://schemas.openxmlformats.org/officeDocument/2006/relationships/font" Target="fonts/Roboto-bold.fntdata"/><Relationship Id="rId53" Type="http://schemas.openxmlformats.org/officeDocument/2006/relationships/font" Target="fonts/FranklinGothic-bold.fntdata"/><Relationship Id="rId52" Type="http://schemas.openxmlformats.org/officeDocument/2006/relationships/font" Target="fonts/Roboto-boldItalic.fntdata"/><Relationship Id="rId11" Type="http://schemas.openxmlformats.org/officeDocument/2006/relationships/slide" Target="slides/slide5.xml"/><Relationship Id="rId55" Type="http://schemas.openxmlformats.org/officeDocument/2006/relationships/font" Target="fonts/Inter-bold.fntdata"/><Relationship Id="rId10" Type="http://schemas.openxmlformats.org/officeDocument/2006/relationships/slide" Target="slides/slide4.xml"/><Relationship Id="rId54" Type="http://schemas.openxmlformats.org/officeDocument/2006/relationships/font" Target="fonts/Inter-regular.fntdata"/><Relationship Id="rId13" Type="http://schemas.openxmlformats.org/officeDocument/2006/relationships/slide" Target="slides/slide7.xml"/><Relationship Id="rId57" Type="http://schemas.openxmlformats.org/officeDocument/2006/relationships/font" Target="fonts/Inter-boldItalic.fntdata"/><Relationship Id="rId12" Type="http://schemas.openxmlformats.org/officeDocument/2006/relationships/slide" Target="slides/slide6.xml"/><Relationship Id="rId56" Type="http://schemas.openxmlformats.org/officeDocument/2006/relationships/font" Target="fonts/Inter-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8" Type="http://schemas.openxmlformats.org/officeDocument/2006/relationships/font" Target="fonts/ArialBlack-regular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efd5d49720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efd5d49720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15fe6f51737d1a2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7" name="Google Shape;557;g315fe6f51737d1a2_0:notes"/>
          <p:cNvSpPr txBox="1"/>
          <p:nvPr>
            <p:ph idx="1" type="body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8" name="Google Shape;558;g315fe6f51737d1a2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SLIDES_API179432932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SLIDES_API179432932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15fe6f51737d1a2_5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7" name="Google Shape;577;g315fe6f51737d1a2_554:notes"/>
          <p:cNvSpPr txBox="1"/>
          <p:nvPr>
            <p:ph idx="1" type="body"/>
          </p:nvPr>
        </p:nvSpPr>
        <p:spPr>
          <a:xfrm>
            <a:off x="685800" y="4400551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8" name="Google Shape;578;g315fe6f51737d1a2_554:notes"/>
          <p:cNvSpPr txBox="1"/>
          <p:nvPr>
            <p:ph idx="12" type="sldNum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15fe6f51737d1a2_5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15fe6f51737d1a2_526:notes"/>
          <p:cNvSpPr txBox="1"/>
          <p:nvPr>
            <p:ph idx="1" type="body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g315fe6f51737d1a2_5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d0e1ed9864_0_4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3d0e1ed9864_0_4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edb70b9ac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edb70b9ac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d0e1ed9864_0_5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3d0e1ed9864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edb70b9acf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edb70b9ac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f77baba4f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g3f77baba4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edb70b9acf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edb70b9acf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fabb8f900b_0_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fabb8f900b_0_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f77baba4fe_0_10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f77baba4fe_0_10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edb70b9acf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edb70b9acf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f77baba4fe_0_15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3f77baba4fe_0_15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f77baba4fe_0_20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4" name="Google Shape;744;g3f77baba4fe_0_20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1:28220-28599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7baba4fe_0_20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f77baba4fe_0_20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1:28220-28599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3f77baba4fe_0_30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3f77baba4fe_0_30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efd5d49720_0_5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3efd5d49720_0_5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f7181fdfe8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f7181fdfe8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ee6fc5b7a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ee6fc5b7a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Feature selection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g3edb70b9acf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2" name="Google Shape;802;g3edb70b9acf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3f7181fdfe8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3f7181fdfe8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d0e1ed9864_0_5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d0e1ed9864_0_5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ef4d4e4ea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ef4d4e4ea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f76badb7b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f76badb7b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efd5d49720_0_5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efd5d49720_0_5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f76badb7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f76badb7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f76badb7bc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f76badb7bc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3f76badb7bc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3f76badb7bc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3fabb8f900b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7" name="Google Shape;867;g3fabb8f900b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d0e1ed9864_0_5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d0e1ed9864_0_5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8" name="Google Shape;888;g3d0e1ed9864_0_5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g3ee6fc5b7a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4" name="Google Shape;894;g3ee6fc5b7a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2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Elements_grey">
  <p:cSld name="Title_And_Elements_gre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elements_white">
  <p:cSld name="Title_and_elements_whit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Title - South Building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Cell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3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4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5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6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7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13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3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3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3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8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14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14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4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4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9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15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1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1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10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16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16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6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16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11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17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1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1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TRAINING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8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18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8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5" name="Google Shape;145;p18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INDUSTRY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19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19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p19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_NoImage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20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9" name="Google Shape;159;p20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0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1" name="Google Shape;161;p20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noImage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21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1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21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21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Staff_Association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22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2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2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ff Association grey ">
  <p:cSld name="Staff Association grey 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ff Association white">
  <p:cSld name="Staff Association white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grey">
  <p:cSld name="Two Elements_grey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>
            <p:ph idx="1" type="body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25"/>
          <p:cNvSpPr txBox="1"/>
          <p:nvPr>
            <p:ph idx="2" type="body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2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white">
  <p:cSld name="Two Elements_white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6"/>
          <p:cNvSpPr txBox="1"/>
          <p:nvPr>
            <p:ph idx="1" type="body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26"/>
          <p:cNvSpPr txBox="1"/>
          <p:nvPr>
            <p:ph idx="2" type="body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2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_Elements_grey_green">
  <p:cSld name="Two_Elements_grey_green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/>
          <p:nvPr>
            <p:ph idx="1" type="body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12" name="Google Shape;212;p27"/>
          <p:cNvSpPr txBox="1"/>
          <p:nvPr>
            <p:ph idx="2" type="body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13" name="Google Shape;213;p27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grey_green_right">
  <p:cSld name="Two Elements_grey_green_right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1" name="Google Shape;221;p28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8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grey_green_right">
  <p:cSld name="Three Elements_grey_green_righ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/>
          <p:nvPr>
            <p:ph idx="1" type="body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8" name="Google Shape;228;p29"/>
          <p:cNvSpPr txBox="1"/>
          <p:nvPr>
            <p:ph idx="2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9" name="Google Shape;229;p29"/>
          <p:cNvSpPr txBox="1"/>
          <p:nvPr>
            <p:ph idx="3" type="body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29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dark_grey">
  <p:cSld name="Three Elements_dark_grey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/>
          <p:nvPr>
            <p:ph idx="1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30"/>
          <p:cNvSpPr txBox="1"/>
          <p:nvPr>
            <p:ph idx="2" type="body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3" type="body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green_left_grey">
  <p:cSld name="Three Elements_green_left_grey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/>
          <p:nvPr>
            <p:ph idx="1" type="body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p31"/>
          <p:cNvSpPr txBox="1"/>
          <p:nvPr>
            <p:ph idx="2" type="body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3" type="body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8" name="Google Shape;248;p3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3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Elements_green">
  <p:cSld name="Six Elements_green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/>
          <p:nvPr>
            <p:ph idx="2" type="pic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/>
          <p:nvPr>
            <p:ph idx="3" type="pic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/>
          <p:nvPr>
            <p:ph idx="4" type="pic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/>
          <p:nvPr>
            <p:ph idx="1" type="body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6" name="Google Shape;256;p3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32"/>
          <p:cNvSpPr txBox="1"/>
          <p:nvPr>
            <p:ph idx="5" type="body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p32"/>
          <p:cNvSpPr txBox="1"/>
          <p:nvPr>
            <p:ph idx="6" type="body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1" name="Google Shape;261;p3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3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ight Elements_green">
  <p:cSld name="Eight Elements_green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/>
          <p:nvPr>
            <p:ph idx="2" type="pic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/>
          <p:nvPr>
            <p:ph idx="3" type="pic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/>
          <p:nvPr>
            <p:ph idx="4" type="pic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/>
          <p:nvPr>
            <p:ph idx="5" type="pic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0" name="Google Shape;270;p33"/>
          <p:cNvSpPr txBox="1"/>
          <p:nvPr>
            <p:ph idx="1" type="body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p33"/>
          <p:cNvSpPr txBox="1"/>
          <p:nvPr>
            <p:ph idx="6" type="body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2" name="Google Shape;272;p33"/>
          <p:cNvSpPr txBox="1"/>
          <p:nvPr>
            <p:ph idx="7" type="body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3" name="Google Shape;273;p33"/>
          <p:cNvSpPr txBox="1"/>
          <p:nvPr>
            <p:ph idx="8" type="body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77" name="Google Shape;277;p3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3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ight Elements_grey">
  <p:cSld name="Eight Elements_grey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/>
          <p:nvPr>
            <p:ph idx="2" type="pic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/>
          <p:nvPr>
            <p:ph idx="3" type="pic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/>
          <p:nvPr>
            <p:ph idx="4" type="pic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/>
          <p:nvPr>
            <p:ph idx="5" type="pic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4"/>
          <p:cNvSpPr txBox="1"/>
          <p:nvPr>
            <p:ph idx="1" type="body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7" name="Google Shape;287;p34"/>
          <p:cNvSpPr txBox="1"/>
          <p:nvPr>
            <p:ph idx="6" type="body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8" name="Google Shape;288;p34"/>
          <p:cNvSpPr txBox="1"/>
          <p:nvPr>
            <p:ph idx="7" type="body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9" name="Google Shape;289;p34"/>
          <p:cNvSpPr txBox="1"/>
          <p:nvPr>
            <p:ph idx="8" type="body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93" name="Google Shape;293;p3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3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with_Footer">
  <p:cSld name="Blank_with_Footer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3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_individual_image">
  <p:cSld name="Divider_individual_image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/>
          <p:nvPr>
            <p:ph idx="2" type="pic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/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36"/>
          <p:cNvSpPr txBox="1"/>
          <p:nvPr>
            <p:ph idx="1" type="body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3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2">
  <p:cSld name="Section Headline_2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/>
          <p:nvPr>
            <p:ph idx="1" type="body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37"/>
          <p:cNvSpPr txBox="1"/>
          <p:nvPr>
            <p:ph idx="2" type="body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3">
  <p:cSld name="Section Headline_3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/>
          <p:nvPr>
            <p:ph idx="1" type="body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5" name="Google Shape;315;p38"/>
          <p:cNvSpPr txBox="1"/>
          <p:nvPr>
            <p:ph idx="2" type="body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4">
  <p:cSld name="Section Headline_4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/>
          <p:nvPr>
            <p:ph idx="1" type="body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0" name="Google Shape;320;p39"/>
          <p:cNvSpPr txBox="1"/>
          <p:nvPr>
            <p:ph idx="3" type="body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5">
  <p:cSld name="Section Headline_5"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/>
          <p:nvPr>
            <p:ph idx="1" type="body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5" name="Google Shape;325;p40"/>
          <p:cNvSpPr txBox="1"/>
          <p:nvPr>
            <p:ph idx="3" type="body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8" name="Google Shape;328;p4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41"/>
          <p:cNvSpPr txBox="1"/>
          <p:nvPr>
            <p:ph idx="1" type="body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0" name="Google Shape;330;p41"/>
          <p:cNvSpPr txBox="1"/>
          <p:nvPr>
            <p:ph idx="2" type="body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41"/>
          <p:cNvSpPr txBox="1"/>
          <p:nvPr>
            <p:ph idx="3" type="body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2" name="Google Shape;332;p4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4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 layout 2"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/>
          <p:nvPr>
            <p:ph idx="1" type="body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8" name="Google Shape;338;p42"/>
          <p:cNvSpPr txBox="1"/>
          <p:nvPr>
            <p:ph idx="2" type="body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9" name="Google Shape;339;p42"/>
          <p:cNvSpPr txBox="1"/>
          <p:nvPr>
            <p:ph idx="3" type="body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40" name="Google Shape;340;p42"/>
          <p:cNvSpPr txBox="1"/>
          <p:nvPr>
            <p:ph idx="4" type="body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41" name="Google Shape;341;p4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4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4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 layout 3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8" name="Google Shape;348;p43"/>
          <p:cNvSpPr/>
          <p:nvPr>
            <p:ph idx="2" type="pic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/>
          <p:nvPr>
            <p:ph idx="3" type="pic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/>
          <p:nvPr>
            <p:ph idx="4" type="pic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/>
          <p:nvPr>
            <p:ph idx="1" type="body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2" name="Google Shape;352;p43"/>
          <p:cNvSpPr txBox="1"/>
          <p:nvPr>
            <p:ph idx="5" type="body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3" name="Google Shape;353;p43"/>
          <p:cNvSpPr txBox="1"/>
          <p:nvPr>
            <p:ph idx="6" type="body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4" name="Google Shape;354;p43"/>
          <p:cNvSpPr txBox="1"/>
          <p:nvPr>
            <p:ph idx="7" type="body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5" name="Google Shape;355;p43"/>
          <p:cNvSpPr txBox="1"/>
          <p:nvPr>
            <p:ph idx="8" type="body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6" name="Google Shape;356;p43"/>
          <p:cNvSpPr txBox="1"/>
          <p:nvPr>
            <p:ph idx="9" type="body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7" name="Google Shape;357;p4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4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6">
  <p:cSld name="custom layout 6"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2" name="Google Shape;362;p44"/>
          <p:cNvSpPr/>
          <p:nvPr>
            <p:ph idx="2" type="pic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/>
          <p:nvPr>
            <p:ph idx="3" type="pic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/>
          <p:nvPr>
            <p:ph idx="4" type="pic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/>
          <p:nvPr>
            <p:ph idx="1" type="body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6" name="Google Shape;366;p44"/>
          <p:cNvSpPr txBox="1"/>
          <p:nvPr>
            <p:ph idx="5" type="body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7" name="Google Shape;367;p44"/>
          <p:cNvSpPr txBox="1"/>
          <p:nvPr>
            <p:ph idx="6" type="body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8" name="Google Shape;368;p44"/>
          <p:cNvSpPr txBox="1"/>
          <p:nvPr>
            <p:ph idx="7" type="body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9" name="Google Shape;369;p44"/>
          <p:cNvSpPr txBox="1"/>
          <p:nvPr>
            <p:ph idx="8" type="body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0" name="Google Shape;370;p44"/>
          <p:cNvSpPr txBox="1"/>
          <p:nvPr>
            <p:ph idx="9" type="body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1" name="Google Shape;371;p4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3" name="Google Shape;373;p4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7">
  <p:cSld name="custom layout 7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/>
          <p:nvPr>
            <p:ph idx="1" type="body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216000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4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7" name="Google Shape;377;p45"/>
          <p:cNvSpPr txBox="1"/>
          <p:nvPr>
            <p:ph idx="2" type="body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8" name="Google Shape;378;p45"/>
          <p:cNvSpPr txBox="1"/>
          <p:nvPr>
            <p:ph idx="3" type="body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9" name="Google Shape;379;p45"/>
          <p:cNvSpPr txBox="1"/>
          <p:nvPr>
            <p:ph idx="4" type="body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16000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80" name="Google Shape;380;p45"/>
          <p:cNvSpPr txBox="1"/>
          <p:nvPr>
            <p:ph idx="5" type="body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144000" spcFirstLastPara="1" rIns="5400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81" name="Google Shape;381;p4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3" name="Google Shape;383;p4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8">
  <p:cSld name="custom layout 8"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C4C7C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87" name="Google Shape;387;p46"/>
          <p:cNvSpPr txBox="1"/>
          <p:nvPr>
            <p:ph idx="1" type="body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88" name="Google Shape;388;p46"/>
          <p:cNvSpPr/>
          <p:nvPr>
            <p:ph idx="2" type="pic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/>
          <p:nvPr>
            <p:ph idx="3" type="pic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/>
          <p:nvPr>
            <p:ph idx="4" type="body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91" name="Google Shape;391;p4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4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9">
  <p:cSld name="custom layout 9"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6" name="Google Shape;396;p47"/>
          <p:cNvSpPr/>
          <p:nvPr>
            <p:ph idx="2" type="pic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/>
          <p:nvPr>
            <p:ph idx="3" type="pic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/>
          <p:nvPr>
            <p:ph idx="4" type="pic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/>
          <p:nvPr>
            <p:ph idx="5" type="pic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/>
          <p:nvPr>
            <p:ph idx="1" type="body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1" name="Google Shape;401;p47"/>
          <p:cNvSpPr txBox="1"/>
          <p:nvPr>
            <p:ph idx="6" type="body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2" name="Google Shape;402;p47"/>
          <p:cNvSpPr txBox="1"/>
          <p:nvPr>
            <p:ph idx="7" type="body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3" name="Google Shape;403;p47"/>
          <p:cNvSpPr txBox="1"/>
          <p:nvPr>
            <p:ph idx="8" type="body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4" name="Google Shape;404;p47"/>
          <p:cNvSpPr txBox="1"/>
          <p:nvPr>
            <p:ph idx="9" type="body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5" name="Google Shape;405;p47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7" name="Google Shape;407;p47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0">
  <p:cSld name="custom layout 10"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/>
          <p:nvPr>
            <p:ph idx="1" type="body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0" name="Google Shape;410;p48"/>
          <p:cNvSpPr txBox="1"/>
          <p:nvPr>
            <p:ph idx="2" type="body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1" name="Google Shape;411;p48"/>
          <p:cNvSpPr txBox="1"/>
          <p:nvPr>
            <p:ph idx="3" type="body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2" name="Google Shape;412;p4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48"/>
          <p:cNvSpPr/>
          <p:nvPr>
            <p:ph idx="4" type="pic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/>
          <p:nvPr>
            <p:ph idx="5" type="pic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/>
          <p:nvPr>
            <p:ph idx="6" type="body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6" name="Google Shape;416;p48"/>
          <p:cNvSpPr txBox="1"/>
          <p:nvPr>
            <p:ph idx="7" type="body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7" name="Google Shape;417;p48"/>
          <p:cNvSpPr/>
          <p:nvPr>
            <p:ph idx="8" type="pic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/>
          <p:nvPr>
            <p:ph idx="9" type="body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21" name="Google Shape;421;p48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3" name="Google Shape;423;p48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1">
  <p:cSld name="custom layout 11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/>
          <p:nvPr>
            <p:ph idx="1" type="body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6" name="Google Shape;426;p49"/>
          <p:cNvSpPr txBox="1"/>
          <p:nvPr>
            <p:ph idx="2" type="body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7" name="Google Shape;427;p49"/>
          <p:cNvSpPr txBox="1"/>
          <p:nvPr>
            <p:ph idx="3" type="body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8" name="Google Shape;428;p49"/>
          <p:cNvSpPr txBox="1"/>
          <p:nvPr>
            <p:ph idx="4" type="body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9" name="Google Shape;429;p49"/>
          <p:cNvSpPr txBox="1"/>
          <p:nvPr>
            <p:ph idx="5" type="body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30" name="Google Shape;430;p49"/>
          <p:cNvSpPr txBox="1"/>
          <p:nvPr>
            <p:ph idx="6" type="body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31" name="Google Shape;431;p4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49"/>
          <p:cNvSpPr/>
          <p:nvPr>
            <p:ph idx="7" type="pic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37" name="Google Shape;437;p49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9" name="Google Shape;439;p49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2">
  <p:cSld name="custom layout 12"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/>
          <p:nvPr>
            <p:ph idx="1" type="body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2" name="Google Shape;442;p50"/>
          <p:cNvSpPr txBox="1"/>
          <p:nvPr>
            <p:ph idx="2" type="body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3" name="Google Shape;443;p50"/>
          <p:cNvSpPr txBox="1"/>
          <p:nvPr>
            <p:ph idx="3" type="body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4" name="Google Shape;444;p50"/>
          <p:cNvSpPr txBox="1"/>
          <p:nvPr>
            <p:ph idx="4" type="body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5" name="Google Shape;445;p5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6" name="Google Shape;446;p50"/>
          <p:cNvSpPr txBox="1"/>
          <p:nvPr>
            <p:ph idx="5" type="body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27000" spcFirstLastPara="1" rIns="5400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7" name="Google Shape;447;p50"/>
          <p:cNvSpPr/>
          <p:nvPr>
            <p:ph idx="6" type="pic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/>
          <p:nvPr>
            <p:ph idx="7" type="pic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52" name="Google Shape;452;p50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4" name="Google Shape;454;p50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3">
  <p:cSld name="custom layout 13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7" name="Google Shape;457;p51"/>
          <p:cNvSpPr/>
          <p:nvPr>
            <p:ph idx="2" type="pic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/>
          <p:nvPr>
            <p:ph idx="1" type="body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59" name="Google Shape;459;p51"/>
          <p:cNvSpPr txBox="1"/>
          <p:nvPr>
            <p:ph idx="3" type="body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0" name="Google Shape;460;p51"/>
          <p:cNvSpPr/>
          <p:nvPr>
            <p:ph idx="4" type="pic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/>
          <p:nvPr>
            <p:ph idx="5" type="pic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4" name="Google Shape;464;p5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5">
  <p:cSld name="custom layout 15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7" name="Google Shape;467;p52"/>
          <p:cNvSpPr txBox="1"/>
          <p:nvPr>
            <p:ph idx="1" type="body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8" name="Google Shape;468;p52"/>
          <p:cNvSpPr/>
          <p:nvPr>
            <p:ph idx="2" type="pic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/>
          <p:nvPr>
            <p:ph idx="3" type="body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0" name="Google Shape;470;p52"/>
          <p:cNvSpPr txBox="1"/>
          <p:nvPr>
            <p:ph idx="4" type="body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1" name="Google Shape;471;p52"/>
          <p:cNvSpPr txBox="1"/>
          <p:nvPr>
            <p:ph idx="5" type="body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2" name="Google Shape;472;p52"/>
          <p:cNvSpPr txBox="1"/>
          <p:nvPr>
            <p:ph idx="6" type="body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3" name="Google Shape;473;p52"/>
          <p:cNvSpPr txBox="1"/>
          <p:nvPr>
            <p:ph idx="7" type="body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4" name="Google Shape;474;p52"/>
          <p:cNvSpPr txBox="1"/>
          <p:nvPr>
            <p:ph idx="8" type="body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048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475" name="Google Shape;475;p52"/>
          <p:cNvSpPr txBox="1"/>
          <p:nvPr>
            <p:ph idx="9" type="body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6" name="Google Shape;476;p52"/>
          <p:cNvSpPr txBox="1"/>
          <p:nvPr>
            <p:ph idx="13" type="body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7" name="Google Shape;477;p52"/>
          <p:cNvSpPr txBox="1"/>
          <p:nvPr>
            <p:ph idx="14" type="body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8" name="Google Shape;478;p5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0" name="Google Shape;480;p5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6">
  <p:cSld name="custom layout 16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53"/>
          <p:cNvSpPr/>
          <p:nvPr>
            <p:ph idx="2" type="pic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/>
          <p:nvPr>
            <p:ph idx="1" type="body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27000" spcFirstLastPara="1" rIns="5400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85" name="Google Shape;485;p53"/>
          <p:cNvSpPr txBox="1"/>
          <p:nvPr>
            <p:ph idx="3" type="body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6" name="Google Shape;486;p53"/>
          <p:cNvSpPr txBox="1"/>
          <p:nvPr>
            <p:ph idx="4" type="body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indent="-2921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indent="-2921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indent="-2921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7" name="Google Shape;487;p53"/>
          <p:cNvSpPr txBox="1"/>
          <p:nvPr>
            <p:ph idx="5" type="body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indent="-2921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indent="-2921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indent="-2921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8" name="Google Shape;488;p5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0" name="Google Shape;490;p5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93" name="Google Shape;493;p5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94" name="Google Shape;494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 - white 1">
  <p:cSld name="Default - white"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7" name="Google Shape;497;p55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1pPr>
            <a:lvl2pPr indent="-342900" lvl="1" marL="9144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2pPr>
            <a:lvl3pPr indent="-342900" lvl="2" marL="13716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3pPr>
            <a:lvl4pPr indent="-342900" lvl="3" marL="18288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4pPr>
            <a:lvl5pPr indent="-342900" lvl="4" marL="22860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42900" lvl="5" marL="27432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498" name="Google Shape;498;p5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44" Type="http://schemas.openxmlformats.org/officeDocument/2006/relationships/slideLayout" Target="../slideLayouts/slideLayout43.xml"/><Relationship Id="rId43" Type="http://schemas.openxmlformats.org/officeDocument/2006/relationships/slideLayout" Target="../slideLayouts/slideLayout42.xml"/><Relationship Id="rId46" Type="http://schemas.openxmlformats.org/officeDocument/2006/relationships/slideLayout" Target="../slideLayouts/slideLayout45.xml"/><Relationship Id="rId45" Type="http://schemas.openxmlformats.org/officeDocument/2006/relationships/slideLayout" Target="../slideLayouts/slideLayout44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48" Type="http://schemas.openxmlformats.org/officeDocument/2006/relationships/slideLayout" Target="../slideLayouts/slideLayout47.xml"/><Relationship Id="rId47" Type="http://schemas.openxmlformats.org/officeDocument/2006/relationships/slideLayout" Target="../slideLayouts/slideLayout46.xml"/><Relationship Id="rId49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2.xml"/><Relationship Id="rId32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4.xml"/><Relationship Id="rId34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6.xml"/><Relationship Id="rId36" Type="http://schemas.openxmlformats.org/officeDocument/2006/relationships/slideLayout" Target="../slideLayouts/slideLayout35.xml"/><Relationship Id="rId39" Type="http://schemas.openxmlformats.org/officeDocument/2006/relationships/slideLayout" Target="../slideLayouts/slideLayout38.xml"/><Relationship Id="rId38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20.xml"/><Relationship Id="rId24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29" Type="http://schemas.openxmlformats.org/officeDocument/2006/relationships/slideLayout" Target="../slideLayouts/slideLayout28.xml"/><Relationship Id="rId51" Type="http://schemas.openxmlformats.org/officeDocument/2006/relationships/slideLayout" Target="../slideLayouts/slideLayout50.xml"/><Relationship Id="rId50" Type="http://schemas.openxmlformats.org/officeDocument/2006/relationships/slideLayout" Target="../slideLayouts/slideLayout49.xml"/><Relationship Id="rId53" Type="http://schemas.openxmlformats.org/officeDocument/2006/relationships/slideLayout" Target="../slideLayouts/slideLayout52.xml"/><Relationship Id="rId52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10.xml"/><Relationship Id="rId5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9.xml"/><Relationship Id="rId54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12.xml"/><Relationship Id="rId57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56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9563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9563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9563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9563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  <p:sldLayoutId id="2147483671" r:id="rId25"/>
    <p:sldLayoutId id="2147483672" r:id="rId26"/>
    <p:sldLayoutId id="2147483673" r:id="rId27"/>
    <p:sldLayoutId id="2147483674" r:id="rId28"/>
    <p:sldLayoutId id="2147483675" r:id="rId29"/>
    <p:sldLayoutId id="2147483676" r:id="rId30"/>
    <p:sldLayoutId id="2147483677" r:id="rId31"/>
    <p:sldLayoutId id="2147483678" r:id="rId32"/>
    <p:sldLayoutId id="2147483679" r:id="rId33"/>
    <p:sldLayoutId id="2147483680" r:id="rId34"/>
    <p:sldLayoutId id="2147483681" r:id="rId35"/>
    <p:sldLayoutId id="2147483682" r:id="rId36"/>
    <p:sldLayoutId id="2147483683" r:id="rId37"/>
    <p:sldLayoutId id="2147483684" r:id="rId38"/>
    <p:sldLayoutId id="2147483685" r:id="rId39"/>
    <p:sldLayoutId id="2147483686" r:id="rId40"/>
    <p:sldLayoutId id="2147483687" r:id="rId41"/>
    <p:sldLayoutId id="2147483688" r:id="rId42"/>
    <p:sldLayoutId id="2147483689" r:id="rId43"/>
    <p:sldLayoutId id="2147483690" r:id="rId44"/>
    <p:sldLayoutId id="2147483691" r:id="rId45"/>
    <p:sldLayoutId id="2147483692" r:id="rId46"/>
    <p:sldLayoutId id="2147483693" r:id="rId47"/>
    <p:sldLayoutId id="2147483694" r:id="rId48"/>
    <p:sldLayoutId id="2147483695" r:id="rId49"/>
    <p:sldLayoutId id="2147483696" r:id="rId50"/>
    <p:sldLayoutId id="2147483697" r:id="rId51"/>
    <p:sldLayoutId id="2147483698" r:id="rId52"/>
    <p:sldLayoutId id="2147483699" r:id="rId53"/>
    <p:sldLayoutId id="2147483700" r:id="rId54"/>
    <p:sldLayoutId id="2147483701" r:id="rId55"/>
    <p:sldLayoutId id="2147483702" r:id="rId5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TXVsdGlwbGVDaG9pY2U%3D" TargetMode="External"/><Relationship Id="rId9" Type="http://schemas.openxmlformats.org/officeDocument/2006/relationships/image" Target="../media/image18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2.png"/><Relationship Id="rId8" Type="http://schemas.openxmlformats.org/officeDocument/2006/relationships/hyperlink" Target="https://www.sli.do/features-google-slides?payload=eyJwb2xsVXVpZCI6IjYyM2VkNDU5LWU5NDgtNGViYy1iMjMwLWFiOWQ1MDM4M2QyMyIsInByZXNlbnRhdGlvbklkIjoiMWVXUjBiTE90XzJfLVl6d2J3MWV0VVRJeEdQWmdEdzRPZzVDeTRwclBCajgiLCJzbGlkZUlkIjoiU0xJREVTX0FQSTE3OTQzMjkzMjZfMCIsInRpbWVsaW5lIjpbeyJwb2xsUXVlc3Rpb25VdWlkIjoiNTg4NmQxNDUtMzU1Ny00Yzk2LWJlZWUtODA2NDEwNzNhNmE0Iiwic2hvd1Jlc3VsdHMiOnRydWV9XSwidHlwZSI6IlNsaWRvUG9sbCJ9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3.png"/><Relationship Id="rId4" Type="http://schemas.openxmlformats.org/officeDocument/2006/relationships/hyperlink" Target="https://regulation.ensembl.org/" TargetMode="External"/><Relationship Id="rId5" Type="http://schemas.openxmlformats.org/officeDocument/2006/relationships/image" Target="../media/image5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3.png"/><Relationship Id="rId4" Type="http://schemas.openxmlformats.org/officeDocument/2006/relationships/image" Target="../media/image24.png"/><Relationship Id="rId5" Type="http://schemas.openxmlformats.org/officeDocument/2006/relationships/image" Target="../media/image41.png"/><Relationship Id="rId6" Type="http://schemas.openxmlformats.org/officeDocument/2006/relationships/image" Target="../media/image3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hyperlink" Target="https://regulation.ensembl.org/help/primary_processin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regulation.ensembl.org/help/regulatory_build" TargetMode="External"/><Relationship Id="rId4" Type="http://schemas.openxmlformats.org/officeDocument/2006/relationships/image" Target="../media/image30.png"/><Relationship Id="rId5" Type="http://schemas.openxmlformats.org/officeDocument/2006/relationships/image" Target="../media/image3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regulation.ensembl.org/epigenomes/homo_sapiens/pFOsBSZHQYKdKBpIMxzRxQ" TargetMode="External"/><Relationship Id="rId4" Type="http://schemas.openxmlformats.org/officeDocument/2006/relationships/image" Target="../media/image52.png"/><Relationship Id="rId9" Type="http://schemas.openxmlformats.org/officeDocument/2006/relationships/image" Target="../media/image35.png"/><Relationship Id="rId5" Type="http://schemas.openxmlformats.org/officeDocument/2006/relationships/image" Target="../media/image29.png"/><Relationship Id="rId6" Type="http://schemas.openxmlformats.org/officeDocument/2006/relationships/hyperlink" Target="https://regulation.ensembl.org/epigenomes/homo_sapiens" TargetMode="External"/><Relationship Id="rId7" Type="http://schemas.openxmlformats.org/officeDocument/2006/relationships/image" Target="../media/image40.png"/><Relationship Id="rId8" Type="http://schemas.openxmlformats.org/officeDocument/2006/relationships/hyperlink" Target="https://regulation.ensembl.org/epigenomes/homo_sapiens/pFOsBSZHQYKdKBpIMxzRxQ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5.png"/><Relationship Id="rId4" Type="http://schemas.openxmlformats.org/officeDocument/2006/relationships/image" Target="../media/image51.png"/><Relationship Id="rId5" Type="http://schemas.openxmlformats.org/officeDocument/2006/relationships/image" Target="../media/image3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8.png"/><Relationship Id="rId4" Type="http://schemas.openxmlformats.org/officeDocument/2006/relationships/image" Target="../media/image3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7.png"/><Relationship Id="rId4" Type="http://schemas.openxmlformats.org/officeDocument/2006/relationships/image" Target="../media/image3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5.png"/><Relationship Id="rId4" Type="http://schemas.openxmlformats.org/officeDocument/2006/relationships/image" Target="../media/image3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4.png"/><Relationship Id="rId4" Type="http://schemas.openxmlformats.org/officeDocument/2006/relationships/image" Target="../media/image3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5.png"/><Relationship Id="rId4" Type="http://schemas.openxmlformats.org/officeDocument/2006/relationships/image" Target="../media/image43.png"/><Relationship Id="rId5" Type="http://schemas.openxmlformats.org/officeDocument/2006/relationships/image" Target="../media/image4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6.png"/><Relationship Id="rId4" Type="http://schemas.openxmlformats.org/officeDocument/2006/relationships/image" Target="../media/image4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0.png"/><Relationship Id="rId4" Type="http://schemas.openxmlformats.org/officeDocument/2006/relationships/image" Target="../media/image4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9.png"/><Relationship Id="rId4" Type="http://schemas.openxmlformats.org/officeDocument/2006/relationships/image" Target="../media/image4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6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Multi-species Catalogues of Regulatory Elements: Ensembl</a:t>
            </a:r>
            <a:endParaRPr/>
          </a:p>
        </p:txBody>
      </p:sp>
      <p:sp>
        <p:nvSpPr>
          <p:cNvPr id="505" name="Google Shape;505;p5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Session 3</a:t>
            </a:r>
            <a:endParaRPr/>
          </a:p>
        </p:txBody>
      </p:sp>
      <p:sp>
        <p:nvSpPr>
          <p:cNvPr id="506" name="Google Shape;506;p57"/>
          <p:cNvSpPr txBox="1"/>
          <p:nvPr/>
        </p:nvSpPr>
        <p:spPr>
          <a:xfrm>
            <a:off x="640550" y="3581000"/>
            <a:ext cx="5385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800"/>
              <a:buFont typeface="Arial"/>
              <a:buNone/>
            </a:pPr>
            <a:r>
              <a:rPr b="1" lang="en-GB" sz="1800">
                <a:solidFill>
                  <a:srgbClr val="007B53"/>
                </a:solidFill>
              </a:rPr>
              <a:t>Louisse Paola Mirabueno - Garth Ilsley</a:t>
            </a:r>
            <a:endParaRPr b="1" i="0" sz="1800" u="none" cap="none" strike="noStrike">
              <a:solidFill>
                <a:srgbClr val="007B5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57"/>
          <p:cNvSpPr txBox="1"/>
          <p:nvPr/>
        </p:nvSpPr>
        <p:spPr>
          <a:xfrm>
            <a:off x="640557" y="45496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000000"/>
                </a:solidFill>
              </a:rPr>
              <a:t>03/09/2026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57"/>
          <p:cNvSpPr txBox="1"/>
          <p:nvPr/>
        </p:nvSpPr>
        <p:spPr>
          <a:xfrm>
            <a:off x="36777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b="1" lang="en-GB" sz="1200">
                <a:solidFill>
                  <a:schemeClr val="dk1"/>
                </a:solidFill>
              </a:rPr>
              <a:t>Project Lead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b="1" lang="en-GB" sz="1200">
                <a:solidFill>
                  <a:schemeClr val="dk1"/>
                </a:solidFill>
              </a:rPr>
              <a:t>Ensembl Regulation,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b="1" lang="en-GB" sz="1200">
                <a:solidFill>
                  <a:schemeClr val="dk1"/>
                </a:solidFill>
              </a:rPr>
              <a:t>EMBL-EBI</a:t>
            </a:r>
            <a:endParaRPr b="1" sz="1200"/>
          </a:p>
        </p:txBody>
      </p:sp>
      <p:sp>
        <p:nvSpPr>
          <p:cNvPr id="509" name="Google Shape;509;p57"/>
          <p:cNvSpPr txBox="1"/>
          <p:nvPr/>
        </p:nvSpPr>
        <p:spPr>
          <a:xfrm>
            <a:off x="6405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b="1" lang="en-GB" sz="1200">
                <a:solidFill>
                  <a:schemeClr val="dk1"/>
                </a:solidFill>
              </a:rPr>
              <a:t>Ensembl Outreach Officer, 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b="1" lang="en-GB" sz="1200">
                <a:solidFill>
                  <a:schemeClr val="dk1"/>
                </a:solidFill>
              </a:rPr>
              <a:t>Ensembl Outreach,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b="1" lang="en-GB" sz="1200">
                <a:solidFill>
                  <a:schemeClr val="dk1"/>
                </a:solidFill>
              </a:rPr>
              <a:t>EMBL-EBI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t/>
            </a:r>
            <a:endParaRPr b="1" sz="1200"/>
          </a:p>
        </p:txBody>
      </p:sp>
      <p:sp>
        <p:nvSpPr>
          <p:cNvPr id="510" name="Google Shape;510;p57"/>
          <p:cNvSpPr txBox="1"/>
          <p:nvPr/>
        </p:nvSpPr>
        <p:spPr>
          <a:xfrm>
            <a:off x="640550" y="2755532"/>
            <a:ext cx="53220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000">
                <a:solidFill>
                  <a:srgbClr val="FFFFFF"/>
                </a:solidFill>
              </a:rPr>
              <a:t>T6: Making the most of cis-regulatory annotations for genome-scale analysis</a:t>
            </a:r>
            <a:endParaRPr b="1" sz="1000">
              <a:solidFill>
                <a:srgbClr val="FFFFFF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8"/>
          <p:cNvSpPr/>
          <p:nvPr/>
        </p:nvSpPr>
        <p:spPr>
          <a:xfrm>
            <a:off x="3728375" y="3807868"/>
            <a:ext cx="3822600" cy="6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5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Session map</a:t>
            </a:r>
            <a:endParaRPr/>
          </a:p>
        </p:txBody>
      </p:sp>
      <p:grpSp>
        <p:nvGrpSpPr>
          <p:cNvPr id="517" name="Google Shape;517;p58"/>
          <p:cNvGrpSpPr/>
          <p:nvPr/>
        </p:nvGrpSpPr>
        <p:grpSpPr>
          <a:xfrm>
            <a:off x="1593000" y="2489459"/>
            <a:ext cx="5957975" cy="643500"/>
            <a:chOff x="1593000" y="2322568"/>
            <a:chExt cx="5957975" cy="643500"/>
          </a:xfrm>
        </p:grpSpPr>
        <p:sp>
          <p:nvSpPr>
            <p:cNvPr id="518" name="Google Shape;518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Ensembl Regulation subsite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rotWithShape="0" algn="bl" dir="2700000" dist="28575">
                <a:srgbClr val="000000">
                  <a:alpha val="17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Epigenomes data and metadata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The regulatory features tab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Exploring genome annotation and regulatory activity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58"/>
          <p:cNvGrpSpPr/>
          <p:nvPr/>
        </p:nvGrpSpPr>
        <p:grpSpPr>
          <a:xfrm>
            <a:off x="1593000" y="1834600"/>
            <a:ext cx="5957975" cy="643500"/>
            <a:chOff x="1593000" y="2322568"/>
            <a:chExt cx="5957975" cy="643500"/>
          </a:xfrm>
        </p:grpSpPr>
        <p:sp>
          <p:nvSpPr>
            <p:cNvPr id="525" name="Google Shape;525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Ensembl Regulation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rotWithShape="0" algn="bl" dir="2700000" dist="28575">
                <a:srgbClr val="000000">
                  <a:alpha val="17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1" name="Google Shape;531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Regulatory pipelines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Available datasets and Regulatory annotation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Defining and accessing reference epigenome 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2" name="Google Shape;532;p58"/>
          <p:cNvGrpSpPr/>
          <p:nvPr/>
        </p:nvGrpSpPr>
        <p:grpSpPr>
          <a:xfrm>
            <a:off x="1593000" y="1179725"/>
            <a:ext cx="5957975" cy="643500"/>
            <a:chOff x="1593000" y="2322568"/>
            <a:chExt cx="5957975" cy="643500"/>
          </a:xfrm>
        </p:grpSpPr>
        <p:sp>
          <p:nvSpPr>
            <p:cNvPr id="533" name="Google Shape;533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Ensembl Project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rotWithShape="0" algn="bl" dir="2700000" dist="28575">
                <a:srgbClr val="000000">
                  <a:alpha val="17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9" name="Google Shape;539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General description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0" name="Google Shape;540;p58"/>
          <p:cNvGrpSpPr/>
          <p:nvPr/>
        </p:nvGrpSpPr>
        <p:grpSpPr>
          <a:xfrm>
            <a:off x="1593000" y="3806463"/>
            <a:ext cx="5766050" cy="643482"/>
            <a:chOff x="1593000" y="2322568"/>
            <a:chExt cx="5766050" cy="643482"/>
          </a:xfrm>
        </p:grpSpPr>
        <p:sp>
          <p:nvSpPr>
            <p:cNvPr id="541" name="Google Shape;541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rotWithShape="0" algn="bl" dir="2700000" dist="28575">
                <a:srgbClr val="000000">
                  <a:alpha val="17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46" name="Google Shape;546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7" name="Google Shape;547;p58"/>
          <p:cNvGrpSpPr/>
          <p:nvPr/>
        </p:nvGrpSpPr>
        <p:grpSpPr>
          <a:xfrm>
            <a:off x="1593000" y="3146263"/>
            <a:ext cx="5957975" cy="643500"/>
            <a:chOff x="1593000" y="2322568"/>
            <a:chExt cx="5957975" cy="643500"/>
          </a:xfrm>
        </p:grpSpPr>
        <p:sp>
          <p:nvSpPr>
            <p:cNvPr id="548" name="Google Shape;548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Comparison of CREs frameworks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2" name="Google Shape;552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rotWithShape="0" algn="bl" dir="2700000" dist="28575">
                <a:srgbClr val="000000">
                  <a:alpha val="17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54" name="Google Shape;554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Most-popular genome-wide resources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Strengths</a:t>
              </a: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 and weaknesses of each approach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59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r>
              <a:rPr lang="en-GB"/>
              <a:t>The mission of Ensembl is to provide </a:t>
            </a:r>
            <a:r>
              <a:rPr lang="en-GB">
                <a:solidFill>
                  <a:srgbClr val="0099FF"/>
                </a:solidFill>
              </a:rPr>
              <a:t>comprehensive and accurate annotation</a:t>
            </a:r>
            <a:r>
              <a:rPr lang="en-GB"/>
              <a:t> of genomes, </a:t>
            </a:r>
            <a:r>
              <a:rPr lang="en-GB">
                <a:solidFill>
                  <a:srgbClr val="0099FF"/>
                </a:solidFill>
              </a:rPr>
              <a:t>integrating</a:t>
            </a:r>
            <a:r>
              <a:rPr lang="en-GB"/>
              <a:t> this information with other biological data and making it </a:t>
            </a:r>
            <a:r>
              <a:rPr lang="en-GB">
                <a:solidFill>
                  <a:srgbClr val="0099FF"/>
                </a:solidFill>
              </a:rPr>
              <a:t>publicly accessible</a:t>
            </a:r>
            <a:r>
              <a:rPr lang="en-GB"/>
              <a:t> via </a:t>
            </a:r>
            <a:r>
              <a:rPr lang="en-GB"/>
              <a:t>the web.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561" name="Google Shape;561;p5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Project</a:t>
            </a:r>
            <a:endParaRPr/>
          </a:p>
        </p:txBody>
      </p:sp>
      <p:pic>
        <p:nvPicPr>
          <p:cNvPr id="562" name="Google Shape;562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225" y="2732550"/>
            <a:ext cx="5397574" cy="169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6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569" name="Google Shape;569;p6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570" name="Google Shape;570;p60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600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Have you used Ensembl before?</a:t>
            </a:r>
            <a:endParaRPr b="1" sz="3600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1" name="Google Shape;571;p6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6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73" name="Google Shape;573;p6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574" name="Google Shape;574;p60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1"/>
          <p:cNvSpPr txBox="1"/>
          <p:nvPr/>
        </p:nvSpPr>
        <p:spPr>
          <a:xfrm>
            <a:off x="-21850" y="816650"/>
            <a:ext cx="9172200" cy="3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GB" sz="13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CGGCCTTTGGGCTCCGCCTTCAGCTCAAGACTTAACTTCCCTCCCAGCTGTCCCAGATGACGCCATCTGAAATTTCTTGGAAACACGATCACTTTAACGGAATATTGCTGTTTTGGGGAAGTGTTTTACAGCTGCTGGGCACGCTGTATTTGCCTTACTTAAGCCCCTGGTAATTGCTGTATTCCGA</a:t>
            </a:r>
            <a:r>
              <a:rPr b="1" i="0" lang="en-GB" sz="1300" u="none" cap="none" strike="noStrike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AGACATGCTGATGGGAATTA</a:t>
            </a:r>
            <a:r>
              <a:rPr b="0" i="0" lang="en-GB" sz="13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CAGGCGGCGTTGGTCTCTAACTGGAGCCCTCTGTCCCCACTAGCCACGCGTCACTGGTTAGCGTGATTGAAACTAAATCGTATGAAAATCCTCTTCTCTAGTCGCACTAGCCACGTTTCGAGTGCTTAATGTGGCTAGTGGCACCGGTTTGGACAGCACAGCTGTAAAATGTTCCCATCCTCACAGTAAGCTGTTACCGTTCCAGGAGATGGGACTGAATTAGAATTCAAACAAATTTTCCAGCGCTTCTGAGTTTTACCTCAGTCACATAATAAGGAATGCATCCCTGTGTAAGTGCATTTTGGTCTTCTGTTTTGCAGACTTATTTACCAAGCATTGGAGGAATATCGTAGGTAAAA</a:t>
            </a:r>
            <a:r>
              <a:rPr b="1" i="0" lang="en-GB" sz="1300" u="none" cap="none" strike="noStrike">
                <a:solidFill>
                  <a:srgbClr val="0099FF"/>
                </a:solidFill>
                <a:latin typeface="Courier New"/>
                <a:ea typeface="Courier New"/>
                <a:cs typeface="Courier New"/>
                <a:sym typeface="Courier New"/>
              </a:rPr>
              <a:t>ATGCCTATTGGATCCAAAGAGAGGCCAACATTTTTTGAAATTTTTAAGACACGCTGCAACAAAGCAGGTATTGACAAATTTTATATAACTTTATAAATTACACCGAGAAAGTGTTTTCTAAAAAATGCTTGCTAAAAACCCAGTACGTCACAGTGTTGCTTAGAACCATAAACTGTTCCTTATGTGTGTATAAATCCAGTTAACAACATAATCATCGTTTGCAGGTTAACCACATGATAAATATAGAACGTCTAGTGGATAAAGAGGAAACTGGCCCCTTGACTAGCAGTAGGAACAATTACTAACAAATCAGAAGCATTAATGTTACTTTATGGCAGAAGTTGTCCAACTTTTTGGTTTCAGTACTCCTTATACTCTTAAAAATGATCTAGGACCCCCGGAGTGCTTTTGTTTATGTAGCTTACCATATTAGAAATTTAAAACTAAGAATTTAAGGCTGGGCGTGGTGGCTCACGCCTGTAATCCCAGCACTTTGGGAGGCCGAGGTGGGCGGATCACTTGAGGCCAGAAGTTTGAGACCAGCCTGGCCAACATGGTGAAACCCTATCTCTACTAAAAAT</a:t>
            </a:r>
            <a:r>
              <a:rPr b="0" i="0" lang="en-GB" sz="13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ACAAAAAATGTGCTGCGTGTGGTGGTGCGTGCCTGTAATCCCAGCTACACGGGAGGTGGAGGCAGGAGAATCGCTTGAACCCTGGAGGCAGAGGTTGCAGTGAGCCAAGATCATGCCACTGCACTCTAGCCTGGGCCACATAGCATGACTCTGTCTCAAAACAAACAAACAAACAAAAAACTAAGAATTTAAAGTTAATTTACTTAAAAATAATGAAAGCTAACCCATTGCATATTATCACAACATTCTTAGGAAAAATAACTTTTTGAAAACAAGTGAGTGGAATAGTTTTTACATTTTTGCAGTTCTCTTTAATGTCTGGCTAAATAGAGATAGCTGGATTCACTTATCTGTGTCTAATCTGTTATTTTGGTAGAAGTATGTGAAAAAAAATTAACCTCACGTTGAAAAAAGGAATATTTTAATAGTTTTCAGTTACTTTTTGGTATTTTTCCTTGTACTTTGCATAGATTTTTCAAAGATCTAATAGATATACCATAGGTCTTTCC</a:t>
            </a:r>
            <a:r>
              <a:rPr b="1" i="0" lang="en-GB" sz="13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b="0" i="0" lang="en-GB" sz="13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ATGTCGCAACATCATGCAGTGATTATTTGGAAGATAGTGGTGTTCTGAATTA</a:t>
            </a:r>
            <a:endParaRPr b="0" i="0" sz="1300" u="none" cap="none" strike="noStrike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81" name="Google Shape;581;p6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Using genome browsers to visualise annotation</a:t>
            </a:r>
            <a:endParaRPr/>
          </a:p>
        </p:txBody>
      </p:sp>
      <p:sp>
        <p:nvSpPr>
          <p:cNvPr id="582" name="Google Shape;582;p61"/>
          <p:cNvSpPr txBox="1"/>
          <p:nvPr/>
        </p:nvSpPr>
        <p:spPr>
          <a:xfrm>
            <a:off x="683223" y="867542"/>
            <a:ext cx="22113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Regulatory element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61"/>
          <p:cNvSpPr/>
          <p:nvPr/>
        </p:nvSpPr>
        <p:spPr>
          <a:xfrm>
            <a:off x="775939" y="1221485"/>
            <a:ext cx="2025900" cy="279900"/>
          </a:xfrm>
          <a:prstGeom prst="rect">
            <a:avLst/>
          </a:prstGeom>
          <a:noFill/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61"/>
          <p:cNvSpPr txBox="1"/>
          <p:nvPr/>
        </p:nvSpPr>
        <p:spPr>
          <a:xfrm>
            <a:off x="4040777" y="1654211"/>
            <a:ext cx="10470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99FF"/>
                </a:solidFill>
                <a:latin typeface="Arial"/>
                <a:ea typeface="Arial"/>
                <a:cs typeface="Arial"/>
                <a:sym typeface="Arial"/>
              </a:rPr>
              <a:t>Gene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61"/>
          <p:cNvSpPr/>
          <p:nvPr/>
        </p:nvSpPr>
        <p:spPr>
          <a:xfrm>
            <a:off x="47106" y="2023543"/>
            <a:ext cx="9040800" cy="1411200"/>
          </a:xfrm>
          <a:prstGeom prst="rect">
            <a:avLst/>
          </a:prstGeom>
          <a:noFill/>
          <a:ln cap="flat" cmpd="sng" w="25400">
            <a:solidFill>
              <a:srgbClr val="009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61"/>
          <p:cNvSpPr txBox="1"/>
          <p:nvPr/>
        </p:nvSpPr>
        <p:spPr>
          <a:xfrm>
            <a:off x="3313301" y="4051099"/>
            <a:ext cx="10269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Variant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61"/>
          <p:cNvSpPr/>
          <p:nvPr/>
        </p:nvSpPr>
        <p:spPr>
          <a:xfrm>
            <a:off x="3748159" y="4420406"/>
            <a:ext cx="157200" cy="279900"/>
          </a:xfrm>
          <a:prstGeom prst="rect">
            <a:avLst/>
          </a:prstGeom>
          <a:noFill/>
          <a:ln cap="flat" cmpd="sng" w="25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>
                <a:solidFill>
                  <a:srgbClr val="327C89"/>
                </a:solidFill>
              </a:rPr>
              <a:t>`</a:t>
            </a:r>
            <a:endParaRPr b="0" i="0" sz="1400" u="none" cap="none" strike="noStrike">
              <a:solidFill>
                <a:srgbClr val="327C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6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enables genome analyses</a:t>
            </a:r>
            <a:endParaRPr/>
          </a:p>
        </p:txBody>
      </p:sp>
      <p:sp>
        <p:nvSpPr>
          <p:cNvPr id="594" name="Google Shape;594;p62"/>
          <p:cNvSpPr/>
          <p:nvPr/>
        </p:nvSpPr>
        <p:spPr>
          <a:xfrm>
            <a:off x="125300" y="2477600"/>
            <a:ext cx="1173300" cy="84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</a:rPr>
              <a:t>Public data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5" name="Google Shape;595;p62"/>
          <p:cNvSpPr/>
          <p:nvPr/>
        </p:nvSpPr>
        <p:spPr>
          <a:xfrm>
            <a:off x="7845400" y="2424300"/>
            <a:ext cx="1173300" cy="84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</a:rPr>
              <a:t>Genome analysis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6" name="Google Shape;596;p62"/>
          <p:cNvSpPr/>
          <p:nvPr/>
        </p:nvSpPr>
        <p:spPr>
          <a:xfrm>
            <a:off x="1772750" y="1158050"/>
            <a:ext cx="5548500" cy="3485400"/>
          </a:xfrm>
          <a:prstGeom prst="rect">
            <a:avLst/>
          </a:prstGeom>
          <a:solidFill>
            <a:srgbClr val="0099FF">
              <a:alpha val="10130"/>
            </a:srgbClr>
          </a:solidFill>
          <a:ln cap="flat" cmpd="sng" w="19050">
            <a:solidFill>
              <a:srgbClr val="009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7" name="Google Shape;597;p62"/>
          <p:cNvSpPr txBox="1"/>
          <p:nvPr/>
        </p:nvSpPr>
        <p:spPr>
          <a:xfrm>
            <a:off x="2160475" y="2641500"/>
            <a:ext cx="10776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99FF"/>
                </a:solidFill>
              </a:rPr>
              <a:t>Ensembl workflows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598" name="Google Shape;598;p62"/>
          <p:cNvSpPr txBox="1"/>
          <p:nvPr/>
        </p:nvSpPr>
        <p:spPr>
          <a:xfrm>
            <a:off x="5956025" y="2641550"/>
            <a:ext cx="8223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99FF"/>
                </a:solidFill>
              </a:rPr>
              <a:t>APIs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599" name="Google Shape;599;p62"/>
          <p:cNvSpPr txBox="1"/>
          <p:nvPr/>
        </p:nvSpPr>
        <p:spPr>
          <a:xfrm>
            <a:off x="5729425" y="1680400"/>
            <a:ext cx="12756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99FF"/>
                </a:solidFill>
              </a:rPr>
              <a:t>Genome browser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600" name="Google Shape;600;p62"/>
          <p:cNvSpPr txBox="1"/>
          <p:nvPr/>
        </p:nvSpPr>
        <p:spPr>
          <a:xfrm>
            <a:off x="5729425" y="3518150"/>
            <a:ext cx="12756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99FF"/>
                </a:solidFill>
              </a:rPr>
              <a:t>Tools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601" name="Google Shape;601;p62"/>
          <p:cNvSpPr/>
          <p:nvPr/>
        </p:nvSpPr>
        <p:spPr>
          <a:xfrm>
            <a:off x="4099950" y="1259100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Genes &amp; repeats 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2" name="Google Shape;602;p62"/>
          <p:cNvSpPr/>
          <p:nvPr/>
        </p:nvSpPr>
        <p:spPr>
          <a:xfrm>
            <a:off x="4099950" y="1950325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Regulatory regions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3" name="Google Shape;603;p62"/>
          <p:cNvSpPr/>
          <p:nvPr/>
        </p:nvSpPr>
        <p:spPr>
          <a:xfrm>
            <a:off x="4099950" y="2641550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Comparative genomics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4" name="Google Shape;604;p62"/>
          <p:cNvSpPr/>
          <p:nvPr/>
        </p:nvSpPr>
        <p:spPr>
          <a:xfrm>
            <a:off x="4099950" y="3332775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Genomic variation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5" name="Google Shape;605;p62"/>
          <p:cNvSpPr/>
          <p:nvPr/>
        </p:nvSpPr>
        <p:spPr>
          <a:xfrm>
            <a:off x="4099950" y="4024000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Phenotype associations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6" name="Google Shape;606;p62"/>
          <p:cNvSpPr/>
          <p:nvPr/>
        </p:nvSpPr>
        <p:spPr>
          <a:xfrm>
            <a:off x="1262488" y="2698700"/>
            <a:ext cx="884100" cy="404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07" name="Google Shape;607;p62"/>
          <p:cNvSpPr/>
          <p:nvPr/>
        </p:nvSpPr>
        <p:spPr>
          <a:xfrm>
            <a:off x="7005013" y="2698650"/>
            <a:ext cx="884100" cy="404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08" name="Google Shape;608;p62"/>
          <p:cNvSpPr/>
          <p:nvPr/>
        </p:nvSpPr>
        <p:spPr>
          <a:xfrm>
            <a:off x="5250725" y="1259100"/>
            <a:ext cx="166500" cy="3283200"/>
          </a:xfrm>
          <a:prstGeom prst="rightBracket">
            <a:avLst>
              <a:gd fmla="val 8333" name="adj"/>
            </a:avLst>
          </a:prstGeom>
          <a:noFill/>
          <a:ln cap="flat" cmpd="sng" w="19050">
            <a:solidFill>
              <a:srgbClr val="009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609" name="Google Shape;609;p62"/>
          <p:cNvCxnSpPr>
            <a:stCxn id="608" idx="2"/>
          </p:cNvCxnSpPr>
          <p:nvPr/>
        </p:nvCxnSpPr>
        <p:spPr>
          <a:xfrm flipH="1" rot="10800000">
            <a:off x="5417225" y="2219400"/>
            <a:ext cx="543900" cy="68130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0" name="Google Shape;610;p62"/>
          <p:cNvCxnSpPr>
            <a:stCxn id="608" idx="2"/>
          </p:cNvCxnSpPr>
          <p:nvPr/>
        </p:nvCxnSpPr>
        <p:spPr>
          <a:xfrm>
            <a:off x="5417225" y="2900700"/>
            <a:ext cx="524700" cy="61680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1" name="Google Shape;611;p62"/>
          <p:cNvCxnSpPr>
            <a:stCxn id="608" idx="2"/>
            <a:endCxn id="598" idx="1"/>
          </p:cNvCxnSpPr>
          <p:nvPr/>
        </p:nvCxnSpPr>
        <p:spPr>
          <a:xfrm>
            <a:off x="5417225" y="2900700"/>
            <a:ext cx="538800" cy="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2" name="Google Shape;612;p62"/>
          <p:cNvCxnSpPr>
            <a:stCxn id="597" idx="3"/>
            <a:endCxn id="601" idx="1"/>
          </p:cNvCxnSpPr>
          <p:nvPr/>
        </p:nvCxnSpPr>
        <p:spPr>
          <a:xfrm flipH="1" rot="10800000">
            <a:off x="3238075" y="1518300"/>
            <a:ext cx="861900" cy="138240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3" name="Google Shape;613;p62"/>
          <p:cNvCxnSpPr>
            <a:stCxn id="597" idx="3"/>
            <a:endCxn id="602" idx="1"/>
          </p:cNvCxnSpPr>
          <p:nvPr/>
        </p:nvCxnSpPr>
        <p:spPr>
          <a:xfrm flipH="1" rot="10800000">
            <a:off x="3238075" y="2209500"/>
            <a:ext cx="861900" cy="69120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4" name="Google Shape;614;p62"/>
          <p:cNvCxnSpPr>
            <a:stCxn id="597" idx="3"/>
            <a:endCxn id="603" idx="1"/>
          </p:cNvCxnSpPr>
          <p:nvPr/>
        </p:nvCxnSpPr>
        <p:spPr>
          <a:xfrm>
            <a:off x="3238075" y="2900700"/>
            <a:ext cx="861900" cy="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5" name="Google Shape;615;p62"/>
          <p:cNvCxnSpPr>
            <a:stCxn id="597" idx="3"/>
            <a:endCxn id="604" idx="1"/>
          </p:cNvCxnSpPr>
          <p:nvPr/>
        </p:nvCxnSpPr>
        <p:spPr>
          <a:xfrm>
            <a:off x="3238075" y="2900700"/>
            <a:ext cx="861900" cy="69120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6" name="Google Shape;616;p62"/>
          <p:cNvCxnSpPr>
            <a:stCxn id="597" idx="3"/>
            <a:endCxn id="605" idx="1"/>
          </p:cNvCxnSpPr>
          <p:nvPr/>
        </p:nvCxnSpPr>
        <p:spPr>
          <a:xfrm>
            <a:off x="3238075" y="2900700"/>
            <a:ext cx="861900" cy="1382400"/>
          </a:xfrm>
          <a:prstGeom prst="straightConnector1">
            <a:avLst/>
          </a:prstGeom>
          <a:noFill/>
          <a:ln cap="flat" cmpd="sng" w="19050">
            <a:solidFill>
              <a:srgbClr val="0099F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63"/>
          <p:cNvSpPr txBox="1"/>
          <p:nvPr>
            <p:ph idx="1" type="body"/>
          </p:nvPr>
        </p:nvSpPr>
        <p:spPr>
          <a:xfrm>
            <a:off x="338150" y="889825"/>
            <a:ext cx="8452200" cy="21684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457200" rtl="0" algn="just"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Aim: D</a:t>
            </a:r>
            <a:r>
              <a:rPr lang="en-GB"/>
              <a:t>evelop, adapt and run computational methods to identify and characterise genomic regulatory elements, such as promoters, enhancers and CTCF binding sites.</a:t>
            </a:r>
            <a:endParaRPr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Focus: Species of key importance to biomedical and agricultural research. </a:t>
            </a:r>
            <a:endParaRPr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Annotations are based primarily on ChIP-seq, DNase-seq, and ATAC-seq data generated by the ENCODE and FAANG consortia, and gene annotation from Ensembl/GENCODE.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6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Regulation</a:t>
            </a:r>
            <a:endParaRPr/>
          </a:p>
        </p:txBody>
      </p:sp>
      <p:pic>
        <p:nvPicPr>
          <p:cNvPr id="623" name="Google Shape;62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0075" y="3126750"/>
            <a:ext cx="1132125" cy="1132125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63"/>
          <p:cNvSpPr txBox="1"/>
          <p:nvPr/>
        </p:nvSpPr>
        <p:spPr>
          <a:xfrm>
            <a:off x="3750600" y="4805350"/>
            <a:ext cx="164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u="sng">
                <a:solidFill>
                  <a:schemeClr val="hlink"/>
                </a:solidFill>
                <a:hlinkClick r:id="rId4"/>
              </a:rPr>
              <a:t>https://regulation.ensembl.org/</a:t>
            </a:r>
            <a:r>
              <a:rPr lang="en-GB" sz="800"/>
              <a:t> </a:t>
            </a:r>
            <a:endParaRPr sz="800"/>
          </a:p>
        </p:txBody>
      </p:sp>
      <p:pic>
        <p:nvPicPr>
          <p:cNvPr id="625" name="Google Shape;625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4200" y="2528325"/>
            <a:ext cx="3842676" cy="2328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6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Regulatory Build</a:t>
            </a:r>
            <a:endParaRPr/>
          </a:p>
        </p:txBody>
      </p:sp>
      <p:pic>
        <p:nvPicPr>
          <p:cNvPr id="631" name="Google Shape;631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300" y="2140350"/>
            <a:ext cx="862775" cy="8627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2" name="Google Shape;632;p64"/>
          <p:cNvCxnSpPr/>
          <p:nvPr/>
        </p:nvCxnSpPr>
        <p:spPr>
          <a:xfrm>
            <a:off x="1645550" y="2571754"/>
            <a:ext cx="783300" cy="0"/>
          </a:xfrm>
          <a:prstGeom prst="straightConnector1">
            <a:avLst/>
          </a:prstGeom>
          <a:noFill/>
          <a:ln cap="flat" cmpd="sng" w="9525">
            <a:solidFill>
              <a:srgbClr val="1155CC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33" name="Google Shape;633;p64"/>
          <p:cNvCxnSpPr/>
          <p:nvPr/>
        </p:nvCxnSpPr>
        <p:spPr>
          <a:xfrm>
            <a:off x="3258075" y="2571754"/>
            <a:ext cx="783300" cy="0"/>
          </a:xfrm>
          <a:prstGeom prst="straightConnector1">
            <a:avLst/>
          </a:prstGeom>
          <a:noFill/>
          <a:ln cap="flat" cmpd="sng" w="9525">
            <a:solidFill>
              <a:srgbClr val="1155CC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34" name="Google Shape;634;p64"/>
          <p:cNvSpPr/>
          <p:nvPr/>
        </p:nvSpPr>
        <p:spPr>
          <a:xfrm>
            <a:off x="4074500" y="1376825"/>
            <a:ext cx="1728600" cy="2300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Primary analysis pipeline</a:t>
            </a:r>
            <a:endParaRPr/>
          </a:p>
        </p:txBody>
      </p:sp>
      <p:cxnSp>
        <p:nvCxnSpPr>
          <p:cNvPr id="635" name="Google Shape;635;p64"/>
          <p:cNvCxnSpPr/>
          <p:nvPr/>
        </p:nvCxnSpPr>
        <p:spPr>
          <a:xfrm>
            <a:off x="5803100" y="2518525"/>
            <a:ext cx="979500" cy="2400"/>
          </a:xfrm>
          <a:prstGeom prst="straightConnector1">
            <a:avLst/>
          </a:prstGeom>
          <a:noFill/>
          <a:ln cap="flat" cmpd="sng" w="9525">
            <a:solidFill>
              <a:srgbClr val="1155CC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36" name="Google Shape;636;p64"/>
          <p:cNvSpPr/>
          <p:nvPr/>
        </p:nvSpPr>
        <p:spPr>
          <a:xfrm>
            <a:off x="6835100" y="2046175"/>
            <a:ext cx="1455000" cy="10512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annotation pipeline</a:t>
            </a:r>
            <a:endParaRPr/>
          </a:p>
        </p:txBody>
      </p:sp>
      <p:sp>
        <p:nvSpPr>
          <p:cNvPr id="637" name="Google Shape;637;p64"/>
          <p:cNvSpPr/>
          <p:nvPr/>
        </p:nvSpPr>
        <p:spPr>
          <a:xfrm>
            <a:off x="4126150" y="1559850"/>
            <a:ext cx="812700" cy="7125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ATAC-seq pipeline</a:t>
            </a:r>
            <a:endParaRPr sz="900"/>
          </a:p>
        </p:txBody>
      </p:sp>
      <p:sp>
        <p:nvSpPr>
          <p:cNvPr id="638" name="Google Shape;638;p64"/>
          <p:cNvSpPr/>
          <p:nvPr/>
        </p:nvSpPr>
        <p:spPr>
          <a:xfrm>
            <a:off x="4970300" y="1559850"/>
            <a:ext cx="783300" cy="7125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DNase-seq pipeline</a:t>
            </a:r>
            <a:endParaRPr sz="900"/>
          </a:p>
        </p:txBody>
      </p:sp>
      <p:sp>
        <p:nvSpPr>
          <p:cNvPr id="639" name="Google Shape;639;p64"/>
          <p:cNvSpPr/>
          <p:nvPr/>
        </p:nvSpPr>
        <p:spPr>
          <a:xfrm>
            <a:off x="4126150" y="2339075"/>
            <a:ext cx="812700" cy="7125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ChIP-seq narrow marks pipeline</a:t>
            </a:r>
            <a:endParaRPr sz="900"/>
          </a:p>
        </p:txBody>
      </p:sp>
      <p:sp>
        <p:nvSpPr>
          <p:cNvPr id="640" name="Google Shape;640;p64"/>
          <p:cNvSpPr/>
          <p:nvPr/>
        </p:nvSpPr>
        <p:spPr>
          <a:xfrm>
            <a:off x="4962200" y="2339075"/>
            <a:ext cx="783300" cy="7125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ChIP-seq broad marks pipeline</a:t>
            </a:r>
            <a:endParaRPr sz="900"/>
          </a:p>
        </p:txBody>
      </p:sp>
      <p:cxnSp>
        <p:nvCxnSpPr>
          <p:cNvPr id="641" name="Google Shape;641;p64"/>
          <p:cNvCxnSpPr>
            <a:stCxn id="634" idx="2"/>
            <a:endCxn id="631" idx="2"/>
          </p:cNvCxnSpPr>
          <p:nvPr/>
        </p:nvCxnSpPr>
        <p:spPr>
          <a:xfrm flipH="1" rot="5400000">
            <a:off x="3545750" y="2284175"/>
            <a:ext cx="674100" cy="2112000"/>
          </a:xfrm>
          <a:prstGeom prst="bentConnector3">
            <a:avLst>
              <a:gd fmla="val -35325" name="adj1"/>
            </a:avLst>
          </a:prstGeom>
          <a:noFill/>
          <a:ln cap="flat" cmpd="sng" w="9525">
            <a:solidFill>
              <a:srgbClr val="1155CC"/>
            </a:solidFill>
            <a:prstDash val="solid"/>
            <a:round/>
            <a:headEnd len="med" w="med" type="none"/>
            <a:tailEnd len="med" w="med" type="stealth"/>
          </a:ln>
        </p:spPr>
      </p:cxnSp>
      <p:grpSp>
        <p:nvGrpSpPr>
          <p:cNvPr id="642" name="Google Shape;642;p64"/>
          <p:cNvGrpSpPr/>
          <p:nvPr/>
        </p:nvGrpSpPr>
        <p:grpSpPr>
          <a:xfrm>
            <a:off x="190275" y="1175508"/>
            <a:ext cx="1455275" cy="1921817"/>
            <a:chOff x="190275" y="1175508"/>
            <a:chExt cx="1455275" cy="1921817"/>
          </a:xfrm>
        </p:grpSpPr>
        <p:grpSp>
          <p:nvGrpSpPr>
            <p:cNvPr id="643" name="Google Shape;643;p64"/>
            <p:cNvGrpSpPr/>
            <p:nvPr/>
          </p:nvGrpSpPr>
          <p:grpSpPr>
            <a:xfrm>
              <a:off x="190275" y="1175508"/>
              <a:ext cx="1421700" cy="1921817"/>
              <a:chOff x="1264875" y="1331434"/>
              <a:chExt cx="1421700" cy="1733241"/>
            </a:xfrm>
          </p:grpSpPr>
          <p:sp>
            <p:nvSpPr>
              <p:cNvPr id="644" name="Google Shape;644;p64"/>
              <p:cNvSpPr/>
              <p:nvPr/>
            </p:nvSpPr>
            <p:spPr>
              <a:xfrm>
                <a:off x="1264875" y="2116675"/>
                <a:ext cx="1421700" cy="948000"/>
              </a:xfrm>
              <a:prstGeom prst="roundRect">
                <a:avLst>
                  <a:gd fmla="val 16667" name="adj"/>
                </a:avLst>
              </a:prstGeom>
              <a:solidFill>
                <a:srgbClr val="C9DAF8"/>
              </a:solidFill>
              <a:ln cap="flat" cmpd="sng" w="9525">
                <a:solidFill>
                  <a:srgbClr val="1155C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b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/>
                  <a:t>Experiments and metadata import</a:t>
                </a:r>
                <a:endParaRPr/>
              </a:p>
            </p:txBody>
          </p:sp>
          <p:pic>
            <p:nvPicPr>
              <p:cNvPr id="645" name="Google Shape;645;p64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353437" y="1678068"/>
                <a:ext cx="750122" cy="3649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46" name="Google Shape;646;p64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546375" y="1331434"/>
                <a:ext cx="1011850" cy="2919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647" name="Google Shape;647;p6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017975" y="1609625"/>
              <a:ext cx="627575" cy="3644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648" name="Google Shape;648;p64"/>
          <p:cNvCxnSpPr/>
          <p:nvPr/>
        </p:nvCxnSpPr>
        <p:spPr>
          <a:xfrm rot="10800000">
            <a:off x="2826687" y="2140350"/>
            <a:ext cx="5484600" cy="428700"/>
          </a:xfrm>
          <a:prstGeom prst="bentConnector4">
            <a:avLst>
              <a:gd fmla="val -5919" name="adj1"/>
              <a:gd fmla="val 340769" name="adj2"/>
            </a:avLst>
          </a:prstGeom>
          <a:noFill/>
          <a:ln cap="flat" cmpd="sng" w="9525">
            <a:solidFill>
              <a:srgbClr val="1155CC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5"/>
          <p:cNvSpPr txBox="1"/>
          <p:nvPr>
            <p:ph idx="1" type="body"/>
          </p:nvPr>
        </p:nvSpPr>
        <p:spPr>
          <a:xfrm>
            <a:off x="338150" y="889824"/>
            <a:ext cx="8452200" cy="3549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457200" rtl="0" algn="l"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Processes read </a:t>
            </a:r>
            <a:r>
              <a:rPr lang="en-GB"/>
              <a:t>files to produce peak (BED) and signal (bigWig) files.</a:t>
            </a:r>
            <a:endParaRPr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6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Primary analysis pipeline</a:t>
            </a:r>
            <a:endParaRPr/>
          </a:p>
        </p:txBody>
      </p:sp>
      <p:grpSp>
        <p:nvGrpSpPr>
          <p:cNvPr id="655" name="Google Shape;655;p65"/>
          <p:cNvGrpSpPr/>
          <p:nvPr/>
        </p:nvGrpSpPr>
        <p:grpSpPr>
          <a:xfrm>
            <a:off x="725725" y="1335528"/>
            <a:ext cx="7579750" cy="332700"/>
            <a:chOff x="725725" y="1385925"/>
            <a:chExt cx="7579750" cy="332700"/>
          </a:xfrm>
        </p:grpSpPr>
        <p:sp>
          <p:nvSpPr>
            <p:cNvPr id="656" name="Google Shape;656;p65"/>
            <p:cNvSpPr/>
            <p:nvPr/>
          </p:nvSpPr>
          <p:spPr>
            <a:xfrm>
              <a:off x="725725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00">
                  <a:solidFill>
                    <a:schemeClr val="lt1"/>
                  </a:solidFill>
                </a:rPr>
                <a:t>Preprocessing</a:t>
              </a:r>
              <a:endParaRPr b="1" sz="1300">
                <a:solidFill>
                  <a:schemeClr val="lt1"/>
                </a:solidFill>
              </a:endParaRPr>
            </a:p>
          </p:txBody>
        </p:sp>
        <p:sp>
          <p:nvSpPr>
            <p:cNvPr id="657" name="Google Shape;657;p65"/>
            <p:cNvSpPr/>
            <p:nvPr/>
          </p:nvSpPr>
          <p:spPr>
            <a:xfrm>
              <a:off x="2799908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00">
                  <a:solidFill>
                    <a:schemeClr val="lt1"/>
                  </a:solidFill>
                </a:rPr>
                <a:t>Alignment</a:t>
              </a:r>
              <a:endParaRPr b="1" sz="1300">
                <a:solidFill>
                  <a:schemeClr val="lt1"/>
                </a:solidFill>
              </a:endParaRPr>
            </a:p>
          </p:txBody>
        </p:sp>
        <p:sp>
          <p:nvSpPr>
            <p:cNvPr id="658" name="Google Shape;658;p65"/>
            <p:cNvSpPr/>
            <p:nvPr/>
          </p:nvSpPr>
          <p:spPr>
            <a:xfrm>
              <a:off x="4874092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00">
                  <a:solidFill>
                    <a:schemeClr val="lt1"/>
                  </a:solidFill>
                </a:rPr>
                <a:t>Peak calling</a:t>
              </a:r>
              <a:endParaRPr b="1" sz="1300">
                <a:solidFill>
                  <a:schemeClr val="lt1"/>
                </a:solidFill>
              </a:endParaRPr>
            </a:p>
          </p:txBody>
        </p:sp>
        <p:sp>
          <p:nvSpPr>
            <p:cNvPr id="659" name="Google Shape;659;p65"/>
            <p:cNvSpPr/>
            <p:nvPr/>
          </p:nvSpPr>
          <p:spPr>
            <a:xfrm>
              <a:off x="6948275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00">
                  <a:solidFill>
                    <a:schemeClr val="lt1"/>
                  </a:solidFill>
                </a:rPr>
                <a:t>Signal files</a:t>
              </a:r>
              <a:endParaRPr b="1" sz="1300">
                <a:solidFill>
                  <a:schemeClr val="lt1"/>
                </a:solidFill>
              </a:endParaRPr>
            </a:p>
          </p:txBody>
        </p:sp>
        <p:cxnSp>
          <p:nvCxnSpPr>
            <p:cNvPr id="660" name="Google Shape;660;p65"/>
            <p:cNvCxnSpPr>
              <a:endCxn id="657" idx="1"/>
            </p:cNvCxnSpPr>
            <p:nvPr/>
          </p:nvCxnSpPr>
          <p:spPr>
            <a:xfrm>
              <a:off x="2081408" y="1552275"/>
              <a:ext cx="718500" cy="0"/>
            </a:xfrm>
            <a:prstGeom prst="straightConnector1">
              <a:avLst/>
            </a:prstGeom>
            <a:noFill/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triangle"/>
            </a:ln>
          </p:spPr>
        </p:cxnSp>
        <p:cxnSp>
          <p:nvCxnSpPr>
            <p:cNvPr id="661" name="Google Shape;661;p65"/>
            <p:cNvCxnSpPr>
              <a:stCxn id="657" idx="3"/>
              <a:endCxn id="658" idx="1"/>
            </p:cNvCxnSpPr>
            <p:nvPr/>
          </p:nvCxnSpPr>
          <p:spPr>
            <a:xfrm>
              <a:off x="4157108" y="1552275"/>
              <a:ext cx="717000" cy="0"/>
            </a:xfrm>
            <a:prstGeom prst="straightConnector1">
              <a:avLst/>
            </a:prstGeom>
            <a:noFill/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triangle"/>
            </a:ln>
          </p:spPr>
        </p:cxnSp>
        <p:cxnSp>
          <p:nvCxnSpPr>
            <p:cNvPr id="662" name="Google Shape;662;p65"/>
            <p:cNvCxnSpPr>
              <a:stCxn id="658" idx="3"/>
              <a:endCxn id="659" idx="1"/>
            </p:cNvCxnSpPr>
            <p:nvPr/>
          </p:nvCxnSpPr>
          <p:spPr>
            <a:xfrm>
              <a:off x="6231292" y="1552275"/>
              <a:ext cx="717000" cy="0"/>
            </a:xfrm>
            <a:prstGeom prst="straightConnector1">
              <a:avLst/>
            </a:prstGeom>
            <a:noFill/>
            <a:ln cap="flat" cmpd="sng" w="9525">
              <a:solidFill>
                <a:srgbClr val="4A86E8"/>
              </a:solidFill>
              <a:prstDash val="solid"/>
              <a:round/>
              <a:headEnd len="sm" w="sm" type="none"/>
              <a:tailEnd len="sm" w="sm" type="triangle"/>
            </a:ln>
          </p:spPr>
        </p:cxnSp>
      </p:grpSp>
      <p:pic>
        <p:nvPicPr>
          <p:cNvPr id="663" name="Google Shape;663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65"/>
          <p:cNvSpPr txBox="1"/>
          <p:nvPr/>
        </p:nvSpPr>
        <p:spPr>
          <a:xfrm>
            <a:off x="3654950" y="4484375"/>
            <a:ext cx="3636300" cy="43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Standardised data analysis pipelines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665" name="Google Shape;665;p65"/>
          <p:cNvSpPr txBox="1"/>
          <p:nvPr>
            <p:ph idx="1" type="body"/>
          </p:nvPr>
        </p:nvSpPr>
        <p:spPr>
          <a:xfrm>
            <a:off x="338150" y="1813300"/>
            <a:ext cx="7170900" cy="25764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914400" rtl="0" algn="l">
              <a:spcBef>
                <a:spcPts val="750"/>
              </a:spcBef>
              <a:spcAft>
                <a:spcPts val="0"/>
              </a:spcAft>
              <a:buSzPts val="1600"/>
              <a:buChar char="•"/>
            </a:pPr>
            <a:r>
              <a:rPr lang="en-GB"/>
              <a:t>Preprocessing: Adapters trimming with NGmerge/fastp.</a:t>
            </a:r>
            <a:endParaRPr/>
          </a:p>
          <a:p>
            <a:pPr indent="-330200" lvl="0" marL="914400" rtl="0" algn="l"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GB"/>
              <a:t>Alignment: Bowtie2.</a:t>
            </a:r>
            <a:endParaRPr/>
          </a:p>
          <a:p>
            <a:pPr indent="-330200" lvl="0" marL="914400" rtl="0" algn="l"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GB"/>
              <a:t>Peak calling: </a:t>
            </a:r>
            <a:endParaRPr/>
          </a:p>
          <a:p>
            <a:pPr indent="-317500" lvl="1" marL="1371600" rtl="0" algn="l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Genome mask:</a:t>
            </a:r>
            <a:endParaRPr/>
          </a:p>
          <a:p>
            <a:pPr indent="-317500" lvl="2" marL="1828800" rtl="0" algn="l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ENCODE masks for human and mouse.</a:t>
            </a:r>
            <a:endParaRPr/>
          </a:p>
          <a:p>
            <a:pPr indent="-317500" lvl="2" marL="1828800" rtl="0" algn="l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Custom masking strategy for other species.</a:t>
            </a:r>
            <a:endParaRPr/>
          </a:p>
          <a:p>
            <a:pPr indent="-317500" lvl="1" marL="1371600" rtl="0" algn="l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Genrich with different configurations for each experiment type.</a:t>
            </a:r>
            <a:endParaRPr/>
          </a:p>
          <a:p>
            <a:pPr indent="-330200" lvl="0" marL="914400" rtl="0" algn="l">
              <a:spcBef>
                <a:spcPts val="1000"/>
              </a:spcBef>
              <a:spcAft>
                <a:spcPts val="1000"/>
              </a:spcAft>
              <a:buSzPts val="1600"/>
              <a:buChar char="•"/>
            </a:pPr>
            <a:r>
              <a:rPr lang="en-GB"/>
              <a:t>Signal: Estimated from Genrich pileups</a:t>
            </a:r>
            <a:endParaRPr/>
          </a:p>
        </p:txBody>
      </p:sp>
      <p:sp>
        <p:nvSpPr>
          <p:cNvPr id="666" name="Google Shape;666;p65"/>
          <p:cNvSpPr txBox="1"/>
          <p:nvPr/>
        </p:nvSpPr>
        <p:spPr>
          <a:xfrm>
            <a:off x="0" y="4835700"/>
            <a:ext cx="512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u="sng">
                <a:solidFill>
                  <a:schemeClr val="hlink"/>
                </a:solidFill>
                <a:hlinkClick r:id="rId4"/>
              </a:rPr>
              <a:t>https://regulation.ensembl.org/help/primary_processing</a:t>
            </a:r>
            <a:r>
              <a:rPr lang="en-GB" sz="800"/>
              <a:t> </a:t>
            </a:r>
            <a:endParaRPr sz="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annotation pipeline</a:t>
            </a:r>
            <a:endParaRPr/>
          </a:p>
        </p:txBody>
      </p:sp>
      <p:sp>
        <p:nvSpPr>
          <p:cNvPr id="672" name="Google Shape;672;p66"/>
          <p:cNvSpPr txBox="1"/>
          <p:nvPr/>
        </p:nvSpPr>
        <p:spPr>
          <a:xfrm>
            <a:off x="-20175" y="4829925"/>
            <a:ext cx="512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u="sng">
                <a:solidFill>
                  <a:srgbClr val="2A57A3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https://regulation.ensembl.org/help/regulatory_build</a:t>
            </a:r>
            <a:r>
              <a:rPr lang="en-GB" sz="800"/>
              <a:t> </a:t>
            </a:r>
            <a:endParaRPr sz="800"/>
          </a:p>
        </p:txBody>
      </p:sp>
      <p:sp>
        <p:nvSpPr>
          <p:cNvPr id="673" name="Google Shape;673;p66"/>
          <p:cNvSpPr txBox="1"/>
          <p:nvPr/>
        </p:nvSpPr>
        <p:spPr>
          <a:xfrm>
            <a:off x="6115650" y="919650"/>
            <a:ext cx="2984100" cy="3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0000"/>
                </a:solidFill>
              </a:rPr>
              <a:t>Input:</a:t>
            </a:r>
            <a:endParaRPr b="1">
              <a:solidFill>
                <a:srgbClr val="000000"/>
              </a:solidFill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b="1" lang="en-GB" sz="900">
                <a:solidFill>
                  <a:srgbClr val="000000"/>
                </a:solidFill>
              </a:rPr>
              <a:t>ATAC-seq &amp; DNase-seq</a:t>
            </a:r>
            <a:r>
              <a:rPr lang="en-GB" sz="900">
                <a:solidFill>
                  <a:srgbClr val="000000"/>
                </a:solidFill>
              </a:rPr>
              <a:t> peaks for all the epigenomes of the target species</a:t>
            </a:r>
            <a:endParaRPr sz="900">
              <a:solidFill>
                <a:srgbClr val="000000"/>
              </a:solidFill>
            </a:endParaRPr>
          </a:p>
          <a:p>
            <a:pPr indent="-2857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H3K27ac, H3K4me1, and H3K4me3 ChIP-seq peaks for all the epigenomes of the target species (</a:t>
            </a:r>
            <a:r>
              <a:rPr b="1" lang="en-GB" sz="900">
                <a:solidFill>
                  <a:srgbClr val="000000"/>
                </a:solidFill>
              </a:rPr>
              <a:t>optional</a:t>
            </a:r>
            <a:r>
              <a:rPr lang="en-GB" sz="900">
                <a:solidFill>
                  <a:srgbClr val="000000"/>
                </a:solidFill>
              </a:rPr>
              <a:t>)</a:t>
            </a:r>
            <a:endParaRPr sz="900">
              <a:solidFill>
                <a:srgbClr val="000000"/>
              </a:solidFill>
            </a:endParaRPr>
          </a:p>
          <a:p>
            <a:pPr indent="-2857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Annotated TSSs and CDSs from transcripts of interest</a:t>
            </a:r>
            <a:endParaRPr sz="9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0000"/>
                </a:solidFill>
              </a:rPr>
              <a:t>Output:</a:t>
            </a:r>
            <a:endParaRPr b="1">
              <a:solidFill>
                <a:srgbClr val="000000"/>
              </a:solidFill>
            </a:endParaRPr>
          </a:p>
          <a:p>
            <a:pPr indent="-28575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Set of regulatory features: </a:t>
            </a:r>
            <a:r>
              <a:rPr b="1" lang="en-GB" sz="900">
                <a:solidFill>
                  <a:srgbClr val="000000"/>
                </a:solidFill>
              </a:rPr>
              <a:t>Promoters, Enhancers, OCR</a:t>
            </a:r>
            <a:endParaRPr b="1" sz="900">
              <a:solidFill>
                <a:srgbClr val="000000"/>
              </a:solidFill>
            </a:endParaRPr>
          </a:p>
          <a:p>
            <a:pPr indent="-2857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Regulatory features (RFs) </a:t>
            </a:r>
            <a:r>
              <a:rPr b="1" lang="en-GB" sz="900">
                <a:solidFill>
                  <a:srgbClr val="000000"/>
                </a:solidFill>
              </a:rPr>
              <a:t>activity</a:t>
            </a:r>
            <a:r>
              <a:rPr lang="en-GB" sz="900">
                <a:solidFill>
                  <a:srgbClr val="000000"/>
                </a:solidFill>
              </a:rPr>
              <a:t> across different epigenomes with open </a:t>
            </a:r>
            <a:r>
              <a:rPr b="1" lang="en-GB" sz="900">
                <a:solidFill>
                  <a:srgbClr val="000000"/>
                </a:solidFill>
              </a:rPr>
              <a:t>chromatin data</a:t>
            </a:r>
            <a:endParaRPr b="1" sz="9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000000"/>
                </a:solidFill>
              </a:rPr>
              <a:t>	</a:t>
            </a:r>
            <a:endParaRPr b="1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t/>
            </a:r>
            <a:endParaRPr sz="900">
              <a:solidFill>
                <a:srgbClr val="000000"/>
              </a:solidFill>
            </a:endParaRPr>
          </a:p>
        </p:txBody>
      </p:sp>
      <p:pic>
        <p:nvPicPr>
          <p:cNvPr id="674" name="Google Shape;674;p66" title="regBuild_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000" y="1461439"/>
            <a:ext cx="6014648" cy="218793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5" name="Google Shape;675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0" name="Google Shape;680;p67"/>
          <p:cNvPicPr preferRelativeResize="0"/>
          <p:nvPr/>
        </p:nvPicPr>
        <p:blipFill rotWithShape="1">
          <a:blip r:embed="rId3">
            <a:alphaModFix/>
          </a:blip>
          <a:srcRect b="0" l="0" r="1478" t="0"/>
          <a:stretch/>
        </p:blipFill>
        <p:spPr>
          <a:xfrm>
            <a:off x="125" y="1066879"/>
            <a:ext cx="9143843" cy="4076632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6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Regulation Subsite</a:t>
            </a:r>
            <a:endParaRPr/>
          </a:p>
        </p:txBody>
      </p:sp>
      <p:sp>
        <p:nvSpPr>
          <p:cNvPr id="682" name="Google Shape;682;p67"/>
          <p:cNvSpPr txBox="1"/>
          <p:nvPr/>
        </p:nvSpPr>
        <p:spPr>
          <a:xfrm>
            <a:off x="5896316" y="1662567"/>
            <a:ext cx="10683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8">
                <a:solidFill>
                  <a:schemeClr val="lt1"/>
                </a:solidFill>
              </a:rPr>
              <a:t>Release</a:t>
            </a:r>
            <a:endParaRPr b="1" sz="1628">
              <a:solidFill>
                <a:schemeClr val="lt1"/>
              </a:solidFill>
            </a:endParaRPr>
          </a:p>
        </p:txBody>
      </p:sp>
      <p:sp>
        <p:nvSpPr>
          <p:cNvPr id="683" name="Google Shape;683;p67"/>
          <p:cNvSpPr txBox="1"/>
          <p:nvPr/>
        </p:nvSpPr>
        <p:spPr>
          <a:xfrm>
            <a:off x="2921115" y="911967"/>
            <a:ext cx="18024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8">
                <a:solidFill>
                  <a:schemeClr val="lt1"/>
                </a:solidFill>
              </a:rPr>
              <a:t>Page selector</a:t>
            </a:r>
            <a:endParaRPr b="1" sz="1628">
              <a:solidFill>
                <a:schemeClr val="lt1"/>
              </a:solidFill>
            </a:endParaRPr>
          </a:p>
        </p:txBody>
      </p:sp>
      <p:sp>
        <p:nvSpPr>
          <p:cNvPr id="684" name="Google Shape;684;p67"/>
          <p:cNvSpPr txBox="1"/>
          <p:nvPr/>
        </p:nvSpPr>
        <p:spPr>
          <a:xfrm>
            <a:off x="3043690" y="4134234"/>
            <a:ext cx="19662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8">
                <a:solidFill>
                  <a:schemeClr val="lt1"/>
                </a:solidFill>
              </a:rPr>
              <a:t>Species selector</a:t>
            </a:r>
            <a:endParaRPr b="1" sz="1628">
              <a:solidFill>
                <a:schemeClr val="lt1"/>
              </a:solidFill>
            </a:endParaRPr>
          </a:p>
        </p:txBody>
      </p:sp>
      <p:sp>
        <p:nvSpPr>
          <p:cNvPr id="685" name="Google Shape;685;p67"/>
          <p:cNvSpPr/>
          <p:nvPr/>
        </p:nvSpPr>
        <p:spPr>
          <a:xfrm>
            <a:off x="3043663" y="3019586"/>
            <a:ext cx="4689300" cy="11145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0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12">
              <a:solidFill>
                <a:schemeClr val="lt1"/>
              </a:solidFill>
            </a:endParaRPr>
          </a:p>
        </p:txBody>
      </p:sp>
      <p:sp>
        <p:nvSpPr>
          <p:cNvPr id="686" name="Google Shape;686;p67"/>
          <p:cNvSpPr/>
          <p:nvPr/>
        </p:nvSpPr>
        <p:spPr>
          <a:xfrm>
            <a:off x="478641" y="1749996"/>
            <a:ext cx="2565000" cy="29442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0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12">
              <a:solidFill>
                <a:schemeClr val="lt1"/>
              </a:solidFill>
            </a:endParaRPr>
          </a:p>
        </p:txBody>
      </p:sp>
      <p:sp>
        <p:nvSpPr>
          <p:cNvPr id="687" name="Google Shape;687;p67"/>
          <p:cNvSpPr/>
          <p:nvPr/>
        </p:nvSpPr>
        <p:spPr>
          <a:xfrm>
            <a:off x="1945675" y="1371574"/>
            <a:ext cx="3753300" cy="2910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0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12">
              <a:solidFill>
                <a:schemeClr val="lt1"/>
              </a:solidFill>
            </a:endParaRPr>
          </a:p>
        </p:txBody>
      </p:sp>
      <p:sp>
        <p:nvSpPr>
          <p:cNvPr id="688" name="Google Shape;688;p67"/>
          <p:cNvSpPr/>
          <p:nvPr/>
        </p:nvSpPr>
        <p:spPr>
          <a:xfrm>
            <a:off x="5744528" y="1371574"/>
            <a:ext cx="1371900" cy="2910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0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12">
              <a:solidFill>
                <a:schemeClr val="lt1"/>
              </a:solidFill>
            </a:endParaRPr>
          </a:p>
        </p:txBody>
      </p:sp>
      <p:sp>
        <p:nvSpPr>
          <p:cNvPr id="689" name="Google Shape;689;p67"/>
          <p:cNvSpPr txBox="1"/>
          <p:nvPr/>
        </p:nvSpPr>
        <p:spPr>
          <a:xfrm>
            <a:off x="7341697" y="607400"/>
            <a:ext cx="18024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8">
                <a:solidFill>
                  <a:schemeClr val="lt1"/>
                </a:solidFill>
              </a:rPr>
              <a:t>Contact form</a:t>
            </a:r>
            <a:endParaRPr b="1" sz="1628">
              <a:solidFill>
                <a:schemeClr val="lt1"/>
              </a:solidFill>
            </a:endParaRPr>
          </a:p>
        </p:txBody>
      </p:sp>
      <p:sp>
        <p:nvSpPr>
          <p:cNvPr id="690" name="Google Shape;690;p67"/>
          <p:cNvSpPr/>
          <p:nvPr/>
        </p:nvSpPr>
        <p:spPr>
          <a:xfrm>
            <a:off x="8340550" y="1066875"/>
            <a:ext cx="803400" cy="2319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0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12">
              <a:solidFill>
                <a:schemeClr val="lt1"/>
              </a:solidFill>
            </a:endParaRPr>
          </a:p>
        </p:txBody>
      </p:sp>
      <p:sp>
        <p:nvSpPr>
          <p:cNvPr id="691" name="Google Shape;691;p67"/>
          <p:cNvSpPr txBox="1"/>
          <p:nvPr/>
        </p:nvSpPr>
        <p:spPr>
          <a:xfrm>
            <a:off x="7341697" y="2122148"/>
            <a:ext cx="18024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8">
                <a:solidFill>
                  <a:schemeClr val="lt1"/>
                </a:solidFill>
              </a:rPr>
              <a:t>Contact form</a:t>
            </a:r>
            <a:endParaRPr b="1" sz="1628">
              <a:solidFill>
                <a:schemeClr val="lt1"/>
              </a:solidFill>
            </a:endParaRPr>
          </a:p>
        </p:txBody>
      </p:sp>
      <p:sp>
        <p:nvSpPr>
          <p:cNvPr id="692" name="Google Shape;692;p67"/>
          <p:cNvSpPr/>
          <p:nvPr/>
        </p:nvSpPr>
        <p:spPr>
          <a:xfrm>
            <a:off x="8917039" y="1831166"/>
            <a:ext cx="226800" cy="2910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0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8750" lIns="98750" spcFirstLastPara="1" rIns="98750" wrap="square" tIns="98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12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6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Regulation Subsite: Epigenomes tab</a:t>
            </a:r>
            <a:endParaRPr/>
          </a:p>
        </p:txBody>
      </p:sp>
      <p:pic>
        <p:nvPicPr>
          <p:cNvPr id="698" name="Google Shape;698;p6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9975" y="927950"/>
            <a:ext cx="4180700" cy="314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48900" y="3878150"/>
            <a:ext cx="1132125" cy="113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68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550" y="1254850"/>
            <a:ext cx="4698849" cy="234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68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44263" y="387815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6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Epigenomes tab</a:t>
            </a:r>
            <a:endParaRPr/>
          </a:p>
        </p:txBody>
      </p:sp>
      <p:pic>
        <p:nvPicPr>
          <p:cNvPr id="707" name="Google Shape;70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5624" y="792250"/>
            <a:ext cx="7277249" cy="39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70"/>
          <p:cNvSpPr txBox="1"/>
          <p:nvPr>
            <p:ph type="title"/>
          </p:nvPr>
        </p:nvSpPr>
        <p:spPr>
          <a:xfrm>
            <a:off x="300688" y="269869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Features tab</a:t>
            </a:r>
            <a:endParaRPr/>
          </a:p>
        </p:txBody>
      </p:sp>
      <p:pic>
        <p:nvPicPr>
          <p:cNvPr id="713" name="Google Shape;713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73750"/>
            <a:ext cx="5479361" cy="2841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14" name="Google Shape;714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2050" y="2198600"/>
            <a:ext cx="5212526" cy="251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0" name="Google Shape;720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86625"/>
            <a:ext cx="9144002" cy="3766150"/>
          </a:xfrm>
          <a:prstGeom prst="rect">
            <a:avLst/>
          </a:prstGeom>
          <a:noFill/>
          <a:ln>
            <a:noFill/>
          </a:ln>
        </p:spPr>
      </p:pic>
      <p:sp>
        <p:nvSpPr>
          <p:cNvPr id="721" name="Google Shape;721;p71"/>
          <p:cNvSpPr txBox="1"/>
          <p:nvPr>
            <p:ph type="title"/>
          </p:nvPr>
        </p:nvSpPr>
        <p:spPr>
          <a:xfrm>
            <a:off x="315738" y="306857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Features tab</a:t>
            </a:r>
            <a:endParaRPr/>
          </a:p>
        </p:txBody>
      </p:sp>
      <p:sp>
        <p:nvSpPr>
          <p:cNvPr id="722" name="Google Shape;722;p71"/>
          <p:cNvSpPr/>
          <p:nvPr/>
        </p:nvSpPr>
        <p:spPr>
          <a:xfrm>
            <a:off x="1498224" y="2425450"/>
            <a:ext cx="1042800" cy="2190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rgbClr val="F49E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rgbClr val="FFFFFF"/>
              </a:solidFill>
            </a:endParaRPr>
          </a:p>
        </p:txBody>
      </p:sp>
      <p:sp>
        <p:nvSpPr>
          <p:cNvPr id="723" name="Google Shape;723;p71"/>
          <p:cNvSpPr txBox="1"/>
          <p:nvPr/>
        </p:nvSpPr>
        <p:spPr>
          <a:xfrm>
            <a:off x="510625" y="2078650"/>
            <a:ext cx="2902200" cy="346800"/>
          </a:xfrm>
          <a:prstGeom prst="rect">
            <a:avLst/>
          </a:prstGeom>
          <a:solidFill>
            <a:srgbClr val="F49E17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FFFFFF"/>
                </a:solidFill>
              </a:rPr>
              <a:t>Click to visualise location</a:t>
            </a:r>
            <a:endParaRPr b="1" sz="1600">
              <a:solidFill>
                <a:srgbClr val="FFFFFF"/>
              </a:solidFill>
            </a:endParaRPr>
          </a:p>
        </p:txBody>
      </p:sp>
      <p:pic>
        <p:nvPicPr>
          <p:cNvPr id="724" name="Google Shape;724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9" name="Google Shape;729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113" y="849950"/>
            <a:ext cx="6181773" cy="4275275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72"/>
          <p:cNvSpPr txBox="1"/>
          <p:nvPr>
            <p:ph type="title"/>
          </p:nvPr>
        </p:nvSpPr>
        <p:spPr>
          <a:xfrm>
            <a:off x="354713" y="306857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</a:t>
            </a:r>
            <a:endParaRPr/>
          </a:p>
        </p:txBody>
      </p:sp>
      <p:sp>
        <p:nvSpPr>
          <p:cNvPr id="731" name="Google Shape;731;p72"/>
          <p:cNvSpPr txBox="1"/>
          <p:nvPr/>
        </p:nvSpPr>
        <p:spPr>
          <a:xfrm>
            <a:off x="5255950" y="1199875"/>
            <a:ext cx="22443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Search coordinates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32" name="Google Shape;732;p72"/>
          <p:cNvSpPr/>
          <p:nvPr/>
        </p:nvSpPr>
        <p:spPr>
          <a:xfrm>
            <a:off x="5690500" y="1524175"/>
            <a:ext cx="1375200" cy="1848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33" name="Google Shape;733;p72"/>
          <p:cNvSpPr/>
          <p:nvPr/>
        </p:nvSpPr>
        <p:spPr>
          <a:xfrm>
            <a:off x="5702975" y="1706575"/>
            <a:ext cx="1362600" cy="1458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34" name="Google Shape;734;p72"/>
          <p:cNvSpPr txBox="1"/>
          <p:nvPr/>
        </p:nvSpPr>
        <p:spPr>
          <a:xfrm>
            <a:off x="6199325" y="1852375"/>
            <a:ext cx="14685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Zoom tools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35" name="Google Shape;735;p72"/>
          <p:cNvSpPr txBox="1"/>
          <p:nvPr/>
        </p:nvSpPr>
        <p:spPr>
          <a:xfrm>
            <a:off x="1943375" y="1852375"/>
            <a:ext cx="18117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Current location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36" name="Google Shape;736;p72"/>
          <p:cNvSpPr/>
          <p:nvPr/>
        </p:nvSpPr>
        <p:spPr>
          <a:xfrm>
            <a:off x="2542474" y="1674900"/>
            <a:ext cx="613500" cy="1848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37" name="Google Shape;737;p72"/>
          <p:cNvSpPr/>
          <p:nvPr/>
        </p:nvSpPr>
        <p:spPr>
          <a:xfrm>
            <a:off x="2075974" y="3625875"/>
            <a:ext cx="5009700" cy="2775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38" name="Google Shape;738;p72"/>
          <p:cNvSpPr txBox="1"/>
          <p:nvPr/>
        </p:nvSpPr>
        <p:spPr>
          <a:xfrm>
            <a:off x="3168425" y="3301575"/>
            <a:ext cx="28248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Regulatory features card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39" name="Google Shape;739;p72"/>
          <p:cNvSpPr/>
          <p:nvPr/>
        </p:nvSpPr>
        <p:spPr>
          <a:xfrm>
            <a:off x="2075975" y="4265775"/>
            <a:ext cx="5009700" cy="8241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40" name="Google Shape;740;p72"/>
          <p:cNvSpPr txBox="1"/>
          <p:nvPr/>
        </p:nvSpPr>
        <p:spPr>
          <a:xfrm>
            <a:off x="3458675" y="3941475"/>
            <a:ext cx="22443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Filtered epigenomes</a:t>
            </a:r>
            <a:endParaRPr b="1" sz="1600">
              <a:solidFill>
                <a:schemeClr val="lt1"/>
              </a:solidFill>
            </a:endParaRPr>
          </a:p>
        </p:txBody>
      </p:sp>
      <p:pic>
        <p:nvPicPr>
          <p:cNvPr id="741" name="Google Shape;741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3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Google Shape;746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950" y="1130400"/>
            <a:ext cx="7811700" cy="3491800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p73"/>
          <p:cNvSpPr/>
          <p:nvPr/>
        </p:nvSpPr>
        <p:spPr>
          <a:xfrm>
            <a:off x="7314925" y="4625200"/>
            <a:ext cx="1829100" cy="518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48" name="Google Shape;748;p73"/>
          <p:cNvSpPr txBox="1"/>
          <p:nvPr>
            <p:ph type="title"/>
          </p:nvPr>
        </p:nvSpPr>
        <p:spPr>
          <a:xfrm>
            <a:off x="345888" y="35079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zoomed out</a:t>
            </a:r>
            <a:endParaRPr/>
          </a:p>
        </p:txBody>
      </p:sp>
      <p:sp>
        <p:nvSpPr>
          <p:cNvPr id="749" name="Google Shape;749;p73"/>
          <p:cNvSpPr txBox="1"/>
          <p:nvPr/>
        </p:nvSpPr>
        <p:spPr>
          <a:xfrm>
            <a:off x="1622725" y="2331325"/>
            <a:ext cx="10269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Scale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50" name="Google Shape;750;p73"/>
          <p:cNvSpPr/>
          <p:nvPr/>
        </p:nvSpPr>
        <p:spPr>
          <a:xfrm>
            <a:off x="1146625" y="2145275"/>
            <a:ext cx="476100" cy="3009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51" name="Google Shape;751;p73"/>
          <p:cNvSpPr/>
          <p:nvPr/>
        </p:nvSpPr>
        <p:spPr>
          <a:xfrm>
            <a:off x="6844500" y="1966825"/>
            <a:ext cx="410400" cy="2322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52" name="Google Shape;752;p73"/>
          <p:cNvSpPr txBox="1"/>
          <p:nvPr/>
        </p:nvSpPr>
        <p:spPr>
          <a:xfrm>
            <a:off x="6038700" y="2446075"/>
            <a:ext cx="15516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Zoom out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53" name="Google Shape;753;p73"/>
          <p:cNvSpPr txBox="1"/>
          <p:nvPr/>
        </p:nvSpPr>
        <p:spPr>
          <a:xfrm>
            <a:off x="649225" y="1487575"/>
            <a:ext cx="22200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Current coordinates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54" name="Google Shape;754;p73"/>
          <p:cNvSpPr/>
          <p:nvPr/>
        </p:nvSpPr>
        <p:spPr>
          <a:xfrm>
            <a:off x="1278050" y="1985975"/>
            <a:ext cx="963900" cy="1593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pic>
        <p:nvPicPr>
          <p:cNvPr id="755" name="Google Shape;755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3588" y="0"/>
            <a:ext cx="1130400" cy="113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74"/>
          <p:cNvSpPr txBox="1"/>
          <p:nvPr>
            <p:ph type="title"/>
          </p:nvPr>
        </p:nvSpPr>
        <p:spPr>
          <a:xfrm>
            <a:off x="345888" y="390969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chromosome change</a:t>
            </a:r>
            <a:endParaRPr/>
          </a:p>
        </p:txBody>
      </p:sp>
      <p:pic>
        <p:nvPicPr>
          <p:cNvPr id="761" name="Google Shape;761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9150" y="909375"/>
            <a:ext cx="4225704" cy="4234124"/>
          </a:xfrm>
          <a:prstGeom prst="rect">
            <a:avLst/>
          </a:prstGeom>
          <a:noFill/>
          <a:ln>
            <a:noFill/>
          </a:ln>
        </p:spPr>
      </p:pic>
      <p:sp>
        <p:nvSpPr>
          <p:cNvPr id="762" name="Google Shape;762;p74"/>
          <p:cNvSpPr txBox="1"/>
          <p:nvPr/>
        </p:nvSpPr>
        <p:spPr>
          <a:xfrm>
            <a:off x="2243600" y="1495175"/>
            <a:ext cx="26247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Change chromosome</a:t>
            </a:r>
            <a:endParaRPr b="1" sz="1600">
              <a:solidFill>
                <a:schemeClr val="lt1"/>
              </a:solidFill>
            </a:endParaRPr>
          </a:p>
        </p:txBody>
      </p:sp>
      <p:sp>
        <p:nvSpPr>
          <p:cNvPr id="763" name="Google Shape;763;p74"/>
          <p:cNvSpPr/>
          <p:nvPr/>
        </p:nvSpPr>
        <p:spPr>
          <a:xfrm>
            <a:off x="2824550" y="1910675"/>
            <a:ext cx="1462800" cy="27327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pic>
        <p:nvPicPr>
          <p:cNvPr id="764" name="Google Shape;764;p7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3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7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Gene search</a:t>
            </a:r>
            <a:endParaRPr/>
          </a:p>
        </p:txBody>
      </p:sp>
      <p:pic>
        <p:nvPicPr>
          <p:cNvPr id="770" name="Google Shape;770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92250"/>
            <a:ext cx="4762589" cy="4351251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75"/>
          <p:cNvSpPr/>
          <p:nvPr/>
        </p:nvSpPr>
        <p:spPr>
          <a:xfrm>
            <a:off x="54376" y="3047525"/>
            <a:ext cx="4652400" cy="12522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chemeClr val="lt1"/>
              </a:solidFill>
            </a:endParaRPr>
          </a:p>
        </p:txBody>
      </p:sp>
      <p:sp>
        <p:nvSpPr>
          <p:cNvPr id="772" name="Google Shape;772;p75"/>
          <p:cNvSpPr txBox="1"/>
          <p:nvPr/>
        </p:nvSpPr>
        <p:spPr>
          <a:xfrm>
            <a:off x="1472475" y="2632025"/>
            <a:ext cx="18162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lt1"/>
                </a:solidFill>
              </a:rPr>
              <a:t>Genes card</a:t>
            </a:r>
            <a:endParaRPr b="1" sz="1600">
              <a:solidFill>
                <a:schemeClr val="lt1"/>
              </a:solidFill>
            </a:endParaRPr>
          </a:p>
        </p:txBody>
      </p:sp>
      <p:pic>
        <p:nvPicPr>
          <p:cNvPr id="773" name="Google Shape;773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9225" y="1192775"/>
            <a:ext cx="4850575" cy="2259499"/>
          </a:xfrm>
          <a:prstGeom prst="rect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74" name="Google Shape;774;p7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7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Gene page link</a:t>
            </a:r>
            <a:endParaRPr/>
          </a:p>
        </p:txBody>
      </p:sp>
      <p:pic>
        <p:nvPicPr>
          <p:cNvPr id="780" name="Google Shape;78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399" y="792250"/>
            <a:ext cx="5863194" cy="4351249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p76"/>
          <p:cNvSpPr/>
          <p:nvPr/>
        </p:nvSpPr>
        <p:spPr>
          <a:xfrm>
            <a:off x="1897475" y="4643450"/>
            <a:ext cx="756000" cy="1953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rgbClr val="F49E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rgbClr val="FFFFFF"/>
              </a:solidFill>
            </a:endParaRPr>
          </a:p>
        </p:txBody>
      </p:sp>
      <p:sp>
        <p:nvSpPr>
          <p:cNvPr id="782" name="Google Shape;782;p76"/>
          <p:cNvSpPr txBox="1"/>
          <p:nvPr/>
        </p:nvSpPr>
        <p:spPr>
          <a:xfrm>
            <a:off x="1362125" y="4291850"/>
            <a:ext cx="1826700" cy="351600"/>
          </a:xfrm>
          <a:prstGeom prst="rect">
            <a:avLst/>
          </a:prstGeom>
          <a:solidFill>
            <a:srgbClr val="F49E17"/>
          </a:solidFill>
          <a:ln cap="flat" cmpd="sng" w="9525">
            <a:solidFill>
              <a:srgbClr val="F49E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FFFFFF"/>
                </a:solidFill>
              </a:rPr>
              <a:t>Gene page link</a:t>
            </a:r>
            <a:endParaRPr b="1" sz="1600">
              <a:solidFill>
                <a:srgbClr val="FFFFFF"/>
              </a:solidFill>
            </a:endParaRPr>
          </a:p>
        </p:txBody>
      </p:sp>
      <p:pic>
        <p:nvPicPr>
          <p:cNvPr id="783" name="Google Shape;783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77"/>
          <p:cNvSpPr/>
          <p:nvPr/>
        </p:nvSpPr>
        <p:spPr>
          <a:xfrm>
            <a:off x="7250100" y="4700400"/>
            <a:ext cx="1893900" cy="443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89" name="Google Shape;789;p7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Genes tab</a:t>
            </a:r>
            <a:endParaRPr/>
          </a:p>
        </p:txBody>
      </p:sp>
      <p:pic>
        <p:nvPicPr>
          <p:cNvPr id="790" name="Google Shape;790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3125" y="792250"/>
            <a:ext cx="7157740" cy="435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1" name="Google Shape;791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7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Regulatory feature selection</a:t>
            </a:r>
            <a:endParaRPr/>
          </a:p>
        </p:txBody>
      </p:sp>
      <p:pic>
        <p:nvPicPr>
          <p:cNvPr id="797" name="Google Shape;79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3697" y="792250"/>
            <a:ext cx="5089002" cy="4295526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78"/>
          <p:cNvSpPr/>
          <p:nvPr/>
        </p:nvSpPr>
        <p:spPr>
          <a:xfrm>
            <a:off x="2243700" y="3099575"/>
            <a:ext cx="5088900" cy="20442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24225">
            <a:solidFill>
              <a:srgbClr val="F49E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80">
              <a:solidFill>
                <a:srgbClr val="FFFFFF"/>
              </a:solidFill>
            </a:endParaRPr>
          </a:p>
        </p:txBody>
      </p:sp>
      <p:sp>
        <p:nvSpPr>
          <p:cNvPr id="799" name="Google Shape;799;p78"/>
          <p:cNvSpPr txBox="1"/>
          <p:nvPr/>
        </p:nvSpPr>
        <p:spPr>
          <a:xfrm>
            <a:off x="2963100" y="2684075"/>
            <a:ext cx="3217800" cy="415500"/>
          </a:xfrm>
          <a:prstGeom prst="rect">
            <a:avLst/>
          </a:prstGeom>
          <a:solidFill>
            <a:srgbClr val="F49E17"/>
          </a:solidFill>
          <a:ln>
            <a:noFill/>
          </a:ln>
        </p:spPr>
        <p:txBody>
          <a:bodyPr anchorCtr="0" anchor="ctr" bIns="116225" lIns="116225" spcFirstLastPara="1" rIns="116225" wrap="square" tIns="116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FFFFFF"/>
                </a:solidFill>
              </a:rPr>
              <a:t>Regulatory features selection</a:t>
            </a:r>
            <a:endParaRPr b="1" sz="1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79"/>
          <p:cNvSpPr txBox="1"/>
          <p:nvPr>
            <p:ph type="title"/>
          </p:nvPr>
        </p:nvSpPr>
        <p:spPr>
          <a:xfrm>
            <a:off x="345888" y="390969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Regulatory activity</a:t>
            </a:r>
            <a:endParaRPr/>
          </a:p>
        </p:txBody>
      </p:sp>
      <p:pic>
        <p:nvPicPr>
          <p:cNvPr id="805" name="Google Shape;805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3713" y="909375"/>
            <a:ext cx="5576578" cy="4234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6" name="Google Shape;806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9150" y="0"/>
            <a:ext cx="1132125" cy="1132125"/>
          </a:xfrm>
          <a:prstGeom prst="rect">
            <a:avLst/>
          </a:prstGeom>
          <a:noFill/>
          <a:ln>
            <a:noFill/>
          </a:ln>
        </p:spPr>
      </p:pic>
      <p:sp>
        <p:nvSpPr>
          <p:cNvPr id="807" name="Google Shape;807;p79"/>
          <p:cNvSpPr/>
          <p:nvPr/>
        </p:nvSpPr>
        <p:spPr>
          <a:xfrm>
            <a:off x="1783763" y="3834250"/>
            <a:ext cx="5576700" cy="1309500"/>
          </a:xfrm>
          <a:prstGeom prst="rect">
            <a:avLst/>
          </a:prstGeom>
          <a:solidFill>
            <a:srgbClr val="F49E17">
              <a:alpha val="10000"/>
            </a:srgbClr>
          </a:solidFill>
          <a:ln cap="flat" cmpd="sng" w="32075">
            <a:solidFill>
              <a:srgbClr val="F49E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3850" lIns="153850" spcFirstLastPara="1" rIns="153850" wrap="square" tIns="1538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56">
              <a:solidFill>
                <a:srgbClr val="FFFFFF"/>
              </a:solidFill>
            </a:endParaRPr>
          </a:p>
        </p:txBody>
      </p:sp>
      <p:sp>
        <p:nvSpPr>
          <p:cNvPr id="808" name="Google Shape;808;p79"/>
          <p:cNvSpPr txBox="1"/>
          <p:nvPr/>
        </p:nvSpPr>
        <p:spPr>
          <a:xfrm>
            <a:off x="3470850" y="3394750"/>
            <a:ext cx="2202300" cy="439500"/>
          </a:xfrm>
          <a:prstGeom prst="rect">
            <a:avLst/>
          </a:prstGeom>
          <a:solidFill>
            <a:srgbClr val="F49E17"/>
          </a:solidFill>
          <a:ln>
            <a:noFill/>
          </a:ln>
        </p:spPr>
        <p:txBody>
          <a:bodyPr anchorCtr="0" anchor="ctr" bIns="153850" lIns="153850" spcFirstLastPara="1" rIns="153850" wrap="square" tIns="1538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FFFFFF"/>
                </a:solidFill>
              </a:rPr>
              <a:t>Regulatory activity</a:t>
            </a:r>
            <a:endParaRPr b="1" sz="1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8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Genes tab</a:t>
            </a:r>
            <a:endParaRPr/>
          </a:p>
        </p:txBody>
      </p:sp>
      <p:pic>
        <p:nvPicPr>
          <p:cNvPr id="814" name="Google Shape;814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6050" y="855644"/>
            <a:ext cx="6185203" cy="4046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81"/>
          <p:cNvSpPr txBox="1"/>
          <p:nvPr>
            <p:ph type="title"/>
          </p:nvPr>
        </p:nvSpPr>
        <p:spPr>
          <a:xfrm>
            <a:off x="65263" y="185900"/>
            <a:ext cx="91440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</a:t>
            </a:r>
            <a:endParaRPr/>
          </a:p>
        </p:txBody>
      </p:sp>
      <p:graphicFrame>
        <p:nvGraphicFramePr>
          <p:cNvPr id="821" name="Google Shape;821;p81"/>
          <p:cNvGraphicFramePr/>
          <p:nvPr/>
        </p:nvGraphicFramePr>
        <p:xfrm>
          <a:off x="281325" y="827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{36A24227-F492-472F-826B-EC29D6F5AE07}</a:tableStyleId>
              </a:tblPr>
              <a:tblGrid>
                <a:gridCol w="1071950"/>
                <a:gridCol w="2316500"/>
                <a:gridCol w="2780375"/>
                <a:gridCol w="2543050"/>
              </a:tblGrid>
              <a:tr h="3253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/>
                        <a:t>Resource</a:t>
                      </a:r>
                      <a:endParaRPr b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4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/>
                        <a:t>Main evidence categories</a:t>
                      </a:r>
                      <a:endParaRPr b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4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/>
                        <a:t>What it is useful for</a:t>
                      </a:r>
                      <a:endParaRPr b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4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/>
                        <a:t>Main caveat</a:t>
                      </a:r>
                      <a:endParaRPr b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43"/>
                    </a:solidFill>
                  </a:tcPr>
                </a:tc>
              </a:tr>
              <a:tr h="621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GB" sz="1000"/>
                        <a:t>Ensembl Regulation</a:t>
                      </a:r>
                      <a:endParaRPr i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 accessibility, histone modifications, </a:t>
                      </a:r>
                      <a:r>
                        <a:rPr lang="en-GB" sz="1000">
                          <a:solidFill>
                            <a:srgbClr val="000000"/>
                          </a:solidFill>
                        </a:rPr>
                        <a:t>CTCF ChIP-seq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Integrated regulatory features: promoters, enhancers, open chromatin regions, CTCF sites; activity across epigenomes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Evidence-based annotation, not direct proof of regulatory function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9DAF8"/>
                    </a:solidFill>
                  </a:tcPr>
                </a:tc>
              </a:tr>
              <a:tr h="621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GB" sz="1000"/>
                        <a:t>ENCODE cCREs / SCREEN</a:t>
                      </a:r>
                      <a:endParaRPr i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</a:rPr>
                        <a:t>Chromatin</a:t>
                      </a:r>
                      <a:r>
                        <a:rPr lang="en-GB" sz="1000"/>
                        <a:t> accessibility, histone </a:t>
                      </a:r>
                      <a:r>
                        <a:rPr lang="en-GB" sz="1000">
                          <a:solidFill>
                            <a:srgbClr val="000000"/>
                          </a:solidFill>
                        </a:rPr>
                        <a:t>modifications</a:t>
                      </a:r>
                      <a:r>
                        <a:rPr lang="en-GB" sz="1000"/>
                        <a:t>, CTCF/TF ChIP-seq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Candidate cis-regulatory elements with promoter-like, enhancer-like, CTCF-like and other classes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Strong genome-wide catalogue, but still “candidate” elements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</a:tr>
              <a:tr h="621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GB" sz="1000"/>
                        <a:t>RefSeq Functional Elements</a:t>
                      </a:r>
                      <a:endParaRPr i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Manually curated experimental evidence, literature, protein binding, functional assays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High-confidence functional regions such as enhancers, silencers, insulators and locus control regions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Curated and evidence-rich, but less comprehensive genome-wide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2E9"/>
                    </a:solidFill>
                  </a:tcPr>
                </a:tc>
              </a:tr>
              <a:tr h="525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GB" sz="1000"/>
                        <a:t>FANTOM5</a:t>
                      </a:r>
                      <a:endParaRPr i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Transcription-based evidence, mainly CAGE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Active promoters and transcribed enhancers across many cell types/tissues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Best for active transcribed elements; may miss poised or non-transcribed CREs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CB9C"/>
                    </a:solidFill>
                  </a:tcPr>
                </a:tc>
              </a:tr>
              <a:tr h="5612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GB" sz="1000"/>
                        <a:t>Roadmap Epigenomics / ChromHMM</a:t>
                      </a:r>
                      <a:endParaRPr i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 accessibility, histone modifications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Chromatin-state annotations across many tissues/cell types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State labels are model-based and assay-dependent. Older technologies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C4C9"/>
                    </a:solidFill>
                  </a:tcPr>
                </a:tc>
              </a:tr>
              <a:tr h="416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GB" sz="1000"/>
                        <a:t>VISTA Browser</a:t>
                      </a:r>
                      <a:endParaRPr i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Comparative genomics plus in vivo reporter assays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Experimentally validated developmental enhancers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Very valuable but focused on tested fragments, not comprehensive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82"/>
          <p:cNvSpPr txBox="1"/>
          <p:nvPr>
            <p:ph type="title"/>
          </p:nvPr>
        </p:nvSpPr>
        <p:spPr>
          <a:xfrm>
            <a:off x="338138" y="3494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27" name="Google Shape;827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150" y="945750"/>
            <a:ext cx="7106699" cy="381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8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33" name="Google Shape;833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0200" y="866775"/>
            <a:ext cx="7114501" cy="387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84"/>
          <p:cNvSpPr txBox="1"/>
          <p:nvPr>
            <p:ph type="title"/>
          </p:nvPr>
        </p:nvSpPr>
        <p:spPr>
          <a:xfrm>
            <a:off x="338138" y="3494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39" name="Google Shape;839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4450" y="867850"/>
            <a:ext cx="7137873" cy="38517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0" name="Google Shape;840;p84"/>
          <p:cNvCxnSpPr/>
          <p:nvPr/>
        </p:nvCxnSpPr>
        <p:spPr>
          <a:xfrm rot="10800000">
            <a:off x="2445600" y="2819525"/>
            <a:ext cx="54600" cy="4128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841" name="Google Shape;841;p84"/>
          <p:cNvCxnSpPr/>
          <p:nvPr/>
        </p:nvCxnSpPr>
        <p:spPr>
          <a:xfrm flipH="1" rot="10800000">
            <a:off x="4950275" y="2765050"/>
            <a:ext cx="548700" cy="3237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842" name="Google Shape;842;p84"/>
          <p:cNvCxnSpPr/>
          <p:nvPr/>
        </p:nvCxnSpPr>
        <p:spPr>
          <a:xfrm flipH="1" rot="10800000">
            <a:off x="6707175" y="2804050"/>
            <a:ext cx="333900" cy="2847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8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48" name="Google Shape;848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788" y="687619"/>
            <a:ext cx="7634924" cy="4046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8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54" name="Google Shape;854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900" y="792250"/>
            <a:ext cx="7161575" cy="40078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55" name="Google Shape;855;p86"/>
          <p:cNvCxnSpPr/>
          <p:nvPr/>
        </p:nvCxnSpPr>
        <p:spPr>
          <a:xfrm flipH="1" rot="10800000">
            <a:off x="1935675" y="3281600"/>
            <a:ext cx="1488600" cy="4284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856" name="Google Shape;856;p86"/>
          <p:cNvCxnSpPr/>
          <p:nvPr/>
        </p:nvCxnSpPr>
        <p:spPr>
          <a:xfrm rot="10800000">
            <a:off x="3591825" y="3846100"/>
            <a:ext cx="310200" cy="3723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857" name="Google Shape;857;p86"/>
          <p:cNvCxnSpPr/>
          <p:nvPr/>
        </p:nvCxnSpPr>
        <p:spPr>
          <a:xfrm rot="10800000">
            <a:off x="4144150" y="3120125"/>
            <a:ext cx="353400" cy="2856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858" name="Google Shape;858;p86"/>
          <p:cNvCxnSpPr/>
          <p:nvPr/>
        </p:nvCxnSpPr>
        <p:spPr>
          <a:xfrm flipH="1" rot="10800000">
            <a:off x="6650175" y="2785275"/>
            <a:ext cx="155100" cy="316500"/>
          </a:xfrm>
          <a:prstGeom prst="straightConnector1">
            <a:avLst/>
          </a:prstGeom>
          <a:noFill/>
          <a:ln cap="flat" cmpd="sng" w="19050">
            <a:solidFill>
              <a:srgbClr val="18974C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8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64" name="Google Shape;864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5125" y="1074924"/>
            <a:ext cx="6372874" cy="3621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8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870" name="Google Shape;870;p88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871" name="Google Shape;871;p88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274E13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872" name="Google Shape;872;p88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274E13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873" name="Google Shape;873;p88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874" name="Google Shape;874;p88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B6D7A8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875" name="Google Shape;875;p88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B6D7A8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876" name="Google Shape;876;p88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877" name="Google Shape;877;p88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38761D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878" name="Google Shape;878;p88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38761D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879" name="Google Shape;879;p88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880" name="Google Shape;880;p88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6AA84F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881" name="Google Shape;881;p88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6AA84F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882" name="Google Shape;882;p88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883" name="Google Shape;883;p88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93C47D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884" name="Google Shape;884;p88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93C47D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89"/>
          <p:cNvSpPr txBox="1"/>
          <p:nvPr>
            <p:ph idx="1" type="body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anchorCtr="0" anchor="ctr" bIns="45700" lIns="0" spcFirstLastPara="1" rIns="91425" wrap="square" tIns="0">
            <a:noAutofit/>
          </a:bodyPr>
          <a:lstStyle/>
          <a:p>
            <a:pPr indent="0" lvl="0" marL="0" rtl="0" algn="ctr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891" name="Google Shape;891;p89"/>
          <p:cNvSpPr txBox="1"/>
          <p:nvPr>
            <p:ph idx="2" type="body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anchorCtr="0" anchor="ctr" bIns="45700" lIns="288000" spcFirstLastPara="1" rIns="91425" wrap="square" tIns="0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9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Regulation</a:t>
            </a:r>
            <a:endParaRPr/>
          </a:p>
        </p:txBody>
      </p:sp>
      <p:sp>
        <p:nvSpPr>
          <p:cNvPr id="897" name="Google Shape;897;p90"/>
          <p:cNvSpPr txBox="1"/>
          <p:nvPr>
            <p:ph idx="1" type="body"/>
          </p:nvPr>
        </p:nvSpPr>
        <p:spPr>
          <a:xfrm>
            <a:off x="338138" y="878365"/>
            <a:ext cx="8452200" cy="3711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Answer the following questions: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Explore the </a:t>
            </a:r>
            <a:r>
              <a:rPr b="1" lang="en-GB"/>
              <a:t>indicated locus</a:t>
            </a:r>
            <a:r>
              <a:rPr lang="en-GB"/>
              <a:t> on the Genome View tab: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GRCh38, chr8:127,682,026-127,744,101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GRCm39/mm39, chr6:6,740,753-6,891,103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Display and explore regulatory features using the Regulation card.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Filter epigenomes based on the given criteria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Compare regulatory activity across the group of selected epigenemes: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GRCh38: Caco-2 and HCT116 cell lines</a:t>
            </a:r>
            <a:endParaRPr sz="1400"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GRCm39: Forebrain epigenomes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Inspect supporting epigenomic evidence in the indicated epigenome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Identify at least one context-dependent example.</a:t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Compare the results with the ones obtained in the previous session. </a:t>
            </a:r>
            <a:endParaRPr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