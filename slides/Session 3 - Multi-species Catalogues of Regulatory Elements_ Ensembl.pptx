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03" r:id="rId1"/>
  </p:sldMasterIdLst>
  <p:notesMasterIdLst>
    <p:notesMasterId r:id="rId3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embeddedFontLst>
    <p:embeddedFont>
      <p:font typeface="Arial Black" panose="020B0604020202020204" pitchFamily="34" charset="0"/>
      <p:bold r:id="rId37"/>
    </p:embeddedFont>
    <p:embeddedFont>
      <p:font typeface="Franklin Gothic" panose="020B0603020102020204" pitchFamily="34" charset="0"/>
      <p:regular r:id="rId38"/>
      <p:bold r:id="rId39"/>
      <p:italic r:id="rId40"/>
      <p:boldItalic r:id="rId41"/>
    </p:embeddedFont>
    <p:embeddedFont>
      <p:font typeface="Inter" panose="02000503000000020004" pitchFamily="2" charset="0"/>
      <p:regular r:id="rId42"/>
      <p:bold r:id="rId43"/>
      <p:italic r:id="rId44"/>
      <p:boldItalic r:id="rId45"/>
    </p:embeddedFont>
    <p:embeddedFont>
      <p:font typeface="Libre Franklin" pitchFamily="2" charset="77"/>
      <p:regular r:id="rId46"/>
      <p:bold r:id="rId47"/>
      <p:italic r:id="rId48"/>
      <p:boldItalic r:id="rId49"/>
    </p:embeddedFont>
    <p:embeddedFont>
      <p:font typeface="Libre Franklin Medium" pitchFamily="2" charset="77"/>
      <p:regular r:id="rId50"/>
      <p:italic r:id="rId51"/>
    </p:embeddedFont>
    <p:embeddedFont>
      <p:font typeface="Libre Franklin Thin" pitchFamily="2" charset="77"/>
      <p:regular r:id="rId52"/>
      <p:italic r:id="rId53"/>
    </p:embeddedFont>
    <p:embeddedFont>
      <p:font typeface="Roboto" panose="02000000000000000000" pitchFamily="2" charset="0"/>
      <p:regular r:id="rId54"/>
      <p:bold r:id="rId55"/>
      <p:italic r:id="rId56"/>
      <p:boldItalic r:id="rId57"/>
    </p:embeddedFont>
    <p:embeddedFont>
      <p:font typeface="Roboto Medium" panose="02000000000000000000" pitchFamily="2" charset="0"/>
      <p:regular r:id="rId58"/>
      <p:italic r:id="rId59"/>
    </p:embeddedFont>
    <p:embeddedFont>
      <p:font typeface="Roboto Thin" panose="02000000000000000000" pitchFamily="2" charset="0"/>
      <p:regular r:id="rId60"/>
      <p:italic r:id="rId6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6A24227-F492-472F-826B-EC29D6F5AE07}">
  <a:tblStyle styleId="{36A24227-F492-472F-826B-EC29D6F5AE0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35"/>
  </p:normalViewPr>
  <p:slideViewPr>
    <p:cSldViewPr snapToGrid="0">
      <p:cViewPr varScale="1">
        <p:scale>
          <a:sx n="153" d="100"/>
          <a:sy n="153" d="100"/>
        </p:scale>
        <p:origin x="344" y="16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6.fntdata"/><Relationship Id="rId47" Type="http://schemas.openxmlformats.org/officeDocument/2006/relationships/font" Target="fonts/font11.fntdata"/><Relationship Id="rId50" Type="http://schemas.openxmlformats.org/officeDocument/2006/relationships/font" Target="fonts/font14.fntdata"/><Relationship Id="rId55" Type="http://schemas.openxmlformats.org/officeDocument/2006/relationships/font" Target="fonts/font19.fntdata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1.fntdata"/><Relationship Id="rId40" Type="http://schemas.openxmlformats.org/officeDocument/2006/relationships/font" Target="fonts/font4.fntdata"/><Relationship Id="rId45" Type="http://schemas.openxmlformats.org/officeDocument/2006/relationships/font" Target="fonts/font9.fntdata"/><Relationship Id="rId53" Type="http://schemas.openxmlformats.org/officeDocument/2006/relationships/font" Target="fonts/font17.fntdata"/><Relationship Id="rId58" Type="http://schemas.openxmlformats.org/officeDocument/2006/relationships/font" Target="fonts/font22.fntdata"/><Relationship Id="rId5" Type="http://schemas.openxmlformats.org/officeDocument/2006/relationships/slide" Target="slides/slide4.xml"/><Relationship Id="rId61" Type="http://schemas.openxmlformats.org/officeDocument/2006/relationships/font" Target="fonts/font25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7.fntdata"/><Relationship Id="rId48" Type="http://schemas.openxmlformats.org/officeDocument/2006/relationships/font" Target="fonts/font12.fntdata"/><Relationship Id="rId56" Type="http://schemas.openxmlformats.org/officeDocument/2006/relationships/font" Target="fonts/font20.fntdata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font" Target="fonts/font15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2.fntdata"/><Relationship Id="rId46" Type="http://schemas.openxmlformats.org/officeDocument/2006/relationships/font" Target="fonts/font10.fntdata"/><Relationship Id="rId59" Type="http://schemas.openxmlformats.org/officeDocument/2006/relationships/font" Target="fonts/font23.fntdata"/><Relationship Id="rId20" Type="http://schemas.openxmlformats.org/officeDocument/2006/relationships/slide" Target="slides/slide19.xml"/><Relationship Id="rId41" Type="http://schemas.openxmlformats.org/officeDocument/2006/relationships/font" Target="fonts/font5.fntdata"/><Relationship Id="rId54" Type="http://schemas.openxmlformats.org/officeDocument/2006/relationships/font" Target="fonts/font18.fntdata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49" Type="http://schemas.openxmlformats.org/officeDocument/2006/relationships/font" Target="fonts/font13.fntdata"/><Relationship Id="rId57" Type="http://schemas.openxmlformats.org/officeDocument/2006/relationships/font" Target="fonts/font21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font" Target="fonts/font8.fntdata"/><Relationship Id="rId52" Type="http://schemas.openxmlformats.org/officeDocument/2006/relationships/font" Target="fonts/font16.fntdata"/><Relationship Id="rId60" Type="http://schemas.openxmlformats.org/officeDocument/2006/relationships/font" Target="fonts/font24.fntdata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2" name="Google Shape;50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g3efd5d49720_0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3" name="Google Shape;513;g3efd5d49720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g315fe6f51737d1a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57" name="Google Shape;557;g315fe6f51737d1a2_0:notes"/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58" name="Google Shape;558;g315fe6f51737d1a2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GB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Google Shape;564;SLIDES_API1794329326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5" name="Google Shape;565;SLIDES_API1794329326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📣 This is Slido interaction slide, please don't delete it.</a:t>
            </a:r>
            <a:br>
              <a:rPr lang="en-GB"/>
            </a:br>
            <a:r>
              <a:rPr lang="en-GB"/>
              <a:t>✅ Click on 'Present with Slido' and the poll will launch automatically when you get to this slide.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g315fe6f51737d1a2_5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77" name="Google Shape;577;g315fe6f51737d1a2_554:notes"/>
          <p:cNvSpPr txBox="1">
            <a:spLocks noGrp="1"/>
          </p:cNvSpPr>
          <p:nvPr>
            <p:ph type="body" idx="1"/>
          </p:nvPr>
        </p:nvSpPr>
        <p:spPr>
          <a:xfrm>
            <a:off x="685800" y="4400551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78" name="Google Shape;578;g315fe6f51737d1a2_554:notes"/>
          <p:cNvSpPr txBox="1">
            <a:spLocks noGrp="1"/>
          </p:cNvSpPr>
          <p:nvPr>
            <p:ph type="sldNum" idx="12"/>
          </p:nvPr>
        </p:nvSpPr>
        <p:spPr>
          <a:xfrm>
            <a:off x="3884613" y="8685215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GB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Google Shape;589;g315fe6f51737d1a2_5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0" name="Google Shape;590;g315fe6f51737d1a2_526:notes"/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1" name="Google Shape;591;g315fe6f51737d1a2_52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GB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3d0e1ed9864_0_4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3d0e1ed9864_0_4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g3edb70b9acf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8" name="Google Shape;628;g3edb70b9acf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Google Shape;650;g3d0e1ed9864_0_5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1" name="Google Shape;651;g3d0e1ed9864_0_5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Google Shape;668;g3edb70b9acf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9" name="Google Shape;669;g3edb70b9acf_0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Google Shape;677;g3f77baba4f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8" name="Google Shape;678;g3f77baba4f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Google Shape;694;g3edb70b9acf_0_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5" name="Google Shape;695;g3edb70b9acf_0_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g3fabb8f900b_0_5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4" name="Google Shape;704;g3fabb8f900b_0_5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Google Shape;709;g3f77baba4fe_0_10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0" name="Google Shape;710;g3f77baba4fe_0_10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g3edb70b9acf_0_1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8" name="Google Shape;718;g3edb70b9acf_0_1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Google Shape;726;g3f77baba4fe_0_15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7" name="Google Shape;727;g3f77baba4fe_0_15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g3f77baba4fe_0_20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4" name="Google Shape;744;g3f77baba4fe_0_20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1:28220-28599</a:t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3f77baba4fe_0_20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8" name="Google Shape;758;g3f77baba4fe_0_20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1:28220-28599</a:t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3f77baba4fe_0_30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3f77baba4fe_0_30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Google Shape;776;g3efd5d49720_0_5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7" name="Google Shape;777;g3efd5d49720_0_5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5" name="Google Shape;785;g3f7181fdfe8_0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6" name="Google Shape;786;g3f7181fdfe8_0_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Google Shape;793;g3ee6fc5b7a4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4" name="Google Shape;794;g3ee6fc5b7a4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Feature selection</a:t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g3edb70b9acf_0_1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2" name="Google Shape;802;g3edb70b9acf_0_1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3f7181fdfe8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3f7181fdfe8_0_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Google Shape;817;g3d0e1ed9864_0_5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8" name="Google Shape;818;g3d0e1ed9864_0_5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" name="Google Shape;823;g3ef4d4e4ea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4" name="Google Shape;824;g3ef4d4e4ea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Google Shape;829;g3f76badb7bc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0" name="Google Shape;830;g3f76badb7bc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5" name="Google Shape;835;g3efd5d49720_0_5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6" name="Google Shape;836;g3efd5d49720_0_5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Google Shape;844;g3f76badb7bc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5" name="Google Shape;845;g3f76badb7bc_0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Google Shape;850;g3f76badb7bc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1" name="Google Shape;851;g3f76badb7bc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" name="Google Shape;860;g3f76badb7bc_0_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1" name="Google Shape;861;g3f76badb7bc_0_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6" name="Google Shape;866;g3fabb8f900b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7" name="Google Shape;867;g3fabb8f900b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3d0e1ed9864_0_5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7" name="Google Shape;887;g3d0e1ed9864_0_5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8" name="Google Shape;888;g3d0e1ed9864_0_5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33</a:t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3" name="Google Shape;893;g3ee6fc5b7a4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4" name="Google Shape;894;g3ee6fc5b7a4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4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5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6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9.jp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9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0.png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Elements_grey">
  <p:cSld name="Title_And_Elements_grey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0" y="879475"/>
            <a:ext cx="9144000" cy="3734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25" rIns="91425" bIns="4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12" name="Google Shape;12;p2"/>
          <p:cNvSpPr txBox="1">
            <a:spLocks noGrp="1"/>
          </p:cNvSpPr>
          <p:nvPr>
            <p:ph type="body" idx="1"/>
          </p:nvPr>
        </p:nvSpPr>
        <p:spPr>
          <a:xfrm>
            <a:off x="338138" y="889824"/>
            <a:ext cx="8452200" cy="3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  <a:defRPr sz="1600"/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/>
          <p:nvPr/>
        </p:nvSpPr>
        <p:spPr>
          <a:xfrm>
            <a:off x="7793831" y="4557712"/>
            <a:ext cx="1143000" cy="528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13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elements_white">
  <p:cSld name="Title_and_elements_whit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body" idx="1"/>
          </p:nvPr>
        </p:nvSpPr>
        <p:spPr>
          <a:xfrm>
            <a:off x="338138" y="889824"/>
            <a:ext cx="8452200" cy="3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  <a:defRPr sz="1600"/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Title - South Building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853567" y="0"/>
            <a:ext cx="4275376" cy="3283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23;p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2_Title_Cell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Google Shape;30;p6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5" y="-5821"/>
            <a:ext cx="4281515" cy="32891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31;p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32" name="Google Shape;32;p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6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2_Title_Slide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7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6" y="-5821"/>
            <a:ext cx="4281512" cy="3289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40" name="Google Shape;40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41" name="Google Shape;41;p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2_Title_Slide 2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Google Shape;48;p8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5" y="-5821"/>
            <a:ext cx="4281515" cy="3289111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50" name="Google Shape;50;p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8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8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5" name="Google Shape;55;p8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2_Title_Slide 3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oogle Shape;57;p9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6" y="-5821"/>
            <a:ext cx="4281513" cy="3289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Google Shape;59;p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9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2_Title_Slide 4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Google Shape;66;p10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6" y="-5821"/>
            <a:ext cx="4281512" cy="3289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67" name="Google Shape;67;p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68" name="Google Shape;68;p1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10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0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2" name="Google Shape;72;p10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3" name="Google Shape;73;p10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2_Title_Slide 5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11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6" y="-5821"/>
            <a:ext cx="4281512" cy="3289107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1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9" name="Google Shape;79;p11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0" name="Google Shape;80;p11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1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11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2_Title_Slide 6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2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6" y="-5821"/>
            <a:ext cx="4281512" cy="3289107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2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8" name="Google Shape;88;p12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9" name="Google Shape;89;p12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0" name="Google Shape;90;p12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1" name="Google Shape;91;p12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2_Title_Slide 7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3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6" y="-5821"/>
            <a:ext cx="4281512" cy="3289107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3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7" name="Google Shape;97;p13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8" name="Google Shape;98;p13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9" name="Google Shape;99;p13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0" name="Google Shape;100;p13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2_Title_Slide 8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Google Shape;102;p14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6" y="-5821"/>
            <a:ext cx="4281512" cy="32891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1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4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6" name="Google Shape;106;p14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7" name="Google Shape;107;p14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8" name="Google Shape;108;p14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9" name="Google Shape;109;p14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2_Title_Slide 9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5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7" y="-5821"/>
            <a:ext cx="4281508" cy="32891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5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6" name="Google Shape;116;p15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7" name="Google Shape;117;p15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15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2_Title_Slide 10"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16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7" y="-5821"/>
            <a:ext cx="4281508" cy="32891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1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1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16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4" name="Google Shape;124;p16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5" name="Google Shape;125;p16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6" name="Google Shape;126;p16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7" name="Google Shape;127;p16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2_Title_Slide 11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9" name="Google Shape;129;p17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5" y="-5821"/>
            <a:ext cx="4281515" cy="3289111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1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17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3" name="Google Shape;133;p17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4" name="Google Shape;134;p17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5" name="Google Shape;135;p17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17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1_Title_Slide_TRAINING"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18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7" y="-5821"/>
            <a:ext cx="4281508" cy="32891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1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1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18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2" name="Google Shape;142;p18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3" name="Google Shape;143;p18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4" name="Google Shape;144;p18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5" name="Google Shape;145;p18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1_Title_Slide_INDUSTRY"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" name="Google Shape;147;p19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7" y="-5821"/>
            <a:ext cx="4281506" cy="32891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1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19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1" name="Google Shape;151;p19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2" name="Google Shape;152;p19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3" name="Google Shape;153;p19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4" name="Google Shape;154;p19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2_Title_Slide_NoImage"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"/>
            <a:ext cx="9143998" cy="3274221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0"/>
          <p:cNvSpPr txBox="1">
            <a:spLocks noGrp="1"/>
          </p:cNvSpPr>
          <p:nvPr>
            <p:ph type="body" idx="1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8" name="Google Shape;158;p20"/>
          <p:cNvSpPr txBox="1">
            <a:spLocks noGrp="1"/>
          </p:cNvSpPr>
          <p:nvPr>
            <p:ph type="body" idx="2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9" name="Google Shape;159;p20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0" name="Google Shape;160;p20"/>
          <p:cNvSpPr txBox="1">
            <a:spLocks noGrp="1"/>
          </p:cNvSpPr>
          <p:nvPr>
            <p:ph type="body" idx="3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1" name="Google Shape;161;p20"/>
          <p:cNvSpPr txBox="1">
            <a:spLocks noGrp="1"/>
          </p:cNvSpPr>
          <p:nvPr>
            <p:ph type="body" idx="4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162" name="Google Shape;162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1_Title_Slide_noImage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"/>
            <a:ext cx="9144000" cy="3274221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21"/>
          <p:cNvSpPr txBox="1">
            <a:spLocks noGrp="1"/>
          </p:cNvSpPr>
          <p:nvPr>
            <p:ph type="body" idx="1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6" name="Google Shape;166;p21"/>
          <p:cNvSpPr txBox="1">
            <a:spLocks noGrp="1"/>
          </p:cNvSpPr>
          <p:nvPr>
            <p:ph type="body" idx="2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7" name="Google Shape;167;p21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8" name="Google Shape;168;p21"/>
          <p:cNvSpPr txBox="1">
            <a:spLocks noGrp="1"/>
          </p:cNvSpPr>
          <p:nvPr>
            <p:ph type="body" idx="3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9" name="Google Shape;169;p21"/>
          <p:cNvSpPr txBox="1">
            <a:spLocks noGrp="1"/>
          </p:cNvSpPr>
          <p:nvPr>
            <p:ph type="body" idx="4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170" name="Google Shape;170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1_Title_Slide_Staff_Association"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" name="Google Shape;172;p2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"/>
            <a:ext cx="9144000" cy="3274221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22"/>
          <p:cNvSpPr txBox="1">
            <a:spLocks noGrp="1"/>
          </p:cNvSpPr>
          <p:nvPr>
            <p:ph type="body" idx="1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4" name="Google Shape;174;p22"/>
          <p:cNvSpPr txBox="1">
            <a:spLocks noGrp="1"/>
          </p:cNvSpPr>
          <p:nvPr>
            <p:ph type="body" idx="2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5" name="Google Shape;175;p22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6" name="Google Shape;176;p22"/>
          <p:cNvSpPr txBox="1">
            <a:spLocks noGrp="1"/>
          </p:cNvSpPr>
          <p:nvPr>
            <p:ph type="body" idx="3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7" name="Google Shape;177;p22"/>
          <p:cNvSpPr txBox="1">
            <a:spLocks noGrp="1"/>
          </p:cNvSpPr>
          <p:nvPr>
            <p:ph type="body" idx="4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178" name="Google Shape;178;p2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pic>
        <p:nvPicPr>
          <p:cNvPr id="179" name="Google Shape;179;p2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916925" y="4118125"/>
            <a:ext cx="2091450" cy="7276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ff Association grey ">
  <p:cSld name="Staff Association grey "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3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2" name="Google Shape;182;p23"/>
          <p:cNvSpPr/>
          <p:nvPr/>
        </p:nvSpPr>
        <p:spPr>
          <a:xfrm>
            <a:off x="0" y="879475"/>
            <a:ext cx="9144000" cy="3734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25" rIns="91425" bIns="4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183" name="Google Shape;183;p23"/>
          <p:cNvSpPr txBox="1">
            <a:spLocks noGrp="1"/>
          </p:cNvSpPr>
          <p:nvPr>
            <p:ph type="body" idx="1"/>
          </p:nvPr>
        </p:nvSpPr>
        <p:spPr>
          <a:xfrm>
            <a:off x="338138" y="889824"/>
            <a:ext cx="8452200" cy="3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  <a:defRPr sz="1600"/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4" name="Google Shape;184;p23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85" name="Google Shape;185;p23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86" name="Google Shape;186;p2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524368" y="4628593"/>
            <a:ext cx="1202725" cy="41843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ff Association white">
  <p:cSld name="Staff Association white"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4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9" name="Google Shape;189;p24"/>
          <p:cNvSpPr txBox="1">
            <a:spLocks noGrp="1"/>
          </p:cNvSpPr>
          <p:nvPr>
            <p:ph type="body" idx="1"/>
          </p:nvPr>
        </p:nvSpPr>
        <p:spPr>
          <a:xfrm>
            <a:off x="338138" y="889824"/>
            <a:ext cx="8452200" cy="3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  <a:defRPr sz="1600"/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0" name="Google Shape;190;p24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91" name="Google Shape;191;p24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92" name="Google Shape;192;p2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524368" y="4628593"/>
            <a:ext cx="1202725" cy="41843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Elements_grey">
  <p:cSld name="Two Elements_grey"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25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5" name="Google Shape;195;p25"/>
          <p:cNvSpPr/>
          <p:nvPr/>
        </p:nvSpPr>
        <p:spPr>
          <a:xfrm>
            <a:off x="0" y="869951"/>
            <a:ext cx="9144000" cy="37545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>
            <a:spLocks noGrp="1"/>
          </p:cNvSpPr>
          <p:nvPr>
            <p:ph type="body" idx="1"/>
          </p:nvPr>
        </p:nvSpPr>
        <p:spPr>
          <a:xfrm>
            <a:off x="330994" y="992393"/>
            <a:ext cx="4227900" cy="35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  <a:defRPr sz="1600"/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7" name="Google Shape;197;p25"/>
          <p:cNvSpPr txBox="1">
            <a:spLocks noGrp="1"/>
          </p:cNvSpPr>
          <p:nvPr>
            <p:ph type="body" idx="2"/>
          </p:nvPr>
        </p:nvSpPr>
        <p:spPr>
          <a:xfrm>
            <a:off x="4572000" y="992393"/>
            <a:ext cx="4227900" cy="35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  <a:defRPr sz="1600"/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8" name="Google Shape;198;p25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99" name="Google Shape;199;p25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0" name="Google Shape;200;p25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Elements_white">
  <p:cSld name="Two Elements_white"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6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3" name="Google Shape;203;p26"/>
          <p:cNvSpPr txBox="1">
            <a:spLocks noGrp="1"/>
          </p:cNvSpPr>
          <p:nvPr>
            <p:ph type="body" idx="1"/>
          </p:nvPr>
        </p:nvSpPr>
        <p:spPr>
          <a:xfrm>
            <a:off x="330994" y="992393"/>
            <a:ext cx="4227900" cy="35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  <a:defRPr sz="1600"/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4" name="Google Shape;204;p26"/>
          <p:cNvSpPr txBox="1">
            <a:spLocks noGrp="1"/>
          </p:cNvSpPr>
          <p:nvPr>
            <p:ph type="body" idx="2"/>
          </p:nvPr>
        </p:nvSpPr>
        <p:spPr>
          <a:xfrm>
            <a:off x="4572000" y="992393"/>
            <a:ext cx="4227900" cy="35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  <a:defRPr sz="1600"/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5" name="Google Shape;205;p26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06" name="Google Shape;206;p26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7" name="Google Shape;207;p26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_Elements_grey_green">
  <p:cSld name="Two_Elements_grey_green"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27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0" name="Google Shape;210;p27"/>
          <p:cNvSpPr/>
          <p:nvPr/>
        </p:nvSpPr>
        <p:spPr>
          <a:xfrm>
            <a:off x="0" y="879475"/>
            <a:ext cx="9144000" cy="3734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25" rIns="91425" bIns="4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211" name="Google Shape;211;p27"/>
          <p:cNvSpPr txBox="1">
            <a:spLocks noGrp="1"/>
          </p:cNvSpPr>
          <p:nvPr>
            <p:ph type="body" idx="1"/>
          </p:nvPr>
        </p:nvSpPr>
        <p:spPr>
          <a:xfrm>
            <a:off x="1" y="887016"/>
            <a:ext cx="3155100" cy="372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12" name="Google Shape;212;p27"/>
          <p:cNvSpPr txBox="1">
            <a:spLocks noGrp="1"/>
          </p:cNvSpPr>
          <p:nvPr>
            <p:ph type="body" idx="2"/>
          </p:nvPr>
        </p:nvSpPr>
        <p:spPr>
          <a:xfrm>
            <a:off x="3146611" y="887016"/>
            <a:ext cx="5997300" cy="3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•"/>
              <a:defRPr sz="1600">
                <a:solidFill>
                  <a:schemeClr val="dk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13" name="Google Shape;213;p27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14" name="Google Shape;214;p27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5" name="Google Shape;215;p27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Elements_grey_green_right">
  <p:cSld name="Two Elements_grey_green_right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28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8" name="Google Shape;218;p28"/>
          <p:cNvSpPr/>
          <p:nvPr/>
        </p:nvSpPr>
        <p:spPr>
          <a:xfrm>
            <a:off x="0" y="879475"/>
            <a:ext cx="9144000" cy="3734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25" rIns="91425" bIns="4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219" name="Google Shape;219;p28"/>
          <p:cNvSpPr txBox="1">
            <a:spLocks noGrp="1"/>
          </p:cNvSpPr>
          <p:nvPr>
            <p:ph type="body" idx="1"/>
          </p:nvPr>
        </p:nvSpPr>
        <p:spPr>
          <a:xfrm>
            <a:off x="5988844" y="887016"/>
            <a:ext cx="3155100" cy="372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0" name="Google Shape;220;p28"/>
          <p:cNvSpPr txBox="1">
            <a:spLocks noGrp="1"/>
          </p:cNvSpPr>
          <p:nvPr>
            <p:ph type="body" idx="2"/>
          </p:nvPr>
        </p:nvSpPr>
        <p:spPr>
          <a:xfrm>
            <a:off x="0" y="887016"/>
            <a:ext cx="5997300" cy="3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•"/>
              <a:defRPr sz="1600">
                <a:solidFill>
                  <a:schemeClr val="dk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1" name="Google Shape;221;p28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2" name="Google Shape;222;p28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3" name="Google Shape;223;p28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Elements_grey_green_right">
  <p:cSld name="Three Elements_grey_green_right"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29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6" name="Google Shape;226;p29"/>
          <p:cNvSpPr/>
          <p:nvPr/>
        </p:nvSpPr>
        <p:spPr>
          <a:xfrm>
            <a:off x="0" y="879475"/>
            <a:ext cx="9144000" cy="3734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25" rIns="91425" bIns="4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227" name="Google Shape;227;p29"/>
          <p:cNvSpPr txBox="1">
            <a:spLocks noGrp="1"/>
          </p:cNvSpPr>
          <p:nvPr>
            <p:ph type="body" idx="1"/>
          </p:nvPr>
        </p:nvSpPr>
        <p:spPr>
          <a:xfrm>
            <a:off x="5988844" y="880036"/>
            <a:ext cx="3155100" cy="1856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8" name="Google Shape;228;p29"/>
          <p:cNvSpPr txBox="1">
            <a:spLocks noGrp="1"/>
          </p:cNvSpPr>
          <p:nvPr>
            <p:ph type="body" idx="2"/>
          </p:nvPr>
        </p:nvSpPr>
        <p:spPr>
          <a:xfrm>
            <a:off x="0" y="887016"/>
            <a:ext cx="5997300" cy="3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•"/>
              <a:defRPr sz="1600">
                <a:solidFill>
                  <a:schemeClr val="dk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9" name="Google Shape;229;p29"/>
          <p:cNvSpPr txBox="1">
            <a:spLocks noGrp="1"/>
          </p:cNvSpPr>
          <p:nvPr>
            <p:ph type="body" idx="3"/>
          </p:nvPr>
        </p:nvSpPr>
        <p:spPr>
          <a:xfrm>
            <a:off x="5988844" y="2757758"/>
            <a:ext cx="3155100" cy="1856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0" name="Google Shape;230;p29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31" name="Google Shape;231;p29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2" name="Google Shape;232;p29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Elements_dark_grey">
  <p:cSld name="Three Elements_dark_grey"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0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5" name="Google Shape;235;p30"/>
          <p:cNvSpPr/>
          <p:nvPr/>
        </p:nvSpPr>
        <p:spPr>
          <a:xfrm>
            <a:off x="0" y="879475"/>
            <a:ext cx="9144000" cy="3734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25" rIns="91425" bIns="4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236" name="Google Shape;236;p30"/>
          <p:cNvSpPr txBox="1">
            <a:spLocks noGrp="1"/>
          </p:cNvSpPr>
          <p:nvPr>
            <p:ph type="body" idx="1"/>
          </p:nvPr>
        </p:nvSpPr>
        <p:spPr>
          <a:xfrm>
            <a:off x="0" y="887016"/>
            <a:ext cx="5997300" cy="3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•"/>
              <a:defRPr sz="1600">
                <a:solidFill>
                  <a:schemeClr val="dk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7" name="Google Shape;237;p30"/>
          <p:cNvSpPr txBox="1">
            <a:spLocks noGrp="1"/>
          </p:cNvSpPr>
          <p:nvPr>
            <p:ph type="body" idx="2"/>
          </p:nvPr>
        </p:nvSpPr>
        <p:spPr>
          <a:xfrm>
            <a:off x="5988844" y="880036"/>
            <a:ext cx="3155100" cy="1856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8" name="Google Shape;238;p30"/>
          <p:cNvSpPr txBox="1">
            <a:spLocks noGrp="1"/>
          </p:cNvSpPr>
          <p:nvPr>
            <p:ph type="body" idx="3"/>
          </p:nvPr>
        </p:nvSpPr>
        <p:spPr>
          <a:xfrm>
            <a:off x="5988844" y="2757758"/>
            <a:ext cx="3155100" cy="1856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9" name="Google Shape;239;p30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0" name="Google Shape;240;p30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1" name="Google Shape;241;p30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Elements_green_left_grey">
  <p:cSld name="Three Elements_green_left_grey"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1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4" name="Google Shape;244;p31"/>
          <p:cNvSpPr/>
          <p:nvPr/>
        </p:nvSpPr>
        <p:spPr>
          <a:xfrm>
            <a:off x="0" y="879475"/>
            <a:ext cx="9144000" cy="3734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25" rIns="91425" bIns="4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245" name="Google Shape;245;p31"/>
          <p:cNvSpPr txBox="1">
            <a:spLocks noGrp="1"/>
          </p:cNvSpPr>
          <p:nvPr>
            <p:ph type="body" idx="1"/>
          </p:nvPr>
        </p:nvSpPr>
        <p:spPr>
          <a:xfrm>
            <a:off x="3146611" y="887016"/>
            <a:ext cx="5997300" cy="3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•"/>
              <a:defRPr sz="1600">
                <a:solidFill>
                  <a:schemeClr val="dk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6" name="Google Shape;246;p31"/>
          <p:cNvSpPr txBox="1">
            <a:spLocks noGrp="1"/>
          </p:cNvSpPr>
          <p:nvPr>
            <p:ph type="body" idx="2"/>
          </p:nvPr>
        </p:nvSpPr>
        <p:spPr>
          <a:xfrm>
            <a:off x="794" y="880036"/>
            <a:ext cx="3155100" cy="1856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7" name="Google Shape;247;p31"/>
          <p:cNvSpPr txBox="1">
            <a:spLocks noGrp="1"/>
          </p:cNvSpPr>
          <p:nvPr>
            <p:ph type="body" idx="3"/>
          </p:nvPr>
        </p:nvSpPr>
        <p:spPr>
          <a:xfrm>
            <a:off x="794" y="2757758"/>
            <a:ext cx="3155100" cy="18561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8" name="Google Shape;248;p31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9" name="Google Shape;249;p31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0" name="Google Shape;250;p31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ix Elements_green">
  <p:cSld name="Six Elements_green"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32"/>
          <p:cNvSpPr>
            <a:spLocks noGrp="1"/>
          </p:cNvSpPr>
          <p:nvPr>
            <p:ph type="pic" idx="2"/>
          </p:nvPr>
        </p:nvSpPr>
        <p:spPr>
          <a:xfrm>
            <a:off x="6103800" y="870349"/>
            <a:ext cx="3040200" cy="1865700"/>
          </a:xfrm>
          <a:prstGeom prst="rect">
            <a:avLst/>
          </a:prstGeom>
          <a:noFill/>
          <a:ln>
            <a:noFill/>
          </a:ln>
        </p:spPr>
      </p:sp>
      <p:sp>
        <p:nvSpPr>
          <p:cNvPr id="253" name="Google Shape;253;p32"/>
          <p:cNvSpPr>
            <a:spLocks noGrp="1"/>
          </p:cNvSpPr>
          <p:nvPr>
            <p:ph type="pic" idx="3"/>
          </p:nvPr>
        </p:nvSpPr>
        <p:spPr>
          <a:xfrm>
            <a:off x="0" y="870349"/>
            <a:ext cx="3040200" cy="1865700"/>
          </a:xfrm>
          <a:prstGeom prst="rect">
            <a:avLst/>
          </a:prstGeom>
          <a:noFill/>
          <a:ln>
            <a:noFill/>
          </a:ln>
        </p:spPr>
      </p:sp>
      <p:sp>
        <p:nvSpPr>
          <p:cNvPr id="254" name="Google Shape;254;p32"/>
          <p:cNvSpPr>
            <a:spLocks noGrp="1"/>
          </p:cNvSpPr>
          <p:nvPr>
            <p:ph type="pic" idx="4"/>
          </p:nvPr>
        </p:nvSpPr>
        <p:spPr>
          <a:xfrm>
            <a:off x="3051900" y="870349"/>
            <a:ext cx="3040200" cy="1865700"/>
          </a:xfrm>
          <a:prstGeom prst="rect">
            <a:avLst/>
          </a:prstGeom>
          <a:noFill/>
          <a:ln>
            <a:noFill/>
          </a:ln>
        </p:spPr>
      </p:sp>
      <p:sp>
        <p:nvSpPr>
          <p:cNvPr id="255" name="Google Shape;255;p32"/>
          <p:cNvSpPr txBox="1">
            <a:spLocks noGrp="1"/>
          </p:cNvSpPr>
          <p:nvPr>
            <p:ph type="body" idx="1"/>
          </p:nvPr>
        </p:nvSpPr>
        <p:spPr>
          <a:xfrm>
            <a:off x="6103144" y="2746675"/>
            <a:ext cx="3040800" cy="1864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marL="2286000" lvl="4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56" name="Google Shape;256;p32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7" name="Google Shape;257;p32"/>
          <p:cNvSpPr txBox="1">
            <a:spLocks noGrp="1"/>
          </p:cNvSpPr>
          <p:nvPr>
            <p:ph type="body" idx="5"/>
          </p:nvPr>
        </p:nvSpPr>
        <p:spPr>
          <a:xfrm>
            <a:off x="1" y="2746675"/>
            <a:ext cx="3040800" cy="1864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marL="2286000" lvl="4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58" name="Google Shape;258;p32"/>
          <p:cNvSpPr txBox="1">
            <a:spLocks noGrp="1"/>
          </p:cNvSpPr>
          <p:nvPr>
            <p:ph type="body" idx="6"/>
          </p:nvPr>
        </p:nvSpPr>
        <p:spPr>
          <a:xfrm>
            <a:off x="3051573" y="2746675"/>
            <a:ext cx="3040800" cy="1864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marL="2286000" lvl="4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259" name="Google Shape;259;p32"/>
          <p:cNvCxnSpPr/>
          <p:nvPr/>
        </p:nvCxnSpPr>
        <p:spPr>
          <a:xfrm>
            <a:off x="3051573" y="2736057"/>
            <a:ext cx="0" cy="190740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60" name="Google Shape;260;p32"/>
          <p:cNvCxnSpPr/>
          <p:nvPr/>
        </p:nvCxnSpPr>
        <p:spPr>
          <a:xfrm>
            <a:off x="6097513" y="2736057"/>
            <a:ext cx="0" cy="190740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61" name="Google Shape;261;p32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62" name="Google Shape;262;p32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3" name="Google Shape;263;p32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ight Elements_green">
  <p:cSld name="Eight Elements_green"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33"/>
          <p:cNvSpPr>
            <a:spLocks noGrp="1"/>
          </p:cNvSpPr>
          <p:nvPr>
            <p:ph type="pic" idx="2"/>
          </p:nvPr>
        </p:nvSpPr>
        <p:spPr>
          <a:xfrm>
            <a:off x="0" y="879477"/>
            <a:ext cx="22761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266" name="Google Shape;266;p33"/>
          <p:cNvSpPr>
            <a:spLocks noGrp="1"/>
          </p:cNvSpPr>
          <p:nvPr>
            <p:ph type="pic" idx="3"/>
          </p:nvPr>
        </p:nvSpPr>
        <p:spPr>
          <a:xfrm>
            <a:off x="2289300" y="879477"/>
            <a:ext cx="22761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267" name="Google Shape;267;p33"/>
          <p:cNvSpPr>
            <a:spLocks noGrp="1"/>
          </p:cNvSpPr>
          <p:nvPr>
            <p:ph type="pic" idx="4"/>
          </p:nvPr>
        </p:nvSpPr>
        <p:spPr>
          <a:xfrm>
            <a:off x="4578599" y="879477"/>
            <a:ext cx="22797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268" name="Google Shape;268;p33"/>
          <p:cNvSpPr>
            <a:spLocks noGrp="1"/>
          </p:cNvSpPr>
          <p:nvPr>
            <p:ph type="pic" idx="5"/>
          </p:nvPr>
        </p:nvSpPr>
        <p:spPr>
          <a:xfrm>
            <a:off x="6867900" y="879477"/>
            <a:ext cx="22761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269" name="Google Shape;269;p33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0" name="Google Shape;270;p33"/>
          <p:cNvSpPr txBox="1">
            <a:spLocks noGrp="1"/>
          </p:cNvSpPr>
          <p:nvPr>
            <p:ph type="body" idx="1"/>
          </p:nvPr>
        </p:nvSpPr>
        <p:spPr>
          <a:xfrm>
            <a:off x="1" y="2761060"/>
            <a:ext cx="2279700" cy="1850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marL="2286000" lvl="4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1" name="Google Shape;271;p33"/>
          <p:cNvSpPr txBox="1">
            <a:spLocks noGrp="1"/>
          </p:cNvSpPr>
          <p:nvPr>
            <p:ph type="body" idx="6"/>
          </p:nvPr>
        </p:nvSpPr>
        <p:spPr>
          <a:xfrm>
            <a:off x="2288060" y="2761060"/>
            <a:ext cx="2279700" cy="18501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marL="2286000" lvl="4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2" name="Google Shape;272;p33"/>
          <p:cNvSpPr txBox="1">
            <a:spLocks noGrp="1"/>
          </p:cNvSpPr>
          <p:nvPr>
            <p:ph type="body" idx="7"/>
          </p:nvPr>
        </p:nvSpPr>
        <p:spPr>
          <a:xfrm>
            <a:off x="4576119" y="2761060"/>
            <a:ext cx="2279700" cy="1850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marL="2286000" lvl="4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3" name="Google Shape;273;p33"/>
          <p:cNvSpPr txBox="1">
            <a:spLocks noGrp="1"/>
          </p:cNvSpPr>
          <p:nvPr>
            <p:ph type="body" idx="8"/>
          </p:nvPr>
        </p:nvSpPr>
        <p:spPr>
          <a:xfrm>
            <a:off x="6864178" y="2761060"/>
            <a:ext cx="2279700" cy="18501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marL="2286000" lvl="4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274" name="Google Shape;274;p33"/>
          <p:cNvCxnSpPr/>
          <p:nvPr/>
        </p:nvCxnSpPr>
        <p:spPr>
          <a:xfrm>
            <a:off x="2285095" y="2742235"/>
            <a:ext cx="0" cy="187530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75" name="Google Shape;275;p33"/>
          <p:cNvCxnSpPr/>
          <p:nvPr/>
        </p:nvCxnSpPr>
        <p:spPr>
          <a:xfrm>
            <a:off x="4571578" y="2742235"/>
            <a:ext cx="0" cy="187530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76" name="Google Shape;276;p33"/>
          <p:cNvCxnSpPr/>
          <p:nvPr/>
        </p:nvCxnSpPr>
        <p:spPr>
          <a:xfrm>
            <a:off x="6869932" y="2742235"/>
            <a:ext cx="0" cy="187530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77" name="Google Shape;277;p33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78" name="Google Shape;278;p33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9" name="Google Shape;279;p33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ight Elements_grey">
  <p:cSld name="Eight Elements_grey"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34"/>
          <p:cNvSpPr>
            <a:spLocks noGrp="1"/>
          </p:cNvSpPr>
          <p:nvPr>
            <p:ph type="pic" idx="2"/>
          </p:nvPr>
        </p:nvSpPr>
        <p:spPr>
          <a:xfrm>
            <a:off x="0" y="879477"/>
            <a:ext cx="22761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282" name="Google Shape;282;p34"/>
          <p:cNvSpPr>
            <a:spLocks noGrp="1"/>
          </p:cNvSpPr>
          <p:nvPr>
            <p:ph type="pic" idx="3"/>
          </p:nvPr>
        </p:nvSpPr>
        <p:spPr>
          <a:xfrm>
            <a:off x="2289300" y="879477"/>
            <a:ext cx="22761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34"/>
          <p:cNvSpPr>
            <a:spLocks noGrp="1"/>
          </p:cNvSpPr>
          <p:nvPr>
            <p:ph type="pic" idx="4"/>
          </p:nvPr>
        </p:nvSpPr>
        <p:spPr>
          <a:xfrm>
            <a:off x="4578599" y="879477"/>
            <a:ext cx="22797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284" name="Google Shape;284;p34"/>
          <p:cNvSpPr>
            <a:spLocks noGrp="1"/>
          </p:cNvSpPr>
          <p:nvPr>
            <p:ph type="pic" idx="5"/>
          </p:nvPr>
        </p:nvSpPr>
        <p:spPr>
          <a:xfrm>
            <a:off x="6867900" y="879477"/>
            <a:ext cx="22761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285" name="Google Shape;285;p34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6" name="Google Shape;286;p34"/>
          <p:cNvSpPr txBox="1">
            <a:spLocks noGrp="1"/>
          </p:cNvSpPr>
          <p:nvPr>
            <p:ph type="body" idx="1"/>
          </p:nvPr>
        </p:nvSpPr>
        <p:spPr>
          <a:xfrm>
            <a:off x="1" y="2761060"/>
            <a:ext cx="2279700" cy="1850100"/>
          </a:xfrm>
          <a:prstGeom prst="rect">
            <a:avLst/>
          </a:prstGeom>
          <a:solidFill>
            <a:srgbClr val="A8ABAA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marL="2286000" lvl="4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7" name="Google Shape;287;p34"/>
          <p:cNvSpPr txBox="1">
            <a:spLocks noGrp="1"/>
          </p:cNvSpPr>
          <p:nvPr>
            <p:ph type="body" idx="6"/>
          </p:nvPr>
        </p:nvSpPr>
        <p:spPr>
          <a:xfrm>
            <a:off x="2288060" y="2761060"/>
            <a:ext cx="2279700" cy="1850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marL="2286000" lvl="4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8" name="Google Shape;288;p34"/>
          <p:cNvSpPr txBox="1">
            <a:spLocks noGrp="1"/>
          </p:cNvSpPr>
          <p:nvPr>
            <p:ph type="body" idx="7"/>
          </p:nvPr>
        </p:nvSpPr>
        <p:spPr>
          <a:xfrm>
            <a:off x="4576119" y="2761060"/>
            <a:ext cx="2279700" cy="1850100"/>
          </a:xfrm>
          <a:prstGeom prst="rect">
            <a:avLst/>
          </a:prstGeom>
          <a:solidFill>
            <a:srgbClr val="A8ABAA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marL="2286000" lvl="4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9" name="Google Shape;289;p34"/>
          <p:cNvSpPr txBox="1">
            <a:spLocks noGrp="1"/>
          </p:cNvSpPr>
          <p:nvPr>
            <p:ph type="body" idx="8"/>
          </p:nvPr>
        </p:nvSpPr>
        <p:spPr>
          <a:xfrm>
            <a:off x="6864178" y="2761060"/>
            <a:ext cx="2279700" cy="1850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marL="2286000" lvl="4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290" name="Google Shape;290;p34"/>
          <p:cNvCxnSpPr/>
          <p:nvPr/>
        </p:nvCxnSpPr>
        <p:spPr>
          <a:xfrm>
            <a:off x="2285095" y="2742235"/>
            <a:ext cx="0" cy="187530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91" name="Google Shape;291;p34"/>
          <p:cNvCxnSpPr/>
          <p:nvPr/>
        </p:nvCxnSpPr>
        <p:spPr>
          <a:xfrm>
            <a:off x="4571578" y="2742235"/>
            <a:ext cx="0" cy="187530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92" name="Google Shape;292;p34"/>
          <p:cNvCxnSpPr/>
          <p:nvPr/>
        </p:nvCxnSpPr>
        <p:spPr>
          <a:xfrm>
            <a:off x="6869932" y="2742235"/>
            <a:ext cx="0" cy="187530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93" name="Google Shape;293;p34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94" name="Google Shape;294;p34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5" name="Google Shape;295;p34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_with_Footer">
  <p:cSld name="Blank_with_Footer"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35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98" name="Google Shape;298;p35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9" name="Google Shape;299;p35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85">
          <p15:clr>
            <a:srgbClr val="FBAE40"/>
          </p15:clr>
        </p15:guide>
        <p15:guide id="2" pos="2160">
          <p15:clr>
            <a:srgbClr val="FBAE40"/>
          </p15:clr>
        </p15:guide>
        <p15:guide id="3" orient="horz" pos="1964">
          <p15:clr>
            <a:srgbClr val="FBAE40"/>
          </p15:clr>
        </p15:guide>
        <p15:guide id="4" orient="horz" pos="1742">
          <p15:clr>
            <a:srgbClr val="FBAE40"/>
          </p15:clr>
        </p15:guide>
        <p15:guide id="5" orient="horz" pos="1521">
          <p15:clr>
            <a:srgbClr val="FBAE40"/>
          </p15:clr>
        </p15:guide>
        <p15:guide id="6" orient="horz" pos="1300">
          <p15:clr>
            <a:srgbClr val="FBAE40"/>
          </p15:clr>
        </p15:guide>
        <p15:guide id="7" orient="horz" pos="1079">
          <p15:clr>
            <a:srgbClr val="FBAE40"/>
          </p15:clr>
        </p15:guide>
        <p15:guide id="8" orient="horz" pos="858">
          <p15:clr>
            <a:srgbClr val="FBAE40"/>
          </p15:clr>
        </p15:guide>
        <p15:guide id="9" orient="horz" pos="637">
          <p15:clr>
            <a:srgbClr val="FBAE40"/>
          </p15:clr>
        </p15:guide>
        <p15:guide id="10" orient="horz" pos="411">
          <p15:clr>
            <a:srgbClr val="FBAE40"/>
          </p15:clr>
        </p15:guide>
        <p15:guide id="11" orient="horz" pos="194">
          <p15:clr>
            <a:srgbClr val="FBAE40"/>
          </p15:clr>
        </p15:guide>
        <p15:guide id="12" pos="2381">
          <p15:clr>
            <a:srgbClr val="FBAE40"/>
          </p15:clr>
        </p15:guide>
        <p15:guide id="13" pos="2603">
          <p15:clr>
            <a:srgbClr val="FBAE40"/>
          </p15:clr>
        </p15:guide>
        <p15:guide id="14" pos="2824">
          <p15:clr>
            <a:srgbClr val="FBAE40"/>
          </p15:clr>
        </p15:guide>
        <p15:guide id="15" pos="3044">
          <p15:clr>
            <a:srgbClr val="FBAE40"/>
          </p15:clr>
        </p15:guide>
        <p15:guide id="16" pos="3266">
          <p15:clr>
            <a:srgbClr val="FBAE40"/>
          </p15:clr>
        </p15:guide>
        <p15:guide id="17" pos="3487">
          <p15:clr>
            <a:srgbClr val="FBAE40"/>
          </p15:clr>
        </p15:guide>
        <p15:guide id="18" pos="3708">
          <p15:clr>
            <a:srgbClr val="FBAE40"/>
          </p15:clr>
        </p15:guide>
        <p15:guide id="19" pos="3929">
          <p15:clr>
            <a:srgbClr val="FBAE40"/>
          </p15:clr>
        </p15:guide>
        <p15:guide id="20" pos="4151">
          <p15:clr>
            <a:srgbClr val="FBAE40"/>
          </p15:clr>
        </p15:guide>
        <p15:guide id="21" pos="1939">
          <p15:clr>
            <a:srgbClr val="FBAE40"/>
          </p15:clr>
        </p15:guide>
        <p15:guide id="22" pos="1718">
          <p15:clr>
            <a:srgbClr val="FBAE40"/>
          </p15:clr>
        </p15:guide>
        <p15:guide id="23" pos="1496">
          <p15:clr>
            <a:srgbClr val="FBAE40"/>
          </p15:clr>
        </p15:guide>
        <p15:guide id="24" pos="1276">
          <p15:clr>
            <a:srgbClr val="FBAE40"/>
          </p15:clr>
        </p15:guide>
        <p15:guide id="25" pos="1055">
          <p15:clr>
            <a:srgbClr val="FBAE40"/>
          </p15:clr>
        </p15:guide>
        <p15:guide id="26" pos="833">
          <p15:clr>
            <a:srgbClr val="FBAE40"/>
          </p15:clr>
        </p15:guide>
        <p15:guide id="27" pos="612">
          <p15:clr>
            <a:srgbClr val="FBAE40"/>
          </p15:clr>
        </p15:guide>
        <p15:guide id="28" pos="391">
          <p15:clr>
            <a:srgbClr val="FBAE40"/>
          </p15:clr>
        </p15:guide>
        <p15:guide id="29" pos="170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vider_individual_image">
  <p:cSld name="Divider_individual_image"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6"/>
          <p:cNvSpPr>
            <a:spLocks noGrp="1"/>
          </p:cNvSpPr>
          <p:nvPr>
            <p:ph type="pic" idx="2"/>
          </p:nvPr>
        </p:nvSpPr>
        <p:spPr>
          <a:xfrm>
            <a:off x="0" y="2"/>
            <a:ext cx="9144000" cy="4623300"/>
          </a:xfrm>
          <a:prstGeom prst="rect">
            <a:avLst/>
          </a:prstGeom>
          <a:noFill/>
          <a:ln>
            <a:noFill/>
          </a:ln>
        </p:spPr>
      </p:sp>
      <p:sp>
        <p:nvSpPr>
          <p:cNvPr id="302" name="Google Shape;302;p36"/>
          <p:cNvSpPr txBox="1">
            <a:spLocks noGrp="1"/>
          </p:cNvSpPr>
          <p:nvPr>
            <p:ph type="title"/>
          </p:nvPr>
        </p:nvSpPr>
        <p:spPr>
          <a:xfrm>
            <a:off x="0" y="1112941"/>
            <a:ext cx="75276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Arial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3" name="Google Shape;303;p36"/>
          <p:cNvSpPr txBox="1">
            <a:spLocks noGrp="1"/>
          </p:cNvSpPr>
          <p:nvPr>
            <p:ph type="body" idx="1"/>
          </p:nvPr>
        </p:nvSpPr>
        <p:spPr>
          <a:xfrm>
            <a:off x="0" y="1638301"/>
            <a:ext cx="7535400" cy="92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04" name="Google Shape;304;p36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05" name="Google Shape;305;p36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6" name="Google Shape;306;p36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line_2">
  <p:cSld name="Section Headline_2"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8" name="Google Shape;308;p3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2" y="1"/>
            <a:ext cx="914400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9" name="Google Shape;309;p37"/>
          <p:cNvSpPr txBox="1">
            <a:spLocks noGrp="1"/>
          </p:cNvSpPr>
          <p:nvPr>
            <p:ph type="body" idx="1"/>
          </p:nvPr>
        </p:nvSpPr>
        <p:spPr>
          <a:xfrm>
            <a:off x="4939075" y="3225498"/>
            <a:ext cx="931500" cy="931500"/>
          </a:xfrm>
          <a:prstGeom prst="rect">
            <a:avLst/>
          </a:prstGeom>
          <a:solidFill>
            <a:srgbClr val="009E49"/>
          </a:solidFill>
          <a:ln>
            <a:noFill/>
          </a:ln>
        </p:spPr>
        <p:txBody>
          <a:bodyPr spcFirstLastPara="1" wrap="square" lIns="0" tIns="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0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10" name="Google Shape;310;p37"/>
          <p:cNvSpPr txBox="1">
            <a:spLocks noGrp="1"/>
          </p:cNvSpPr>
          <p:nvPr>
            <p:ph type="body" idx="2"/>
          </p:nvPr>
        </p:nvSpPr>
        <p:spPr>
          <a:xfrm>
            <a:off x="5870575" y="3225498"/>
            <a:ext cx="2808000" cy="93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288000" tIns="0" rIns="91425" bIns="45700" anchor="ctr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529A43"/>
              </a:buClr>
              <a:buSzPts val="1500"/>
              <a:buFont typeface="Arial"/>
              <a:buNone/>
              <a:defRPr sz="15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line_3">
  <p:cSld name="Section Headline_3"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2" name="Google Shape;312;p3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2"/>
            <a:ext cx="9143998" cy="5143498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p3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accent4">
              <a:alpha val="29804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38"/>
          <p:cNvSpPr txBox="1">
            <a:spLocks noGrp="1"/>
          </p:cNvSpPr>
          <p:nvPr>
            <p:ph type="body" idx="1"/>
          </p:nvPr>
        </p:nvSpPr>
        <p:spPr>
          <a:xfrm>
            <a:off x="403622" y="665164"/>
            <a:ext cx="931500" cy="931500"/>
          </a:xfrm>
          <a:prstGeom prst="rect">
            <a:avLst/>
          </a:prstGeom>
          <a:solidFill>
            <a:srgbClr val="009E49"/>
          </a:solidFill>
          <a:ln>
            <a:noFill/>
          </a:ln>
        </p:spPr>
        <p:txBody>
          <a:bodyPr spcFirstLastPara="1" wrap="square" lIns="0" tIns="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0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15" name="Google Shape;315;p38"/>
          <p:cNvSpPr txBox="1">
            <a:spLocks noGrp="1"/>
          </p:cNvSpPr>
          <p:nvPr>
            <p:ph type="body" idx="2"/>
          </p:nvPr>
        </p:nvSpPr>
        <p:spPr>
          <a:xfrm>
            <a:off x="1335122" y="665164"/>
            <a:ext cx="2808000" cy="93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288000" tIns="0" rIns="91425" bIns="45700" anchor="ctr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529A43"/>
              </a:buClr>
              <a:buSzPts val="1500"/>
              <a:buFont typeface="Arial"/>
              <a:buNone/>
              <a:defRPr sz="15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line_4">
  <p:cSld name="Section Headline_4"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3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accent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39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9" name="Google Shape;319;p39"/>
          <p:cNvSpPr txBox="1">
            <a:spLocks noGrp="1"/>
          </p:cNvSpPr>
          <p:nvPr>
            <p:ph type="body" idx="1"/>
          </p:nvPr>
        </p:nvSpPr>
        <p:spPr>
          <a:xfrm>
            <a:off x="1298972" y="884238"/>
            <a:ext cx="931500" cy="931500"/>
          </a:xfrm>
          <a:prstGeom prst="rect">
            <a:avLst/>
          </a:prstGeom>
          <a:solidFill>
            <a:srgbClr val="009E49"/>
          </a:solidFill>
          <a:ln>
            <a:noFill/>
          </a:ln>
        </p:spPr>
        <p:txBody>
          <a:bodyPr spcFirstLastPara="1" wrap="square" lIns="0" tIns="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0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0" name="Google Shape;320;p39"/>
          <p:cNvSpPr txBox="1">
            <a:spLocks noGrp="1"/>
          </p:cNvSpPr>
          <p:nvPr>
            <p:ph type="body" idx="3"/>
          </p:nvPr>
        </p:nvSpPr>
        <p:spPr>
          <a:xfrm>
            <a:off x="2230472" y="884238"/>
            <a:ext cx="2808000" cy="93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288000" tIns="0" rIns="91425" bIns="4570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500"/>
              <a:buNone/>
              <a:defRPr sz="15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215">
          <p15:clr>
            <a:srgbClr val="FBAE40"/>
          </p15:clr>
        </p15:guide>
        <p15:guide id="2" pos="2160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line_5">
  <p:cSld name="Section Headline_5"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accent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4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24" name="Google Shape;324;p40"/>
          <p:cNvSpPr txBox="1">
            <a:spLocks noGrp="1"/>
          </p:cNvSpPr>
          <p:nvPr>
            <p:ph type="body" idx="1"/>
          </p:nvPr>
        </p:nvSpPr>
        <p:spPr>
          <a:xfrm>
            <a:off x="4939075" y="3225498"/>
            <a:ext cx="931500" cy="931500"/>
          </a:xfrm>
          <a:prstGeom prst="rect">
            <a:avLst/>
          </a:prstGeom>
          <a:solidFill>
            <a:srgbClr val="009E49"/>
          </a:solidFill>
          <a:ln>
            <a:noFill/>
          </a:ln>
        </p:spPr>
        <p:txBody>
          <a:bodyPr spcFirstLastPara="1" wrap="square" lIns="0" tIns="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0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5" name="Google Shape;325;p40"/>
          <p:cNvSpPr txBox="1">
            <a:spLocks noGrp="1"/>
          </p:cNvSpPr>
          <p:nvPr>
            <p:ph type="body" idx="3"/>
          </p:nvPr>
        </p:nvSpPr>
        <p:spPr>
          <a:xfrm>
            <a:off x="5870575" y="3225498"/>
            <a:ext cx="2808000" cy="93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288000" tIns="0" rIns="91425" bIns="45700" anchor="ctr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529A43"/>
              </a:buClr>
              <a:buSzPts val="1500"/>
              <a:buFont typeface="Arial"/>
              <a:buNone/>
              <a:defRPr sz="15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">
  <p:cSld name="Custom Layout"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7" name="Google Shape;327;p41"/>
          <p:cNvCxnSpPr/>
          <p:nvPr/>
        </p:nvCxnSpPr>
        <p:spPr>
          <a:xfrm rot="10800000">
            <a:off x="-8" y="2749548"/>
            <a:ext cx="6096000" cy="0"/>
          </a:xfrm>
          <a:prstGeom prst="straightConnector1">
            <a:avLst/>
          </a:prstGeom>
          <a:solidFill>
            <a:schemeClr val="accen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28" name="Google Shape;328;p41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9" name="Google Shape;329;p41"/>
          <p:cNvSpPr txBox="1">
            <a:spLocks noGrp="1"/>
          </p:cNvSpPr>
          <p:nvPr>
            <p:ph type="body" idx="1"/>
          </p:nvPr>
        </p:nvSpPr>
        <p:spPr>
          <a:xfrm>
            <a:off x="5962650" y="870348"/>
            <a:ext cx="3181200" cy="3773100"/>
          </a:xfrm>
          <a:prstGeom prst="rect">
            <a:avLst/>
          </a:prstGeom>
          <a:solidFill>
            <a:srgbClr val="C4C7C6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/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0" name="Google Shape;330;p41"/>
          <p:cNvSpPr txBox="1">
            <a:spLocks noGrp="1"/>
          </p:cNvSpPr>
          <p:nvPr>
            <p:ph type="body" idx="2"/>
          </p:nvPr>
        </p:nvSpPr>
        <p:spPr>
          <a:xfrm>
            <a:off x="-18510" y="2759927"/>
            <a:ext cx="5981100" cy="1883400"/>
          </a:xfrm>
          <a:prstGeom prst="rect">
            <a:avLst/>
          </a:prstGeom>
          <a:solidFill>
            <a:srgbClr val="E1E3E1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/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1" name="Google Shape;331;p41"/>
          <p:cNvSpPr txBox="1">
            <a:spLocks noGrp="1"/>
          </p:cNvSpPr>
          <p:nvPr>
            <p:ph type="body" idx="3"/>
          </p:nvPr>
        </p:nvSpPr>
        <p:spPr>
          <a:xfrm>
            <a:off x="-18510" y="870348"/>
            <a:ext cx="5981100" cy="187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2" name="Google Shape;332;p41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33" name="Google Shape;333;p41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4" name="Google Shape;334;p41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2">
  <p:cSld name="custom layout 2"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42"/>
          <p:cNvSpPr/>
          <p:nvPr/>
        </p:nvSpPr>
        <p:spPr>
          <a:xfrm>
            <a:off x="0" y="870348"/>
            <a:ext cx="9144000" cy="3758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25" rIns="91425" bIns="4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337" name="Google Shape;337;p42"/>
          <p:cNvSpPr txBox="1">
            <a:spLocks noGrp="1"/>
          </p:cNvSpPr>
          <p:nvPr>
            <p:ph type="body" idx="1"/>
          </p:nvPr>
        </p:nvSpPr>
        <p:spPr>
          <a:xfrm>
            <a:off x="5962650" y="870348"/>
            <a:ext cx="3181200" cy="9396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5400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Font typeface="Libre Franklin"/>
              <a:buNone/>
              <a:defRPr sz="1600">
                <a:solidFill>
                  <a:schemeClr val="lt1"/>
                </a:solidFill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38" name="Google Shape;338;p42"/>
          <p:cNvSpPr txBox="1">
            <a:spLocks noGrp="1"/>
          </p:cNvSpPr>
          <p:nvPr>
            <p:ph type="body" idx="2"/>
          </p:nvPr>
        </p:nvSpPr>
        <p:spPr>
          <a:xfrm>
            <a:off x="5962650" y="1810044"/>
            <a:ext cx="3181200" cy="9396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5400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Font typeface="Libre Franklin"/>
              <a:buNone/>
              <a:defRPr sz="1600">
                <a:solidFill>
                  <a:schemeClr val="lt1"/>
                </a:solidFill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39" name="Google Shape;339;p42"/>
          <p:cNvSpPr txBox="1">
            <a:spLocks noGrp="1"/>
          </p:cNvSpPr>
          <p:nvPr>
            <p:ph type="body" idx="3"/>
          </p:nvPr>
        </p:nvSpPr>
        <p:spPr>
          <a:xfrm>
            <a:off x="5962650" y="2749740"/>
            <a:ext cx="3181200" cy="9396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5400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Font typeface="Libre Franklin"/>
              <a:buNone/>
              <a:defRPr sz="1600">
                <a:solidFill>
                  <a:schemeClr val="lt1"/>
                </a:solidFill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40" name="Google Shape;340;p42"/>
          <p:cNvSpPr txBox="1">
            <a:spLocks noGrp="1"/>
          </p:cNvSpPr>
          <p:nvPr>
            <p:ph type="body" idx="4"/>
          </p:nvPr>
        </p:nvSpPr>
        <p:spPr>
          <a:xfrm>
            <a:off x="5962650" y="3689436"/>
            <a:ext cx="3181200" cy="9396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5400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Font typeface="Libre Franklin"/>
              <a:buNone/>
              <a:defRPr sz="1600">
                <a:solidFill>
                  <a:schemeClr val="lt1"/>
                </a:solidFill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41" name="Google Shape;341;p42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2" name="Google Shape;342;p42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43" name="Google Shape;343;p42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4" name="Google Shape;344;p42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3">
  <p:cSld name="custom layout 3"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43"/>
          <p:cNvSpPr/>
          <p:nvPr/>
        </p:nvSpPr>
        <p:spPr>
          <a:xfrm>
            <a:off x="0" y="2764154"/>
            <a:ext cx="9144000" cy="1879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13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43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8" name="Google Shape;348;p43"/>
          <p:cNvSpPr>
            <a:spLocks noGrp="1"/>
          </p:cNvSpPr>
          <p:nvPr>
            <p:ph type="pic" idx="2"/>
          </p:nvPr>
        </p:nvSpPr>
        <p:spPr>
          <a:xfrm>
            <a:off x="-1" y="879476"/>
            <a:ext cx="30480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349" name="Google Shape;349;p43"/>
          <p:cNvSpPr>
            <a:spLocks noGrp="1"/>
          </p:cNvSpPr>
          <p:nvPr>
            <p:ph type="pic" idx="3"/>
          </p:nvPr>
        </p:nvSpPr>
        <p:spPr>
          <a:xfrm>
            <a:off x="3048001" y="879475"/>
            <a:ext cx="30480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350" name="Google Shape;350;p43"/>
          <p:cNvSpPr>
            <a:spLocks noGrp="1"/>
          </p:cNvSpPr>
          <p:nvPr>
            <p:ph type="pic" idx="4"/>
          </p:nvPr>
        </p:nvSpPr>
        <p:spPr>
          <a:xfrm>
            <a:off x="6096004" y="879475"/>
            <a:ext cx="30480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351" name="Google Shape;351;p43"/>
          <p:cNvSpPr txBox="1">
            <a:spLocks noGrp="1"/>
          </p:cNvSpPr>
          <p:nvPr>
            <p:ph type="body" idx="1"/>
          </p:nvPr>
        </p:nvSpPr>
        <p:spPr>
          <a:xfrm>
            <a:off x="-1" y="2764154"/>
            <a:ext cx="3048000" cy="186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0800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52" name="Google Shape;352;p43"/>
          <p:cNvSpPr txBox="1">
            <a:spLocks noGrp="1"/>
          </p:cNvSpPr>
          <p:nvPr>
            <p:ph type="body" idx="5"/>
          </p:nvPr>
        </p:nvSpPr>
        <p:spPr>
          <a:xfrm>
            <a:off x="6095976" y="2764154"/>
            <a:ext cx="3048000" cy="186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0800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53" name="Google Shape;353;p43"/>
          <p:cNvSpPr txBox="1">
            <a:spLocks noGrp="1"/>
          </p:cNvSpPr>
          <p:nvPr>
            <p:ph type="body" idx="6"/>
          </p:nvPr>
        </p:nvSpPr>
        <p:spPr>
          <a:xfrm>
            <a:off x="-1" y="4049438"/>
            <a:ext cx="3048000" cy="5940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0800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 Thin"/>
              <a:buNone/>
              <a:defRPr sz="1200" b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54" name="Google Shape;354;p43"/>
          <p:cNvSpPr txBox="1">
            <a:spLocks noGrp="1"/>
          </p:cNvSpPr>
          <p:nvPr>
            <p:ph type="body" idx="7"/>
          </p:nvPr>
        </p:nvSpPr>
        <p:spPr>
          <a:xfrm>
            <a:off x="3047987" y="4049438"/>
            <a:ext cx="3048000" cy="5940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0800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 Thin"/>
              <a:buNone/>
              <a:defRPr sz="1200" b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55" name="Google Shape;355;p43"/>
          <p:cNvSpPr txBox="1">
            <a:spLocks noGrp="1"/>
          </p:cNvSpPr>
          <p:nvPr>
            <p:ph type="body" idx="8"/>
          </p:nvPr>
        </p:nvSpPr>
        <p:spPr>
          <a:xfrm>
            <a:off x="6095976" y="4049438"/>
            <a:ext cx="3048000" cy="5940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0800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 Thin"/>
              <a:buNone/>
              <a:defRPr sz="1200" b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56" name="Google Shape;356;p43"/>
          <p:cNvSpPr txBox="1">
            <a:spLocks noGrp="1"/>
          </p:cNvSpPr>
          <p:nvPr>
            <p:ph type="body" idx="9"/>
          </p:nvPr>
        </p:nvSpPr>
        <p:spPr>
          <a:xfrm>
            <a:off x="3063239" y="2764154"/>
            <a:ext cx="3048000" cy="19800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0800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57" name="Google Shape;357;p43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58" name="Google Shape;358;p43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9" name="Google Shape;359;p43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6">
  <p:cSld name="custom layout 6">
    <p:spTree>
      <p:nvGrpSpPr>
        <p:cNvPr id="1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44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2" name="Google Shape;362;p44"/>
          <p:cNvSpPr>
            <a:spLocks noGrp="1"/>
          </p:cNvSpPr>
          <p:nvPr>
            <p:ph type="pic" idx="2"/>
          </p:nvPr>
        </p:nvSpPr>
        <p:spPr>
          <a:xfrm>
            <a:off x="-1" y="879476"/>
            <a:ext cx="30480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363" name="Google Shape;363;p44"/>
          <p:cNvSpPr>
            <a:spLocks noGrp="1"/>
          </p:cNvSpPr>
          <p:nvPr>
            <p:ph type="pic" idx="3"/>
          </p:nvPr>
        </p:nvSpPr>
        <p:spPr>
          <a:xfrm>
            <a:off x="3048001" y="879475"/>
            <a:ext cx="30480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364" name="Google Shape;364;p44"/>
          <p:cNvSpPr>
            <a:spLocks noGrp="1"/>
          </p:cNvSpPr>
          <p:nvPr>
            <p:ph type="pic" idx="4"/>
          </p:nvPr>
        </p:nvSpPr>
        <p:spPr>
          <a:xfrm>
            <a:off x="6096004" y="879475"/>
            <a:ext cx="30480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365" name="Google Shape;365;p44"/>
          <p:cNvSpPr txBox="1">
            <a:spLocks noGrp="1"/>
          </p:cNvSpPr>
          <p:nvPr>
            <p:ph type="body" idx="1"/>
          </p:nvPr>
        </p:nvSpPr>
        <p:spPr>
          <a:xfrm>
            <a:off x="-1" y="2764153"/>
            <a:ext cx="3048000" cy="457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Libre Franklin Thin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66" name="Google Shape;366;p44"/>
          <p:cNvSpPr txBox="1">
            <a:spLocks noGrp="1"/>
          </p:cNvSpPr>
          <p:nvPr>
            <p:ph type="body" idx="5"/>
          </p:nvPr>
        </p:nvSpPr>
        <p:spPr>
          <a:xfrm>
            <a:off x="3048004" y="2764153"/>
            <a:ext cx="3048000" cy="455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Libre Franklin Thin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67" name="Google Shape;367;p44"/>
          <p:cNvSpPr txBox="1">
            <a:spLocks noGrp="1"/>
          </p:cNvSpPr>
          <p:nvPr>
            <p:ph type="body" idx="6"/>
          </p:nvPr>
        </p:nvSpPr>
        <p:spPr>
          <a:xfrm>
            <a:off x="-1" y="3219449"/>
            <a:ext cx="3048000" cy="144000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68" name="Google Shape;368;p44"/>
          <p:cNvSpPr txBox="1">
            <a:spLocks noGrp="1"/>
          </p:cNvSpPr>
          <p:nvPr>
            <p:ph type="body" idx="7"/>
          </p:nvPr>
        </p:nvSpPr>
        <p:spPr>
          <a:xfrm>
            <a:off x="6095993" y="2764153"/>
            <a:ext cx="3048000" cy="4554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Libre Franklin Thin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69" name="Google Shape;369;p44"/>
          <p:cNvSpPr txBox="1">
            <a:spLocks noGrp="1"/>
          </p:cNvSpPr>
          <p:nvPr>
            <p:ph type="body" idx="8"/>
          </p:nvPr>
        </p:nvSpPr>
        <p:spPr>
          <a:xfrm>
            <a:off x="6095993" y="3219449"/>
            <a:ext cx="3048000" cy="144000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70" name="Google Shape;370;p44"/>
          <p:cNvSpPr txBox="1">
            <a:spLocks noGrp="1"/>
          </p:cNvSpPr>
          <p:nvPr>
            <p:ph type="body" idx="9"/>
          </p:nvPr>
        </p:nvSpPr>
        <p:spPr>
          <a:xfrm>
            <a:off x="3048004" y="3219449"/>
            <a:ext cx="3048000" cy="1440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71" name="Google Shape;371;p44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72" name="Google Shape;372;p44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3" name="Google Shape;373;p44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7">
  <p:cSld name="custom layout 7">
    <p:spTree>
      <p:nvGrpSpPr>
        <p:cNvPr id="1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45"/>
          <p:cNvSpPr txBox="1">
            <a:spLocks noGrp="1"/>
          </p:cNvSpPr>
          <p:nvPr>
            <p:ph type="body" idx="1"/>
          </p:nvPr>
        </p:nvSpPr>
        <p:spPr>
          <a:xfrm>
            <a:off x="5976156" y="1356109"/>
            <a:ext cx="3167700" cy="2322900"/>
          </a:xfrm>
          <a:prstGeom prst="rect">
            <a:avLst/>
          </a:prstGeom>
          <a:solidFill>
            <a:srgbClr val="E1E3E1"/>
          </a:solidFill>
          <a:ln>
            <a:noFill/>
          </a:ln>
        </p:spPr>
        <p:txBody>
          <a:bodyPr spcFirstLastPara="1" wrap="square" lIns="216000" tIns="45700" rIns="91425" bIns="45700" anchor="ctr" anchorCtr="0">
            <a:no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6" name="Google Shape;376;p45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7" name="Google Shape;377;p45"/>
          <p:cNvSpPr txBox="1">
            <a:spLocks noGrp="1"/>
          </p:cNvSpPr>
          <p:nvPr>
            <p:ph type="body" idx="2"/>
          </p:nvPr>
        </p:nvSpPr>
        <p:spPr>
          <a:xfrm>
            <a:off x="1" y="3687365"/>
            <a:ext cx="5976900" cy="940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78" name="Google Shape;378;p45"/>
          <p:cNvSpPr txBox="1">
            <a:spLocks noGrp="1"/>
          </p:cNvSpPr>
          <p:nvPr>
            <p:ph type="body" idx="3"/>
          </p:nvPr>
        </p:nvSpPr>
        <p:spPr>
          <a:xfrm>
            <a:off x="5976902" y="3687366"/>
            <a:ext cx="3167100" cy="940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79" name="Google Shape;379;p45"/>
          <p:cNvSpPr txBox="1">
            <a:spLocks noGrp="1"/>
          </p:cNvSpPr>
          <p:nvPr>
            <p:ph type="body" idx="4"/>
          </p:nvPr>
        </p:nvSpPr>
        <p:spPr>
          <a:xfrm>
            <a:off x="0" y="1338146"/>
            <a:ext cx="5962800" cy="234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16000" tIns="45700" rIns="91425" bIns="45700" anchor="ctr" anchorCtr="0">
            <a:no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0" name="Google Shape;380;p45"/>
          <p:cNvSpPr txBox="1">
            <a:spLocks noGrp="1"/>
          </p:cNvSpPr>
          <p:nvPr>
            <p:ph type="body" idx="5"/>
          </p:nvPr>
        </p:nvSpPr>
        <p:spPr>
          <a:xfrm>
            <a:off x="-1" y="879475"/>
            <a:ext cx="9144000" cy="468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144000" tIns="0" rIns="54000" bIns="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Libre Franklin Thin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81" name="Google Shape;381;p45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82" name="Google Shape;382;p45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3" name="Google Shape;383;p45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8">
  <p:cSld name="custom layout 8"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46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386" name="Google Shape;386;p46"/>
          <p:cNvCxnSpPr/>
          <p:nvPr/>
        </p:nvCxnSpPr>
        <p:spPr>
          <a:xfrm>
            <a:off x="-1" y="868209"/>
            <a:ext cx="9144000" cy="0"/>
          </a:xfrm>
          <a:prstGeom prst="straightConnector1">
            <a:avLst/>
          </a:prstGeom>
          <a:noFill/>
          <a:ln w="9525" cap="flat" cmpd="sng">
            <a:solidFill>
              <a:srgbClr val="C4C7C6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87" name="Google Shape;387;p46"/>
          <p:cNvSpPr txBox="1">
            <a:spLocks noGrp="1"/>
          </p:cNvSpPr>
          <p:nvPr>
            <p:ph type="body" idx="1"/>
          </p:nvPr>
        </p:nvSpPr>
        <p:spPr>
          <a:xfrm>
            <a:off x="0" y="4156473"/>
            <a:ext cx="9144000" cy="471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Libre Franklin Thin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88" name="Google Shape;388;p46"/>
          <p:cNvSpPr>
            <a:spLocks noGrp="1"/>
          </p:cNvSpPr>
          <p:nvPr>
            <p:ph type="pic" idx="2"/>
          </p:nvPr>
        </p:nvSpPr>
        <p:spPr>
          <a:xfrm>
            <a:off x="-1" y="876301"/>
            <a:ext cx="3048000" cy="3281100"/>
          </a:xfrm>
          <a:prstGeom prst="rect">
            <a:avLst/>
          </a:prstGeom>
          <a:noFill/>
          <a:ln>
            <a:noFill/>
          </a:ln>
        </p:spPr>
      </p:sp>
      <p:sp>
        <p:nvSpPr>
          <p:cNvPr id="389" name="Google Shape;389;p46"/>
          <p:cNvSpPr>
            <a:spLocks noGrp="1"/>
          </p:cNvSpPr>
          <p:nvPr>
            <p:ph type="pic" idx="3"/>
          </p:nvPr>
        </p:nvSpPr>
        <p:spPr>
          <a:xfrm>
            <a:off x="6096004" y="876301"/>
            <a:ext cx="3048000" cy="3281100"/>
          </a:xfrm>
          <a:prstGeom prst="rect">
            <a:avLst/>
          </a:prstGeom>
          <a:noFill/>
          <a:ln>
            <a:noFill/>
          </a:ln>
        </p:spPr>
      </p:sp>
      <p:sp>
        <p:nvSpPr>
          <p:cNvPr id="390" name="Google Shape;390;p46"/>
          <p:cNvSpPr txBox="1">
            <a:spLocks noGrp="1"/>
          </p:cNvSpPr>
          <p:nvPr>
            <p:ph type="body" idx="4"/>
          </p:nvPr>
        </p:nvSpPr>
        <p:spPr>
          <a:xfrm>
            <a:off x="3048004" y="876301"/>
            <a:ext cx="3048000" cy="32862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91" name="Google Shape;391;p46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92" name="Google Shape;392;p46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3" name="Google Shape;393;p46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9">
  <p:cSld name="custom layout 9"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47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6" name="Google Shape;396;p47"/>
          <p:cNvSpPr>
            <a:spLocks noGrp="1"/>
          </p:cNvSpPr>
          <p:nvPr>
            <p:ph type="pic" idx="2"/>
          </p:nvPr>
        </p:nvSpPr>
        <p:spPr>
          <a:xfrm>
            <a:off x="6096004" y="879475"/>
            <a:ext cx="3048000" cy="1872000"/>
          </a:xfrm>
          <a:prstGeom prst="rect">
            <a:avLst/>
          </a:prstGeom>
          <a:noFill/>
          <a:ln>
            <a:noFill/>
          </a:ln>
        </p:spPr>
      </p:sp>
      <p:sp>
        <p:nvSpPr>
          <p:cNvPr id="397" name="Google Shape;397;p47"/>
          <p:cNvSpPr>
            <a:spLocks noGrp="1"/>
          </p:cNvSpPr>
          <p:nvPr>
            <p:ph type="pic" idx="3"/>
          </p:nvPr>
        </p:nvSpPr>
        <p:spPr>
          <a:xfrm>
            <a:off x="6096004" y="2756056"/>
            <a:ext cx="3048000" cy="1872000"/>
          </a:xfrm>
          <a:prstGeom prst="rect">
            <a:avLst/>
          </a:prstGeom>
          <a:noFill/>
          <a:ln>
            <a:noFill/>
          </a:ln>
        </p:spPr>
      </p:sp>
      <p:sp>
        <p:nvSpPr>
          <p:cNvPr id="398" name="Google Shape;398;p47"/>
          <p:cNvSpPr>
            <a:spLocks noGrp="1"/>
          </p:cNvSpPr>
          <p:nvPr>
            <p:ph type="pic" idx="4"/>
          </p:nvPr>
        </p:nvSpPr>
        <p:spPr>
          <a:xfrm>
            <a:off x="3048008" y="879475"/>
            <a:ext cx="3048000" cy="1872000"/>
          </a:xfrm>
          <a:prstGeom prst="rect">
            <a:avLst/>
          </a:prstGeom>
          <a:noFill/>
          <a:ln>
            <a:noFill/>
          </a:ln>
        </p:spPr>
      </p:sp>
      <p:sp>
        <p:nvSpPr>
          <p:cNvPr id="399" name="Google Shape;399;p47"/>
          <p:cNvSpPr>
            <a:spLocks noGrp="1"/>
          </p:cNvSpPr>
          <p:nvPr>
            <p:ph type="pic" idx="5"/>
          </p:nvPr>
        </p:nvSpPr>
        <p:spPr>
          <a:xfrm>
            <a:off x="3048008" y="2756056"/>
            <a:ext cx="3048000" cy="1872000"/>
          </a:xfrm>
          <a:prstGeom prst="rect">
            <a:avLst/>
          </a:prstGeom>
          <a:noFill/>
          <a:ln>
            <a:noFill/>
          </a:ln>
        </p:spPr>
      </p:sp>
      <p:sp>
        <p:nvSpPr>
          <p:cNvPr id="400" name="Google Shape;400;p47"/>
          <p:cNvSpPr txBox="1">
            <a:spLocks noGrp="1"/>
          </p:cNvSpPr>
          <p:nvPr>
            <p:ph type="body" idx="1"/>
          </p:nvPr>
        </p:nvSpPr>
        <p:spPr>
          <a:xfrm>
            <a:off x="-12" y="2751534"/>
            <a:ext cx="1524000" cy="1872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Font typeface="Libre Franklin Thin"/>
              <a:buNone/>
              <a:defRPr sz="1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01" name="Google Shape;401;p47"/>
          <p:cNvSpPr txBox="1">
            <a:spLocks noGrp="1"/>
          </p:cNvSpPr>
          <p:nvPr>
            <p:ph type="body" idx="6"/>
          </p:nvPr>
        </p:nvSpPr>
        <p:spPr>
          <a:xfrm>
            <a:off x="-1" y="879475"/>
            <a:ext cx="3048000" cy="4683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Libre Franklin Thin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02" name="Google Shape;402;p47"/>
          <p:cNvSpPr txBox="1">
            <a:spLocks noGrp="1"/>
          </p:cNvSpPr>
          <p:nvPr>
            <p:ph type="body" idx="7"/>
          </p:nvPr>
        </p:nvSpPr>
        <p:spPr>
          <a:xfrm>
            <a:off x="-1" y="1348781"/>
            <a:ext cx="3048000" cy="700800"/>
          </a:xfrm>
          <a:prstGeom prst="rect">
            <a:avLst/>
          </a:prstGeom>
          <a:solidFill>
            <a:srgbClr val="D8D8D8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03" name="Google Shape;403;p47"/>
          <p:cNvSpPr txBox="1">
            <a:spLocks noGrp="1"/>
          </p:cNvSpPr>
          <p:nvPr>
            <p:ph type="body" idx="8"/>
          </p:nvPr>
        </p:nvSpPr>
        <p:spPr>
          <a:xfrm>
            <a:off x="-1" y="2049656"/>
            <a:ext cx="3048000" cy="697500"/>
          </a:xfrm>
          <a:prstGeom prst="rect">
            <a:avLst/>
          </a:prstGeom>
          <a:solidFill>
            <a:srgbClr val="D8D8D8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04" name="Google Shape;404;p47"/>
          <p:cNvSpPr txBox="1">
            <a:spLocks noGrp="1"/>
          </p:cNvSpPr>
          <p:nvPr>
            <p:ph type="body" idx="9"/>
          </p:nvPr>
        </p:nvSpPr>
        <p:spPr>
          <a:xfrm>
            <a:off x="1523999" y="2751534"/>
            <a:ext cx="1524000" cy="1872000"/>
          </a:xfrm>
          <a:prstGeom prst="rect">
            <a:avLst/>
          </a:prstGeom>
          <a:solidFill>
            <a:srgbClr val="D8D8D8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Font typeface="Libre Franklin Thin"/>
              <a:buNone/>
              <a:defRPr sz="1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05" name="Google Shape;405;p47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06" name="Google Shape;406;p47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7" name="Google Shape;407;p47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0">
  <p:cSld name="custom layout 10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48"/>
          <p:cNvSpPr txBox="1">
            <a:spLocks noGrp="1"/>
          </p:cNvSpPr>
          <p:nvPr>
            <p:ph type="body" idx="1"/>
          </p:nvPr>
        </p:nvSpPr>
        <p:spPr>
          <a:xfrm>
            <a:off x="6857775" y="870347"/>
            <a:ext cx="2286300" cy="1260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0" name="Google Shape;410;p48"/>
          <p:cNvSpPr txBox="1">
            <a:spLocks noGrp="1"/>
          </p:cNvSpPr>
          <p:nvPr>
            <p:ph type="body" idx="2"/>
          </p:nvPr>
        </p:nvSpPr>
        <p:spPr>
          <a:xfrm>
            <a:off x="6857775" y="2119209"/>
            <a:ext cx="2286300" cy="1260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1" name="Google Shape;411;p48"/>
          <p:cNvSpPr txBox="1">
            <a:spLocks noGrp="1"/>
          </p:cNvSpPr>
          <p:nvPr>
            <p:ph type="body" idx="3"/>
          </p:nvPr>
        </p:nvSpPr>
        <p:spPr>
          <a:xfrm>
            <a:off x="6857775" y="3368072"/>
            <a:ext cx="2286300" cy="1260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2" name="Google Shape;412;p48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3" name="Google Shape;413;p48"/>
          <p:cNvSpPr>
            <a:spLocks noGrp="1"/>
          </p:cNvSpPr>
          <p:nvPr>
            <p:ph type="pic" idx="4"/>
          </p:nvPr>
        </p:nvSpPr>
        <p:spPr>
          <a:xfrm>
            <a:off x="0" y="879476"/>
            <a:ext cx="2286000" cy="3276900"/>
          </a:xfrm>
          <a:prstGeom prst="rect">
            <a:avLst/>
          </a:prstGeom>
          <a:noFill/>
          <a:ln>
            <a:noFill/>
          </a:ln>
        </p:spPr>
      </p:sp>
      <p:sp>
        <p:nvSpPr>
          <p:cNvPr id="414" name="Google Shape;414;p48"/>
          <p:cNvSpPr>
            <a:spLocks noGrp="1"/>
          </p:cNvSpPr>
          <p:nvPr>
            <p:ph type="pic" idx="5"/>
          </p:nvPr>
        </p:nvSpPr>
        <p:spPr>
          <a:xfrm>
            <a:off x="4571960" y="879475"/>
            <a:ext cx="2286000" cy="3276900"/>
          </a:xfrm>
          <a:prstGeom prst="rect">
            <a:avLst/>
          </a:prstGeom>
          <a:noFill/>
          <a:ln>
            <a:noFill/>
          </a:ln>
        </p:spPr>
      </p:sp>
      <p:sp>
        <p:nvSpPr>
          <p:cNvPr id="415" name="Google Shape;415;p48"/>
          <p:cNvSpPr txBox="1">
            <a:spLocks noGrp="1"/>
          </p:cNvSpPr>
          <p:nvPr>
            <p:ph type="body" idx="6"/>
          </p:nvPr>
        </p:nvSpPr>
        <p:spPr>
          <a:xfrm>
            <a:off x="-1" y="4156472"/>
            <a:ext cx="2286000" cy="471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10800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 Th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6" name="Google Shape;416;p48"/>
          <p:cNvSpPr txBox="1">
            <a:spLocks noGrp="1"/>
          </p:cNvSpPr>
          <p:nvPr>
            <p:ph type="body" idx="7"/>
          </p:nvPr>
        </p:nvSpPr>
        <p:spPr>
          <a:xfrm>
            <a:off x="4571888" y="4156472"/>
            <a:ext cx="2286000" cy="471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108000" rIns="0" bIns="0" anchor="t" anchorCtr="0">
            <a:noAutofit/>
          </a:bodyPr>
          <a:lstStyle>
            <a:lvl1pPr marL="457200" lvl="0" indent="-3048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 Thin"/>
              <a:buChar char="•"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7" name="Google Shape;417;p48"/>
          <p:cNvSpPr>
            <a:spLocks noGrp="1"/>
          </p:cNvSpPr>
          <p:nvPr>
            <p:ph type="pic" idx="8"/>
          </p:nvPr>
        </p:nvSpPr>
        <p:spPr>
          <a:xfrm>
            <a:off x="2285811" y="879475"/>
            <a:ext cx="2286000" cy="3276900"/>
          </a:xfrm>
          <a:prstGeom prst="rect">
            <a:avLst/>
          </a:prstGeom>
          <a:noFill/>
          <a:ln>
            <a:noFill/>
          </a:ln>
        </p:spPr>
      </p:sp>
      <p:sp>
        <p:nvSpPr>
          <p:cNvPr id="418" name="Google Shape;418;p48"/>
          <p:cNvSpPr txBox="1">
            <a:spLocks noGrp="1"/>
          </p:cNvSpPr>
          <p:nvPr>
            <p:ph type="body" idx="9"/>
          </p:nvPr>
        </p:nvSpPr>
        <p:spPr>
          <a:xfrm>
            <a:off x="2285811" y="4156472"/>
            <a:ext cx="2286000" cy="471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108000" rIns="0" bIns="0" anchor="t" anchorCtr="0">
            <a:noAutofit/>
          </a:bodyPr>
          <a:lstStyle>
            <a:lvl1pPr marL="457200" lvl="0" indent="-3048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 Thin"/>
              <a:buChar char="•"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cxnSp>
        <p:nvCxnSpPr>
          <p:cNvPr id="419" name="Google Shape;419;p48"/>
          <p:cNvCxnSpPr/>
          <p:nvPr/>
        </p:nvCxnSpPr>
        <p:spPr>
          <a:xfrm>
            <a:off x="6857775" y="2119209"/>
            <a:ext cx="2286300" cy="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420" name="Google Shape;420;p48"/>
          <p:cNvCxnSpPr/>
          <p:nvPr/>
        </p:nvCxnSpPr>
        <p:spPr>
          <a:xfrm>
            <a:off x="6857775" y="3371937"/>
            <a:ext cx="2286300" cy="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421" name="Google Shape;421;p48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22" name="Google Shape;422;p48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3" name="Google Shape;423;p48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1">
  <p:cSld name="custom layout 11"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49"/>
          <p:cNvSpPr txBox="1">
            <a:spLocks noGrp="1"/>
          </p:cNvSpPr>
          <p:nvPr>
            <p:ph type="body" idx="1"/>
          </p:nvPr>
        </p:nvSpPr>
        <p:spPr>
          <a:xfrm>
            <a:off x="6443663" y="870347"/>
            <a:ext cx="2700600" cy="125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26" name="Google Shape;426;p49"/>
          <p:cNvSpPr txBox="1">
            <a:spLocks noGrp="1"/>
          </p:cNvSpPr>
          <p:nvPr>
            <p:ph type="body" idx="2"/>
          </p:nvPr>
        </p:nvSpPr>
        <p:spPr>
          <a:xfrm>
            <a:off x="6443663" y="2135557"/>
            <a:ext cx="2700600" cy="1236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27" name="Google Shape;427;p49"/>
          <p:cNvSpPr txBox="1">
            <a:spLocks noGrp="1"/>
          </p:cNvSpPr>
          <p:nvPr>
            <p:ph type="body" idx="3"/>
          </p:nvPr>
        </p:nvSpPr>
        <p:spPr>
          <a:xfrm>
            <a:off x="6443663" y="3378568"/>
            <a:ext cx="2700600" cy="1245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048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Char char="•"/>
              <a:defRPr sz="12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28" name="Google Shape;428;p49"/>
          <p:cNvSpPr txBox="1">
            <a:spLocks noGrp="1"/>
          </p:cNvSpPr>
          <p:nvPr>
            <p:ph type="body" idx="4"/>
          </p:nvPr>
        </p:nvSpPr>
        <p:spPr>
          <a:xfrm>
            <a:off x="0" y="870347"/>
            <a:ext cx="2700600" cy="125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29" name="Google Shape;429;p49"/>
          <p:cNvSpPr txBox="1">
            <a:spLocks noGrp="1"/>
          </p:cNvSpPr>
          <p:nvPr>
            <p:ph type="body" idx="5"/>
          </p:nvPr>
        </p:nvSpPr>
        <p:spPr>
          <a:xfrm>
            <a:off x="0" y="2135557"/>
            <a:ext cx="2700600" cy="1236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30" name="Google Shape;430;p49"/>
          <p:cNvSpPr txBox="1">
            <a:spLocks noGrp="1"/>
          </p:cNvSpPr>
          <p:nvPr>
            <p:ph type="body" idx="6"/>
          </p:nvPr>
        </p:nvSpPr>
        <p:spPr>
          <a:xfrm>
            <a:off x="0" y="3378568"/>
            <a:ext cx="2700600" cy="1245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048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Char char="•"/>
              <a:defRPr sz="12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31" name="Google Shape;431;p49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2" name="Google Shape;432;p49"/>
          <p:cNvSpPr>
            <a:spLocks noGrp="1"/>
          </p:cNvSpPr>
          <p:nvPr>
            <p:ph type="pic" idx="7"/>
          </p:nvPr>
        </p:nvSpPr>
        <p:spPr>
          <a:xfrm>
            <a:off x="2700338" y="879475"/>
            <a:ext cx="3758100" cy="3744900"/>
          </a:xfrm>
          <a:prstGeom prst="rect">
            <a:avLst/>
          </a:prstGeom>
          <a:noFill/>
          <a:ln>
            <a:noFill/>
          </a:ln>
        </p:spPr>
      </p:sp>
      <p:cxnSp>
        <p:nvCxnSpPr>
          <p:cNvPr id="433" name="Google Shape;433;p49"/>
          <p:cNvCxnSpPr/>
          <p:nvPr/>
        </p:nvCxnSpPr>
        <p:spPr>
          <a:xfrm>
            <a:off x="6443663" y="2119209"/>
            <a:ext cx="2700300" cy="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434" name="Google Shape;434;p49"/>
          <p:cNvCxnSpPr/>
          <p:nvPr/>
        </p:nvCxnSpPr>
        <p:spPr>
          <a:xfrm>
            <a:off x="6443663" y="3371937"/>
            <a:ext cx="2700300" cy="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435" name="Google Shape;435;p49"/>
          <p:cNvCxnSpPr/>
          <p:nvPr/>
        </p:nvCxnSpPr>
        <p:spPr>
          <a:xfrm>
            <a:off x="-2857" y="2119209"/>
            <a:ext cx="2700300" cy="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436" name="Google Shape;436;p49"/>
          <p:cNvCxnSpPr/>
          <p:nvPr/>
        </p:nvCxnSpPr>
        <p:spPr>
          <a:xfrm>
            <a:off x="-2857" y="3371937"/>
            <a:ext cx="2700300" cy="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437" name="Google Shape;437;p49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38" name="Google Shape;438;p49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9" name="Google Shape;439;p49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2">
  <p:cSld name="custom layout 12">
    <p:spTree>
      <p:nvGrpSpPr>
        <p:cNvPr id="1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p50"/>
          <p:cNvSpPr txBox="1">
            <a:spLocks noGrp="1"/>
          </p:cNvSpPr>
          <p:nvPr>
            <p:ph type="body" idx="1"/>
          </p:nvPr>
        </p:nvSpPr>
        <p:spPr>
          <a:xfrm>
            <a:off x="3047996" y="1347787"/>
            <a:ext cx="3048000" cy="819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42" name="Google Shape;442;p50"/>
          <p:cNvSpPr txBox="1">
            <a:spLocks noGrp="1"/>
          </p:cNvSpPr>
          <p:nvPr>
            <p:ph type="body" idx="2"/>
          </p:nvPr>
        </p:nvSpPr>
        <p:spPr>
          <a:xfrm>
            <a:off x="3047996" y="3805237"/>
            <a:ext cx="3048000" cy="819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43" name="Google Shape;443;p50"/>
          <p:cNvSpPr txBox="1">
            <a:spLocks noGrp="1"/>
          </p:cNvSpPr>
          <p:nvPr>
            <p:ph type="body" idx="3"/>
          </p:nvPr>
        </p:nvSpPr>
        <p:spPr>
          <a:xfrm>
            <a:off x="3047996" y="2986087"/>
            <a:ext cx="3048000" cy="819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44" name="Google Shape;444;p50"/>
          <p:cNvSpPr txBox="1">
            <a:spLocks noGrp="1"/>
          </p:cNvSpPr>
          <p:nvPr>
            <p:ph type="body" idx="4"/>
          </p:nvPr>
        </p:nvSpPr>
        <p:spPr>
          <a:xfrm>
            <a:off x="3047996" y="2166937"/>
            <a:ext cx="3048000" cy="819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45" name="Google Shape;445;p50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6" name="Google Shape;446;p50"/>
          <p:cNvSpPr txBox="1">
            <a:spLocks noGrp="1"/>
          </p:cNvSpPr>
          <p:nvPr>
            <p:ph type="body" idx="5"/>
          </p:nvPr>
        </p:nvSpPr>
        <p:spPr>
          <a:xfrm>
            <a:off x="-1" y="879475"/>
            <a:ext cx="9144000" cy="468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27000" tIns="0" rIns="54000" bIns="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Libre Franklin Thin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47" name="Google Shape;447;p50"/>
          <p:cNvSpPr>
            <a:spLocks noGrp="1"/>
          </p:cNvSpPr>
          <p:nvPr>
            <p:ph type="pic" idx="6"/>
          </p:nvPr>
        </p:nvSpPr>
        <p:spPr>
          <a:xfrm>
            <a:off x="-1" y="1347788"/>
            <a:ext cx="3048000" cy="3276600"/>
          </a:xfrm>
          <a:prstGeom prst="rect">
            <a:avLst/>
          </a:prstGeom>
          <a:noFill/>
          <a:ln>
            <a:noFill/>
          </a:ln>
        </p:spPr>
      </p:sp>
      <p:sp>
        <p:nvSpPr>
          <p:cNvPr id="448" name="Google Shape;448;p50"/>
          <p:cNvSpPr>
            <a:spLocks noGrp="1"/>
          </p:cNvSpPr>
          <p:nvPr>
            <p:ph type="pic" idx="7"/>
          </p:nvPr>
        </p:nvSpPr>
        <p:spPr>
          <a:xfrm>
            <a:off x="6096004" y="1347787"/>
            <a:ext cx="3048000" cy="3276600"/>
          </a:xfrm>
          <a:prstGeom prst="rect">
            <a:avLst/>
          </a:prstGeom>
          <a:noFill/>
          <a:ln>
            <a:noFill/>
          </a:ln>
        </p:spPr>
      </p:sp>
      <p:cxnSp>
        <p:nvCxnSpPr>
          <p:cNvPr id="449" name="Google Shape;449;p50"/>
          <p:cNvCxnSpPr/>
          <p:nvPr/>
        </p:nvCxnSpPr>
        <p:spPr>
          <a:xfrm>
            <a:off x="3047996" y="2137497"/>
            <a:ext cx="3048000" cy="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450" name="Google Shape;450;p50"/>
          <p:cNvCxnSpPr/>
          <p:nvPr/>
        </p:nvCxnSpPr>
        <p:spPr>
          <a:xfrm>
            <a:off x="3047996" y="2987889"/>
            <a:ext cx="3048000" cy="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451" name="Google Shape;451;p50"/>
          <p:cNvCxnSpPr/>
          <p:nvPr/>
        </p:nvCxnSpPr>
        <p:spPr>
          <a:xfrm>
            <a:off x="3047996" y="3810849"/>
            <a:ext cx="3048000" cy="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452" name="Google Shape;452;p50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53" name="Google Shape;453;p50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4" name="Google Shape;454;p50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3">
  <p:cSld name="custom layout 13"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51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7" name="Google Shape;457;p51"/>
          <p:cNvSpPr>
            <a:spLocks noGrp="1"/>
          </p:cNvSpPr>
          <p:nvPr>
            <p:ph type="pic" idx="2"/>
          </p:nvPr>
        </p:nvSpPr>
        <p:spPr>
          <a:xfrm>
            <a:off x="5039917" y="879475"/>
            <a:ext cx="4104000" cy="3744900"/>
          </a:xfrm>
          <a:prstGeom prst="rect">
            <a:avLst/>
          </a:prstGeom>
          <a:noFill/>
          <a:ln>
            <a:noFill/>
          </a:ln>
        </p:spPr>
      </p:sp>
      <p:sp>
        <p:nvSpPr>
          <p:cNvPr id="458" name="Google Shape;458;p51"/>
          <p:cNvSpPr txBox="1">
            <a:spLocks noGrp="1"/>
          </p:cNvSpPr>
          <p:nvPr>
            <p:ph type="body" idx="1"/>
          </p:nvPr>
        </p:nvSpPr>
        <p:spPr>
          <a:xfrm>
            <a:off x="1" y="879475"/>
            <a:ext cx="2700300" cy="1872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59" name="Google Shape;459;p51"/>
          <p:cNvSpPr txBox="1">
            <a:spLocks noGrp="1"/>
          </p:cNvSpPr>
          <p:nvPr>
            <p:ph type="body" idx="3"/>
          </p:nvPr>
        </p:nvSpPr>
        <p:spPr>
          <a:xfrm>
            <a:off x="0" y="2752344"/>
            <a:ext cx="2700300" cy="1872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60" name="Google Shape;460;p51"/>
          <p:cNvSpPr>
            <a:spLocks noGrp="1"/>
          </p:cNvSpPr>
          <p:nvPr>
            <p:ph type="pic" idx="4"/>
          </p:nvPr>
        </p:nvSpPr>
        <p:spPr>
          <a:xfrm>
            <a:off x="2700338" y="895692"/>
            <a:ext cx="2339700" cy="1855800"/>
          </a:xfrm>
          <a:prstGeom prst="rect">
            <a:avLst/>
          </a:prstGeom>
          <a:noFill/>
          <a:ln>
            <a:noFill/>
          </a:ln>
        </p:spPr>
      </p:sp>
      <p:sp>
        <p:nvSpPr>
          <p:cNvPr id="461" name="Google Shape;461;p51"/>
          <p:cNvSpPr>
            <a:spLocks noGrp="1"/>
          </p:cNvSpPr>
          <p:nvPr>
            <p:ph type="pic" idx="5"/>
          </p:nvPr>
        </p:nvSpPr>
        <p:spPr>
          <a:xfrm>
            <a:off x="2700338" y="2768544"/>
            <a:ext cx="2339700" cy="1855800"/>
          </a:xfrm>
          <a:prstGeom prst="rect">
            <a:avLst/>
          </a:prstGeom>
          <a:noFill/>
          <a:ln>
            <a:noFill/>
          </a:ln>
        </p:spPr>
      </p:sp>
      <p:sp>
        <p:nvSpPr>
          <p:cNvPr id="462" name="Google Shape;462;p51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63" name="Google Shape;463;p51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4" name="Google Shape;464;p51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5">
  <p:cSld name="custom layout 15">
    <p:spTree>
      <p:nvGrpSpPr>
        <p:cNvPr id="1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52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52"/>
          <p:cNvSpPr txBox="1">
            <a:spLocks noGrp="1"/>
          </p:cNvSpPr>
          <p:nvPr>
            <p:ph type="body" idx="1"/>
          </p:nvPr>
        </p:nvSpPr>
        <p:spPr>
          <a:xfrm>
            <a:off x="1350169" y="879480"/>
            <a:ext cx="1350300" cy="1248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68" name="Google Shape;468;p52"/>
          <p:cNvSpPr>
            <a:spLocks noGrp="1"/>
          </p:cNvSpPr>
          <p:nvPr>
            <p:ph type="pic" idx="2"/>
          </p:nvPr>
        </p:nvSpPr>
        <p:spPr>
          <a:xfrm>
            <a:off x="2700337" y="895696"/>
            <a:ext cx="3743400" cy="3728700"/>
          </a:xfrm>
          <a:prstGeom prst="rect">
            <a:avLst/>
          </a:prstGeom>
          <a:noFill/>
          <a:ln>
            <a:noFill/>
          </a:ln>
        </p:spPr>
      </p:sp>
      <p:sp>
        <p:nvSpPr>
          <p:cNvPr id="469" name="Google Shape;469;p52"/>
          <p:cNvSpPr txBox="1">
            <a:spLocks noGrp="1"/>
          </p:cNvSpPr>
          <p:nvPr>
            <p:ph type="body" idx="3"/>
          </p:nvPr>
        </p:nvSpPr>
        <p:spPr>
          <a:xfrm>
            <a:off x="1" y="879480"/>
            <a:ext cx="1350300" cy="1248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8575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Font typeface="Libre Franklin"/>
              <a:buChar char="•"/>
              <a:defRPr sz="12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70" name="Google Shape;470;p52"/>
          <p:cNvSpPr txBox="1">
            <a:spLocks noGrp="1"/>
          </p:cNvSpPr>
          <p:nvPr>
            <p:ph type="body" idx="4"/>
          </p:nvPr>
        </p:nvSpPr>
        <p:spPr>
          <a:xfrm>
            <a:off x="1350169" y="2127784"/>
            <a:ext cx="1350300" cy="12483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71" name="Google Shape;471;p52"/>
          <p:cNvSpPr txBox="1">
            <a:spLocks noGrp="1"/>
          </p:cNvSpPr>
          <p:nvPr>
            <p:ph type="body" idx="5"/>
          </p:nvPr>
        </p:nvSpPr>
        <p:spPr>
          <a:xfrm>
            <a:off x="1" y="2127785"/>
            <a:ext cx="1350300" cy="12483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8575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Font typeface="Libre Franklin"/>
              <a:buChar char="•"/>
              <a:defRPr sz="12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72" name="Google Shape;472;p52"/>
          <p:cNvSpPr txBox="1">
            <a:spLocks noGrp="1"/>
          </p:cNvSpPr>
          <p:nvPr>
            <p:ph type="body" idx="6"/>
          </p:nvPr>
        </p:nvSpPr>
        <p:spPr>
          <a:xfrm>
            <a:off x="1350169" y="3376088"/>
            <a:ext cx="1350300" cy="1248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73" name="Google Shape;473;p52"/>
          <p:cNvSpPr txBox="1">
            <a:spLocks noGrp="1"/>
          </p:cNvSpPr>
          <p:nvPr>
            <p:ph type="body" idx="7"/>
          </p:nvPr>
        </p:nvSpPr>
        <p:spPr>
          <a:xfrm>
            <a:off x="1" y="3376089"/>
            <a:ext cx="1350300" cy="1248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8575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Font typeface="Libre Franklin"/>
              <a:buChar char="•"/>
              <a:defRPr sz="12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74" name="Google Shape;474;p52"/>
          <p:cNvSpPr txBox="1">
            <a:spLocks noGrp="1"/>
          </p:cNvSpPr>
          <p:nvPr>
            <p:ph type="body" idx="8"/>
          </p:nvPr>
        </p:nvSpPr>
        <p:spPr>
          <a:xfrm>
            <a:off x="7793832" y="879476"/>
            <a:ext cx="1350300" cy="187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8575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529A43"/>
              </a:buClr>
              <a:buSzPts val="900"/>
              <a:buFont typeface="Libre Franklin"/>
              <a:buChar char="•"/>
              <a:defRPr sz="1200">
                <a:solidFill>
                  <a:schemeClr val="lt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529A43"/>
              </a:buClr>
              <a:buSzPts val="1200"/>
              <a:buChar char="•"/>
              <a:defRPr sz="1200">
                <a:solidFill>
                  <a:srgbClr val="000000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529A43"/>
              </a:buClr>
              <a:buSzPts val="2000"/>
              <a:buNone/>
              <a:defRPr sz="2000">
                <a:solidFill>
                  <a:srgbClr val="000000"/>
                </a:solidFill>
              </a:defRPr>
            </a:lvl3pPr>
            <a:lvl4pPr marL="1828800" lvl="3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529A43"/>
              </a:buClr>
              <a:buSzPts val="1800"/>
              <a:buChar char="•"/>
              <a:defRPr sz="1800">
                <a:solidFill>
                  <a:srgbClr val="000000"/>
                </a:solidFill>
              </a:defRPr>
            </a:lvl4pPr>
            <a:lvl5pPr marL="2286000" lvl="4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529A43"/>
              </a:buClr>
              <a:buSzPts val="1800"/>
              <a:buChar char="•"/>
              <a:defRPr sz="1800">
                <a:solidFill>
                  <a:srgbClr val="000000"/>
                </a:solidFill>
              </a:defRPr>
            </a:lvl5pPr>
            <a:lvl6pPr marL="2743200" lvl="5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475" name="Google Shape;475;p52"/>
          <p:cNvSpPr txBox="1">
            <a:spLocks noGrp="1"/>
          </p:cNvSpPr>
          <p:nvPr>
            <p:ph type="body" idx="9"/>
          </p:nvPr>
        </p:nvSpPr>
        <p:spPr>
          <a:xfrm>
            <a:off x="7793832" y="2763758"/>
            <a:ext cx="1350300" cy="1860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8575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Font typeface="Libre Franklin"/>
              <a:buChar char="•"/>
              <a:defRPr sz="12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76" name="Google Shape;476;p52"/>
          <p:cNvSpPr txBox="1">
            <a:spLocks noGrp="1"/>
          </p:cNvSpPr>
          <p:nvPr>
            <p:ph type="body" idx="13"/>
          </p:nvPr>
        </p:nvSpPr>
        <p:spPr>
          <a:xfrm>
            <a:off x="6443662" y="879476"/>
            <a:ext cx="1350300" cy="187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77" name="Google Shape;477;p52"/>
          <p:cNvSpPr txBox="1">
            <a:spLocks noGrp="1"/>
          </p:cNvSpPr>
          <p:nvPr>
            <p:ph type="body" idx="14"/>
          </p:nvPr>
        </p:nvSpPr>
        <p:spPr>
          <a:xfrm>
            <a:off x="6443662" y="2763758"/>
            <a:ext cx="1350300" cy="1860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78" name="Google Shape;478;p52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79" name="Google Shape;479;p52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0" name="Google Shape;480;p52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6">
  <p:cSld name="custom layout 16">
    <p:spTree>
      <p:nvGrpSpPr>
        <p:cNvPr id="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53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3" name="Google Shape;483;p53"/>
          <p:cNvSpPr>
            <a:spLocks noGrp="1"/>
          </p:cNvSpPr>
          <p:nvPr>
            <p:ph type="pic" idx="2"/>
          </p:nvPr>
        </p:nvSpPr>
        <p:spPr>
          <a:xfrm>
            <a:off x="5962650" y="898538"/>
            <a:ext cx="3181500" cy="3744900"/>
          </a:xfrm>
          <a:prstGeom prst="rect">
            <a:avLst/>
          </a:prstGeom>
          <a:noFill/>
          <a:ln>
            <a:noFill/>
          </a:ln>
        </p:spPr>
      </p:sp>
      <p:sp>
        <p:nvSpPr>
          <p:cNvPr id="484" name="Google Shape;484;p53"/>
          <p:cNvSpPr txBox="1">
            <a:spLocks noGrp="1"/>
          </p:cNvSpPr>
          <p:nvPr>
            <p:ph type="body" idx="1"/>
          </p:nvPr>
        </p:nvSpPr>
        <p:spPr>
          <a:xfrm>
            <a:off x="0" y="898538"/>
            <a:ext cx="4085100" cy="468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27000" tIns="0" rIns="5400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Libre Franklin Medium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85" name="Google Shape;485;p53"/>
          <p:cNvSpPr txBox="1">
            <a:spLocks noGrp="1"/>
          </p:cNvSpPr>
          <p:nvPr>
            <p:ph type="body" idx="3"/>
          </p:nvPr>
        </p:nvSpPr>
        <p:spPr>
          <a:xfrm>
            <a:off x="0" y="1364457"/>
            <a:ext cx="4081800" cy="3279000"/>
          </a:xfrm>
          <a:prstGeom prst="rect">
            <a:avLst/>
          </a:prstGeom>
          <a:solidFill>
            <a:srgbClr val="E1E3E1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/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86" name="Google Shape;486;p53"/>
          <p:cNvSpPr txBox="1">
            <a:spLocks noGrp="1"/>
          </p:cNvSpPr>
          <p:nvPr>
            <p:ph type="body" idx="4"/>
          </p:nvPr>
        </p:nvSpPr>
        <p:spPr>
          <a:xfrm>
            <a:off x="4104252" y="898538"/>
            <a:ext cx="1856100" cy="1867500"/>
          </a:xfrm>
          <a:prstGeom prst="rect">
            <a:avLst/>
          </a:prstGeom>
          <a:solidFill>
            <a:srgbClr val="E1E3E1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000"/>
              <a:buNone/>
              <a:defRPr sz="1000"/>
            </a:lvl1pPr>
            <a:lvl2pPr marL="914400" lvl="1" indent="-2921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00"/>
              <a:buChar char="•"/>
              <a:defRPr sz="1000"/>
            </a:lvl2pPr>
            <a:lvl3pPr marL="1371600" lvl="2" indent="-2921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00"/>
              <a:buChar char="•"/>
              <a:defRPr sz="1000"/>
            </a:lvl3pPr>
            <a:lvl4pPr marL="1828800" lvl="3" indent="-2921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00"/>
              <a:buChar char="•"/>
              <a:defRPr sz="1000"/>
            </a:lvl4pPr>
            <a:lvl5pPr marL="2286000" lvl="4" indent="-2921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00"/>
              <a:buChar char="•"/>
              <a:defRPr sz="10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87" name="Google Shape;487;p53"/>
          <p:cNvSpPr txBox="1">
            <a:spLocks noGrp="1"/>
          </p:cNvSpPr>
          <p:nvPr>
            <p:ph type="body" idx="5"/>
          </p:nvPr>
        </p:nvSpPr>
        <p:spPr>
          <a:xfrm>
            <a:off x="4104252" y="2788920"/>
            <a:ext cx="1856100" cy="1854600"/>
          </a:xfrm>
          <a:prstGeom prst="rect">
            <a:avLst/>
          </a:prstGeom>
          <a:solidFill>
            <a:srgbClr val="E1E3E1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000"/>
              <a:buNone/>
              <a:defRPr sz="1000"/>
            </a:lvl1pPr>
            <a:lvl2pPr marL="914400" lvl="1" indent="-2921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00"/>
              <a:buChar char="•"/>
              <a:defRPr sz="1000"/>
            </a:lvl2pPr>
            <a:lvl3pPr marL="1371600" lvl="2" indent="-2921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00"/>
              <a:buChar char="•"/>
              <a:defRPr sz="1000"/>
            </a:lvl3pPr>
            <a:lvl4pPr marL="1828800" lvl="3" indent="-2921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00"/>
              <a:buChar char="•"/>
              <a:defRPr sz="1000"/>
            </a:lvl4pPr>
            <a:lvl5pPr marL="2286000" lvl="4" indent="-2921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00"/>
              <a:buChar char="•"/>
              <a:defRPr sz="10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88" name="Google Shape;488;p53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89" name="Google Shape;489;p53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0" name="Google Shape;490;p53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54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493" name="Google Shape;493;p54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0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94" name="Google Shape;494;p5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 - white 1">
  <p:cSld name="Default - white">
    <p:spTree>
      <p:nvGrpSpPr>
        <p:cNvPr id="1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p55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7" name="Google Shape;497;p55"/>
          <p:cNvSpPr txBox="1">
            <a:spLocks noGrp="1"/>
          </p:cNvSpPr>
          <p:nvPr>
            <p:ph type="body" idx="1"/>
          </p:nvPr>
        </p:nvSpPr>
        <p:spPr>
          <a:xfrm>
            <a:off x="338138" y="889824"/>
            <a:ext cx="8452200" cy="3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750"/>
              </a:spcBef>
              <a:spcAft>
                <a:spcPts val="0"/>
              </a:spcAft>
              <a:buClr>
                <a:srgbClr val="0099FF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5000"/>
              </a:lnSpc>
              <a:spcBef>
                <a:spcPts val="375"/>
              </a:spcBef>
              <a:spcAft>
                <a:spcPts val="0"/>
              </a:spcAft>
              <a:buClr>
                <a:srgbClr val="0099FF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5000"/>
              </a:lnSpc>
              <a:spcBef>
                <a:spcPts val="375"/>
              </a:spcBef>
              <a:spcAft>
                <a:spcPts val="0"/>
              </a:spcAft>
              <a:buClr>
                <a:srgbClr val="0099FF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5000"/>
              </a:lnSpc>
              <a:spcBef>
                <a:spcPts val="375"/>
              </a:spcBef>
              <a:spcAft>
                <a:spcPts val="0"/>
              </a:spcAft>
              <a:buClr>
                <a:srgbClr val="0099FF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5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 sz="1800"/>
            </a:lvl5pPr>
            <a:lvl6pPr marL="2743200" lvl="5" indent="-342900" algn="l">
              <a:lnSpc>
                <a:spcPct val="115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 sz="1800"/>
            </a:lvl6pPr>
            <a:lvl7pPr marL="3200400" lvl="6" indent="-342900" algn="l">
              <a:lnSpc>
                <a:spcPct val="115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 sz="1800"/>
            </a:lvl7pPr>
            <a:lvl8pPr marL="3657600" lvl="7" indent="-342900" algn="l">
              <a:lnSpc>
                <a:spcPct val="115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 sz="1800"/>
            </a:lvl8pPr>
            <a:lvl9pPr marL="4114800" lvl="8" indent="-342900" algn="l">
              <a:lnSpc>
                <a:spcPct val="115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498" name="Google Shape;498;p55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  <a:defRPr sz="27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38138" y="889824"/>
            <a:ext cx="8452200" cy="375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09563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275"/>
              <a:buFont typeface="Arial"/>
              <a:buChar char="•"/>
              <a:defRPr sz="127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09563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275"/>
              <a:buFont typeface="Arial"/>
              <a:buChar char="•"/>
              <a:defRPr sz="127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09563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275"/>
              <a:buFont typeface="Arial"/>
              <a:buChar char="•"/>
              <a:defRPr sz="127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09563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275"/>
              <a:buFont typeface="Arial"/>
              <a:buChar char="•"/>
              <a:defRPr sz="127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57">
            <a:alphaModFix/>
          </a:blip>
          <a:srcRect/>
          <a:stretch/>
        </p:blipFill>
        <p:spPr>
          <a:xfrm>
            <a:off x="7883544" y="4733778"/>
            <a:ext cx="928177" cy="285878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  <p:sldLayoutId id="2147483682" r:id="rId35"/>
    <p:sldLayoutId id="2147483683" r:id="rId36"/>
    <p:sldLayoutId id="2147483684" r:id="rId37"/>
    <p:sldLayoutId id="2147483685" r:id="rId38"/>
    <p:sldLayoutId id="2147483686" r:id="rId39"/>
    <p:sldLayoutId id="2147483687" r:id="rId40"/>
    <p:sldLayoutId id="2147483688" r:id="rId41"/>
    <p:sldLayoutId id="2147483689" r:id="rId42"/>
    <p:sldLayoutId id="2147483690" r:id="rId43"/>
    <p:sldLayoutId id="2147483691" r:id="rId44"/>
    <p:sldLayoutId id="2147483692" r:id="rId45"/>
    <p:sldLayoutId id="2147483693" r:id="rId46"/>
    <p:sldLayoutId id="2147483694" r:id="rId47"/>
    <p:sldLayoutId id="2147483695" r:id="rId48"/>
    <p:sldLayoutId id="2147483696" r:id="rId49"/>
    <p:sldLayoutId id="2147483697" r:id="rId50"/>
    <p:sldLayoutId id="2147483698" r:id="rId51"/>
    <p:sldLayoutId id="2147483699" r:id="rId52"/>
    <p:sldLayoutId id="2147483700" r:id="rId53"/>
    <p:sldLayoutId id="2147483701" r:id="rId54"/>
    <p:sldLayoutId id="2147483702" r:id="rId5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  <p15:guide id="3" pos="213">
          <p15:clr>
            <a:srgbClr val="F26B43"/>
          </p15:clr>
        </p15:guide>
        <p15:guide id="4" pos="5537">
          <p15:clr>
            <a:srgbClr val="F26B43"/>
          </p15:clr>
        </p15:guide>
        <p15:guide id="5" orient="horz" pos="170">
          <p15:clr>
            <a:srgbClr val="F26B43"/>
          </p15:clr>
        </p15:guide>
        <p15:guide id="6" orient="horz" pos="2925">
          <p15:clr>
            <a:srgbClr val="F26B43"/>
          </p15:clr>
        </p15:guide>
        <p15:guide id="7" pos="1988">
          <p15:clr>
            <a:srgbClr val="F26B43"/>
          </p15:clr>
        </p15:guide>
        <p15:guide id="8" pos="375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4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sli.do/features-google-slides?payload=eyJwb2xsVXVpZCI6IjYyM2VkNDU5LWU5NDgtNGViYy1iMjMwLWFiOWQ1MDM4M2QyMyIsInByZXNlbnRhdGlvbklkIjoiMWVXUjBiTE90XzJfLVl6d2J3MWV0VVRJeEdQWmdEdzRPZzVDeTRwclBCajgiLCJzbGlkZUlkIjoiU0xJREVTX0FQSTE3OTQzMjkzMjZfMCIsInRpbWVsaW5lIjpbeyJwb2xsUXVlc3Rpb25VdWlkIjoiNTg4NmQxNDUtMzU1Ny00Yzk2LWJlZWUtODA2NDEwNzNhNmE0Iiwic2hvd1Jlc3VsdHMiOnRydWV9XSwidHlwZSI6IlNsaWRvUG9sbCJ9" TargetMode="External"/><Relationship Id="rId3" Type="http://schemas.openxmlformats.org/officeDocument/2006/relationships/hyperlink" Target="https://www.slido.com/support/gsi/how-to-change-the-design" TargetMode="External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5.xml"/><Relationship Id="rId6" Type="http://schemas.openxmlformats.org/officeDocument/2006/relationships/hyperlink" Target="https://chrome.google.com/webstore/detail/slido/dhhclfjehmpacimcdknijodpjpmppkii" TargetMode="External"/><Relationship Id="rId5" Type="http://schemas.openxmlformats.org/officeDocument/2006/relationships/image" Target="../media/image24.png"/><Relationship Id="rId4" Type="http://schemas.openxmlformats.org/officeDocument/2006/relationships/hyperlink" Target="https://www.sli.do/features-google-slides?interaction-type=TXVsdGlwbGVDaG9pY2U%3D" TargetMode="External"/><Relationship Id="rId9" Type="http://schemas.openxmlformats.org/officeDocument/2006/relationships/image" Target="../media/image2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8.png"/><Relationship Id="rId4" Type="http://schemas.openxmlformats.org/officeDocument/2006/relationships/hyperlink" Target="https://regulation.ensembl.org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regulation.ensembl.org/help/primary_processing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regulation.ensembl.org/help/regulatory_build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hyperlink" Target="https://regulation.ensembl.org/epigenomes/homo_sapiens/pFOsBSZHQYKdKBpIMxzRxQ" TargetMode="External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regulation.ensembl.org/epigenomes/homo_sapiens" TargetMode="Externa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2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57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Multi-species Catalogues of Regulatory Elements: Ensembl</a:t>
            </a:r>
            <a:endParaRPr/>
          </a:p>
        </p:txBody>
      </p:sp>
      <p:sp>
        <p:nvSpPr>
          <p:cNvPr id="505" name="Google Shape;505;p57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</p:spPr>
        <p:txBody>
          <a:bodyPr spcFirstLastPara="1" wrap="square" lIns="0" tIns="45700" rIns="91425" bIns="45700" anchor="t" anchorCtr="0">
            <a:noAutofit/>
          </a:bodyPr>
          <a:lstStyle/>
          <a:p>
            <a:pPr marL="0" lvl="0" indent="0" algn="l" rtl="0">
              <a:spcBef>
                <a:spcPts val="750"/>
              </a:spcBef>
              <a:spcAft>
                <a:spcPts val="0"/>
              </a:spcAft>
              <a:buNone/>
            </a:pPr>
            <a:r>
              <a:rPr lang="en-GB"/>
              <a:t>Session 3</a:t>
            </a:r>
            <a:endParaRPr/>
          </a:p>
        </p:txBody>
      </p:sp>
      <p:sp>
        <p:nvSpPr>
          <p:cNvPr id="506" name="Google Shape;506;p57"/>
          <p:cNvSpPr txBox="1"/>
          <p:nvPr/>
        </p:nvSpPr>
        <p:spPr>
          <a:xfrm>
            <a:off x="640550" y="3581000"/>
            <a:ext cx="53859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8974C"/>
              </a:buClr>
              <a:buSzPts val="1800"/>
              <a:buFont typeface="Arial"/>
              <a:buNone/>
            </a:pPr>
            <a:r>
              <a:rPr lang="en-GB" sz="1800" b="1">
                <a:solidFill>
                  <a:srgbClr val="007B53"/>
                </a:solidFill>
              </a:rPr>
              <a:t>Louisse Paola Mirabueno - Garth Ilsley</a:t>
            </a:r>
            <a:endParaRPr sz="1800" b="1" i="0" u="none" strike="noStrike" cap="none">
              <a:solidFill>
                <a:srgbClr val="007B5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7" name="Google Shape;507;p57"/>
          <p:cNvSpPr txBox="1"/>
          <p:nvPr/>
        </p:nvSpPr>
        <p:spPr>
          <a:xfrm>
            <a:off x="640557" y="45496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8974C"/>
              </a:buClr>
              <a:buSzPts val="1200"/>
              <a:buFont typeface="Arial"/>
              <a:buNone/>
            </a:pPr>
            <a:r>
              <a:rPr lang="en-GB" sz="1200">
                <a:solidFill>
                  <a:srgbClr val="000000"/>
                </a:solidFill>
              </a:rPr>
              <a:t>03/09/2026</a:t>
            </a:r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8" name="Google Shape;508;p57"/>
          <p:cNvSpPr txBox="1"/>
          <p:nvPr/>
        </p:nvSpPr>
        <p:spPr>
          <a:xfrm>
            <a:off x="3677748" y="3896000"/>
            <a:ext cx="2259600" cy="56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</a:pPr>
            <a:r>
              <a:rPr lang="en-GB" sz="1200" b="1">
                <a:solidFill>
                  <a:schemeClr val="dk1"/>
                </a:solidFill>
              </a:rPr>
              <a:t>Project Lead</a:t>
            </a:r>
            <a:endParaRPr sz="1200" b="1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</a:pPr>
            <a:r>
              <a:rPr lang="en-GB" sz="1200" b="1">
                <a:solidFill>
                  <a:schemeClr val="dk1"/>
                </a:solidFill>
              </a:rPr>
              <a:t>Ensembl Regulation,</a:t>
            </a:r>
            <a:endParaRPr sz="1200" b="1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</a:pPr>
            <a:r>
              <a:rPr lang="en-GB" sz="1200" b="1">
                <a:solidFill>
                  <a:schemeClr val="dk1"/>
                </a:solidFill>
              </a:rPr>
              <a:t>EMBL-EBI</a:t>
            </a:r>
            <a:endParaRPr sz="1200" b="1"/>
          </a:p>
        </p:txBody>
      </p:sp>
      <p:sp>
        <p:nvSpPr>
          <p:cNvPr id="509" name="Google Shape;509;p57"/>
          <p:cNvSpPr txBox="1"/>
          <p:nvPr/>
        </p:nvSpPr>
        <p:spPr>
          <a:xfrm>
            <a:off x="640548" y="3896000"/>
            <a:ext cx="2259600" cy="56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</a:pPr>
            <a:r>
              <a:rPr lang="en-GB" sz="1200" b="1">
                <a:solidFill>
                  <a:schemeClr val="dk1"/>
                </a:solidFill>
              </a:rPr>
              <a:t>Ensembl Outreach Officer, </a:t>
            </a:r>
            <a:endParaRPr sz="1200" b="1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</a:pPr>
            <a:r>
              <a:rPr lang="en-GB" sz="1200" b="1">
                <a:solidFill>
                  <a:schemeClr val="dk1"/>
                </a:solidFill>
              </a:rPr>
              <a:t>Ensembl Outreach,</a:t>
            </a:r>
            <a:endParaRPr sz="1200" b="1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</a:pPr>
            <a:r>
              <a:rPr lang="en-GB" sz="1200" b="1">
                <a:solidFill>
                  <a:schemeClr val="dk1"/>
                </a:solidFill>
              </a:rPr>
              <a:t>EMBL-EBI</a:t>
            </a:r>
            <a:endParaRPr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8974C"/>
              </a:buClr>
              <a:buSzPts val="1200"/>
              <a:buFont typeface="Arial"/>
              <a:buNone/>
            </a:pPr>
            <a:endParaRPr sz="1200" b="1"/>
          </a:p>
        </p:txBody>
      </p:sp>
      <p:sp>
        <p:nvSpPr>
          <p:cNvPr id="510" name="Google Shape;510;p57"/>
          <p:cNvSpPr txBox="1"/>
          <p:nvPr/>
        </p:nvSpPr>
        <p:spPr>
          <a:xfrm>
            <a:off x="640550" y="2755532"/>
            <a:ext cx="53220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1">
                <a:solidFill>
                  <a:srgbClr val="FFFFFF"/>
                </a:solidFill>
              </a:rPr>
              <a:t>T6: Making the most of cis-regulatory annotations for genome-scale analysis</a:t>
            </a:r>
            <a:endParaRPr sz="1000" b="1">
              <a:solidFill>
                <a:srgbClr val="FFFFFF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58"/>
          <p:cNvSpPr/>
          <p:nvPr/>
        </p:nvSpPr>
        <p:spPr>
          <a:xfrm>
            <a:off x="3728375" y="3807868"/>
            <a:ext cx="3822600" cy="6435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6" name="Google Shape;516;p58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lang="en-GB"/>
              <a:t>Session map</a:t>
            </a:r>
            <a:endParaRPr/>
          </a:p>
        </p:txBody>
      </p:sp>
      <p:grpSp>
        <p:nvGrpSpPr>
          <p:cNvPr id="517" name="Google Shape;517;p58"/>
          <p:cNvGrpSpPr/>
          <p:nvPr/>
        </p:nvGrpSpPr>
        <p:grpSpPr>
          <a:xfrm>
            <a:off x="1593000" y="2489459"/>
            <a:ext cx="5957975" cy="643500"/>
            <a:chOff x="1593000" y="2322568"/>
            <a:chExt cx="5957975" cy="643500"/>
          </a:xfrm>
        </p:grpSpPr>
        <p:sp>
          <p:nvSpPr>
            <p:cNvPr id="518" name="Google Shape;518;p58"/>
            <p:cNvSpPr/>
            <p:nvPr/>
          </p:nvSpPr>
          <p:spPr>
            <a:xfrm>
              <a:off x="3728375" y="2322568"/>
              <a:ext cx="3822600" cy="643500"/>
            </a:xfrm>
            <a:prstGeom prst="rect">
              <a:avLst/>
            </a:prstGeom>
            <a:solidFill>
              <a:srgbClr val="EEEEE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Google Shape;519;p58"/>
            <p:cNvSpPr/>
            <p:nvPr/>
          </p:nvSpPr>
          <p:spPr>
            <a:xfrm flipH="1">
              <a:off x="2283025" y="2322575"/>
              <a:ext cx="1844400" cy="642600"/>
            </a:xfrm>
            <a:prstGeom prst="rect">
              <a:avLst/>
            </a:prstGeom>
            <a:solidFill>
              <a:srgbClr val="0B71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Google Shape;520;p58"/>
            <p:cNvSpPr/>
            <p:nvPr/>
          </p:nvSpPr>
          <p:spPr>
            <a:xfrm rot="-5400000">
              <a:off x="3501574" y="1934671"/>
              <a:ext cx="643356" cy="1419149"/>
            </a:xfrm>
            <a:prstGeom prst="flowChartOffpageConnector">
              <a:avLst/>
            </a:prstGeom>
            <a:solidFill>
              <a:srgbClr val="0B71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Google Shape;521;p58"/>
            <p:cNvSpPr/>
            <p:nvPr/>
          </p:nvSpPr>
          <p:spPr>
            <a:xfrm>
              <a:off x="2342625" y="2399951"/>
              <a:ext cx="1940700" cy="49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00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The Ensembl Regulation subsite</a:t>
              </a:r>
              <a:endParaRPr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22" name="Google Shape;522;p58"/>
            <p:cNvSpPr/>
            <p:nvPr/>
          </p:nvSpPr>
          <p:spPr>
            <a:xfrm>
              <a:off x="1593000" y="2322568"/>
              <a:ext cx="690000" cy="642300"/>
            </a:xfrm>
            <a:prstGeom prst="rect">
              <a:avLst/>
            </a:prstGeom>
            <a:solidFill>
              <a:srgbClr val="0B7743"/>
            </a:solidFill>
            <a:ln>
              <a:noFill/>
            </a:ln>
            <a:effectLst>
              <a:outerShdw blurRad="71438" dist="28575" dir="2700000" algn="bl" rotWithShape="0">
                <a:srgbClr val="000000">
                  <a:alpha val="17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58"/>
            <p:cNvSpPr/>
            <p:nvPr/>
          </p:nvSpPr>
          <p:spPr>
            <a:xfrm>
              <a:off x="4387850" y="2323750"/>
              <a:ext cx="2971200" cy="64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457200" lvl="0" indent="-2794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B713F"/>
                </a:buClr>
                <a:buSzPts val="800"/>
                <a:buFont typeface="Roboto"/>
                <a:buChar char="●"/>
              </a:pPr>
              <a:r>
                <a:rPr lang="en-GB" sz="800">
                  <a:solidFill>
                    <a:srgbClr val="0B713F"/>
                  </a:solidFill>
                  <a:latin typeface="Roboto"/>
                  <a:ea typeface="Roboto"/>
                  <a:cs typeface="Roboto"/>
                  <a:sym typeface="Roboto"/>
                </a:rPr>
                <a:t>Epigenomes data and metadata</a:t>
              </a:r>
              <a:endParaRPr sz="800">
                <a:solidFill>
                  <a:srgbClr val="0B713F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marL="457200" lvl="0" indent="-2794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B713F"/>
                </a:buClr>
                <a:buSzPts val="800"/>
                <a:buFont typeface="Roboto"/>
                <a:buChar char="●"/>
              </a:pPr>
              <a:r>
                <a:rPr lang="en-GB" sz="800">
                  <a:solidFill>
                    <a:srgbClr val="0B713F"/>
                  </a:solidFill>
                  <a:latin typeface="Roboto"/>
                  <a:ea typeface="Roboto"/>
                  <a:cs typeface="Roboto"/>
                  <a:sym typeface="Roboto"/>
                </a:rPr>
                <a:t>The regulatory features tab</a:t>
              </a:r>
              <a:endParaRPr sz="800">
                <a:solidFill>
                  <a:srgbClr val="0B713F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marL="457200" lvl="0" indent="-2794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B713F"/>
                </a:buClr>
                <a:buSzPts val="800"/>
                <a:buFont typeface="Roboto"/>
                <a:buChar char="●"/>
              </a:pPr>
              <a:r>
                <a:rPr lang="en-GB" sz="800">
                  <a:solidFill>
                    <a:srgbClr val="0B713F"/>
                  </a:solidFill>
                  <a:latin typeface="Roboto"/>
                  <a:ea typeface="Roboto"/>
                  <a:cs typeface="Roboto"/>
                  <a:sym typeface="Roboto"/>
                </a:rPr>
                <a:t>Exploring genome annotation and regulatory activity</a:t>
              </a:r>
              <a:endParaRPr sz="800">
                <a:solidFill>
                  <a:srgbClr val="0B71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24" name="Google Shape;524;p58"/>
          <p:cNvGrpSpPr/>
          <p:nvPr/>
        </p:nvGrpSpPr>
        <p:grpSpPr>
          <a:xfrm>
            <a:off x="1593000" y="1834600"/>
            <a:ext cx="5957975" cy="643500"/>
            <a:chOff x="1593000" y="2322568"/>
            <a:chExt cx="5957975" cy="643500"/>
          </a:xfrm>
        </p:grpSpPr>
        <p:sp>
          <p:nvSpPr>
            <p:cNvPr id="525" name="Google Shape;525;p58"/>
            <p:cNvSpPr/>
            <p:nvPr/>
          </p:nvSpPr>
          <p:spPr>
            <a:xfrm>
              <a:off x="3728375" y="2322568"/>
              <a:ext cx="3822600" cy="643500"/>
            </a:xfrm>
            <a:prstGeom prst="rect">
              <a:avLst/>
            </a:prstGeom>
            <a:solidFill>
              <a:srgbClr val="EEEEE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Google Shape;526;p58"/>
            <p:cNvSpPr/>
            <p:nvPr/>
          </p:nvSpPr>
          <p:spPr>
            <a:xfrm flipH="1">
              <a:off x="2283025" y="2322575"/>
              <a:ext cx="1844400" cy="642600"/>
            </a:xfrm>
            <a:prstGeom prst="rect">
              <a:avLst/>
            </a:prstGeom>
            <a:solidFill>
              <a:srgbClr val="0B71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Google Shape;527;p58"/>
            <p:cNvSpPr/>
            <p:nvPr/>
          </p:nvSpPr>
          <p:spPr>
            <a:xfrm rot="-5400000">
              <a:off x="3501574" y="1934671"/>
              <a:ext cx="643356" cy="1419149"/>
            </a:xfrm>
            <a:prstGeom prst="flowChartOffpageConnector">
              <a:avLst/>
            </a:prstGeom>
            <a:solidFill>
              <a:srgbClr val="0B71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Google Shape;528;p58"/>
            <p:cNvSpPr/>
            <p:nvPr/>
          </p:nvSpPr>
          <p:spPr>
            <a:xfrm>
              <a:off x="2342625" y="2399951"/>
              <a:ext cx="1940700" cy="49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00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Ensembl Regulation</a:t>
              </a:r>
              <a:endParaRPr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29" name="Google Shape;529;p58"/>
            <p:cNvSpPr/>
            <p:nvPr/>
          </p:nvSpPr>
          <p:spPr>
            <a:xfrm>
              <a:off x="1593000" y="2322568"/>
              <a:ext cx="690000" cy="642300"/>
            </a:xfrm>
            <a:prstGeom prst="rect">
              <a:avLst/>
            </a:prstGeom>
            <a:solidFill>
              <a:srgbClr val="0B7743"/>
            </a:solidFill>
            <a:ln>
              <a:noFill/>
            </a:ln>
            <a:effectLst>
              <a:outerShdw blurRad="71438" dist="28575" dir="2700000" algn="bl" rotWithShape="0">
                <a:srgbClr val="000000">
                  <a:alpha val="17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58"/>
            <p:cNvSpPr/>
            <p:nvPr/>
          </p:nvSpPr>
          <p:spPr>
            <a:xfrm>
              <a:off x="1593000" y="2322575"/>
              <a:ext cx="690000" cy="642600"/>
            </a:xfrm>
            <a:prstGeom prst="rect">
              <a:avLst/>
            </a:prstGeom>
            <a:solidFill>
              <a:srgbClr val="0C814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600">
                <a:solidFill>
                  <a:srgbClr val="FFFFFF"/>
                </a:solidFill>
                <a:latin typeface="Roboto Thin"/>
                <a:ea typeface="Roboto Thin"/>
                <a:cs typeface="Roboto Thin"/>
                <a:sym typeface="Roboto Thin"/>
              </a:endParaRPr>
            </a:p>
          </p:txBody>
        </p:sp>
        <p:sp>
          <p:nvSpPr>
            <p:cNvPr id="531" name="Google Shape;531;p58"/>
            <p:cNvSpPr/>
            <p:nvPr/>
          </p:nvSpPr>
          <p:spPr>
            <a:xfrm>
              <a:off x="4387850" y="2323750"/>
              <a:ext cx="2971200" cy="64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457200" lvl="0" indent="-2794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B713F"/>
                </a:buClr>
                <a:buSzPts val="800"/>
                <a:buFont typeface="Roboto"/>
                <a:buChar char="●"/>
              </a:pPr>
              <a:r>
                <a:rPr lang="en-GB" sz="800">
                  <a:solidFill>
                    <a:srgbClr val="0B713F"/>
                  </a:solidFill>
                  <a:latin typeface="Roboto"/>
                  <a:ea typeface="Roboto"/>
                  <a:cs typeface="Roboto"/>
                  <a:sym typeface="Roboto"/>
                </a:rPr>
                <a:t>Regulatory pipelines</a:t>
              </a:r>
              <a:endParaRPr sz="800">
                <a:solidFill>
                  <a:srgbClr val="0B713F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marL="457200" lvl="0" indent="-2794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B713F"/>
                </a:buClr>
                <a:buSzPts val="800"/>
                <a:buFont typeface="Roboto"/>
                <a:buChar char="●"/>
              </a:pPr>
              <a:r>
                <a:rPr lang="en-GB" sz="800">
                  <a:solidFill>
                    <a:srgbClr val="0B713F"/>
                  </a:solidFill>
                  <a:latin typeface="Roboto"/>
                  <a:ea typeface="Roboto"/>
                  <a:cs typeface="Roboto"/>
                  <a:sym typeface="Roboto"/>
                </a:rPr>
                <a:t>Available datasets and Regulatory annotation</a:t>
              </a:r>
              <a:endParaRPr sz="800">
                <a:solidFill>
                  <a:srgbClr val="0B713F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marL="457200" lvl="0" indent="-2794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B713F"/>
                </a:buClr>
                <a:buSzPts val="800"/>
                <a:buFont typeface="Roboto"/>
                <a:buChar char="●"/>
              </a:pPr>
              <a:r>
                <a:rPr lang="en-GB" sz="800">
                  <a:solidFill>
                    <a:srgbClr val="0B713F"/>
                  </a:solidFill>
                  <a:latin typeface="Roboto"/>
                  <a:ea typeface="Roboto"/>
                  <a:cs typeface="Roboto"/>
                  <a:sym typeface="Roboto"/>
                </a:rPr>
                <a:t>Defining and accessing reference epigenome data</a:t>
              </a:r>
              <a:endParaRPr sz="800">
                <a:solidFill>
                  <a:srgbClr val="0B71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32" name="Google Shape;532;p58"/>
          <p:cNvGrpSpPr/>
          <p:nvPr/>
        </p:nvGrpSpPr>
        <p:grpSpPr>
          <a:xfrm>
            <a:off x="1593000" y="1179725"/>
            <a:ext cx="5957975" cy="643500"/>
            <a:chOff x="1593000" y="2322568"/>
            <a:chExt cx="5957975" cy="643500"/>
          </a:xfrm>
        </p:grpSpPr>
        <p:sp>
          <p:nvSpPr>
            <p:cNvPr id="533" name="Google Shape;533;p58"/>
            <p:cNvSpPr/>
            <p:nvPr/>
          </p:nvSpPr>
          <p:spPr>
            <a:xfrm>
              <a:off x="3728375" y="2322568"/>
              <a:ext cx="3822600" cy="643500"/>
            </a:xfrm>
            <a:prstGeom prst="rect">
              <a:avLst/>
            </a:prstGeom>
            <a:solidFill>
              <a:srgbClr val="EEEEE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58"/>
            <p:cNvSpPr/>
            <p:nvPr/>
          </p:nvSpPr>
          <p:spPr>
            <a:xfrm flipH="1">
              <a:off x="2283025" y="2322575"/>
              <a:ext cx="1844400" cy="642600"/>
            </a:xfrm>
            <a:prstGeom prst="rect">
              <a:avLst/>
            </a:prstGeom>
            <a:solidFill>
              <a:srgbClr val="0B71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Google Shape;535;p58"/>
            <p:cNvSpPr/>
            <p:nvPr/>
          </p:nvSpPr>
          <p:spPr>
            <a:xfrm rot="-5400000">
              <a:off x="3501574" y="1934671"/>
              <a:ext cx="643356" cy="1419149"/>
            </a:xfrm>
            <a:prstGeom prst="flowChartOffpageConnector">
              <a:avLst/>
            </a:prstGeom>
            <a:solidFill>
              <a:srgbClr val="0B71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Google Shape;536;p58"/>
            <p:cNvSpPr/>
            <p:nvPr/>
          </p:nvSpPr>
          <p:spPr>
            <a:xfrm>
              <a:off x="2342625" y="2399951"/>
              <a:ext cx="1940700" cy="49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00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The Ensembl Project</a:t>
              </a:r>
              <a:endParaRPr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37" name="Google Shape;537;p58"/>
            <p:cNvSpPr/>
            <p:nvPr/>
          </p:nvSpPr>
          <p:spPr>
            <a:xfrm>
              <a:off x="1593000" y="2322568"/>
              <a:ext cx="690000" cy="642300"/>
            </a:xfrm>
            <a:prstGeom prst="rect">
              <a:avLst/>
            </a:prstGeom>
            <a:solidFill>
              <a:srgbClr val="0B7743"/>
            </a:solidFill>
            <a:ln>
              <a:noFill/>
            </a:ln>
            <a:effectLst>
              <a:outerShdw blurRad="71438" dist="28575" dir="2700000" algn="bl" rotWithShape="0">
                <a:srgbClr val="000000">
                  <a:alpha val="17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Google Shape;538;p58"/>
            <p:cNvSpPr/>
            <p:nvPr/>
          </p:nvSpPr>
          <p:spPr>
            <a:xfrm>
              <a:off x="1593000" y="2322575"/>
              <a:ext cx="690000" cy="642600"/>
            </a:xfrm>
            <a:prstGeom prst="rect">
              <a:avLst/>
            </a:prstGeom>
            <a:solidFill>
              <a:srgbClr val="0C814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600">
                <a:solidFill>
                  <a:srgbClr val="FFFFFF"/>
                </a:solidFill>
                <a:latin typeface="Roboto Thin"/>
                <a:ea typeface="Roboto Thin"/>
                <a:cs typeface="Roboto Thin"/>
                <a:sym typeface="Roboto Thin"/>
              </a:endParaRPr>
            </a:p>
          </p:txBody>
        </p:sp>
        <p:sp>
          <p:nvSpPr>
            <p:cNvPr id="539" name="Google Shape;539;p58"/>
            <p:cNvSpPr/>
            <p:nvPr/>
          </p:nvSpPr>
          <p:spPr>
            <a:xfrm>
              <a:off x="4387850" y="2323750"/>
              <a:ext cx="2971200" cy="64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457200" lvl="0" indent="-2794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B713F"/>
                </a:buClr>
                <a:buSzPts val="800"/>
                <a:buFont typeface="Roboto"/>
                <a:buChar char="●"/>
              </a:pPr>
              <a:r>
                <a:rPr lang="en-GB" sz="800">
                  <a:solidFill>
                    <a:srgbClr val="0B713F"/>
                  </a:solidFill>
                  <a:latin typeface="Roboto"/>
                  <a:ea typeface="Roboto"/>
                  <a:cs typeface="Roboto"/>
                  <a:sym typeface="Roboto"/>
                </a:rPr>
                <a:t>General description</a:t>
              </a:r>
              <a:endParaRPr sz="800">
                <a:solidFill>
                  <a:srgbClr val="0B71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40" name="Google Shape;540;p58"/>
          <p:cNvGrpSpPr/>
          <p:nvPr/>
        </p:nvGrpSpPr>
        <p:grpSpPr>
          <a:xfrm>
            <a:off x="1593000" y="3806463"/>
            <a:ext cx="5766050" cy="643482"/>
            <a:chOff x="1593000" y="2322568"/>
            <a:chExt cx="5766050" cy="643482"/>
          </a:xfrm>
        </p:grpSpPr>
        <p:sp>
          <p:nvSpPr>
            <p:cNvPr id="541" name="Google Shape;541;p58"/>
            <p:cNvSpPr/>
            <p:nvPr/>
          </p:nvSpPr>
          <p:spPr>
            <a:xfrm flipH="1">
              <a:off x="2283025" y="2322575"/>
              <a:ext cx="1844400" cy="642600"/>
            </a:xfrm>
            <a:prstGeom prst="rect">
              <a:avLst/>
            </a:prstGeom>
            <a:solidFill>
              <a:srgbClr val="0B71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Google Shape;542;p58"/>
            <p:cNvSpPr/>
            <p:nvPr/>
          </p:nvSpPr>
          <p:spPr>
            <a:xfrm rot="-5400000">
              <a:off x="3501574" y="1934671"/>
              <a:ext cx="643356" cy="1419149"/>
            </a:xfrm>
            <a:prstGeom prst="flowChartOffpageConnector">
              <a:avLst/>
            </a:prstGeom>
            <a:solidFill>
              <a:srgbClr val="0B71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Google Shape;543;p58"/>
            <p:cNvSpPr/>
            <p:nvPr/>
          </p:nvSpPr>
          <p:spPr>
            <a:xfrm>
              <a:off x="2342625" y="2399951"/>
              <a:ext cx="1940700" cy="49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00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Hands-on</a:t>
              </a:r>
              <a:endParaRPr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44" name="Google Shape;544;p58"/>
            <p:cNvSpPr/>
            <p:nvPr/>
          </p:nvSpPr>
          <p:spPr>
            <a:xfrm>
              <a:off x="1593000" y="2322568"/>
              <a:ext cx="690000" cy="642300"/>
            </a:xfrm>
            <a:prstGeom prst="rect">
              <a:avLst/>
            </a:prstGeom>
            <a:solidFill>
              <a:srgbClr val="0B7743"/>
            </a:solidFill>
            <a:ln>
              <a:noFill/>
            </a:ln>
            <a:effectLst>
              <a:outerShdw blurRad="71438" dist="28575" dir="2700000" algn="bl" rotWithShape="0">
                <a:srgbClr val="000000">
                  <a:alpha val="17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Google Shape;545;p58"/>
            <p:cNvSpPr/>
            <p:nvPr/>
          </p:nvSpPr>
          <p:spPr>
            <a:xfrm>
              <a:off x="1593000" y="2322575"/>
              <a:ext cx="690000" cy="642600"/>
            </a:xfrm>
            <a:prstGeom prst="rect">
              <a:avLst/>
            </a:prstGeom>
            <a:solidFill>
              <a:srgbClr val="0C814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600">
                <a:solidFill>
                  <a:srgbClr val="FFFFFF"/>
                </a:solidFill>
                <a:latin typeface="Roboto Thin"/>
                <a:ea typeface="Roboto Thin"/>
                <a:cs typeface="Roboto Thin"/>
                <a:sym typeface="Roboto Thin"/>
              </a:endParaRPr>
            </a:p>
          </p:txBody>
        </p:sp>
        <p:sp>
          <p:nvSpPr>
            <p:cNvPr id="546" name="Google Shape;546;p58"/>
            <p:cNvSpPr/>
            <p:nvPr/>
          </p:nvSpPr>
          <p:spPr>
            <a:xfrm>
              <a:off x="4387850" y="2323750"/>
              <a:ext cx="2971200" cy="64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800">
                <a:solidFill>
                  <a:srgbClr val="0B71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47" name="Google Shape;547;p58"/>
          <p:cNvGrpSpPr/>
          <p:nvPr/>
        </p:nvGrpSpPr>
        <p:grpSpPr>
          <a:xfrm>
            <a:off x="1593000" y="3146263"/>
            <a:ext cx="5957975" cy="643500"/>
            <a:chOff x="1593000" y="2322568"/>
            <a:chExt cx="5957975" cy="643500"/>
          </a:xfrm>
        </p:grpSpPr>
        <p:sp>
          <p:nvSpPr>
            <p:cNvPr id="548" name="Google Shape;548;p58"/>
            <p:cNvSpPr/>
            <p:nvPr/>
          </p:nvSpPr>
          <p:spPr>
            <a:xfrm>
              <a:off x="3728375" y="2322568"/>
              <a:ext cx="3822600" cy="643500"/>
            </a:xfrm>
            <a:prstGeom prst="rect">
              <a:avLst/>
            </a:prstGeom>
            <a:solidFill>
              <a:srgbClr val="EEEEE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Google Shape;549;p58"/>
            <p:cNvSpPr/>
            <p:nvPr/>
          </p:nvSpPr>
          <p:spPr>
            <a:xfrm flipH="1">
              <a:off x="2283025" y="2322575"/>
              <a:ext cx="1844400" cy="642600"/>
            </a:xfrm>
            <a:prstGeom prst="rect">
              <a:avLst/>
            </a:prstGeom>
            <a:solidFill>
              <a:srgbClr val="0B71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" name="Google Shape;550;p58"/>
            <p:cNvSpPr/>
            <p:nvPr/>
          </p:nvSpPr>
          <p:spPr>
            <a:xfrm rot="-5400000">
              <a:off x="3501574" y="1934671"/>
              <a:ext cx="643356" cy="1419149"/>
            </a:xfrm>
            <a:prstGeom prst="flowChartOffpageConnector">
              <a:avLst/>
            </a:prstGeom>
            <a:solidFill>
              <a:srgbClr val="0B71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" name="Google Shape;551;p58"/>
            <p:cNvSpPr/>
            <p:nvPr/>
          </p:nvSpPr>
          <p:spPr>
            <a:xfrm>
              <a:off x="2342625" y="2399951"/>
              <a:ext cx="1940700" cy="49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00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Comparison of CREs frameworks</a:t>
              </a:r>
              <a:endParaRPr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52" name="Google Shape;552;p58"/>
            <p:cNvSpPr/>
            <p:nvPr/>
          </p:nvSpPr>
          <p:spPr>
            <a:xfrm>
              <a:off x="1593000" y="2322568"/>
              <a:ext cx="690000" cy="642300"/>
            </a:xfrm>
            <a:prstGeom prst="rect">
              <a:avLst/>
            </a:prstGeom>
            <a:solidFill>
              <a:srgbClr val="0B7743"/>
            </a:solidFill>
            <a:ln>
              <a:noFill/>
            </a:ln>
            <a:effectLst>
              <a:outerShdw blurRad="71438" dist="28575" dir="2700000" algn="bl" rotWithShape="0">
                <a:srgbClr val="000000">
                  <a:alpha val="17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" name="Google Shape;553;p58"/>
            <p:cNvSpPr/>
            <p:nvPr/>
          </p:nvSpPr>
          <p:spPr>
            <a:xfrm>
              <a:off x="1593000" y="2322575"/>
              <a:ext cx="690000" cy="642600"/>
            </a:xfrm>
            <a:prstGeom prst="rect">
              <a:avLst/>
            </a:prstGeom>
            <a:solidFill>
              <a:srgbClr val="0C814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600">
                <a:solidFill>
                  <a:srgbClr val="FFFFFF"/>
                </a:solidFill>
                <a:latin typeface="Roboto Thin"/>
                <a:ea typeface="Roboto Thin"/>
                <a:cs typeface="Roboto Thin"/>
                <a:sym typeface="Roboto Thin"/>
              </a:endParaRPr>
            </a:p>
          </p:txBody>
        </p:sp>
        <p:sp>
          <p:nvSpPr>
            <p:cNvPr id="554" name="Google Shape;554;p58"/>
            <p:cNvSpPr/>
            <p:nvPr/>
          </p:nvSpPr>
          <p:spPr>
            <a:xfrm>
              <a:off x="4387850" y="2323750"/>
              <a:ext cx="2971200" cy="64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457200" lvl="0" indent="-2794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B713F"/>
                </a:buClr>
                <a:buSzPts val="800"/>
                <a:buFont typeface="Roboto"/>
                <a:buChar char="●"/>
              </a:pPr>
              <a:r>
                <a:rPr lang="en-GB" sz="800">
                  <a:solidFill>
                    <a:srgbClr val="0B713F"/>
                  </a:solidFill>
                  <a:latin typeface="Roboto"/>
                  <a:ea typeface="Roboto"/>
                  <a:cs typeface="Roboto"/>
                  <a:sym typeface="Roboto"/>
                </a:rPr>
                <a:t>Most-popular genome-wide resources</a:t>
              </a:r>
              <a:endParaRPr sz="800">
                <a:solidFill>
                  <a:srgbClr val="0B713F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marL="457200" lvl="0" indent="-2794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B713F"/>
                </a:buClr>
                <a:buSzPts val="800"/>
                <a:buFont typeface="Roboto"/>
                <a:buChar char="●"/>
              </a:pPr>
              <a:r>
                <a:rPr lang="en-GB" sz="800">
                  <a:solidFill>
                    <a:srgbClr val="0B713F"/>
                  </a:solidFill>
                  <a:latin typeface="Roboto"/>
                  <a:ea typeface="Roboto"/>
                  <a:cs typeface="Roboto"/>
                  <a:sym typeface="Roboto"/>
                </a:rPr>
                <a:t>Strengths and weaknesses of each approach</a:t>
              </a:r>
              <a:endParaRPr sz="800">
                <a:solidFill>
                  <a:srgbClr val="0B71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p59"/>
          <p:cNvSpPr txBox="1">
            <a:spLocks noGrp="1"/>
          </p:cNvSpPr>
          <p:nvPr>
            <p:ph type="body" idx="1"/>
          </p:nvPr>
        </p:nvSpPr>
        <p:spPr>
          <a:xfrm>
            <a:off x="338138" y="889824"/>
            <a:ext cx="8452200" cy="3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</a:pPr>
            <a:endParaRPr/>
          </a:p>
          <a:p>
            <a:pPr marL="0" lvl="0" indent="0" algn="ctr" rtl="0">
              <a:lnSpc>
                <a:spcPct val="115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</a:pPr>
            <a:r>
              <a:rPr lang="en-GB"/>
              <a:t>The mission of Ensembl is to provide </a:t>
            </a:r>
            <a:r>
              <a:rPr lang="en-GB">
                <a:solidFill>
                  <a:srgbClr val="0099FF"/>
                </a:solidFill>
              </a:rPr>
              <a:t>comprehensive and accurate annotation</a:t>
            </a:r>
            <a:r>
              <a:rPr lang="en-GB"/>
              <a:t> of genomes, </a:t>
            </a:r>
            <a:r>
              <a:rPr lang="en-GB">
                <a:solidFill>
                  <a:srgbClr val="0099FF"/>
                </a:solidFill>
              </a:rPr>
              <a:t>integrating</a:t>
            </a:r>
            <a:r>
              <a:rPr lang="en-GB"/>
              <a:t> this information with other biological data and making it </a:t>
            </a:r>
            <a:r>
              <a:rPr lang="en-GB">
                <a:solidFill>
                  <a:srgbClr val="0099FF"/>
                </a:solidFill>
              </a:rPr>
              <a:t>publicly accessible</a:t>
            </a:r>
            <a:r>
              <a:rPr lang="en-GB"/>
              <a:t> via the web.</a:t>
            </a:r>
            <a:endParaRPr/>
          </a:p>
          <a:p>
            <a:pPr marL="0" lvl="0" indent="0" algn="ctr" rtl="0">
              <a:lnSpc>
                <a:spcPct val="115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</a:pPr>
            <a:endParaRPr/>
          </a:p>
          <a:p>
            <a:pPr marL="0" lvl="0" indent="0" algn="ctr" rtl="0">
              <a:lnSpc>
                <a:spcPct val="115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</a:pPr>
            <a:endParaRPr/>
          </a:p>
          <a:p>
            <a:pPr marL="0" lvl="0" indent="0" algn="ctr" rtl="0">
              <a:lnSpc>
                <a:spcPct val="115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</a:pPr>
            <a:endParaRPr/>
          </a:p>
        </p:txBody>
      </p:sp>
      <p:sp>
        <p:nvSpPr>
          <p:cNvPr id="561" name="Google Shape;561;p59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The Ensembl Project</a:t>
            </a:r>
            <a:endParaRPr/>
          </a:p>
        </p:txBody>
      </p:sp>
      <p:pic>
        <p:nvPicPr>
          <p:cNvPr id="562" name="Google Shape;562;p5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73225" y="2732550"/>
            <a:ext cx="5397574" cy="1691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Google Shape;567;p60"/>
          <p:cNvSpPr/>
          <p:nvPr/>
        </p:nvSpPr>
        <p:spPr>
          <a:xfrm rot="5400000">
            <a:off x="7365228" y="0"/>
            <a:ext cx="1778700" cy="1778700"/>
          </a:xfrm>
          <a:prstGeom prst="diagStripe">
            <a:avLst>
              <a:gd name="adj" fmla="val 50000"/>
            </a:avLst>
          </a:prstGeom>
          <a:solidFill>
            <a:srgbClr val="EDFAF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60"/>
          <p:cNvSpPr txBox="1"/>
          <p:nvPr/>
        </p:nvSpPr>
        <p:spPr>
          <a:xfrm rot="2700000">
            <a:off x="7215273" y="386217"/>
            <a:ext cx="2501461" cy="583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>
                <a:solidFill>
                  <a:srgbClr val="198038"/>
                </a:solidFill>
                <a:latin typeface="Inter"/>
                <a:ea typeface="Inter"/>
                <a:cs typeface="Inter"/>
                <a:sym typeface="Inter"/>
              </a:rPr>
              <a:t>Do not edit</a:t>
            </a:r>
            <a:endParaRPr sz="1200" b="1">
              <a:solidFill>
                <a:srgbClr val="198038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u="sng">
                <a:solidFill>
                  <a:srgbClr val="198038"/>
                </a:solidFill>
                <a:latin typeface="Inter"/>
                <a:ea typeface="Inter"/>
                <a:cs typeface="Inter"/>
                <a:sym typeface="Inter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to change the design</a:t>
            </a:r>
            <a:endParaRPr sz="1200">
              <a:solidFill>
                <a:srgbClr val="198038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69" name="Google Shape;569;p60" descr="poll-type-id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33520" y="1307027"/>
            <a:ext cx="1778772" cy="1778772"/>
          </a:xfrm>
          <a:prstGeom prst="rect">
            <a:avLst/>
          </a:prstGeom>
          <a:noFill/>
          <a:ln>
            <a:noFill/>
          </a:ln>
        </p:spPr>
      </p:pic>
      <p:sp>
        <p:nvSpPr>
          <p:cNvPr id="570" name="Google Shape;570;p60" descr="title-id"/>
          <p:cNvSpPr txBox="1"/>
          <p:nvPr/>
        </p:nvSpPr>
        <p:spPr>
          <a:xfrm>
            <a:off x="2334638" y="1320628"/>
            <a:ext cx="6364800" cy="17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b="1">
                <a:solidFill>
                  <a:srgbClr val="5B5B5B"/>
                </a:solidFill>
                <a:latin typeface="Inter"/>
                <a:ea typeface="Inter"/>
                <a:cs typeface="Inter"/>
                <a:sym typeface="Inter"/>
              </a:rPr>
              <a:t>Have you used Ensembl before?</a:t>
            </a:r>
            <a:endParaRPr sz="3600" b="1">
              <a:solidFill>
                <a:srgbClr val="5B5B5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71" name="Google Shape;571;p60"/>
          <p:cNvSpPr/>
          <p:nvPr/>
        </p:nvSpPr>
        <p:spPr>
          <a:xfrm>
            <a:off x="0" y="4365024"/>
            <a:ext cx="9144000" cy="778500"/>
          </a:xfrm>
          <a:prstGeom prst="rect">
            <a:avLst/>
          </a:prstGeom>
          <a:solidFill>
            <a:srgbClr val="19803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2" name="Google Shape;572;p60"/>
          <p:cNvSpPr txBox="1"/>
          <p:nvPr/>
        </p:nvSpPr>
        <p:spPr>
          <a:xfrm>
            <a:off x="555866" y="4365024"/>
            <a:ext cx="6948300" cy="77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Presenting with animations, GIFs or speaker notes? Enable our </a:t>
            </a:r>
            <a:r>
              <a:rPr lang="en-GB" sz="1200" u="sng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Chrome extension</a:t>
            </a:r>
            <a:endParaRPr sz="12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73" name="Google Shape;573;p6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22347" y="4643089"/>
            <a:ext cx="222347" cy="222347"/>
          </a:xfrm>
          <a:prstGeom prst="rect">
            <a:avLst/>
          </a:prstGeom>
          <a:noFill/>
          <a:ln>
            <a:noFill/>
          </a:ln>
        </p:spPr>
      </p:pic>
      <p:pic>
        <p:nvPicPr>
          <p:cNvPr id="574" name="Google Shape;574;p60" descr="logo-id">
            <a:hlinkClick r:id="rId8"/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921094" y="4476329"/>
            <a:ext cx="1111733" cy="5558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Google Shape;580;p61"/>
          <p:cNvSpPr txBox="1"/>
          <p:nvPr/>
        </p:nvSpPr>
        <p:spPr>
          <a:xfrm>
            <a:off x="-21850" y="816650"/>
            <a:ext cx="9172200" cy="39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GB" sz="1300" b="0" i="0" u="none" strike="noStrike" cap="none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rPr>
              <a:t>CGGCCTTTGGGCTCCGCCTTCAGCTCAAGACTTAACTTCCCTCCCAGCTGTCCCAGATGACGCCATCTGAAATTTCTTGGAAACACGATCACTTTAACGGAATATTGCTGTTTTGGGGAAGTGTTTTACAGCTGCTGGGCACGCTGTATTTGCCTTACTTAAGCCCCTGGTAATTGCTGTATTCCGA</a:t>
            </a:r>
            <a:r>
              <a:rPr lang="en-GB" sz="1300" b="1" i="0" u="none" strike="noStrike" cap="none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AGACATGCTGATGGGAATTA</a:t>
            </a:r>
            <a:r>
              <a:rPr lang="en-GB" sz="1300" b="0" i="0" u="none" strike="noStrike" cap="none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rPr>
              <a:t>CCAGGCGGCGTTGGTCTCTAACTGGAGCCCTCTGTCCCCACTAGCCACGCGTCACTGGTTAGCGTGATTGAAACTAAATCGTATGAAAATCCTCTTCTCTAGTCGCACTAGCCACGTTTCGAGTGCTTAATGTGGCTAGTGGCACCGGTTTGGACAGCACAGCTGTAAAATGTTCCCATCCTCACAGTAAGCTGTTACCGTTCCAGGAGATGGGACTGAATTAGAATTCAAACAAATTTTCCAGCGCTTCTGAGTTTTACCTCAGTCACATAATAAGGAATGCATCCCTGTGTAAGTGCATTTTGGTCTTCTGTTTTGCAGACTTATTTACCAAGCATTGGAGGAATATCGTAGGTAAAA</a:t>
            </a:r>
            <a:r>
              <a:rPr lang="en-GB" sz="1300" b="1" i="0" u="none" strike="noStrike" cap="none">
                <a:solidFill>
                  <a:srgbClr val="0099FF"/>
                </a:solidFill>
                <a:latin typeface="Courier New"/>
                <a:ea typeface="Courier New"/>
                <a:cs typeface="Courier New"/>
                <a:sym typeface="Courier New"/>
              </a:rPr>
              <a:t>ATGCCTATTGGATCCAAAGAGAGGCCAACATTTTTTGAAATTTTTAAGACACGCTGCAACAAAGCAGGTATTGACAAATTTTATATAACTTTATAAATTACACCGAGAAAGTGTTTTCTAAAAAATGCTTGCTAAAAACCCAGTACGTCACAGTGTTGCTTAGAACCATAAACTGTTCCTTATGTGTGTATAAATCCAGTTAACAACATAATCATCGTTTGCAGGTTAACCACATGATAAATATAGAACGTCTAGTGGATAAAGAGGAAACTGGCCCCTTGACTAGCAGTAGGAACAATTACTAACAAATCAGAAGCATTAATGTTACTTTATGGCAGAAGTTGTCCAACTTTTTGGTTTCAGTACTCCTTATACTCTTAAAAATGATCTAGGACCCCCGGAGTGCTTTTGTTTATGTAGCTTACCATATTAGAAATTTAAAACTAAGAATTTAAGGCTGGGCGTGGTGGCTCACGCCTGTAATCCCAGCACTTTGGGAGGCCGAGGTGGGCGGATCACTTGAGGCCAGAAGTTTGAGACCAGCCTGGCCAACATGGTGAAACCCTATCTCTACTAAAAAT</a:t>
            </a:r>
            <a:r>
              <a:rPr lang="en-GB" sz="1300" b="0" i="0" u="none" strike="noStrike" cap="none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rPr>
              <a:t>ACAAAAAATGTGCTGCGTGTGGTGGTGCGTGCCTGTAATCCCAGCTACACGGGAGGTGGAGGCAGGAGAATCGCTTGAACCCTGGAGGCAGAGGTTGCAGTGAGCCAAGATCATGCCACTGCACTCTAGCCTGGGCCACATAGCATGACTCTGTCTCAAAACAAACAAACAAACAAAAAACTAAGAATTTAAAGTTAATTTACTTAAAAATAATGAAAGCTAACCCATTGCATATTATCACAACATTCTTAGGAAAAATAACTTTTTGAAAACAAGTGAGTGGAATAGTTTTTACATTTTTGCAGTTCTCTTTAATGTCTGGCTAAATAGAGATAGCTGGATTCACTTATCTGTGTCTAATCTGTTATTTTGGTAGAAGTATGTGAAAAAAAATTAACCTCACGTTGAAAAAAGGAATATTTTAATAGTTTTCAGTTACTTTTTGGTATTTTTCCTTGTACTTTGCATAGATTTTTCAAAGATCTAATAGATATACCATAGGTCTTTCC</a:t>
            </a:r>
            <a:r>
              <a:rPr lang="en-GB" sz="1300" b="1" i="0" u="none" strike="noStrike" cap="none">
                <a:solidFill>
                  <a:schemeClr val="accent3"/>
                </a:solidFill>
                <a:latin typeface="Courier New"/>
                <a:ea typeface="Courier New"/>
                <a:cs typeface="Courier New"/>
                <a:sym typeface="Courier New"/>
              </a:rPr>
              <a:t>C</a:t>
            </a:r>
            <a:r>
              <a:rPr lang="en-GB" sz="1300" b="0" i="0" u="none" strike="noStrike" cap="none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rPr>
              <a:t>ATGTCGCAACATCATGCAGTGATTATTTGGAAGATAGTGGTGTTCTGAATTA</a:t>
            </a:r>
            <a:endParaRPr sz="1300" b="0" i="0" u="none" strike="noStrike" cap="none">
              <a:solidFill>
                <a:srgbClr val="00000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581" name="Google Shape;581;p61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Using genome browsers to visualise annotation</a:t>
            </a:r>
            <a:endParaRPr/>
          </a:p>
        </p:txBody>
      </p:sp>
      <p:sp>
        <p:nvSpPr>
          <p:cNvPr id="582" name="Google Shape;582;p61"/>
          <p:cNvSpPr txBox="1"/>
          <p:nvPr/>
        </p:nvSpPr>
        <p:spPr>
          <a:xfrm>
            <a:off x="683223" y="867542"/>
            <a:ext cx="2211300" cy="369300"/>
          </a:xfrm>
          <a:prstGeom prst="rect">
            <a:avLst/>
          </a:prstGeom>
          <a:solidFill>
            <a:srgbClr val="FFFFFF">
              <a:alpha val="8941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chemeClr val="accent5"/>
                </a:solidFill>
                <a:latin typeface="Arial"/>
                <a:ea typeface="Arial"/>
                <a:cs typeface="Arial"/>
                <a:sym typeface="Arial"/>
              </a:rPr>
              <a:t>Regulatory element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3" name="Google Shape;583;p61"/>
          <p:cNvSpPr/>
          <p:nvPr/>
        </p:nvSpPr>
        <p:spPr>
          <a:xfrm>
            <a:off x="775939" y="1221485"/>
            <a:ext cx="2025900" cy="279900"/>
          </a:xfrm>
          <a:prstGeom prst="rect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4" name="Google Shape;584;p61"/>
          <p:cNvSpPr txBox="1"/>
          <p:nvPr/>
        </p:nvSpPr>
        <p:spPr>
          <a:xfrm>
            <a:off x="4040777" y="1654211"/>
            <a:ext cx="1047000" cy="369300"/>
          </a:xfrm>
          <a:prstGeom prst="rect">
            <a:avLst/>
          </a:prstGeom>
          <a:solidFill>
            <a:srgbClr val="FFFFFF">
              <a:alpha val="8941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rgbClr val="0099FF"/>
                </a:solidFill>
                <a:latin typeface="Arial"/>
                <a:ea typeface="Arial"/>
                <a:cs typeface="Arial"/>
                <a:sym typeface="Arial"/>
              </a:rPr>
              <a:t>Gene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5" name="Google Shape;585;p61"/>
          <p:cNvSpPr/>
          <p:nvPr/>
        </p:nvSpPr>
        <p:spPr>
          <a:xfrm>
            <a:off x="47106" y="2023543"/>
            <a:ext cx="9040800" cy="1411200"/>
          </a:xfrm>
          <a:prstGeom prst="rect">
            <a:avLst/>
          </a:prstGeom>
          <a:noFill/>
          <a:ln w="25400" cap="flat" cmpd="sng">
            <a:solidFill>
              <a:srgbClr val="0099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6" name="Google Shape;586;p61"/>
          <p:cNvSpPr txBox="1"/>
          <p:nvPr/>
        </p:nvSpPr>
        <p:spPr>
          <a:xfrm>
            <a:off x="3313301" y="4051099"/>
            <a:ext cx="1026900" cy="369300"/>
          </a:xfrm>
          <a:prstGeom prst="rect">
            <a:avLst/>
          </a:prstGeom>
          <a:solidFill>
            <a:srgbClr val="FFFFFF">
              <a:alpha val="8941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rPr>
              <a:t>Variant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7" name="Google Shape;587;p61"/>
          <p:cNvSpPr/>
          <p:nvPr/>
        </p:nvSpPr>
        <p:spPr>
          <a:xfrm>
            <a:off x="3748159" y="4420406"/>
            <a:ext cx="157200" cy="279900"/>
          </a:xfrm>
          <a:prstGeom prst="rect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>
                <a:solidFill>
                  <a:srgbClr val="327C89"/>
                </a:solidFill>
              </a:rPr>
              <a:t>`</a:t>
            </a:r>
            <a:endParaRPr sz="1400" b="0" i="0" u="none" strike="noStrike" cap="none">
              <a:solidFill>
                <a:srgbClr val="327C89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Google Shape;593;p62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Ensembl enables genome analyses</a:t>
            </a:r>
            <a:endParaRPr/>
          </a:p>
        </p:txBody>
      </p:sp>
      <p:sp>
        <p:nvSpPr>
          <p:cNvPr id="594" name="Google Shape;594;p62"/>
          <p:cNvSpPr/>
          <p:nvPr/>
        </p:nvSpPr>
        <p:spPr>
          <a:xfrm>
            <a:off x="125300" y="2477600"/>
            <a:ext cx="1173300" cy="846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lt1"/>
                </a:solidFill>
              </a:rPr>
              <a:t>Public data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595" name="Google Shape;595;p62"/>
          <p:cNvSpPr/>
          <p:nvPr/>
        </p:nvSpPr>
        <p:spPr>
          <a:xfrm>
            <a:off x="7845400" y="2424300"/>
            <a:ext cx="1173300" cy="846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lt1"/>
                </a:solidFill>
              </a:rPr>
              <a:t>Genome analysis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596" name="Google Shape;596;p62"/>
          <p:cNvSpPr/>
          <p:nvPr/>
        </p:nvSpPr>
        <p:spPr>
          <a:xfrm>
            <a:off x="1772750" y="1158050"/>
            <a:ext cx="5548500" cy="3485400"/>
          </a:xfrm>
          <a:prstGeom prst="rect">
            <a:avLst/>
          </a:prstGeom>
          <a:solidFill>
            <a:srgbClr val="0099FF">
              <a:alpha val="10130"/>
            </a:srgbClr>
          </a:solidFill>
          <a:ln w="19050" cap="flat" cmpd="sng">
            <a:solidFill>
              <a:srgbClr val="0099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597" name="Google Shape;597;p62"/>
          <p:cNvSpPr txBox="1"/>
          <p:nvPr/>
        </p:nvSpPr>
        <p:spPr>
          <a:xfrm>
            <a:off x="2160475" y="2641500"/>
            <a:ext cx="10776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>
                <a:solidFill>
                  <a:srgbClr val="0099FF"/>
                </a:solidFill>
              </a:rPr>
              <a:t>Ensembl workflows</a:t>
            </a:r>
            <a:endParaRPr b="1">
              <a:solidFill>
                <a:srgbClr val="0099FF"/>
              </a:solidFill>
            </a:endParaRPr>
          </a:p>
        </p:txBody>
      </p:sp>
      <p:sp>
        <p:nvSpPr>
          <p:cNvPr id="598" name="Google Shape;598;p62"/>
          <p:cNvSpPr txBox="1"/>
          <p:nvPr/>
        </p:nvSpPr>
        <p:spPr>
          <a:xfrm>
            <a:off x="5956025" y="2641550"/>
            <a:ext cx="8223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>
                <a:solidFill>
                  <a:srgbClr val="0099FF"/>
                </a:solidFill>
              </a:rPr>
              <a:t>APIs</a:t>
            </a:r>
            <a:endParaRPr b="1">
              <a:solidFill>
                <a:srgbClr val="0099FF"/>
              </a:solidFill>
            </a:endParaRPr>
          </a:p>
        </p:txBody>
      </p:sp>
      <p:sp>
        <p:nvSpPr>
          <p:cNvPr id="599" name="Google Shape;599;p62"/>
          <p:cNvSpPr txBox="1"/>
          <p:nvPr/>
        </p:nvSpPr>
        <p:spPr>
          <a:xfrm>
            <a:off x="5729425" y="1680400"/>
            <a:ext cx="12756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>
                <a:solidFill>
                  <a:srgbClr val="0099FF"/>
                </a:solidFill>
              </a:rPr>
              <a:t>Genome browser</a:t>
            </a:r>
            <a:endParaRPr b="1">
              <a:solidFill>
                <a:srgbClr val="0099FF"/>
              </a:solidFill>
            </a:endParaRPr>
          </a:p>
        </p:txBody>
      </p:sp>
      <p:sp>
        <p:nvSpPr>
          <p:cNvPr id="600" name="Google Shape;600;p62"/>
          <p:cNvSpPr txBox="1"/>
          <p:nvPr/>
        </p:nvSpPr>
        <p:spPr>
          <a:xfrm>
            <a:off x="5729425" y="3518150"/>
            <a:ext cx="12756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>
                <a:solidFill>
                  <a:srgbClr val="0099FF"/>
                </a:solidFill>
              </a:rPr>
              <a:t>Tools</a:t>
            </a:r>
            <a:endParaRPr b="1">
              <a:solidFill>
                <a:srgbClr val="0099FF"/>
              </a:solidFill>
            </a:endParaRPr>
          </a:p>
        </p:txBody>
      </p:sp>
      <p:sp>
        <p:nvSpPr>
          <p:cNvPr id="601" name="Google Shape;601;p62"/>
          <p:cNvSpPr/>
          <p:nvPr/>
        </p:nvSpPr>
        <p:spPr>
          <a:xfrm>
            <a:off x="4099950" y="1259100"/>
            <a:ext cx="1077600" cy="518400"/>
          </a:xfrm>
          <a:prstGeom prst="rect">
            <a:avLst/>
          </a:prstGeom>
          <a:solidFill>
            <a:srgbClr val="0099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chemeClr val="lt1"/>
                </a:solidFill>
              </a:rPr>
              <a:t>Genes &amp; repeats </a:t>
            </a:r>
            <a:endParaRPr sz="1200">
              <a:solidFill>
                <a:schemeClr val="lt1"/>
              </a:solidFill>
            </a:endParaRPr>
          </a:p>
        </p:txBody>
      </p:sp>
      <p:sp>
        <p:nvSpPr>
          <p:cNvPr id="602" name="Google Shape;602;p62"/>
          <p:cNvSpPr/>
          <p:nvPr/>
        </p:nvSpPr>
        <p:spPr>
          <a:xfrm>
            <a:off x="4099950" y="1950325"/>
            <a:ext cx="1077600" cy="518400"/>
          </a:xfrm>
          <a:prstGeom prst="rect">
            <a:avLst/>
          </a:prstGeom>
          <a:solidFill>
            <a:srgbClr val="0099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chemeClr val="lt1"/>
                </a:solidFill>
              </a:rPr>
              <a:t>Regulatory regions</a:t>
            </a:r>
            <a:endParaRPr sz="1200">
              <a:solidFill>
                <a:schemeClr val="lt1"/>
              </a:solidFill>
            </a:endParaRPr>
          </a:p>
        </p:txBody>
      </p:sp>
      <p:sp>
        <p:nvSpPr>
          <p:cNvPr id="603" name="Google Shape;603;p62"/>
          <p:cNvSpPr/>
          <p:nvPr/>
        </p:nvSpPr>
        <p:spPr>
          <a:xfrm>
            <a:off x="4099950" y="2641550"/>
            <a:ext cx="1077600" cy="518400"/>
          </a:xfrm>
          <a:prstGeom prst="rect">
            <a:avLst/>
          </a:prstGeom>
          <a:solidFill>
            <a:srgbClr val="0099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chemeClr val="lt1"/>
                </a:solidFill>
              </a:rPr>
              <a:t>Comparative genomics</a:t>
            </a:r>
            <a:endParaRPr sz="1200">
              <a:solidFill>
                <a:schemeClr val="lt1"/>
              </a:solidFill>
            </a:endParaRPr>
          </a:p>
        </p:txBody>
      </p:sp>
      <p:sp>
        <p:nvSpPr>
          <p:cNvPr id="604" name="Google Shape;604;p62"/>
          <p:cNvSpPr/>
          <p:nvPr/>
        </p:nvSpPr>
        <p:spPr>
          <a:xfrm>
            <a:off x="4099950" y="3332775"/>
            <a:ext cx="1077600" cy="518400"/>
          </a:xfrm>
          <a:prstGeom prst="rect">
            <a:avLst/>
          </a:prstGeom>
          <a:solidFill>
            <a:srgbClr val="0099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chemeClr val="lt1"/>
                </a:solidFill>
              </a:rPr>
              <a:t>Genomic variation</a:t>
            </a:r>
            <a:endParaRPr sz="1200">
              <a:solidFill>
                <a:schemeClr val="lt1"/>
              </a:solidFill>
            </a:endParaRPr>
          </a:p>
        </p:txBody>
      </p:sp>
      <p:sp>
        <p:nvSpPr>
          <p:cNvPr id="605" name="Google Shape;605;p62"/>
          <p:cNvSpPr/>
          <p:nvPr/>
        </p:nvSpPr>
        <p:spPr>
          <a:xfrm>
            <a:off x="4099950" y="4024000"/>
            <a:ext cx="1077600" cy="518400"/>
          </a:xfrm>
          <a:prstGeom prst="rect">
            <a:avLst/>
          </a:prstGeom>
          <a:solidFill>
            <a:srgbClr val="0099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chemeClr val="lt1"/>
                </a:solidFill>
              </a:rPr>
              <a:t>Phenotype associations</a:t>
            </a:r>
            <a:endParaRPr sz="1200">
              <a:solidFill>
                <a:schemeClr val="lt1"/>
              </a:solidFill>
            </a:endParaRPr>
          </a:p>
        </p:txBody>
      </p:sp>
      <p:sp>
        <p:nvSpPr>
          <p:cNvPr id="606" name="Google Shape;606;p62"/>
          <p:cNvSpPr/>
          <p:nvPr/>
        </p:nvSpPr>
        <p:spPr>
          <a:xfrm>
            <a:off x="1262488" y="2698700"/>
            <a:ext cx="884100" cy="4041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07" name="Google Shape;607;p62"/>
          <p:cNvSpPr/>
          <p:nvPr/>
        </p:nvSpPr>
        <p:spPr>
          <a:xfrm>
            <a:off x="7005013" y="2698650"/>
            <a:ext cx="884100" cy="4041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08" name="Google Shape;608;p62"/>
          <p:cNvSpPr/>
          <p:nvPr/>
        </p:nvSpPr>
        <p:spPr>
          <a:xfrm>
            <a:off x="5250725" y="1259100"/>
            <a:ext cx="166500" cy="3283200"/>
          </a:xfrm>
          <a:prstGeom prst="rightBracket">
            <a:avLst>
              <a:gd name="adj" fmla="val 8333"/>
            </a:avLst>
          </a:prstGeom>
          <a:noFill/>
          <a:ln w="19050" cap="flat" cmpd="sng">
            <a:solidFill>
              <a:srgbClr val="0099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09" name="Google Shape;609;p62"/>
          <p:cNvCxnSpPr>
            <a:stCxn id="608" idx="2"/>
          </p:cNvCxnSpPr>
          <p:nvPr/>
        </p:nvCxnSpPr>
        <p:spPr>
          <a:xfrm rot="10800000" flipH="1">
            <a:off x="5417225" y="2219400"/>
            <a:ext cx="543900" cy="681300"/>
          </a:xfrm>
          <a:prstGeom prst="straightConnector1">
            <a:avLst/>
          </a:prstGeom>
          <a:noFill/>
          <a:ln w="19050" cap="flat" cmpd="sng">
            <a:solidFill>
              <a:srgbClr val="0099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10" name="Google Shape;610;p62"/>
          <p:cNvCxnSpPr>
            <a:stCxn id="608" idx="2"/>
          </p:cNvCxnSpPr>
          <p:nvPr/>
        </p:nvCxnSpPr>
        <p:spPr>
          <a:xfrm>
            <a:off x="5417225" y="2900700"/>
            <a:ext cx="524700" cy="616800"/>
          </a:xfrm>
          <a:prstGeom prst="straightConnector1">
            <a:avLst/>
          </a:prstGeom>
          <a:noFill/>
          <a:ln w="19050" cap="flat" cmpd="sng">
            <a:solidFill>
              <a:srgbClr val="0099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11" name="Google Shape;611;p62"/>
          <p:cNvCxnSpPr>
            <a:stCxn id="608" idx="2"/>
            <a:endCxn id="598" idx="1"/>
          </p:cNvCxnSpPr>
          <p:nvPr/>
        </p:nvCxnSpPr>
        <p:spPr>
          <a:xfrm>
            <a:off x="5417225" y="2900700"/>
            <a:ext cx="538800" cy="0"/>
          </a:xfrm>
          <a:prstGeom prst="straightConnector1">
            <a:avLst/>
          </a:prstGeom>
          <a:noFill/>
          <a:ln w="19050" cap="flat" cmpd="sng">
            <a:solidFill>
              <a:srgbClr val="0099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12" name="Google Shape;612;p62"/>
          <p:cNvCxnSpPr>
            <a:stCxn id="597" idx="3"/>
            <a:endCxn id="601" idx="1"/>
          </p:cNvCxnSpPr>
          <p:nvPr/>
        </p:nvCxnSpPr>
        <p:spPr>
          <a:xfrm rot="10800000" flipH="1">
            <a:off x="3238075" y="1518300"/>
            <a:ext cx="861900" cy="1382400"/>
          </a:xfrm>
          <a:prstGeom prst="straightConnector1">
            <a:avLst/>
          </a:prstGeom>
          <a:noFill/>
          <a:ln w="19050" cap="flat" cmpd="sng">
            <a:solidFill>
              <a:srgbClr val="0099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13" name="Google Shape;613;p62"/>
          <p:cNvCxnSpPr>
            <a:stCxn id="597" idx="3"/>
            <a:endCxn id="602" idx="1"/>
          </p:cNvCxnSpPr>
          <p:nvPr/>
        </p:nvCxnSpPr>
        <p:spPr>
          <a:xfrm rot="10800000" flipH="1">
            <a:off x="3238075" y="2209500"/>
            <a:ext cx="861900" cy="691200"/>
          </a:xfrm>
          <a:prstGeom prst="straightConnector1">
            <a:avLst/>
          </a:prstGeom>
          <a:noFill/>
          <a:ln w="19050" cap="flat" cmpd="sng">
            <a:solidFill>
              <a:srgbClr val="0099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14" name="Google Shape;614;p62"/>
          <p:cNvCxnSpPr>
            <a:stCxn id="597" idx="3"/>
            <a:endCxn id="603" idx="1"/>
          </p:cNvCxnSpPr>
          <p:nvPr/>
        </p:nvCxnSpPr>
        <p:spPr>
          <a:xfrm>
            <a:off x="3238075" y="2900700"/>
            <a:ext cx="861900" cy="0"/>
          </a:xfrm>
          <a:prstGeom prst="straightConnector1">
            <a:avLst/>
          </a:prstGeom>
          <a:noFill/>
          <a:ln w="19050" cap="flat" cmpd="sng">
            <a:solidFill>
              <a:srgbClr val="0099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15" name="Google Shape;615;p62"/>
          <p:cNvCxnSpPr>
            <a:stCxn id="597" idx="3"/>
            <a:endCxn id="604" idx="1"/>
          </p:cNvCxnSpPr>
          <p:nvPr/>
        </p:nvCxnSpPr>
        <p:spPr>
          <a:xfrm>
            <a:off x="3238075" y="2900700"/>
            <a:ext cx="861900" cy="691200"/>
          </a:xfrm>
          <a:prstGeom prst="straightConnector1">
            <a:avLst/>
          </a:prstGeom>
          <a:noFill/>
          <a:ln w="19050" cap="flat" cmpd="sng">
            <a:solidFill>
              <a:srgbClr val="0099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16" name="Google Shape;616;p62"/>
          <p:cNvCxnSpPr>
            <a:stCxn id="597" idx="3"/>
            <a:endCxn id="605" idx="1"/>
          </p:cNvCxnSpPr>
          <p:nvPr/>
        </p:nvCxnSpPr>
        <p:spPr>
          <a:xfrm>
            <a:off x="3238075" y="2900700"/>
            <a:ext cx="861900" cy="1382400"/>
          </a:xfrm>
          <a:prstGeom prst="straightConnector1">
            <a:avLst/>
          </a:prstGeom>
          <a:noFill/>
          <a:ln w="19050" cap="flat" cmpd="sng">
            <a:solidFill>
              <a:srgbClr val="0099F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63"/>
          <p:cNvSpPr txBox="1">
            <a:spLocks noGrp="1"/>
          </p:cNvSpPr>
          <p:nvPr>
            <p:ph type="body" idx="1"/>
          </p:nvPr>
        </p:nvSpPr>
        <p:spPr>
          <a:xfrm>
            <a:off x="338150" y="889825"/>
            <a:ext cx="8452200" cy="2168400"/>
          </a:xfrm>
          <a:prstGeom prst="rect">
            <a:avLst/>
          </a:prstGeom>
        </p:spPr>
        <p:txBody>
          <a:bodyPr spcFirstLastPara="1" wrap="square" lIns="0" tIns="45700" rIns="91425" bIns="45700" anchor="t" anchorCtr="0">
            <a:noAutofit/>
          </a:bodyPr>
          <a:lstStyle/>
          <a:p>
            <a:pPr marL="457200" lvl="0" indent="-330200" algn="just" rtl="0">
              <a:spcBef>
                <a:spcPts val="750"/>
              </a:spcBef>
              <a:spcAft>
                <a:spcPts val="0"/>
              </a:spcAft>
              <a:buSzPts val="1600"/>
              <a:buChar char="✓"/>
            </a:pPr>
            <a:r>
              <a:rPr lang="en-GB"/>
              <a:t>Aim: Develop, adapt and run computational methods to identify and characterise genomic regulatory elements, such as promoters, enhancers and CTCF binding sites.</a:t>
            </a:r>
            <a:endParaRPr/>
          </a:p>
          <a:p>
            <a:pPr marL="457200" lvl="0" indent="-330200" algn="just" rtl="0">
              <a:spcBef>
                <a:spcPts val="1000"/>
              </a:spcBef>
              <a:spcAft>
                <a:spcPts val="0"/>
              </a:spcAft>
              <a:buSzPts val="1600"/>
              <a:buChar char="✓"/>
            </a:pPr>
            <a:r>
              <a:rPr lang="en-GB"/>
              <a:t>Focus: Species of key importance to biomedical and agricultural research. </a:t>
            </a:r>
            <a:endParaRPr/>
          </a:p>
          <a:p>
            <a:pPr marL="457200" lvl="0" indent="-330200" algn="just" rtl="0">
              <a:spcBef>
                <a:spcPts val="1000"/>
              </a:spcBef>
              <a:spcAft>
                <a:spcPts val="0"/>
              </a:spcAft>
              <a:buSzPts val="1600"/>
              <a:buChar char="✓"/>
            </a:pPr>
            <a:r>
              <a:rPr lang="en-GB"/>
              <a:t>Annotations are based primarily on ChIP-seq, DNase-seq, and ATAC-seq data generated by the ENCODE and FAANG consortia, and gene annotation from Ensembl/GENCODE.</a:t>
            </a:r>
            <a:endParaRPr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75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2" name="Google Shape;622;p63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Ensembl Regulation</a:t>
            </a:r>
            <a:endParaRPr/>
          </a:p>
        </p:txBody>
      </p:sp>
      <p:pic>
        <p:nvPicPr>
          <p:cNvPr id="623" name="Google Shape;623;p6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80075" y="3126750"/>
            <a:ext cx="1132125" cy="1132125"/>
          </a:xfrm>
          <a:prstGeom prst="rect">
            <a:avLst/>
          </a:prstGeom>
          <a:noFill/>
          <a:ln>
            <a:noFill/>
          </a:ln>
        </p:spPr>
      </p:pic>
      <p:sp>
        <p:nvSpPr>
          <p:cNvPr id="624" name="Google Shape;624;p63"/>
          <p:cNvSpPr txBox="1"/>
          <p:nvPr/>
        </p:nvSpPr>
        <p:spPr>
          <a:xfrm>
            <a:off x="3750600" y="4805350"/>
            <a:ext cx="1642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u="sng">
                <a:solidFill>
                  <a:schemeClr val="hlink"/>
                </a:solidFill>
                <a:hlinkClick r:id="rId4"/>
              </a:rPr>
              <a:t>https://regulation.ensembl.org/</a:t>
            </a:r>
            <a:r>
              <a:rPr lang="en-GB" sz="800"/>
              <a:t> </a:t>
            </a:r>
            <a:endParaRPr sz="800"/>
          </a:p>
        </p:txBody>
      </p:sp>
      <p:pic>
        <p:nvPicPr>
          <p:cNvPr id="625" name="Google Shape;625;p6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584200" y="2528325"/>
            <a:ext cx="3842676" cy="2328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p64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The Ensembl Regulatory Build</a:t>
            </a:r>
            <a:endParaRPr/>
          </a:p>
        </p:txBody>
      </p:sp>
      <p:pic>
        <p:nvPicPr>
          <p:cNvPr id="631" name="Google Shape;631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95300" y="2140350"/>
            <a:ext cx="862775" cy="8627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32" name="Google Shape;632;p64"/>
          <p:cNvCxnSpPr/>
          <p:nvPr/>
        </p:nvCxnSpPr>
        <p:spPr>
          <a:xfrm>
            <a:off x="1645550" y="2571754"/>
            <a:ext cx="783300" cy="0"/>
          </a:xfrm>
          <a:prstGeom prst="straightConnector1">
            <a:avLst/>
          </a:prstGeom>
          <a:noFill/>
          <a:ln w="9525" cap="flat" cmpd="sng">
            <a:solidFill>
              <a:srgbClr val="1155CC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33" name="Google Shape;633;p64"/>
          <p:cNvCxnSpPr/>
          <p:nvPr/>
        </p:nvCxnSpPr>
        <p:spPr>
          <a:xfrm>
            <a:off x="3258075" y="2571754"/>
            <a:ext cx="783300" cy="0"/>
          </a:xfrm>
          <a:prstGeom prst="straightConnector1">
            <a:avLst/>
          </a:prstGeom>
          <a:noFill/>
          <a:ln w="9525" cap="flat" cmpd="sng">
            <a:solidFill>
              <a:srgbClr val="1155CC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34" name="Google Shape;634;p64"/>
          <p:cNvSpPr/>
          <p:nvPr/>
        </p:nvSpPr>
        <p:spPr>
          <a:xfrm>
            <a:off x="4074500" y="1376825"/>
            <a:ext cx="1728600" cy="23004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rgbClr val="1155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Primary analysis pipeline</a:t>
            </a:r>
            <a:endParaRPr/>
          </a:p>
        </p:txBody>
      </p:sp>
      <p:cxnSp>
        <p:nvCxnSpPr>
          <p:cNvPr id="635" name="Google Shape;635;p64"/>
          <p:cNvCxnSpPr/>
          <p:nvPr/>
        </p:nvCxnSpPr>
        <p:spPr>
          <a:xfrm>
            <a:off x="5803100" y="2518525"/>
            <a:ext cx="979500" cy="2400"/>
          </a:xfrm>
          <a:prstGeom prst="straightConnector1">
            <a:avLst/>
          </a:prstGeom>
          <a:noFill/>
          <a:ln w="9525" cap="flat" cmpd="sng">
            <a:solidFill>
              <a:srgbClr val="1155CC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36" name="Google Shape;636;p64"/>
          <p:cNvSpPr/>
          <p:nvPr/>
        </p:nvSpPr>
        <p:spPr>
          <a:xfrm>
            <a:off x="6835100" y="2046175"/>
            <a:ext cx="1455000" cy="10512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rgbClr val="1155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Regulatory annotation pipeline</a:t>
            </a:r>
            <a:endParaRPr/>
          </a:p>
        </p:txBody>
      </p:sp>
      <p:sp>
        <p:nvSpPr>
          <p:cNvPr id="637" name="Google Shape;637;p64"/>
          <p:cNvSpPr/>
          <p:nvPr/>
        </p:nvSpPr>
        <p:spPr>
          <a:xfrm>
            <a:off x="4126150" y="1559850"/>
            <a:ext cx="812700" cy="712500"/>
          </a:xfrm>
          <a:prstGeom prst="rect">
            <a:avLst/>
          </a:prstGeom>
          <a:solidFill>
            <a:srgbClr val="A4C2F4"/>
          </a:solidFill>
          <a:ln w="9525" cap="flat" cmpd="sng">
            <a:solidFill>
              <a:srgbClr val="1155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/>
              <a:t>ATAC-seq pipeline</a:t>
            </a:r>
            <a:endParaRPr sz="900"/>
          </a:p>
        </p:txBody>
      </p:sp>
      <p:sp>
        <p:nvSpPr>
          <p:cNvPr id="638" name="Google Shape;638;p64"/>
          <p:cNvSpPr/>
          <p:nvPr/>
        </p:nvSpPr>
        <p:spPr>
          <a:xfrm>
            <a:off x="4970300" y="1559850"/>
            <a:ext cx="783300" cy="712500"/>
          </a:xfrm>
          <a:prstGeom prst="rect">
            <a:avLst/>
          </a:prstGeom>
          <a:solidFill>
            <a:srgbClr val="A4C2F4"/>
          </a:solidFill>
          <a:ln w="9525" cap="flat" cmpd="sng">
            <a:solidFill>
              <a:srgbClr val="1155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/>
              <a:t>DNase-seq pipeline</a:t>
            </a:r>
            <a:endParaRPr sz="900"/>
          </a:p>
        </p:txBody>
      </p:sp>
      <p:sp>
        <p:nvSpPr>
          <p:cNvPr id="639" name="Google Shape;639;p64"/>
          <p:cNvSpPr/>
          <p:nvPr/>
        </p:nvSpPr>
        <p:spPr>
          <a:xfrm>
            <a:off x="4126150" y="2339075"/>
            <a:ext cx="812700" cy="712500"/>
          </a:xfrm>
          <a:prstGeom prst="rect">
            <a:avLst/>
          </a:prstGeom>
          <a:solidFill>
            <a:srgbClr val="A4C2F4"/>
          </a:solidFill>
          <a:ln w="9525" cap="flat" cmpd="sng">
            <a:solidFill>
              <a:srgbClr val="1155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/>
              <a:t>ChIP-seq narrow marks pipeline</a:t>
            </a:r>
            <a:endParaRPr sz="900"/>
          </a:p>
        </p:txBody>
      </p:sp>
      <p:sp>
        <p:nvSpPr>
          <p:cNvPr id="640" name="Google Shape;640;p64"/>
          <p:cNvSpPr/>
          <p:nvPr/>
        </p:nvSpPr>
        <p:spPr>
          <a:xfrm>
            <a:off x="4962200" y="2339075"/>
            <a:ext cx="783300" cy="712500"/>
          </a:xfrm>
          <a:prstGeom prst="rect">
            <a:avLst/>
          </a:prstGeom>
          <a:solidFill>
            <a:srgbClr val="A4C2F4"/>
          </a:solidFill>
          <a:ln w="9525" cap="flat" cmpd="sng">
            <a:solidFill>
              <a:srgbClr val="1155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/>
              <a:t>ChIP-seq broad marks pipeline</a:t>
            </a:r>
            <a:endParaRPr sz="900"/>
          </a:p>
        </p:txBody>
      </p:sp>
      <p:cxnSp>
        <p:nvCxnSpPr>
          <p:cNvPr id="641" name="Google Shape;641;p64"/>
          <p:cNvCxnSpPr>
            <a:stCxn id="634" idx="2"/>
            <a:endCxn id="631" idx="2"/>
          </p:cNvCxnSpPr>
          <p:nvPr/>
        </p:nvCxnSpPr>
        <p:spPr>
          <a:xfrm rot="5400000" flipH="1">
            <a:off x="3545750" y="2284175"/>
            <a:ext cx="674100" cy="2112000"/>
          </a:xfrm>
          <a:prstGeom prst="bentConnector3">
            <a:avLst>
              <a:gd name="adj1" fmla="val -35325"/>
            </a:avLst>
          </a:prstGeom>
          <a:noFill/>
          <a:ln w="9525" cap="flat" cmpd="sng">
            <a:solidFill>
              <a:srgbClr val="1155CC"/>
            </a:solidFill>
            <a:prstDash val="solid"/>
            <a:round/>
            <a:headEnd type="none" w="med" len="med"/>
            <a:tailEnd type="stealth" w="med" len="med"/>
          </a:ln>
        </p:spPr>
      </p:cxnSp>
      <p:grpSp>
        <p:nvGrpSpPr>
          <p:cNvPr id="642" name="Google Shape;642;p64"/>
          <p:cNvGrpSpPr/>
          <p:nvPr/>
        </p:nvGrpSpPr>
        <p:grpSpPr>
          <a:xfrm>
            <a:off x="190275" y="1175508"/>
            <a:ext cx="1455275" cy="1921817"/>
            <a:chOff x="190275" y="1175508"/>
            <a:chExt cx="1455275" cy="1921817"/>
          </a:xfrm>
        </p:grpSpPr>
        <p:grpSp>
          <p:nvGrpSpPr>
            <p:cNvPr id="643" name="Google Shape;643;p64"/>
            <p:cNvGrpSpPr/>
            <p:nvPr/>
          </p:nvGrpSpPr>
          <p:grpSpPr>
            <a:xfrm>
              <a:off x="190275" y="1175508"/>
              <a:ext cx="1421700" cy="1921817"/>
              <a:chOff x="1264875" y="1331434"/>
              <a:chExt cx="1421700" cy="1733241"/>
            </a:xfrm>
          </p:grpSpPr>
          <p:sp>
            <p:nvSpPr>
              <p:cNvPr id="644" name="Google Shape;644;p64"/>
              <p:cNvSpPr/>
              <p:nvPr/>
            </p:nvSpPr>
            <p:spPr>
              <a:xfrm>
                <a:off x="1264875" y="2116675"/>
                <a:ext cx="1421700" cy="948000"/>
              </a:xfrm>
              <a:prstGeom prst="roundRect">
                <a:avLst>
                  <a:gd name="adj" fmla="val 16667"/>
                </a:avLst>
              </a:prstGeom>
              <a:solidFill>
                <a:srgbClr val="C9DAF8"/>
              </a:solidFill>
              <a:ln w="9525" cap="flat" cmpd="sng">
                <a:solidFill>
                  <a:srgbClr val="1155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b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/>
                  <a:t>Experiments and metadata import</a:t>
                </a:r>
                <a:endParaRPr/>
              </a:p>
            </p:txBody>
          </p:sp>
          <p:pic>
            <p:nvPicPr>
              <p:cNvPr id="645" name="Google Shape;645;p64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1353437" y="1678068"/>
                <a:ext cx="750122" cy="364925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646" name="Google Shape;646;p64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1546375" y="1331434"/>
                <a:ext cx="1011850" cy="29192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pic>
          <p:nvPicPr>
            <p:cNvPr id="647" name="Google Shape;647;p64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1017975" y="1609625"/>
              <a:ext cx="627575" cy="3644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648" name="Google Shape;648;p64"/>
          <p:cNvCxnSpPr/>
          <p:nvPr/>
        </p:nvCxnSpPr>
        <p:spPr>
          <a:xfrm rot="10800000">
            <a:off x="2826687" y="2140350"/>
            <a:ext cx="5484600" cy="428700"/>
          </a:xfrm>
          <a:prstGeom prst="bentConnector4">
            <a:avLst>
              <a:gd name="adj1" fmla="val -5919"/>
              <a:gd name="adj2" fmla="val 340769"/>
            </a:avLst>
          </a:prstGeom>
          <a:noFill/>
          <a:ln w="9525" cap="flat" cmpd="sng">
            <a:solidFill>
              <a:srgbClr val="1155CC"/>
            </a:solidFill>
            <a:prstDash val="solid"/>
            <a:round/>
            <a:headEnd type="none" w="med" len="med"/>
            <a:tailEnd type="stealth" w="med" len="med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Google Shape;653;p65"/>
          <p:cNvSpPr txBox="1">
            <a:spLocks noGrp="1"/>
          </p:cNvSpPr>
          <p:nvPr>
            <p:ph type="body" idx="1"/>
          </p:nvPr>
        </p:nvSpPr>
        <p:spPr>
          <a:xfrm>
            <a:off x="338150" y="889824"/>
            <a:ext cx="8452200" cy="354900"/>
          </a:xfrm>
          <a:prstGeom prst="rect">
            <a:avLst/>
          </a:prstGeom>
        </p:spPr>
        <p:txBody>
          <a:bodyPr spcFirstLastPara="1" wrap="square" lIns="0" tIns="45700" rIns="91425" bIns="45700" anchor="t" anchorCtr="0">
            <a:noAutofit/>
          </a:bodyPr>
          <a:lstStyle/>
          <a:p>
            <a:pPr marL="457200" lvl="0" indent="-330200" algn="l" rtl="0">
              <a:spcBef>
                <a:spcPts val="750"/>
              </a:spcBef>
              <a:spcAft>
                <a:spcPts val="0"/>
              </a:spcAft>
              <a:buSzPts val="1600"/>
              <a:buChar char="✓"/>
            </a:pPr>
            <a:r>
              <a:rPr lang="en-GB"/>
              <a:t>Processes read files to produce peak (BED) and signal (bigWig) files.</a:t>
            </a:r>
            <a:endParaRPr/>
          </a:p>
          <a:p>
            <a:pPr marL="0" lvl="0" indent="0" algn="l" rtl="0">
              <a:spcBef>
                <a:spcPts val="75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4" name="Google Shape;654;p65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Primary analysis pipeline</a:t>
            </a:r>
            <a:endParaRPr/>
          </a:p>
        </p:txBody>
      </p:sp>
      <p:grpSp>
        <p:nvGrpSpPr>
          <p:cNvPr id="655" name="Google Shape;655;p65"/>
          <p:cNvGrpSpPr/>
          <p:nvPr/>
        </p:nvGrpSpPr>
        <p:grpSpPr>
          <a:xfrm>
            <a:off x="725725" y="1335528"/>
            <a:ext cx="7579750" cy="332700"/>
            <a:chOff x="725725" y="1385925"/>
            <a:chExt cx="7579750" cy="332700"/>
          </a:xfrm>
        </p:grpSpPr>
        <p:sp>
          <p:nvSpPr>
            <p:cNvPr id="656" name="Google Shape;656;p65"/>
            <p:cNvSpPr/>
            <p:nvPr/>
          </p:nvSpPr>
          <p:spPr>
            <a:xfrm>
              <a:off x="725725" y="1385925"/>
              <a:ext cx="1357200" cy="332700"/>
            </a:xfrm>
            <a:prstGeom prst="rect">
              <a:avLst/>
            </a:prstGeom>
            <a:solidFill>
              <a:srgbClr val="0099FF"/>
            </a:solidFill>
            <a:ln w="9525" cap="flat" cmpd="sng">
              <a:solidFill>
                <a:srgbClr val="4A86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300" b="1">
                  <a:solidFill>
                    <a:schemeClr val="lt1"/>
                  </a:solidFill>
                </a:rPr>
                <a:t>Preprocessing</a:t>
              </a:r>
              <a:endParaRPr sz="1300" b="1">
                <a:solidFill>
                  <a:schemeClr val="lt1"/>
                </a:solidFill>
              </a:endParaRPr>
            </a:p>
          </p:txBody>
        </p:sp>
        <p:sp>
          <p:nvSpPr>
            <p:cNvPr id="657" name="Google Shape;657;p65"/>
            <p:cNvSpPr/>
            <p:nvPr/>
          </p:nvSpPr>
          <p:spPr>
            <a:xfrm>
              <a:off x="2799908" y="1385925"/>
              <a:ext cx="1357200" cy="332700"/>
            </a:xfrm>
            <a:prstGeom prst="rect">
              <a:avLst/>
            </a:prstGeom>
            <a:solidFill>
              <a:srgbClr val="0099FF"/>
            </a:solidFill>
            <a:ln w="9525" cap="flat" cmpd="sng">
              <a:solidFill>
                <a:srgbClr val="4A86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300" b="1">
                  <a:solidFill>
                    <a:schemeClr val="lt1"/>
                  </a:solidFill>
                </a:rPr>
                <a:t>Alignment</a:t>
              </a:r>
              <a:endParaRPr sz="1300" b="1">
                <a:solidFill>
                  <a:schemeClr val="lt1"/>
                </a:solidFill>
              </a:endParaRPr>
            </a:p>
          </p:txBody>
        </p:sp>
        <p:sp>
          <p:nvSpPr>
            <p:cNvPr id="658" name="Google Shape;658;p65"/>
            <p:cNvSpPr/>
            <p:nvPr/>
          </p:nvSpPr>
          <p:spPr>
            <a:xfrm>
              <a:off x="4874092" y="1385925"/>
              <a:ext cx="1357200" cy="332700"/>
            </a:xfrm>
            <a:prstGeom prst="rect">
              <a:avLst/>
            </a:prstGeom>
            <a:solidFill>
              <a:srgbClr val="0099FF"/>
            </a:solidFill>
            <a:ln w="9525" cap="flat" cmpd="sng">
              <a:solidFill>
                <a:srgbClr val="4A86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300" b="1">
                  <a:solidFill>
                    <a:schemeClr val="lt1"/>
                  </a:solidFill>
                </a:rPr>
                <a:t>Peak calling</a:t>
              </a:r>
              <a:endParaRPr sz="1300" b="1">
                <a:solidFill>
                  <a:schemeClr val="lt1"/>
                </a:solidFill>
              </a:endParaRPr>
            </a:p>
          </p:txBody>
        </p:sp>
        <p:sp>
          <p:nvSpPr>
            <p:cNvPr id="659" name="Google Shape;659;p65"/>
            <p:cNvSpPr/>
            <p:nvPr/>
          </p:nvSpPr>
          <p:spPr>
            <a:xfrm>
              <a:off x="6948275" y="1385925"/>
              <a:ext cx="1357200" cy="332700"/>
            </a:xfrm>
            <a:prstGeom prst="rect">
              <a:avLst/>
            </a:prstGeom>
            <a:solidFill>
              <a:srgbClr val="0099FF"/>
            </a:solidFill>
            <a:ln w="9525" cap="flat" cmpd="sng">
              <a:solidFill>
                <a:srgbClr val="4A86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300" b="1">
                  <a:solidFill>
                    <a:schemeClr val="lt1"/>
                  </a:solidFill>
                </a:rPr>
                <a:t>Signal files</a:t>
              </a:r>
              <a:endParaRPr sz="1300" b="1">
                <a:solidFill>
                  <a:schemeClr val="lt1"/>
                </a:solidFill>
              </a:endParaRPr>
            </a:p>
          </p:txBody>
        </p:sp>
        <p:cxnSp>
          <p:nvCxnSpPr>
            <p:cNvPr id="660" name="Google Shape;660;p65"/>
            <p:cNvCxnSpPr>
              <a:endCxn id="657" idx="1"/>
            </p:cNvCxnSpPr>
            <p:nvPr/>
          </p:nvCxnSpPr>
          <p:spPr>
            <a:xfrm>
              <a:off x="2081408" y="1552275"/>
              <a:ext cx="718500" cy="0"/>
            </a:xfrm>
            <a:prstGeom prst="straightConnector1">
              <a:avLst/>
            </a:prstGeom>
            <a:noFill/>
            <a:ln w="9525" cap="flat" cmpd="sng">
              <a:solidFill>
                <a:srgbClr val="4A86E8"/>
              </a:solidFill>
              <a:prstDash val="solid"/>
              <a:round/>
              <a:headEnd type="none" w="sm" len="sm"/>
              <a:tailEnd type="triangle" w="sm" len="sm"/>
            </a:ln>
          </p:spPr>
        </p:cxnSp>
        <p:cxnSp>
          <p:nvCxnSpPr>
            <p:cNvPr id="661" name="Google Shape;661;p65"/>
            <p:cNvCxnSpPr>
              <a:stCxn id="657" idx="3"/>
              <a:endCxn id="658" idx="1"/>
            </p:cNvCxnSpPr>
            <p:nvPr/>
          </p:nvCxnSpPr>
          <p:spPr>
            <a:xfrm>
              <a:off x="4157108" y="1552275"/>
              <a:ext cx="717000" cy="0"/>
            </a:xfrm>
            <a:prstGeom prst="straightConnector1">
              <a:avLst/>
            </a:prstGeom>
            <a:noFill/>
            <a:ln w="9525" cap="flat" cmpd="sng">
              <a:solidFill>
                <a:srgbClr val="4A86E8"/>
              </a:solidFill>
              <a:prstDash val="solid"/>
              <a:round/>
              <a:headEnd type="none" w="sm" len="sm"/>
              <a:tailEnd type="triangle" w="sm" len="sm"/>
            </a:ln>
          </p:spPr>
        </p:cxnSp>
        <p:cxnSp>
          <p:nvCxnSpPr>
            <p:cNvPr id="662" name="Google Shape;662;p65"/>
            <p:cNvCxnSpPr>
              <a:stCxn id="658" idx="3"/>
              <a:endCxn id="659" idx="1"/>
            </p:cNvCxnSpPr>
            <p:nvPr/>
          </p:nvCxnSpPr>
          <p:spPr>
            <a:xfrm>
              <a:off x="6231292" y="1552275"/>
              <a:ext cx="717000" cy="0"/>
            </a:xfrm>
            <a:prstGeom prst="straightConnector1">
              <a:avLst/>
            </a:prstGeom>
            <a:noFill/>
            <a:ln w="9525" cap="flat" cmpd="sng">
              <a:solidFill>
                <a:srgbClr val="4A86E8"/>
              </a:solidFill>
              <a:prstDash val="solid"/>
              <a:round/>
              <a:headEnd type="none" w="sm" len="sm"/>
              <a:tailEnd type="triangle" w="sm" len="sm"/>
            </a:ln>
          </p:spPr>
        </p:cxnSp>
      </p:grpSp>
      <p:pic>
        <p:nvPicPr>
          <p:cNvPr id="663" name="Google Shape;663;p6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11875" y="0"/>
            <a:ext cx="1132125" cy="1132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4" name="Google Shape;664;p65"/>
          <p:cNvSpPr txBox="1"/>
          <p:nvPr/>
        </p:nvSpPr>
        <p:spPr>
          <a:xfrm>
            <a:off x="3654950" y="4484375"/>
            <a:ext cx="3636300" cy="431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chemeClr val="lt1"/>
                </a:solidFill>
              </a:rPr>
              <a:t>Standardised data analysis pipelines</a:t>
            </a:r>
            <a:endParaRPr sz="1600">
              <a:solidFill>
                <a:schemeClr val="lt1"/>
              </a:solidFill>
            </a:endParaRPr>
          </a:p>
        </p:txBody>
      </p:sp>
      <p:sp>
        <p:nvSpPr>
          <p:cNvPr id="665" name="Google Shape;665;p65"/>
          <p:cNvSpPr txBox="1">
            <a:spLocks noGrp="1"/>
          </p:cNvSpPr>
          <p:nvPr>
            <p:ph type="body" idx="1"/>
          </p:nvPr>
        </p:nvSpPr>
        <p:spPr>
          <a:xfrm>
            <a:off x="338150" y="1813300"/>
            <a:ext cx="7170900" cy="2576400"/>
          </a:xfrm>
          <a:prstGeom prst="rect">
            <a:avLst/>
          </a:prstGeom>
        </p:spPr>
        <p:txBody>
          <a:bodyPr spcFirstLastPara="1" wrap="square" lIns="0" tIns="45700" rIns="91425" bIns="45700" anchor="t" anchorCtr="0">
            <a:noAutofit/>
          </a:bodyPr>
          <a:lstStyle/>
          <a:p>
            <a:pPr marL="914400" lvl="0" indent="-330200" algn="l" rtl="0">
              <a:spcBef>
                <a:spcPts val="750"/>
              </a:spcBef>
              <a:spcAft>
                <a:spcPts val="0"/>
              </a:spcAft>
              <a:buSzPts val="1600"/>
              <a:buChar char="•"/>
            </a:pPr>
            <a:r>
              <a:rPr lang="en-GB"/>
              <a:t>Preprocessing: Adapters trimming with NGmerge/fastp.</a:t>
            </a:r>
            <a:endParaRPr/>
          </a:p>
          <a:p>
            <a:pPr marL="914400" lvl="0" indent="-330200" algn="l" rtl="0">
              <a:spcBef>
                <a:spcPts val="1000"/>
              </a:spcBef>
              <a:spcAft>
                <a:spcPts val="0"/>
              </a:spcAft>
              <a:buSzPts val="1600"/>
              <a:buChar char="•"/>
            </a:pPr>
            <a:r>
              <a:rPr lang="en-GB"/>
              <a:t>Alignment: Bowtie2.</a:t>
            </a:r>
            <a:endParaRPr/>
          </a:p>
          <a:p>
            <a:pPr marL="914400" lvl="0" indent="-330200" algn="l" rtl="0">
              <a:spcBef>
                <a:spcPts val="1000"/>
              </a:spcBef>
              <a:spcAft>
                <a:spcPts val="0"/>
              </a:spcAft>
              <a:buSzPts val="1600"/>
              <a:buChar char="•"/>
            </a:pPr>
            <a:r>
              <a:rPr lang="en-GB"/>
              <a:t>Peak calling: </a:t>
            </a:r>
            <a:endParaRPr/>
          </a:p>
          <a:p>
            <a:pPr marL="1371600" lvl="1" indent="-317500" algn="l" rtl="0">
              <a:spcBef>
                <a:spcPts val="1000"/>
              </a:spcBef>
              <a:spcAft>
                <a:spcPts val="0"/>
              </a:spcAft>
              <a:buSzPts val="1400"/>
              <a:buChar char="•"/>
            </a:pPr>
            <a:r>
              <a:rPr lang="en-GB"/>
              <a:t>Genome mask:</a:t>
            </a:r>
            <a:endParaRPr/>
          </a:p>
          <a:p>
            <a:pPr marL="1828800" lvl="2" indent="-317500" algn="l" rtl="0">
              <a:spcBef>
                <a:spcPts val="1000"/>
              </a:spcBef>
              <a:spcAft>
                <a:spcPts val="0"/>
              </a:spcAft>
              <a:buSzPts val="1400"/>
              <a:buChar char="•"/>
            </a:pPr>
            <a:r>
              <a:rPr lang="en-GB"/>
              <a:t>ENCODE masks for human and mouse.</a:t>
            </a:r>
            <a:endParaRPr/>
          </a:p>
          <a:p>
            <a:pPr marL="1828800" lvl="2" indent="-317500" algn="l" rtl="0">
              <a:spcBef>
                <a:spcPts val="1000"/>
              </a:spcBef>
              <a:spcAft>
                <a:spcPts val="0"/>
              </a:spcAft>
              <a:buSzPts val="1400"/>
              <a:buChar char="•"/>
            </a:pPr>
            <a:r>
              <a:rPr lang="en-GB"/>
              <a:t>Custom masking strategy for other species.</a:t>
            </a:r>
            <a:endParaRPr/>
          </a:p>
          <a:p>
            <a:pPr marL="1371600" lvl="1" indent="-317500" algn="l" rtl="0">
              <a:spcBef>
                <a:spcPts val="1000"/>
              </a:spcBef>
              <a:spcAft>
                <a:spcPts val="0"/>
              </a:spcAft>
              <a:buSzPts val="1400"/>
              <a:buChar char="•"/>
            </a:pPr>
            <a:r>
              <a:rPr lang="en-GB"/>
              <a:t>Genrich with different configurations for each experiment type.</a:t>
            </a:r>
            <a:endParaRPr/>
          </a:p>
          <a:p>
            <a:pPr marL="914400" lvl="0" indent="-330200" algn="l" rtl="0">
              <a:spcBef>
                <a:spcPts val="1000"/>
              </a:spcBef>
              <a:spcAft>
                <a:spcPts val="1000"/>
              </a:spcAft>
              <a:buSzPts val="1600"/>
              <a:buChar char="•"/>
            </a:pPr>
            <a:r>
              <a:rPr lang="en-GB"/>
              <a:t>Signal: Estimated from Genrich pileups</a:t>
            </a:r>
            <a:endParaRPr/>
          </a:p>
        </p:txBody>
      </p:sp>
      <p:sp>
        <p:nvSpPr>
          <p:cNvPr id="666" name="Google Shape;666;p65"/>
          <p:cNvSpPr txBox="1"/>
          <p:nvPr/>
        </p:nvSpPr>
        <p:spPr>
          <a:xfrm>
            <a:off x="0" y="4835700"/>
            <a:ext cx="5122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u="sng">
                <a:solidFill>
                  <a:schemeClr val="hlink"/>
                </a:solidFill>
                <a:hlinkClick r:id="rId4"/>
              </a:rPr>
              <a:t>https://regulation.ensembl.org/help/primary_processing</a:t>
            </a:r>
            <a:r>
              <a:rPr lang="en-GB" sz="800"/>
              <a:t> </a:t>
            </a:r>
            <a:endParaRPr sz="8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p66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Regulatory annotation pipeline</a:t>
            </a:r>
            <a:endParaRPr/>
          </a:p>
        </p:txBody>
      </p:sp>
      <p:sp>
        <p:nvSpPr>
          <p:cNvPr id="672" name="Google Shape;672;p66"/>
          <p:cNvSpPr txBox="1"/>
          <p:nvPr/>
        </p:nvSpPr>
        <p:spPr>
          <a:xfrm>
            <a:off x="-20175" y="4829925"/>
            <a:ext cx="5122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u="sng">
                <a:solidFill>
                  <a:srgbClr val="2A57A3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https://regulation.ensembl.org/help/regulatory_build</a:t>
            </a:r>
            <a:r>
              <a:rPr lang="en-GB" sz="800"/>
              <a:t> </a:t>
            </a:r>
            <a:endParaRPr sz="800"/>
          </a:p>
        </p:txBody>
      </p:sp>
      <p:sp>
        <p:nvSpPr>
          <p:cNvPr id="673" name="Google Shape;673;p66"/>
          <p:cNvSpPr txBox="1"/>
          <p:nvPr/>
        </p:nvSpPr>
        <p:spPr>
          <a:xfrm>
            <a:off x="6115650" y="919650"/>
            <a:ext cx="2984100" cy="38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en-GB" b="1">
                <a:solidFill>
                  <a:srgbClr val="000000"/>
                </a:solidFill>
              </a:rPr>
              <a:t>Input:</a:t>
            </a:r>
            <a:endParaRPr b="1">
              <a:solidFill>
                <a:srgbClr val="000000"/>
              </a:solidFill>
            </a:endParaRPr>
          </a:p>
          <a:p>
            <a:pPr marL="457200" lvl="0" indent="-285750" algn="l" rtl="0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rgbClr val="000000"/>
              </a:buClr>
              <a:buSzPts val="900"/>
              <a:buChar char="●"/>
            </a:pPr>
            <a:r>
              <a:rPr lang="en-GB" sz="900" b="1">
                <a:solidFill>
                  <a:srgbClr val="000000"/>
                </a:solidFill>
              </a:rPr>
              <a:t>ATAC-seq &amp; DNase-seq</a:t>
            </a:r>
            <a:r>
              <a:rPr lang="en-GB" sz="900">
                <a:solidFill>
                  <a:srgbClr val="000000"/>
                </a:solidFill>
              </a:rPr>
              <a:t> peaks for all the epigenomes of the target species</a:t>
            </a:r>
            <a:endParaRPr sz="900">
              <a:solidFill>
                <a:srgbClr val="000000"/>
              </a:solidFill>
            </a:endParaRPr>
          </a:p>
          <a:p>
            <a:pPr marL="457200" marR="0" lvl="0" indent="-2857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Char char="●"/>
            </a:pPr>
            <a:r>
              <a:rPr lang="en-GB" sz="900">
                <a:solidFill>
                  <a:srgbClr val="000000"/>
                </a:solidFill>
              </a:rPr>
              <a:t>H3K27ac, H3K4me1, and H3K4me3 ChIP-seq peaks for all the epigenomes of the target species (</a:t>
            </a:r>
            <a:r>
              <a:rPr lang="en-GB" sz="900" b="1">
                <a:solidFill>
                  <a:srgbClr val="000000"/>
                </a:solidFill>
              </a:rPr>
              <a:t>optional</a:t>
            </a:r>
            <a:r>
              <a:rPr lang="en-GB" sz="900">
                <a:solidFill>
                  <a:srgbClr val="000000"/>
                </a:solidFill>
              </a:rPr>
              <a:t>)</a:t>
            </a:r>
            <a:endParaRPr sz="900">
              <a:solidFill>
                <a:srgbClr val="000000"/>
              </a:solidFill>
            </a:endParaRPr>
          </a:p>
          <a:p>
            <a:pPr marL="457200" marR="0" lvl="0" indent="-2857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Char char="●"/>
            </a:pPr>
            <a:r>
              <a:rPr lang="en-GB" sz="900">
                <a:solidFill>
                  <a:srgbClr val="000000"/>
                </a:solidFill>
              </a:rPr>
              <a:t>Annotated TSSs and CDSs from transcripts of interest</a:t>
            </a:r>
            <a:endParaRPr sz="900">
              <a:solidFill>
                <a:srgbClr val="000000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en-GB" b="1">
                <a:solidFill>
                  <a:srgbClr val="000000"/>
                </a:solidFill>
              </a:rPr>
              <a:t>Output:</a:t>
            </a:r>
            <a:endParaRPr b="1">
              <a:solidFill>
                <a:srgbClr val="000000"/>
              </a:solidFill>
            </a:endParaRPr>
          </a:p>
          <a:p>
            <a:pPr marL="457200" marR="0" lvl="0" indent="-285750" algn="l" rtl="0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rgbClr val="000000"/>
              </a:buClr>
              <a:buSzPts val="900"/>
              <a:buChar char="●"/>
            </a:pPr>
            <a:r>
              <a:rPr lang="en-GB" sz="900">
                <a:solidFill>
                  <a:srgbClr val="000000"/>
                </a:solidFill>
              </a:rPr>
              <a:t>Set of regulatory features: </a:t>
            </a:r>
            <a:r>
              <a:rPr lang="en-GB" sz="900" b="1">
                <a:solidFill>
                  <a:srgbClr val="000000"/>
                </a:solidFill>
              </a:rPr>
              <a:t>Promoters, Enhancers, OCR</a:t>
            </a:r>
            <a:endParaRPr sz="900" b="1">
              <a:solidFill>
                <a:srgbClr val="000000"/>
              </a:solidFill>
            </a:endParaRPr>
          </a:p>
          <a:p>
            <a:pPr marL="457200" marR="0" lvl="0" indent="-2857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Char char="●"/>
            </a:pPr>
            <a:r>
              <a:rPr lang="en-GB" sz="900">
                <a:solidFill>
                  <a:srgbClr val="000000"/>
                </a:solidFill>
              </a:rPr>
              <a:t>Regulatory features (RFs) </a:t>
            </a:r>
            <a:r>
              <a:rPr lang="en-GB" sz="900" b="1">
                <a:solidFill>
                  <a:srgbClr val="000000"/>
                </a:solidFill>
              </a:rPr>
              <a:t>activity</a:t>
            </a:r>
            <a:r>
              <a:rPr lang="en-GB" sz="900">
                <a:solidFill>
                  <a:srgbClr val="000000"/>
                </a:solidFill>
              </a:rPr>
              <a:t> across different epigenomes with open </a:t>
            </a:r>
            <a:r>
              <a:rPr lang="en-GB" sz="900" b="1">
                <a:solidFill>
                  <a:srgbClr val="000000"/>
                </a:solidFill>
              </a:rPr>
              <a:t>chromatin data</a:t>
            </a:r>
            <a:endParaRPr sz="900" b="1">
              <a:solidFill>
                <a:srgbClr val="000000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en-GB" b="1">
                <a:solidFill>
                  <a:srgbClr val="000000"/>
                </a:solidFill>
              </a:rPr>
              <a:t>	</a:t>
            </a:r>
            <a:endParaRPr b="1">
              <a:solidFill>
                <a:srgbClr val="000000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100"/>
              </a:spcBef>
              <a:spcAft>
                <a:spcPts val="1100"/>
              </a:spcAft>
              <a:buNone/>
            </a:pPr>
            <a:endParaRPr sz="900">
              <a:solidFill>
                <a:srgbClr val="000000"/>
              </a:solidFill>
            </a:endParaRPr>
          </a:p>
        </p:txBody>
      </p:sp>
      <p:pic>
        <p:nvPicPr>
          <p:cNvPr id="674" name="Google Shape;674;p66" title="regBuild_2026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000" y="1461439"/>
            <a:ext cx="6014648" cy="218793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5" name="Google Shape;675;p6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011875" y="0"/>
            <a:ext cx="1132125" cy="1132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0" name="Google Shape;680;p67"/>
          <p:cNvPicPr preferRelativeResize="0"/>
          <p:nvPr/>
        </p:nvPicPr>
        <p:blipFill rotWithShape="1">
          <a:blip r:embed="rId3">
            <a:alphaModFix/>
          </a:blip>
          <a:srcRect r="1478"/>
          <a:stretch/>
        </p:blipFill>
        <p:spPr>
          <a:xfrm>
            <a:off x="125" y="1066879"/>
            <a:ext cx="9143843" cy="4076632"/>
          </a:xfrm>
          <a:prstGeom prst="rect">
            <a:avLst/>
          </a:prstGeom>
          <a:noFill/>
          <a:ln>
            <a:noFill/>
          </a:ln>
        </p:spPr>
      </p:pic>
      <p:sp>
        <p:nvSpPr>
          <p:cNvPr id="681" name="Google Shape;681;p67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The Ensembl Regulation Subsite</a:t>
            </a:r>
            <a:endParaRPr/>
          </a:p>
        </p:txBody>
      </p:sp>
      <p:sp>
        <p:nvSpPr>
          <p:cNvPr id="682" name="Google Shape;682;p67"/>
          <p:cNvSpPr txBox="1"/>
          <p:nvPr/>
        </p:nvSpPr>
        <p:spPr>
          <a:xfrm>
            <a:off x="5896316" y="1662567"/>
            <a:ext cx="1068300" cy="459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8750" tIns="98750" rIns="98750" bIns="987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28" b="1">
                <a:solidFill>
                  <a:schemeClr val="lt1"/>
                </a:solidFill>
              </a:rPr>
              <a:t>Release</a:t>
            </a:r>
            <a:endParaRPr sz="1628" b="1">
              <a:solidFill>
                <a:schemeClr val="lt1"/>
              </a:solidFill>
            </a:endParaRPr>
          </a:p>
        </p:txBody>
      </p:sp>
      <p:sp>
        <p:nvSpPr>
          <p:cNvPr id="683" name="Google Shape;683;p67"/>
          <p:cNvSpPr txBox="1"/>
          <p:nvPr/>
        </p:nvSpPr>
        <p:spPr>
          <a:xfrm>
            <a:off x="2921115" y="911967"/>
            <a:ext cx="1802400" cy="459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8750" tIns="98750" rIns="98750" bIns="987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28" b="1">
                <a:solidFill>
                  <a:schemeClr val="lt1"/>
                </a:solidFill>
              </a:rPr>
              <a:t>Page selector</a:t>
            </a:r>
            <a:endParaRPr sz="1628" b="1">
              <a:solidFill>
                <a:schemeClr val="lt1"/>
              </a:solidFill>
            </a:endParaRPr>
          </a:p>
        </p:txBody>
      </p:sp>
      <p:sp>
        <p:nvSpPr>
          <p:cNvPr id="684" name="Google Shape;684;p67"/>
          <p:cNvSpPr txBox="1"/>
          <p:nvPr/>
        </p:nvSpPr>
        <p:spPr>
          <a:xfrm>
            <a:off x="3043690" y="4134234"/>
            <a:ext cx="1966200" cy="459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8750" tIns="98750" rIns="98750" bIns="987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28" b="1">
                <a:solidFill>
                  <a:schemeClr val="lt1"/>
                </a:solidFill>
              </a:rPr>
              <a:t>Species selector</a:t>
            </a:r>
            <a:endParaRPr sz="1628" b="1">
              <a:solidFill>
                <a:schemeClr val="lt1"/>
              </a:solidFill>
            </a:endParaRPr>
          </a:p>
        </p:txBody>
      </p:sp>
      <p:sp>
        <p:nvSpPr>
          <p:cNvPr id="685" name="Google Shape;685;p67"/>
          <p:cNvSpPr/>
          <p:nvPr/>
        </p:nvSpPr>
        <p:spPr>
          <a:xfrm>
            <a:off x="3043663" y="3019586"/>
            <a:ext cx="4689300" cy="1114500"/>
          </a:xfrm>
          <a:prstGeom prst="rect">
            <a:avLst/>
          </a:prstGeom>
          <a:solidFill>
            <a:srgbClr val="F49E17">
              <a:alpha val="10000"/>
            </a:srgbClr>
          </a:solidFill>
          <a:ln w="2057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8750" tIns="98750" rIns="98750" bIns="987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512">
              <a:solidFill>
                <a:schemeClr val="lt1"/>
              </a:solidFill>
            </a:endParaRPr>
          </a:p>
        </p:txBody>
      </p:sp>
      <p:sp>
        <p:nvSpPr>
          <p:cNvPr id="686" name="Google Shape;686;p67"/>
          <p:cNvSpPr/>
          <p:nvPr/>
        </p:nvSpPr>
        <p:spPr>
          <a:xfrm>
            <a:off x="478641" y="1749996"/>
            <a:ext cx="2565000" cy="2944200"/>
          </a:xfrm>
          <a:prstGeom prst="rect">
            <a:avLst/>
          </a:prstGeom>
          <a:solidFill>
            <a:srgbClr val="F49E17">
              <a:alpha val="10000"/>
            </a:srgbClr>
          </a:solidFill>
          <a:ln w="2057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8750" tIns="98750" rIns="98750" bIns="987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512">
              <a:solidFill>
                <a:schemeClr val="lt1"/>
              </a:solidFill>
            </a:endParaRPr>
          </a:p>
        </p:txBody>
      </p:sp>
      <p:sp>
        <p:nvSpPr>
          <p:cNvPr id="687" name="Google Shape;687;p67"/>
          <p:cNvSpPr/>
          <p:nvPr/>
        </p:nvSpPr>
        <p:spPr>
          <a:xfrm>
            <a:off x="1945675" y="1371574"/>
            <a:ext cx="3753300" cy="291000"/>
          </a:xfrm>
          <a:prstGeom prst="rect">
            <a:avLst/>
          </a:prstGeom>
          <a:solidFill>
            <a:srgbClr val="F49E17">
              <a:alpha val="10000"/>
            </a:srgbClr>
          </a:solidFill>
          <a:ln w="2057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8750" tIns="98750" rIns="98750" bIns="987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512">
              <a:solidFill>
                <a:schemeClr val="lt1"/>
              </a:solidFill>
            </a:endParaRPr>
          </a:p>
        </p:txBody>
      </p:sp>
      <p:sp>
        <p:nvSpPr>
          <p:cNvPr id="688" name="Google Shape;688;p67"/>
          <p:cNvSpPr/>
          <p:nvPr/>
        </p:nvSpPr>
        <p:spPr>
          <a:xfrm>
            <a:off x="5744528" y="1371574"/>
            <a:ext cx="1371900" cy="291000"/>
          </a:xfrm>
          <a:prstGeom prst="rect">
            <a:avLst/>
          </a:prstGeom>
          <a:solidFill>
            <a:srgbClr val="F49E17">
              <a:alpha val="10000"/>
            </a:srgbClr>
          </a:solidFill>
          <a:ln w="2057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8750" tIns="98750" rIns="98750" bIns="987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512">
              <a:solidFill>
                <a:schemeClr val="lt1"/>
              </a:solidFill>
            </a:endParaRPr>
          </a:p>
        </p:txBody>
      </p:sp>
      <p:sp>
        <p:nvSpPr>
          <p:cNvPr id="689" name="Google Shape;689;p67"/>
          <p:cNvSpPr txBox="1"/>
          <p:nvPr/>
        </p:nvSpPr>
        <p:spPr>
          <a:xfrm>
            <a:off x="7341697" y="607400"/>
            <a:ext cx="1802400" cy="459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8750" tIns="98750" rIns="98750" bIns="987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28" b="1" dirty="0">
                <a:solidFill>
                  <a:schemeClr val="lt1"/>
                </a:solidFill>
              </a:rPr>
              <a:t>Contact form</a:t>
            </a:r>
            <a:endParaRPr sz="1628" b="1" dirty="0">
              <a:solidFill>
                <a:schemeClr val="lt1"/>
              </a:solidFill>
            </a:endParaRPr>
          </a:p>
        </p:txBody>
      </p:sp>
      <p:sp>
        <p:nvSpPr>
          <p:cNvPr id="690" name="Google Shape;690;p67"/>
          <p:cNvSpPr/>
          <p:nvPr/>
        </p:nvSpPr>
        <p:spPr>
          <a:xfrm>
            <a:off x="8340550" y="1066875"/>
            <a:ext cx="803400" cy="231900"/>
          </a:xfrm>
          <a:prstGeom prst="rect">
            <a:avLst/>
          </a:prstGeom>
          <a:solidFill>
            <a:srgbClr val="F49E17">
              <a:alpha val="10000"/>
            </a:srgbClr>
          </a:solidFill>
          <a:ln w="2057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8750" tIns="98750" rIns="98750" bIns="987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512">
              <a:solidFill>
                <a:schemeClr val="lt1"/>
              </a:solidFill>
            </a:endParaRPr>
          </a:p>
        </p:txBody>
      </p:sp>
      <p:sp>
        <p:nvSpPr>
          <p:cNvPr id="691" name="Google Shape;691;p67"/>
          <p:cNvSpPr txBox="1"/>
          <p:nvPr/>
        </p:nvSpPr>
        <p:spPr>
          <a:xfrm>
            <a:off x="7341697" y="2122147"/>
            <a:ext cx="1802400" cy="53240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8750" tIns="98750" rIns="98750" bIns="987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28" b="1" dirty="0">
                <a:solidFill>
                  <a:schemeClr val="lt1"/>
                </a:solidFill>
              </a:rPr>
              <a:t>Configuration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28" b="1" dirty="0">
                <a:solidFill>
                  <a:schemeClr val="lt1"/>
                </a:solidFill>
              </a:rPr>
              <a:t>tool</a:t>
            </a:r>
            <a:endParaRPr sz="1628" b="1" dirty="0">
              <a:solidFill>
                <a:schemeClr val="lt1"/>
              </a:solidFill>
            </a:endParaRPr>
          </a:p>
        </p:txBody>
      </p:sp>
      <p:sp>
        <p:nvSpPr>
          <p:cNvPr id="692" name="Google Shape;692;p67"/>
          <p:cNvSpPr/>
          <p:nvPr/>
        </p:nvSpPr>
        <p:spPr>
          <a:xfrm>
            <a:off x="8917039" y="1831166"/>
            <a:ext cx="226800" cy="291000"/>
          </a:xfrm>
          <a:prstGeom prst="rect">
            <a:avLst/>
          </a:prstGeom>
          <a:solidFill>
            <a:srgbClr val="F49E17">
              <a:alpha val="10000"/>
            </a:srgbClr>
          </a:solidFill>
          <a:ln w="2057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8750" tIns="98750" rIns="98750" bIns="987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512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Google Shape;697;p68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The Ensembl Regulation Subsite: Epigenomes tab</a:t>
            </a:r>
            <a:endParaRPr/>
          </a:p>
        </p:txBody>
      </p:sp>
      <p:pic>
        <p:nvPicPr>
          <p:cNvPr id="698" name="Google Shape;698;p68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19975" y="927950"/>
            <a:ext cx="4180700" cy="3143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6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848900" y="3878150"/>
            <a:ext cx="1132125" cy="1132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68">
            <a:hlinkClick r:id="rId6"/>
          </p:cNvPr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5550" y="1254850"/>
            <a:ext cx="4698849" cy="2349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68">
            <a:hlinkClick r:id="rId3"/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344263" y="3878150"/>
            <a:ext cx="1132125" cy="1132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Google Shape;706;p69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Epigenomes tab</a:t>
            </a:r>
            <a:endParaRPr/>
          </a:p>
        </p:txBody>
      </p:sp>
      <p:pic>
        <p:nvPicPr>
          <p:cNvPr id="707" name="Google Shape;707;p6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25624" y="792250"/>
            <a:ext cx="7277249" cy="3935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Google Shape;712;p70"/>
          <p:cNvSpPr txBox="1">
            <a:spLocks noGrp="1"/>
          </p:cNvSpPr>
          <p:nvPr>
            <p:ph type="title"/>
          </p:nvPr>
        </p:nvSpPr>
        <p:spPr>
          <a:xfrm>
            <a:off x="300688" y="269869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Regulatory Features tab</a:t>
            </a:r>
            <a:endParaRPr/>
          </a:p>
        </p:txBody>
      </p:sp>
      <p:pic>
        <p:nvPicPr>
          <p:cNvPr id="713" name="Google Shape;713;p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773750"/>
            <a:ext cx="5479361" cy="2841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714" name="Google Shape;714;p7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482050" y="2198600"/>
            <a:ext cx="5212526" cy="2512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715" name="Google Shape;715;p7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011875" y="0"/>
            <a:ext cx="1132125" cy="1132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0" name="Google Shape;720;p7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986625"/>
            <a:ext cx="9144002" cy="3766150"/>
          </a:xfrm>
          <a:prstGeom prst="rect">
            <a:avLst/>
          </a:prstGeom>
          <a:noFill/>
          <a:ln>
            <a:noFill/>
          </a:ln>
        </p:spPr>
      </p:pic>
      <p:sp>
        <p:nvSpPr>
          <p:cNvPr id="721" name="Google Shape;721;p71"/>
          <p:cNvSpPr txBox="1">
            <a:spLocks noGrp="1"/>
          </p:cNvSpPr>
          <p:nvPr>
            <p:ph type="title"/>
          </p:nvPr>
        </p:nvSpPr>
        <p:spPr>
          <a:xfrm>
            <a:off x="315738" y="306857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Regulatory Features tab</a:t>
            </a:r>
            <a:endParaRPr/>
          </a:p>
        </p:txBody>
      </p:sp>
      <p:sp>
        <p:nvSpPr>
          <p:cNvPr id="722" name="Google Shape;722;p71"/>
          <p:cNvSpPr/>
          <p:nvPr/>
        </p:nvSpPr>
        <p:spPr>
          <a:xfrm>
            <a:off x="1498224" y="2425450"/>
            <a:ext cx="1042800" cy="219000"/>
          </a:xfrm>
          <a:prstGeom prst="rect">
            <a:avLst/>
          </a:prstGeom>
          <a:solidFill>
            <a:srgbClr val="F49E17">
              <a:alpha val="10000"/>
            </a:srgbClr>
          </a:solidFill>
          <a:ln w="24225" cap="flat" cmpd="sng">
            <a:solidFill>
              <a:srgbClr val="F49E1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16225" tIns="116225" rIns="116225" bIns="1162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780">
              <a:solidFill>
                <a:srgbClr val="FFFFFF"/>
              </a:solidFill>
            </a:endParaRPr>
          </a:p>
        </p:txBody>
      </p:sp>
      <p:sp>
        <p:nvSpPr>
          <p:cNvPr id="723" name="Google Shape;723;p71"/>
          <p:cNvSpPr txBox="1"/>
          <p:nvPr/>
        </p:nvSpPr>
        <p:spPr>
          <a:xfrm>
            <a:off x="510625" y="2078650"/>
            <a:ext cx="2902200" cy="346800"/>
          </a:xfrm>
          <a:prstGeom prst="rect">
            <a:avLst/>
          </a:prstGeom>
          <a:solidFill>
            <a:srgbClr val="F49E17"/>
          </a:solidFill>
          <a:ln>
            <a:noFill/>
          </a:ln>
        </p:spPr>
        <p:txBody>
          <a:bodyPr spcFirstLastPara="1" wrap="square" lIns="116225" tIns="116225" rIns="116225" bIns="1162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>
                <a:solidFill>
                  <a:srgbClr val="FFFFFF"/>
                </a:solidFill>
              </a:rPr>
              <a:t>Click to visualise location</a:t>
            </a:r>
            <a:endParaRPr sz="1600" b="1">
              <a:solidFill>
                <a:srgbClr val="FFFFFF"/>
              </a:solidFill>
            </a:endParaRPr>
          </a:p>
        </p:txBody>
      </p:sp>
      <p:pic>
        <p:nvPicPr>
          <p:cNvPr id="724" name="Google Shape;724;p7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11875" y="0"/>
            <a:ext cx="1132125" cy="1132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9" name="Google Shape;729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81113" y="849950"/>
            <a:ext cx="6181773" cy="4275275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72"/>
          <p:cNvSpPr txBox="1">
            <a:spLocks noGrp="1"/>
          </p:cNvSpPr>
          <p:nvPr>
            <p:ph type="title"/>
          </p:nvPr>
        </p:nvSpPr>
        <p:spPr>
          <a:xfrm>
            <a:off x="354713" y="306857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Genome view tab</a:t>
            </a:r>
            <a:endParaRPr/>
          </a:p>
        </p:txBody>
      </p:sp>
      <p:sp>
        <p:nvSpPr>
          <p:cNvPr id="731" name="Google Shape;731;p72"/>
          <p:cNvSpPr txBox="1"/>
          <p:nvPr/>
        </p:nvSpPr>
        <p:spPr>
          <a:xfrm>
            <a:off x="5255950" y="1199875"/>
            <a:ext cx="2244300" cy="324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116225" tIns="116225" rIns="116225" bIns="1162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>
                <a:solidFill>
                  <a:schemeClr val="lt1"/>
                </a:solidFill>
              </a:rPr>
              <a:t>Search coordinates</a:t>
            </a:r>
            <a:endParaRPr sz="1600" b="1">
              <a:solidFill>
                <a:schemeClr val="lt1"/>
              </a:solidFill>
            </a:endParaRPr>
          </a:p>
        </p:txBody>
      </p:sp>
      <p:sp>
        <p:nvSpPr>
          <p:cNvPr id="732" name="Google Shape;732;p72"/>
          <p:cNvSpPr/>
          <p:nvPr/>
        </p:nvSpPr>
        <p:spPr>
          <a:xfrm>
            <a:off x="5690500" y="1524175"/>
            <a:ext cx="1375200" cy="184800"/>
          </a:xfrm>
          <a:prstGeom prst="rect">
            <a:avLst/>
          </a:prstGeom>
          <a:solidFill>
            <a:srgbClr val="F49E17">
              <a:alpha val="10000"/>
            </a:srgbClr>
          </a:solidFill>
          <a:ln w="242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16225" tIns="116225" rIns="116225" bIns="1162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780">
              <a:solidFill>
                <a:schemeClr val="lt1"/>
              </a:solidFill>
            </a:endParaRPr>
          </a:p>
        </p:txBody>
      </p:sp>
      <p:sp>
        <p:nvSpPr>
          <p:cNvPr id="733" name="Google Shape;733;p72"/>
          <p:cNvSpPr/>
          <p:nvPr/>
        </p:nvSpPr>
        <p:spPr>
          <a:xfrm>
            <a:off x="5702975" y="1706575"/>
            <a:ext cx="1362600" cy="145800"/>
          </a:xfrm>
          <a:prstGeom prst="rect">
            <a:avLst/>
          </a:prstGeom>
          <a:solidFill>
            <a:srgbClr val="F49E17">
              <a:alpha val="10000"/>
            </a:srgbClr>
          </a:solidFill>
          <a:ln w="242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16225" tIns="116225" rIns="116225" bIns="1162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780">
              <a:solidFill>
                <a:schemeClr val="lt1"/>
              </a:solidFill>
            </a:endParaRPr>
          </a:p>
        </p:txBody>
      </p:sp>
      <p:sp>
        <p:nvSpPr>
          <p:cNvPr id="734" name="Google Shape;734;p72"/>
          <p:cNvSpPr txBox="1"/>
          <p:nvPr/>
        </p:nvSpPr>
        <p:spPr>
          <a:xfrm>
            <a:off x="6199325" y="1852375"/>
            <a:ext cx="1468500" cy="324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116225" tIns="116225" rIns="116225" bIns="1162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>
                <a:solidFill>
                  <a:schemeClr val="lt1"/>
                </a:solidFill>
              </a:rPr>
              <a:t>Zoom tools</a:t>
            </a:r>
            <a:endParaRPr sz="1600" b="1">
              <a:solidFill>
                <a:schemeClr val="lt1"/>
              </a:solidFill>
            </a:endParaRPr>
          </a:p>
        </p:txBody>
      </p:sp>
      <p:sp>
        <p:nvSpPr>
          <p:cNvPr id="735" name="Google Shape;735;p72"/>
          <p:cNvSpPr txBox="1"/>
          <p:nvPr/>
        </p:nvSpPr>
        <p:spPr>
          <a:xfrm>
            <a:off x="1943375" y="1852375"/>
            <a:ext cx="1811700" cy="324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116225" tIns="116225" rIns="116225" bIns="1162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>
                <a:solidFill>
                  <a:schemeClr val="lt1"/>
                </a:solidFill>
              </a:rPr>
              <a:t>Current location</a:t>
            </a:r>
            <a:endParaRPr sz="1600" b="1">
              <a:solidFill>
                <a:schemeClr val="lt1"/>
              </a:solidFill>
            </a:endParaRPr>
          </a:p>
        </p:txBody>
      </p:sp>
      <p:sp>
        <p:nvSpPr>
          <p:cNvPr id="736" name="Google Shape;736;p72"/>
          <p:cNvSpPr/>
          <p:nvPr/>
        </p:nvSpPr>
        <p:spPr>
          <a:xfrm>
            <a:off x="2542474" y="1674900"/>
            <a:ext cx="613500" cy="184800"/>
          </a:xfrm>
          <a:prstGeom prst="rect">
            <a:avLst/>
          </a:prstGeom>
          <a:solidFill>
            <a:srgbClr val="F49E17">
              <a:alpha val="10000"/>
            </a:srgbClr>
          </a:solidFill>
          <a:ln w="242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16225" tIns="116225" rIns="116225" bIns="1162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780">
              <a:solidFill>
                <a:schemeClr val="lt1"/>
              </a:solidFill>
            </a:endParaRPr>
          </a:p>
        </p:txBody>
      </p:sp>
      <p:sp>
        <p:nvSpPr>
          <p:cNvPr id="737" name="Google Shape;737;p72"/>
          <p:cNvSpPr/>
          <p:nvPr/>
        </p:nvSpPr>
        <p:spPr>
          <a:xfrm>
            <a:off x="2075974" y="3625875"/>
            <a:ext cx="5009700" cy="277500"/>
          </a:xfrm>
          <a:prstGeom prst="rect">
            <a:avLst/>
          </a:prstGeom>
          <a:solidFill>
            <a:srgbClr val="F49E17">
              <a:alpha val="10000"/>
            </a:srgbClr>
          </a:solidFill>
          <a:ln w="242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16225" tIns="116225" rIns="116225" bIns="1162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780">
              <a:solidFill>
                <a:schemeClr val="lt1"/>
              </a:solidFill>
            </a:endParaRPr>
          </a:p>
        </p:txBody>
      </p:sp>
      <p:sp>
        <p:nvSpPr>
          <p:cNvPr id="738" name="Google Shape;738;p72"/>
          <p:cNvSpPr txBox="1"/>
          <p:nvPr/>
        </p:nvSpPr>
        <p:spPr>
          <a:xfrm>
            <a:off x="3168425" y="3301575"/>
            <a:ext cx="2824800" cy="324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116225" tIns="116225" rIns="116225" bIns="1162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>
                <a:solidFill>
                  <a:schemeClr val="lt1"/>
                </a:solidFill>
              </a:rPr>
              <a:t>Regulatory features card</a:t>
            </a:r>
            <a:endParaRPr sz="1600" b="1">
              <a:solidFill>
                <a:schemeClr val="lt1"/>
              </a:solidFill>
            </a:endParaRPr>
          </a:p>
        </p:txBody>
      </p:sp>
      <p:sp>
        <p:nvSpPr>
          <p:cNvPr id="739" name="Google Shape;739;p72"/>
          <p:cNvSpPr/>
          <p:nvPr/>
        </p:nvSpPr>
        <p:spPr>
          <a:xfrm>
            <a:off x="2075975" y="4265775"/>
            <a:ext cx="5009700" cy="824100"/>
          </a:xfrm>
          <a:prstGeom prst="rect">
            <a:avLst/>
          </a:prstGeom>
          <a:solidFill>
            <a:srgbClr val="F49E17">
              <a:alpha val="10000"/>
            </a:srgbClr>
          </a:solidFill>
          <a:ln w="242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16225" tIns="116225" rIns="116225" bIns="1162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780">
              <a:solidFill>
                <a:schemeClr val="lt1"/>
              </a:solidFill>
            </a:endParaRPr>
          </a:p>
        </p:txBody>
      </p:sp>
      <p:sp>
        <p:nvSpPr>
          <p:cNvPr id="740" name="Google Shape;740;p72"/>
          <p:cNvSpPr txBox="1"/>
          <p:nvPr/>
        </p:nvSpPr>
        <p:spPr>
          <a:xfrm>
            <a:off x="3458675" y="3941475"/>
            <a:ext cx="2244300" cy="324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116225" tIns="116225" rIns="116225" bIns="1162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>
                <a:solidFill>
                  <a:schemeClr val="lt1"/>
                </a:solidFill>
              </a:rPr>
              <a:t>Filtered epigenomes</a:t>
            </a:r>
            <a:endParaRPr sz="1600" b="1">
              <a:solidFill>
                <a:schemeClr val="lt1"/>
              </a:solidFill>
            </a:endParaRPr>
          </a:p>
        </p:txBody>
      </p:sp>
      <p:pic>
        <p:nvPicPr>
          <p:cNvPr id="741" name="Google Shape;741;p7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11875" y="3"/>
            <a:ext cx="1132125" cy="1132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6" name="Google Shape;746;p7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6950" y="1130400"/>
            <a:ext cx="7811700" cy="3491800"/>
          </a:xfrm>
          <a:prstGeom prst="rect">
            <a:avLst/>
          </a:prstGeom>
          <a:noFill/>
          <a:ln>
            <a:noFill/>
          </a:ln>
        </p:spPr>
      </p:pic>
      <p:sp>
        <p:nvSpPr>
          <p:cNvPr id="747" name="Google Shape;747;p73"/>
          <p:cNvSpPr/>
          <p:nvPr/>
        </p:nvSpPr>
        <p:spPr>
          <a:xfrm>
            <a:off x="7314925" y="4625200"/>
            <a:ext cx="1829100" cy="5184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48" name="Google Shape;748;p73"/>
          <p:cNvSpPr txBox="1">
            <a:spLocks noGrp="1"/>
          </p:cNvSpPr>
          <p:nvPr>
            <p:ph type="title"/>
          </p:nvPr>
        </p:nvSpPr>
        <p:spPr>
          <a:xfrm>
            <a:off x="345888" y="35079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Genome view tab: zoomed out</a:t>
            </a:r>
            <a:endParaRPr/>
          </a:p>
        </p:txBody>
      </p:sp>
      <p:sp>
        <p:nvSpPr>
          <p:cNvPr id="749" name="Google Shape;749;p73"/>
          <p:cNvSpPr txBox="1"/>
          <p:nvPr/>
        </p:nvSpPr>
        <p:spPr>
          <a:xfrm>
            <a:off x="1622725" y="2331325"/>
            <a:ext cx="1026900" cy="415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116225" tIns="116225" rIns="116225" bIns="1162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>
                <a:solidFill>
                  <a:schemeClr val="lt1"/>
                </a:solidFill>
              </a:rPr>
              <a:t>Scale</a:t>
            </a:r>
            <a:endParaRPr sz="1600" b="1">
              <a:solidFill>
                <a:schemeClr val="lt1"/>
              </a:solidFill>
            </a:endParaRPr>
          </a:p>
        </p:txBody>
      </p:sp>
      <p:sp>
        <p:nvSpPr>
          <p:cNvPr id="750" name="Google Shape;750;p73"/>
          <p:cNvSpPr/>
          <p:nvPr/>
        </p:nvSpPr>
        <p:spPr>
          <a:xfrm>
            <a:off x="1146625" y="2145275"/>
            <a:ext cx="476100" cy="300900"/>
          </a:xfrm>
          <a:prstGeom prst="rect">
            <a:avLst/>
          </a:prstGeom>
          <a:solidFill>
            <a:srgbClr val="F49E17">
              <a:alpha val="10000"/>
            </a:srgbClr>
          </a:solidFill>
          <a:ln w="242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16225" tIns="116225" rIns="116225" bIns="1162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780">
              <a:solidFill>
                <a:schemeClr val="lt1"/>
              </a:solidFill>
            </a:endParaRPr>
          </a:p>
        </p:txBody>
      </p:sp>
      <p:sp>
        <p:nvSpPr>
          <p:cNvPr id="751" name="Google Shape;751;p73"/>
          <p:cNvSpPr/>
          <p:nvPr/>
        </p:nvSpPr>
        <p:spPr>
          <a:xfrm>
            <a:off x="6844500" y="1966825"/>
            <a:ext cx="410400" cy="232200"/>
          </a:xfrm>
          <a:prstGeom prst="rect">
            <a:avLst/>
          </a:prstGeom>
          <a:solidFill>
            <a:srgbClr val="F49E17">
              <a:alpha val="10000"/>
            </a:srgbClr>
          </a:solidFill>
          <a:ln w="242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16225" tIns="116225" rIns="116225" bIns="1162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780">
              <a:solidFill>
                <a:schemeClr val="lt1"/>
              </a:solidFill>
            </a:endParaRPr>
          </a:p>
        </p:txBody>
      </p:sp>
      <p:sp>
        <p:nvSpPr>
          <p:cNvPr id="752" name="Google Shape;752;p73"/>
          <p:cNvSpPr txBox="1"/>
          <p:nvPr/>
        </p:nvSpPr>
        <p:spPr>
          <a:xfrm>
            <a:off x="6038700" y="2446075"/>
            <a:ext cx="1551600" cy="415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116225" tIns="116225" rIns="116225" bIns="1162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>
                <a:solidFill>
                  <a:schemeClr val="lt1"/>
                </a:solidFill>
              </a:rPr>
              <a:t>Zoom out</a:t>
            </a:r>
            <a:endParaRPr sz="1600" b="1">
              <a:solidFill>
                <a:schemeClr val="lt1"/>
              </a:solidFill>
            </a:endParaRPr>
          </a:p>
        </p:txBody>
      </p:sp>
      <p:sp>
        <p:nvSpPr>
          <p:cNvPr id="753" name="Google Shape;753;p73"/>
          <p:cNvSpPr txBox="1"/>
          <p:nvPr/>
        </p:nvSpPr>
        <p:spPr>
          <a:xfrm>
            <a:off x="649225" y="1487575"/>
            <a:ext cx="2220000" cy="415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116225" tIns="116225" rIns="116225" bIns="1162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>
                <a:solidFill>
                  <a:schemeClr val="lt1"/>
                </a:solidFill>
              </a:rPr>
              <a:t>Current coordinates</a:t>
            </a:r>
            <a:endParaRPr sz="1600" b="1">
              <a:solidFill>
                <a:schemeClr val="lt1"/>
              </a:solidFill>
            </a:endParaRPr>
          </a:p>
        </p:txBody>
      </p:sp>
      <p:sp>
        <p:nvSpPr>
          <p:cNvPr id="754" name="Google Shape;754;p73"/>
          <p:cNvSpPr/>
          <p:nvPr/>
        </p:nvSpPr>
        <p:spPr>
          <a:xfrm>
            <a:off x="1278050" y="1985975"/>
            <a:ext cx="963900" cy="159300"/>
          </a:xfrm>
          <a:prstGeom prst="rect">
            <a:avLst/>
          </a:prstGeom>
          <a:solidFill>
            <a:srgbClr val="F49E17">
              <a:alpha val="10000"/>
            </a:srgbClr>
          </a:solidFill>
          <a:ln w="242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16225" tIns="116225" rIns="116225" bIns="1162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780">
              <a:solidFill>
                <a:schemeClr val="lt1"/>
              </a:solidFill>
            </a:endParaRPr>
          </a:p>
        </p:txBody>
      </p:sp>
      <p:pic>
        <p:nvPicPr>
          <p:cNvPr id="755" name="Google Shape;755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13588" y="0"/>
            <a:ext cx="1130400" cy="1130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74"/>
          <p:cNvSpPr txBox="1">
            <a:spLocks noGrp="1"/>
          </p:cNvSpPr>
          <p:nvPr>
            <p:ph type="title"/>
          </p:nvPr>
        </p:nvSpPr>
        <p:spPr>
          <a:xfrm>
            <a:off x="345888" y="390969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Genome view tab: chromosome change</a:t>
            </a:r>
            <a:endParaRPr/>
          </a:p>
        </p:txBody>
      </p:sp>
      <p:pic>
        <p:nvPicPr>
          <p:cNvPr id="761" name="Google Shape;761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59150" y="909375"/>
            <a:ext cx="4225704" cy="4234124"/>
          </a:xfrm>
          <a:prstGeom prst="rect">
            <a:avLst/>
          </a:prstGeom>
          <a:noFill/>
          <a:ln>
            <a:noFill/>
          </a:ln>
        </p:spPr>
      </p:pic>
      <p:sp>
        <p:nvSpPr>
          <p:cNvPr id="762" name="Google Shape;762;p74"/>
          <p:cNvSpPr txBox="1"/>
          <p:nvPr/>
        </p:nvSpPr>
        <p:spPr>
          <a:xfrm>
            <a:off x="2243600" y="1495175"/>
            <a:ext cx="2624700" cy="415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116225" tIns="116225" rIns="116225" bIns="1162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>
                <a:solidFill>
                  <a:schemeClr val="lt1"/>
                </a:solidFill>
              </a:rPr>
              <a:t>Change chromosome</a:t>
            </a:r>
            <a:endParaRPr sz="1600" b="1">
              <a:solidFill>
                <a:schemeClr val="lt1"/>
              </a:solidFill>
            </a:endParaRPr>
          </a:p>
        </p:txBody>
      </p:sp>
      <p:sp>
        <p:nvSpPr>
          <p:cNvPr id="763" name="Google Shape;763;p74"/>
          <p:cNvSpPr/>
          <p:nvPr/>
        </p:nvSpPr>
        <p:spPr>
          <a:xfrm>
            <a:off x="2824550" y="1910675"/>
            <a:ext cx="1462800" cy="2732700"/>
          </a:xfrm>
          <a:prstGeom prst="rect">
            <a:avLst/>
          </a:prstGeom>
          <a:solidFill>
            <a:srgbClr val="F49E17">
              <a:alpha val="10000"/>
            </a:srgbClr>
          </a:solidFill>
          <a:ln w="242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16225" tIns="116225" rIns="116225" bIns="1162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780">
              <a:solidFill>
                <a:schemeClr val="lt1"/>
              </a:solidFill>
            </a:endParaRPr>
          </a:p>
        </p:txBody>
      </p:sp>
      <p:pic>
        <p:nvPicPr>
          <p:cNvPr id="764" name="Google Shape;764;p7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11875" y="3"/>
            <a:ext cx="1132125" cy="1132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75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Genome view tab: Gene search</a:t>
            </a:r>
            <a:endParaRPr/>
          </a:p>
        </p:txBody>
      </p:sp>
      <p:pic>
        <p:nvPicPr>
          <p:cNvPr id="770" name="Google Shape;770;p7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792250"/>
            <a:ext cx="4762589" cy="4351251"/>
          </a:xfrm>
          <a:prstGeom prst="rect">
            <a:avLst/>
          </a:prstGeom>
          <a:noFill/>
          <a:ln>
            <a:noFill/>
          </a:ln>
        </p:spPr>
      </p:pic>
      <p:sp>
        <p:nvSpPr>
          <p:cNvPr id="771" name="Google Shape;771;p75"/>
          <p:cNvSpPr/>
          <p:nvPr/>
        </p:nvSpPr>
        <p:spPr>
          <a:xfrm>
            <a:off x="54376" y="3047525"/>
            <a:ext cx="4652400" cy="1252200"/>
          </a:xfrm>
          <a:prstGeom prst="rect">
            <a:avLst/>
          </a:prstGeom>
          <a:solidFill>
            <a:srgbClr val="F49E17">
              <a:alpha val="10000"/>
            </a:srgbClr>
          </a:solidFill>
          <a:ln w="1905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16225" tIns="116225" rIns="116225" bIns="1162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780">
              <a:solidFill>
                <a:schemeClr val="lt1"/>
              </a:solidFill>
            </a:endParaRPr>
          </a:p>
        </p:txBody>
      </p:sp>
      <p:sp>
        <p:nvSpPr>
          <p:cNvPr id="772" name="Google Shape;772;p75"/>
          <p:cNvSpPr txBox="1"/>
          <p:nvPr/>
        </p:nvSpPr>
        <p:spPr>
          <a:xfrm>
            <a:off x="1472475" y="2632025"/>
            <a:ext cx="1816200" cy="415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116225" tIns="116225" rIns="116225" bIns="1162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>
                <a:solidFill>
                  <a:schemeClr val="lt1"/>
                </a:solidFill>
              </a:rPr>
              <a:t>Genes card</a:t>
            </a:r>
            <a:endParaRPr sz="1600" b="1">
              <a:solidFill>
                <a:schemeClr val="lt1"/>
              </a:solidFill>
            </a:endParaRPr>
          </a:p>
        </p:txBody>
      </p:sp>
      <p:pic>
        <p:nvPicPr>
          <p:cNvPr id="773" name="Google Shape;773;p7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89225" y="1192775"/>
            <a:ext cx="4850575" cy="2259499"/>
          </a:xfrm>
          <a:prstGeom prst="rect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774" name="Google Shape;774;p7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011875" y="0"/>
            <a:ext cx="1132125" cy="1132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p76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Genome view tab: Gene page link</a:t>
            </a:r>
            <a:endParaRPr/>
          </a:p>
        </p:txBody>
      </p:sp>
      <p:pic>
        <p:nvPicPr>
          <p:cNvPr id="780" name="Google Shape;780;p7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40399" y="792250"/>
            <a:ext cx="5863194" cy="4351249"/>
          </a:xfrm>
          <a:prstGeom prst="rect">
            <a:avLst/>
          </a:prstGeom>
          <a:noFill/>
          <a:ln>
            <a:noFill/>
          </a:ln>
        </p:spPr>
      </p:pic>
      <p:sp>
        <p:nvSpPr>
          <p:cNvPr id="781" name="Google Shape;781;p76"/>
          <p:cNvSpPr/>
          <p:nvPr/>
        </p:nvSpPr>
        <p:spPr>
          <a:xfrm>
            <a:off x="1897475" y="4643450"/>
            <a:ext cx="756000" cy="195300"/>
          </a:xfrm>
          <a:prstGeom prst="rect">
            <a:avLst/>
          </a:prstGeom>
          <a:solidFill>
            <a:srgbClr val="F49E17">
              <a:alpha val="10000"/>
            </a:srgbClr>
          </a:solidFill>
          <a:ln w="24225" cap="flat" cmpd="sng">
            <a:solidFill>
              <a:srgbClr val="F49E1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16225" tIns="116225" rIns="116225" bIns="1162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780">
              <a:solidFill>
                <a:srgbClr val="FFFFFF"/>
              </a:solidFill>
            </a:endParaRPr>
          </a:p>
        </p:txBody>
      </p:sp>
      <p:sp>
        <p:nvSpPr>
          <p:cNvPr id="782" name="Google Shape;782;p76"/>
          <p:cNvSpPr txBox="1"/>
          <p:nvPr/>
        </p:nvSpPr>
        <p:spPr>
          <a:xfrm>
            <a:off x="1362125" y="4291850"/>
            <a:ext cx="1826700" cy="351600"/>
          </a:xfrm>
          <a:prstGeom prst="rect">
            <a:avLst/>
          </a:prstGeom>
          <a:solidFill>
            <a:srgbClr val="F49E17"/>
          </a:solidFill>
          <a:ln w="9525" cap="flat" cmpd="sng">
            <a:solidFill>
              <a:srgbClr val="F49E1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16225" tIns="116225" rIns="116225" bIns="1162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>
                <a:solidFill>
                  <a:srgbClr val="FFFFFF"/>
                </a:solidFill>
              </a:rPr>
              <a:t>Gene page link</a:t>
            </a:r>
            <a:endParaRPr sz="1600" b="1">
              <a:solidFill>
                <a:srgbClr val="FFFFFF"/>
              </a:solidFill>
            </a:endParaRPr>
          </a:p>
        </p:txBody>
      </p:sp>
      <p:pic>
        <p:nvPicPr>
          <p:cNvPr id="783" name="Google Shape;783;p7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11875" y="0"/>
            <a:ext cx="1132125" cy="1132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77"/>
          <p:cNvSpPr/>
          <p:nvPr/>
        </p:nvSpPr>
        <p:spPr>
          <a:xfrm>
            <a:off x="7250100" y="4700400"/>
            <a:ext cx="1893900" cy="4431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89" name="Google Shape;789;p77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Genes tab</a:t>
            </a:r>
            <a:endParaRPr/>
          </a:p>
        </p:txBody>
      </p:sp>
      <p:pic>
        <p:nvPicPr>
          <p:cNvPr id="790" name="Google Shape;790;p7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93125" y="792250"/>
            <a:ext cx="7157740" cy="4351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1" name="Google Shape;791;p7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11875" y="0"/>
            <a:ext cx="1132125" cy="1132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6" name="Google Shape;796;p78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Genome view tab: Regulatory feature selection</a:t>
            </a:r>
            <a:endParaRPr/>
          </a:p>
        </p:txBody>
      </p:sp>
      <p:pic>
        <p:nvPicPr>
          <p:cNvPr id="797" name="Google Shape;79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43697" y="792250"/>
            <a:ext cx="5089002" cy="4295526"/>
          </a:xfrm>
          <a:prstGeom prst="rect">
            <a:avLst/>
          </a:prstGeom>
          <a:noFill/>
          <a:ln>
            <a:noFill/>
          </a:ln>
        </p:spPr>
      </p:pic>
      <p:sp>
        <p:nvSpPr>
          <p:cNvPr id="798" name="Google Shape;798;p78"/>
          <p:cNvSpPr/>
          <p:nvPr/>
        </p:nvSpPr>
        <p:spPr>
          <a:xfrm>
            <a:off x="2243700" y="3099575"/>
            <a:ext cx="5088900" cy="2044200"/>
          </a:xfrm>
          <a:prstGeom prst="rect">
            <a:avLst/>
          </a:prstGeom>
          <a:solidFill>
            <a:srgbClr val="F49E17">
              <a:alpha val="10000"/>
            </a:srgbClr>
          </a:solidFill>
          <a:ln w="24225" cap="flat" cmpd="sng">
            <a:solidFill>
              <a:srgbClr val="F49E1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16225" tIns="116225" rIns="116225" bIns="1162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780">
              <a:solidFill>
                <a:srgbClr val="FFFFFF"/>
              </a:solidFill>
            </a:endParaRPr>
          </a:p>
        </p:txBody>
      </p:sp>
      <p:sp>
        <p:nvSpPr>
          <p:cNvPr id="799" name="Google Shape;799;p78"/>
          <p:cNvSpPr txBox="1"/>
          <p:nvPr/>
        </p:nvSpPr>
        <p:spPr>
          <a:xfrm>
            <a:off x="2963100" y="2684075"/>
            <a:ext cx="3217800" cy="415500"/>
          </a:xfrm>
          <a:prstGeom prst="rect">
            <a:avLst/>
          </a:prstGeom>
          <a:solidFill>
            <a:srgbClr val="F49E17"/>
          </a:solidFill>
          <a:ln>
            <a:noFill/>
          </a:ln>
        </p:spPr>
        <p:txBody>
          <a:bodyPr spcFirstLastPara="1" wrap="square" lIns="116225" tIns="116225" rIns="116225" bIns="1162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>
                <a:solidFill>
                  <a:srgbClr val="FFFFFF"/>
                </a:solidFill>
              </a:rPr>
              <a:t>Regulatory features selection</a:t>
            </a:r>
            <a:endParaRPr sz="1600" b="1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p79"/>
          <p:cNvSpPr txBox="1">
            <a:spLocks noGrp="1"/>
          </p:cNvSpPr>
          <p:nvPr>
            <p:ph type="title"/>
          </p:nvPr>
        </p:nvSpPr>
        <p:spPr>
          <a:xfrm>
            <a:off x="345888" y="390969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Genome view tab: Regulatory activity</a:t>
            </a:r>
            <a:endParaRPr/>
          </a:p>
        </p:txBody>
      </p:sp>
      <p:pic>
        <p:nvPicPr>
          <p:cNvPr id="805" name="Google Shape;805;p7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83713" y="909375"/>
            <a:ext cx="5576578" cy="4234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806" name="Google Shape;806;p7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89150" y="0"/>
            <a:ext cx="1132125" cy="1132125"/>
          </a:xfrm>
          <a:prstGeom prst="rect">
            <a:avLst/>
          </a:prstGeom>
          <a:noFill/>
          <a:ln>
            <a:noFill/>
          </a:ln>
        </p:spPr>
      </p:pic>
      <p:sp>
        <p:nvSpPr>
          <p:cNvPr id="807" name="Google Shape;807;p79"/>
          <p:cNvSpPr/>
          <p:nvPr/>
        </p:nvSpPr>
        <p:spPr>
          <a:xfrm>
            <a:off x="1783763" y="3834250"/>
            <a:ext cx="5576700" cy="1309500"/>
          </a:xfrm>
          <a:prstGeom prst="rect">
            <a:avLst/>
          </a:prstGeom>
          <a:solidFill>
            <a:srgbClr val="F49E17">
              <a:alpha val="10000"/>
            </a:srgbClr>
          </a:solidFill>
          <a:ln w="32075" cap="flat" cmpd="sng">
            <a:solidFill>
              <a:srgbClr val="F49E1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53850" tIns="153850" rIns="153850" bIns="1538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356">
              <a:solidFill>
                <a:srgbClr val="FFFFFF"/>
              </a:solidFill>
            </a:endParaRPr>
          </a:p>
        </p:txBody>
      </p:sp>
      <p:sp>
        <p:nvSpPr>
          <p:cNvPr id="808" name="Google Shape;808;p79"/>
          <p:cNvSpPr txBox="1"/>
          <p:nvPr/>
        </p:nvSpPr>
        <p:spPr>
          <a:xfrm>
            <a:off x="3470850" y="3394750"/>
            <a:ext cx="2202300" cy="439500"/>
          </a:xfrm>
          <a:prstGeom prst="rect">
            <a:avLst/>
          </a:prstGeom>
          <a:solidFill>
            <a:srgbClr val="F49E17"/>
          </a:solidFill>
          <a:ln>
            <a:noFill/>
          </a:ln>
        </p:spPr>
        <p:txBody>
          <a:bodyPr spcFirstLastPara="1" wrap="square" lIns="153850" tIns="153850" rIns="153850" bIns="1538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>
                <a:solidFill>
                  <a:srgbClr val="FFFFFF"/>
                </a:solidFill>
              </a:rPr>
              <a:t>Regulatory activity</a:t>
            </a:r>
            <a:endParaRPr sz="1600" b="1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80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Genes tab</a:t>
            </a:r>
            <a:endParaRPr/>
          </a:p>
        </p:txBody>
      </p:sp>
      <p:pic>
        <p:nvPicPr>
          <p:cNvPr id="814" name="Google Shape;814;p8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76050" y="855644"/>
            <a:ext cx="6185203" cy="40464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15" name="Google Shape;815;p8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11875" y="0"/>
            <a:ext cx="1132125" cy="1132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Google Shape;820;p81"/>
          <p:cNvSpPr txBox="1">
            <a:spLocks noGrp="1"/>
          </p:cNvSpPr>
          <p:nvPr>
            <p:ph type="title"/>
          </p:nvPr>
        </p:nvSpPr>
        <p:spPr>
          <a:xfrm>
            <a:off x="65263" y="185900"/>
            <a:ext cx="91440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Differences between regulatory annotation frameworks</a:t>
            </a:r>
            <a:endParaRPr/>
          </a:p>
        </p:txBody>
      </p:sp>
      <p:graphicFrame>
        <p:nvGraphicFramePr>
          <p:cNvPr id="821" name="Google Shape;821;p81"/>
          <p:cNvGraphicFramePr/>
          <p:nvPr/>
        </p:nvGraphicFramePr>
        <p:xfrm>
          <a:off x="281325" y="8279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{36A24227-F492-472F-826B-EC29D6F5AE07}</a:tableStyleId>
              </a:tblPr>
              <a:tblGrid>
                <a:gridCol w="1071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16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80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430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5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/>
                        <a:t>Resource</a:t>
                      </a:r>
                      <a:endParaRPr sz="1000" b="1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29A4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/>
                        <a:t>Main evidence categories</a:t>
                      </a:r>
                      <a:endParaRPr sz="1000" b="1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29A4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/>
                        <a:t>What it is useful for</a:t>
                      </a:r>
                      <a:endParaRPr sz="1000" b="1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29A4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/>
                        <a:t>Main caveat</a:t>
                      </a:r>
                      <a:endParaRPr sz="1000" b="1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29A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1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i="1"/>
                        <a:t>Ensembl Regulation</a:t>
                      </a:r>
                      <a:endParaRPr sz="1000" i="1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Chromatin accessibility, histone modifications, </a:t>
                      </a:r>
                      <a:r>
                        <a:rPr lang="en-GB" sz="1000">
                          <a:solidFill>
                            <a:srgbClr val="000000"/>
                          </a:solidFill>
                        </a:rPr>
                        <a:t>CTCF ChIP-seq</a:t>
                      </a: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Integrated regulatory features: promoters, enhancers, open chromatin regions, CTCF sites; activity across epigenomes</a:t>
                      </a: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Evidence-based annotation, not direct proof of regulatory function</a:t>
                      </a: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1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i="1"/>
                        <a:t>ENCODE cCREs / SCREEN</a:t>
                      </a:r>
                      <a:endParaRPr sz="1000" i="1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solidFill>
                            <a:srgbClr val="000000"/>
                          </a:solidFill>
                        </a:rPr>
                        <a:t>Chromatin</a:t>
                      </a:r>
                      <a:r>
                        <a:rPr lang="en-GB" sz="1000"/>
                        <a:t> accessibility, histone </a:t>
                      </a:r>
                      <a:r>
                        <a:rPr lang="en-GB" sz="1000">
                          <a:solidFill>
                            <a:srgbClr val="000000"/>
                          </a:solidFill>
                        </a:rPr>
                        <a:t>modifications</a:t>
                      </a:r>
                      <a:r>
                        <a:rPr lang="en-GB" sz="1000"/>
                        <a:t>, CTCF/TF ChIP-seq</a:t>
                      </a: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Candidate cis-regulatory elements with promoter-like, enhancer-like, CTCF-like and other classes</a:t>
                      </a: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Strong genome-wide catalogue, but still “candidate” elements</a:t>
                      </a: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11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i="1"/>
                        <a:t>RefSeq Functional Elements</a:t>
                      </a:r>
                      <a:endParaRPr sz="1000" i="1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2E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Manually curated experimental evidence, literature, protein binding, functional assays</a:t>
                      </a: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2E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High-confidence functional regions such as enhancers, silencers, insulators and locus control regions</a:t>
                      </a: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2E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Curated and evidence-rich, but less comprehensive genome-wide</a:t>
                      </a: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2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54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i="1"/>
                        <a:t>FANTOM5</a:t>
                      </a:r>
                      <a:endParaRPr sz="1000" i="1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CB9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Transcription-based evidence, mainly CAGE</a:t>
                      </a: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CB9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Active promoters and transcribed enhancers across many cell types/tissues</a:t>
                      </a: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CB9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Best for active transcribed elements; may miss poised or non-transcribed CREs</a:t>
                      </a: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CB9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12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i="1"/>
                        <a:t>Roadmap Epigenomics / ChromHMM</a:t>
                      </a:r>
                      <a:endParaRPr sz="1000" i="1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2C4C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Chromatin accessibility, histone modifications</a:t>
                      </a: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2C4C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Chromatin-state annotations across many tissues/cell types</a:t>
                      </a: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2C4C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State labels are model-based and assay-dependent. Older technologies</a:t>
                      </a: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2C4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60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i="1"/>
                        <a:t>VISTA Browser</a:t>
                      </a:r>
                      <a:endParaRPr sz="1000" i="1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D1D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Comparative genomics plus in vivo reporter assays</a:t>
                      </a: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D1D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Experimentally validated developmental enhancers</a:t>
                      </a: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D1D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/>
                        <a:t>Very valuable but focused on tested fragments, not comprehensive</a:t>
                      </a: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D1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Google Shape;826;p82"/>
          <p:cNvSpPr txBox="1">
            <a:spLocks noGrp="1"/>
          </p:cNvSpPr>
          <p:nvPr>
            <p:ph type="title"/>
          </p:nvPr>
        </p:nvSpPr>
        <p:spPr>
          <a:xfrm>
            <a:off x="338138" y="3494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Differences between regulatory annotation frameworks: GRCh38</a:t>
            </a:r>
            <a:endParaRPr/>
          </a:p>
        </p:txBody>
      </p:sp>
      <p:pic>
        <p:nvPicPr>
          <p:cNvPr id="827" name="Google Shape;827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0150" y="945750"/>
            <a:ext cx="7106699" cy="3817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Google Shape;832;p83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Differences between regulatory annotation frameworks: GRCh38</a:t>
            </a:r>
            <a:endParaRPr/>
          </a:p>
        </p:txBody>
      </p:sp>
      <p:pic>
        <p:nvPicPr>
          <p:cNvPr id="833" name="Google Shape;833;p8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70200" y="866775"/>
            <a:ext cx="7114501" cy="3876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Google Shape;838;p84"/>
          <p:cNvSpPr txBox="1">
            <a:spLocks noGrp="1"/>
          </p:cNvSpPr>
          <p:nvPr>
            <p:ph type="title"/>
          </p:nvPr>
        </p:nvSpPr>
        <p:spPr>
          <a:xfrm>
            <a:off x="338138" y="3494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Differences between regulatory annotation frameworks: GRCh38</a:t>
            </a:r>
            <a:endParaRPr/>
          </a:p>
        </p:txBody>
      </p:sp>
      <p:pic>
        <p:nvPicPr>
          <p:cNvPr id="839" name="Google Shape;839;p8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4450" y="867850"/>
            <a:ext cx="7137873" cy="38517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840" name="Google Shape;840;p84"/>
          <p:cNvCxnSpPr/>
          <p:nvPr/>
        </p:nvCxnSpPr>
        <p:spPr>
          <a:xfrm rot="10800000">
            <a:off x="2445600" y="2819525"/>
            <a:ext cx="54600" cy="412800"/>
          </a:xfrm>
          <a:prstGeom prst="straightConnector1">
            <a:avLst/>
          </a:prstGeom>
          <a:noFill/>
          <a:ln w="19050" cap="flat" cmpd="sng">
            <a:solidFill>
              <a:srgbClr val="18974C"/>
            </a:solidFill>
            <a:prstDash val="solid"/>
            <a:round/>
            <a:headEnd type="none" w="med" len="med"/>
            <a:tailEnd type="stealth" w="med" len="med"/>
          </a:ln>
        </p:spPr>
      </p:cxnSp>
      <p:cxnSp>
        <p:nvCxnSpPr>
          <p:cNvPr id="841" name="Google Shape;841;p84"/>
          <p:cNvCxnSpPr/>
          <p:nvPr/>
        </p:nvCxnSpPr>
        <p:spPr>
          <a:xfrm rot="10800000" flipH="1">
            <a:off x="4950275" y="2765050"/>
            <a:ext cx="548700" cy="323700"/>
          </a:xfrm>
          <a:prstGeom prst="straightConnector1">
            <a:avLst/>
          </a:prstGeom>
          <a:noFill/>
          <a:ln w="19050" cap="flat" cmpd="sng">
            <a:solidFill>
              <a:srgbClr val="18974C"/>
            </a:solidFill>
            <a:prstDash val="solid"/>
            <a:round/>
            <a:headEnd type="none" w="med" len="med"/>
            <a:tailEnd type="stealth" w="med" len="med"/>
          </a:ln>
        </p:spPr>
      </p:cxnSp>
      <p:cxnSp>
        <p:nvCxnSpPr>
          <p:cNvPr id="842" name="Google Shape;842;p84"/>
          <p:cNvCxnSpPr/>
          <p:nvPr/>
        </p:nvCxnSpPr>
        <p:spPr>
          <a:xfrm rot="10800000" flipH="1">
            <a:off x="6707175" y="2804050"/>
            <a:ext cx="333900" cy="284700"/>
          </a:xfrm>
          <a:prstGeom prst="straightConnector1">
            <a:avLst/>
          </a:prstGeom>
          <a:noFill/>
          <a:ln w="19050" cap="flat" cmpd="sng">
            <a:solidFill>
              <a:srgbClr val="18974C"/>
            </a:solidFill>
            <a:prstDash val="solid"/>
            <a:round/>
            <a:headEnd type="none" w="med" len="med"/>
            <a:tailEnd type="stealth" w="med" len="med"/>
          </a:ln>
        </p:spPr>
      </p:cxn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p85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Differences between regulatory annotation frameworks: GRCh38</a:t>
            </a:r>
            <a:endParaRPr/>
          </a:p>
        </p:txBody>
      </p:sp>
      <p:pic>
        <p:nvPicPr>
          <p:cNvPr id="848" name="Google Shape;848;p8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6788" y="687619"/>
            <a:ext cx="7634924" cy="404645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Google Shape;853;p86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Differences between regulatory annotation frameworks: GRCh38</a:t>
            </a:r>
            <a:endParaRPr/>
          </a:p>
        </p:txBody>
      </p:sp>
      <p:pic>
        <p:nvPicPr>
          <p:cNvPr id="854" name="Google Shape;854;p8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5900" y="792250"/>
            <a:ext cx="7161575" cy="40078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855" name="Google Shape;855;p86"/>
          <p:cNvCxnSpPr/>
          <p:nvPr/>
        </p:nvCxnSpPr>
        <p:spPr>
          <a:xfrm rot="10800000" flipH="1">
            <a:off x="1935675" y="3281600"/>
            <a:ext cx="1488600" cy="428400"/>
          </a:xfrm>
          <a:prstGeom prst="straightConnector1">
            <a:avLst/>
          </a:prstGeom>
          <a:noFill/>
          <a:ln w="19050" cap="flat" cmpd="sng">
            <a:solidFill>
              <a:srgbClr val="18974C"/>
            </a:solidFill>
            <a:prstDash val="solid"/>
            <a:round/>
            <a:headEnd type="none" w="med" len="med"/>
            <a:tailEnd type="stealth" w="med" len="med"/>
          </a:ln>
        </p:spPr>
      </p:cxnSp>
      <p:cxnSp>
        <p:nvCxnSpPr>
          <p:cNvPr id="856" name="Google Shape;856;p86"/>
          <p:cNvCxnSpPr/>
          <p:nvPr/>
        </p:nvCxnSpPr>
        <p:spPr>
          <a:xfrm rot="10800000">
            <a:off x="3591825" y="3846100"/>
            <a:ext cx="310200" cy="372300"/>
          </a:xfrm>
          <a:prstGeom prst="straightConnector1">
            <a:avLst/>
          </a:prstGeom>
          <a:noFill/>
          <a:ln w="19050" cap="flat" cmpd="sng">
            <a:solidFill>
              <a:srgbClr val="18974C"/>
            </a:solidFill>
            <a:prstDash val="solid"/>
            <a:round/>
            <a:headEnd type="none" w="med" len="med"/>
            <a:tailEnd type="stealth" w="med" len="med"/>
          </a:ln>
        </p:spPr>
      </p:cxnSp>
      <p:cxnSp>
        <p:nvCxnSpPr>
          <p:cNvPr id="857" name="Google Shape;857;p86"/>
          <p:cNvCxnSpPr/>
          <p:nvPr/>
        </p:nvCxnSpPr>
        <p:spPr>
          <a:xfrm rot="10800000">
            <a:off x="4144150" y="3120125"/>
            <a:ext cx="353400" cy="285600"/>
          </a:xfrm>
          <a:prstGeom prst="straightConnector1">
            <a:avLst/>
          </a:prstGeom>
          <a:noFill/>
          <a:ln w="19050" cap="flat" cmpd="sng">
            <a:solidFill>
              <a:srgbClr val="18974C"/>
            </a:solidFill>
            <a:prstDash val="solid"/>
            <a:round/>
            <a:headEnd type="none" w="med" len="med"/>
            <a:tailEnd type="stealth" w="med" len="med"/>
          </a:ln>
        </p:spPr>
      </p:cxnSp>
      <p:cxnSp>
        <p:nvCxnSpPr>
          <p:cNvPr id="858" name="Google Shape;858;p86"/>
          <p:cNvCxnSpPr/>
          <p:nvPr/>
        </p:nvCxnSpPr>
        <p:spPr>
          <a:xfrm rot="10800000" flipH="1">
            <a:off x="6650175" y="2785275"/>
            <a:ext cx="155100" cy="316500"/>
          </a:xfrm>
          <a:prstGeom prst="straightConnector1">
            <a:avLst/>
          </a:prstGeom>
          <a:noFill/>
          <a:ln w="19050" cap="flat" cmpd="sng">
            <a:solidFill>
              <a:srgbClr val="18974C"/>
            </a:solidFill>
            <a:prstDash val="solid"/>
            <a:round/>
            <a:headEnd type="none" w="med" len="med"/>
            <a:tailEnd type="stealth" w="med" len="med"/>
          </a:ln>
        </p:spPr>
      </p:cxn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Google Shape;863;p87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Differences between regulatory annotation frameworks: GRCh38</a:t>
            </a:r>
            <a:endParaRPr/>
          </a:p>
        </p:txBody>
      </p:sp>
      <p:pic>
        <p:nvPicPr>
          <p:cNvPr id="864" name="Google Shape;864;p8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55125" y="1074924"/>
            <a:ext cx="6372874" cy="3621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9" name="Google Shape;869;p88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Questions?</a:t>
            </a:r>
            <a:endParaRPr/>
          </a:p>
        </p:txBody>
      </p:sp>
      <p:grpSp>
        <p:nvGrpSpPr>
          <p:cNvPr id="870" name="Google Shape;870;p88"/>
          <p:cNvGrpSpPr/>
          <p:nvPr/>
        </p:nvGrpSpPr>
        <p:grpSpPr>
          <a:xfrm>
            <a:off x="1788346" y="1314725"/>
            <a:ext cx="776475" cy="2406685"/>
            <a:chOff x="3226825" y="1139765"/>
            <a:chExt cx="776475" cy="2406685"/>
          </a:xfrm>
        </p:grpSpPr>
        <p:sp>
          <p:nvSpPr>
            <p:cNvPr id="871" name="Google Shape;871;p88"/>
            <p:cNvSpPr/>
            <p:nvPr/>
          </p:nvSpPr>
          <p:spPr>
            <a:xfrm>
              <a:off x="3226825" y="1139765"/>
              <a:ext cx="776475" cy="2145375"/>
            </a:xfrm>
            <a:custGeom>
              <a:avLst/>
              <a:gdLst/>
              <a:ahLst/>
              <a:cxnLst/>
              <a:rect l="l" t="t" r="r" b="b"/>
              <a:pathLst>
                <a:path w="31059" h="85815" extrusionOk="0">
                  <a:moveTo>
                    <a:pt x="0" y="14021"/>
                  </a:moveTo>
                  <a:cubicBezTo>
                    <a:pt x="0" y="9152"/>
                    <a:pt x="2195" y="2810"/>
                    <a:pt x="6739" y="1062"/>
                  </a:cubicBezTo>
                  <a:cubicBezTo>
                    <a:pt x="14810" y="-2042"/>
                    <a:pt x="30061" y="2040"/>
                    <a:pt x="30843" y="10652"/>
                  </a:cubicBezTo>
                  <a:cubicBezTo>
                    <a:pt x="31710" y="20191"/>
                    <a:pt x="28640" y="30416"/>
                    <a:pt x="23327" y="38385"/>
                  </a:cubicBezTo>
                  <a:cubicBezTo>
                    <a:pt x="20036" y="43322"/>
                    <a:pt x="14613" y="46612"/>
                    <a:pt x="11405" y="51603"/>
                  </a:cubicBezTo>
                  <a:cubicBezTo>
                    <a:pt x="5161" y="61317"/>
                    <a:pt x="5962" y="74268"/>
                    <a:pt x="5962" y="85815"/>
                  </a:cubicBezTo>
                </a:path>
              </a:pathLst>
            </a:custGeom>
            <a:noFill/>
            <a:ln w="228600" cap="flat" cmpd="sng">
              <a:solidFill>
                <a:srgbClr val="274E13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72" name="Google Shape;872;p88"/>
            <p:cNvSpPr/>
            <p:nvPr/>
          </p:nvSpPr>
          <p:spPr>
            <a:xfrm>
              <a:off x="3316488" y="3427700"/>
              <a:ext cx="120625" cy="118750"/>
            </a:xfrm>
            <a:custGeom>
              <a:avLst/>
              <a:gdLst/>
              <a:ahLst/>
              <a:cxnLst/>
              <a:rect l="l" t="t" r="r" b="b"/>
              <a:pathLst>
                <a:path w="4825" h="4750" extrusionOk="0">
                  <a:moveTo>
                    <a:pt x="301" y="0"/>
                  </a:moveTo>
                  <a:cubicBezTo>
                    <a:pt x="-852" y="1732"/>
                    <a:pt x="2396" y="5007"/>
                    <a:pt x="4448" y="4665"/>
                  </a:cubicBezTo>
                  <a:cubicBezTo>
                    <a:pt x="6272" y="4361"/>
                    <a:pt x="627" y="-458"/>
                    <a:pt x="42" y="1296"/>
                  </a:cubicBezTo>
                </a:path>
              </a:pathLst>
            </a:custGeom>
            <a:noFill/>
            <a:ln w="228600" cap="flat" cmpd="sng">
              <a:solidFill>
                <a:srgbClr val="274E13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73" name="Google Shape;873;p88"/>
          <p:cNvGrpSpPr/>
          <p:nvPr/>
        </p:nvGrpSpPr>
        <p:grpSpPr>
          <a:xfrm>
            <a:off x="6367779" y="1366550"/>
            <a:ext cx="776475" cy="2406685"/>
            <a:chOff x="3226825" y="1139765"/>
            <a:chExt cx="776475" cy="2406685"/>
          </a:xfrm>
        </p:grpSpPr>
        <p:sp>
          <p:nvSpPr>
            <p:cNvPr id="874" name="Google Shape;874;p88"/>
            <p:cNvSpPr/>
            <p:nvPr/>
          </p:nvSpPr>
          <p:spPr>
            <a:xfrm>
              <a:off x="3226825" y="1139765"/>
              <a:ext cx="776475" cy="2145375"/>
            </a:xfrm>
            <a:custGeom>
              <a:avLst/>
              <a:gdLst/>
              <a:ahLst/>
              <a:cxnLst/>
              <a:rect l="l" t="t" r="r" b="b"/>
              <a:pathLst>
                <a:path w="31059" h="85815" extrusionOk="0">
                  <a:moveTo>
                    <a:pt x="0" y="14021"/>
                  </a:moveTo>
                  <a:cubicBezTo>
                    <a:pt x="0" y="9152"/>
                    <a:pt x="2195" y="2810"/>
                    <a:pt x="6739" y="1062"/>
                  </a:cubicBezTo>
                  <a:cubicBezTo>
                    <a:pt x="14810" y="-2042"/>
                    <a:pt x="30061" y="2040"/>
                    <a:pt x="30843" y="10652"/>
                  </a:cubicBezTo>
                  <a:cubicBezTo>
                    <a:pt x="31710" y="20191"/>
                    <a:pt x="28640" y="30416"/>
                    <a:pt x="23327" y="38385"/>
                  </a:cubicBezTo>
                  <a:cubicBezTo>
                    <a:pt x="20036" y="43322"/>
                    <a:pt x="14613" y="46612"/>
                    <a:pt x="11405" y="51603"/>
                  </a:cubicBezTo>
                  <a:cubicBezTo>
                    <a:pt x="5161" y="61317"/>
                    <a:pt x="5962" y="74268"/>
                    <a:pt x="5962" y="85815"/>
                  </a:cubicBezTo>
                </a:path>
              </a:pathLst>
            </a:custGeom>
            <a:noFill/>
            <a:ln w="228600" cap="flat" cmpd="sng">
              <a:solidFill>
                <a:srgbClr val="B6D7A8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75" name="Google Shape;875;p88"/>
            <p:cNvSpPr/>
            <p:nvPr/>
          </p:nvSpPr>
          <p:spPr>
            <a:xfrm>
              <a:off x="3316488" y="3427700"/>
              <a:ext cx="120625" cy="118750"/>
            </a:xfrm>
            <a:custGeom>
              <a:avLst/>
              <a:gdLst/>
              <a:ahLst/>
              <a:cxnLst/>
              <a:rect l="l" t="t" r="r" b="b"/>
              <a:pathLst>
                <a:path w="4825" h="4750" extrusionOk="0">
                  <a:moveTo>
                    <a:pt x="301" y="0"/>
                  </a:moveTo>
                  <a:cubicBezTo>
                    <a:pt x="-852" y="1732"/>
                    <a:pt x="2396" y="5007"/>
                    <a:pt x="4448" y="4665"/>
                  </a:cubicBezTo>
                  <a:cubicBezTo>
                    <a:pt x="6272" y="4361"/>
                    <a:pt x="627" y="-458"/>
                    <a:pt x="42" y="1296"/>
                  </a:cubicBezTo>
                </a:path>
              </a:pathLst>
            </a:custGeom>
            <a:noFill/>
            <a:ln w="228600" cap="flat" cmpd="sng">
              <a:solidFill>
                <a:srgbClr val="B6D7A8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76" name="Google Shape;876;p88"/>
          <p:cNvGrpSpPr/>
          <p:nvPr/>
        </p:nvGrpSpPr>
        <p:grpSpPr>
          <a:xfrm>
            <a:off x="2933204" y="1366550"/>
            <a:ext cx="776475" cy="2406685"/>
            <a:chOff x="3226825" y="1139765"/>
            <a:chExt cx="776475" cy="2406685"/>
          </a:xfrm>
        </p:grpSpPr>
        <p:sp>
          <p:nvSpPr>
            <p:cNvPr id="877" name="Google Shape;877;p88"/>
            <p:cNvSpPr/>
            <p:nvPr/>
          </p:nvSpPr>
          <p:spPr>
            <a:xfrm>
              <a:off x="3226825" y="1139765"/>
              <a:ext cx="776475" cy="2145375"/>
            </a:xfrm>
            <a:custGeom>
              <a:avLst/>
              <a:gdLst/>
              <a:ahLst/>
              <a:cxnLst/>
              <a:rect l="l" t="t" r="r" b="b"/>
              <a:pathLst>
                <a:path w="31059" h="85815" extrusionOk="0">
                  <a:moveTo>
                    <a:pt x="0" y="14021"/>
                  </a:moveTo>
                  <a:cubicBezTo>
                    <a:pt x="0" y="9152"/>
                    <a:pt x="2195" y="2810"/>
                    <a:pt x="6739" y="1062"/>
                  </a:cubicBezTo>
                  <a:cubicBezTo>
                    <a:pt x="14810" y="-2042"/>
                    <a:pt x="30061" y="2040"/>
                    <a:pt x="30843" y="10652"/>
                  </a:cubicBezTo>
                  <a:cubicBezTo>
                    <a:pt x="31710" y="20191"/>
                    <a:pt x="28640" y="30416"/>
                    <a:pt x="23327" y="38385"/>
                  </a:cubicBezTo>
                  <a:cubicBezTo>
                    <a:pt x="20036" y="43322"/>
                    <a:pt x="14613" y="46612"/>
                    <a:pt x="11405" y="51603"/>
                  </a:cubicBezTo>
                  <a:cubicBezTo>
                    <a:pt x="5161" y="61317"/>
                    <a:pt x="5962" y="74268"/>
                    <a:pt x="5962" y="85815"/>
                  </a:cubicBezTo>
                </a:path>
              </a:pathLst>
            </a:custGeom>
            <a:noFill/>
            <a:ln w="228600" cap="flat" cmpd="sng">
              <a:solidFill>
                <a:srgbClr val="38761D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78" name="Google Shape;878;p88"/>
            <p:cNvSpPr/>
            <p:nvPr/>
          </p:nvSpPr>
          <p:spPr>
            <a:xfrm>
              <a:off x="3316488" y="3427700"/>
              <a:ext cx="120625" cy="118750"/>
            </a:xfrm>
            <a:custGeom>
              <a:avLst/>
              <a:gdLst/>
              <a:ahLst/>
              <a:cxnLst/>
              <a:rect l="l" t="t" r="r" b="b"/>
              <a:pathLst>
                <a:path w="4825" h="4750" extrusionOk="0">
                  <a:moveTo>
                    <a:pt x="301" y="0"/>
                  </a:moveTo>
                  <a:cubicBezTo>
                    <a:pt x="-852" y="1732"/>
                    <a:pt x="2396" y="5007"/>
                    <a:pt x="4448" y="4665"/>
                  </a:cubicBezTo>
                  <a:cubicBezTo>
                    <a:pt x="6272" y="4361"/>
                    <a:pt x="627" y="-458"/>
                    <a:pt x="42" y="1296"/>
                  </a:cubicBezTo>
                </a:path>
              </a:pathLst>
            </a:custGeom>
            <a:noFill/>
            <a:ln w="228600" cap="flat" cmpd="sng">
              <a:solidFill>
                <a:srgbClr val="38761D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79" name="Google Shape;879;p88"/>
          <p:cNvGrpSpPr/>
          <p:nvPr/>
        </p:nvGrpSpPr>
        <p:grpSpPr>
          <a:xfrm>
            <a:off x="4078063" y="1366550"/>
            <a:ext cx="776475" cy="2406685"/>
            <a:chOff x="3226825" y="1139765"/>
            <a:chExt cx="776475" cy="2406685"/>
          </a:xfrm>
        </p:grpSpPr>
        <p:sp>
          <p:nvSpPr>
            <p:cNvPr id="880" name="Google Shape;880;p88"/>
            <p:cNvSpPr/>
            <p:nvPr/>
          </p:nvSpPr>
          <p:spPr>
            <a:xfrm>
              <a:off x="3226825" y="1139765"/>
              <a:ext cx="776475" cy="2145375"/>
            </a:xfrm>
            <a:custGeom>
              <a:avLst/>
              <a:gdLst/>
              <a:ahLst/>
              <a:cxnLst/>
              <a:rect l="l" t="t" r="r" b="b"/>
              <a:pathLst>
                <a:path w="31059" h="85815" extrusionOk="0">
                  <a:moveTo>
                    <a:pt x="0" y="14021"/>
                  </a:moveTo>
                  <a:cubicBezTo>
                    <a:pt x="0" y="9152"/>
                    <a:pt x="2195" y="2810"/>
                    <a:pt x="6739" y="1062"/>
                  </a:cubicBezTo>
                  <a:cubicBezTo>
                    <a:pt x="14810" y="-2042"/>
                    <a:pt x="30061" y="2040"/>
                    <a:pt x="30843" y="10652"/>
                  </a:cubicBezTo>
                  <a:cubicBezTo>
                    <a:pt x="31710" y="20191"/>
                    <a:pt x="28640" y="30416"/>
                    <a:pt x="23327" y="38385"/>
                  </a:cubicBezTo>
                  <a:cubicBezTo>
                    <a:pt x="20036" y="43322"/>
                    <a:pt x="14613" y="46612"/>
                    <a:pt x="11405" y="51603"/>
                  </a:cubicBezTo>
                  <a:cubicBezTo>
                    <a:pt x="5161" y="61317"/>
                    <a:pt x="5962" y="74268"/>
                    <a:pt x="5962" y="85815"/>
                  </a:cubicBezTo>
                </a:path>
              </a:pathLst>
            </a:custGeom>
            <a:noFill/>
            <a:ln w="228600" cap="flat" cmpd="sng">
              <a:solidFill>
                <a:srgbClr val="6AA84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1" name="Google Shape;881;p88"/>
            <p:cNvSpPr/>
            <p:nvPr/>
          </p:nvSpPr>
          <p:spPr>
            <a:xfrm>
              <a:off x="3316488" y="3427700"/>
              <a:ext cx="120625" cy="118750"/>
            </a:xfrm>
            <a:custGeom>
              <a:avLst/>
              <a:gdLst/>
              <a:ahLst/>
              <a:cxnLst/>
              <a:rect l="l" t="t" r="r" b="b"/>
              <a:pathLst>
                <a:path w="4825" h="4750" extrusionOk="0">
                  <a:moveTo>
                    <a:pt x="301" y="0"/>
                  </a:moveTo>
                  <a:cubicBezTo>
                    <a:pt x="-852" y="1732"/>
                    <a:pt x="2396" y="5007"/>
                    <a:pt x="4448" y="4665"/>
                  </a:cubicBezTo>
                  <a:cubicBezTo>
                    <a:pt x="6272" y="4361"/>
                    <a:pt x="627" y="-458"/>
                    <a:pt x="42" y="1296"/>
                  </a:cubicBezTo>
                </a:path>
              </a:pathLst>
            </a:custGeom>
            <a:noFill/>
            <a:ln w="228600" cap="flat" cmpd="sng">
              <a:solidFill>
                <a:srgbClr val="6AA84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82" name="Google Shape;882;p88"/>
          <p:cNvGrpSpPr/>
          <p:nvPr/>
        </p:nvGrpSpPr>
        <p:grpSpPr>
          <a:xfrm>
            <a:off x="5222921" y="1366550"/>
            <a:ext cx="776475" cy="2406685"/>
            <a:chOff x="3226825" y="1139765"/>
            <a:chExt cx="776475" cy="2406685"/>
          </a:xfrm>
        </p:grpSpPr>
        <p:sp>
          <p:nvSpPr>
            <p:cNvPr id="883" name="Google Shape;883;p88"/>
            <p:cNvSpPr/>
            <p:nvPr/>
          </p:nvSpPr>
          <p:spPr>
            <a:xfrm>
              <a:off x="3226825" y="1139765"/>
              <a:ext cx="776475" cy="2145375"/>
            </a:xfrm>
            <a:custGeom>
              <a:avLst/>
              <a:gdLst/>
              <a:ahLst/>
              <a:cxnLst/>
              <a:rect l="l" t="t" r="r" b="b"/>
              <a:pathLst>
                <a:path w="31059" h="85815" extrusionOk="0">
                  <a:moveTo>
                    <a:pt x="0" y="14021"/>
                  </a:moveTo>
                  <a:cubicBezTo>
                    <a:pt x="0" y="9152"/>
                    <a:pt x="2195" y="2810"/>
                    <a:pt x="6739" y="1062"/>
                  </a:cubicBezTo>
                  <a:cubicBezTo>
                    <a:pt x="14810" y="-2042"/>
                    <a:pt x="30061" y="2040"/>
                    <a:pt x="30843" y="10652"/>
                  </a:cubicBezTo>
                  <a:cubicBezTo>
                    <a:pt x="31710" y="20191"/>
                    <a:pt x="28640" y="30416"/>
                    <a:pt x="23327" y="38385"/>
                  </a:cubicBezTo>
                  <a:cubicBezTo>
                    <a:pt x="20036" y="43322"/>
                    <a:pt x="14613" y="46612"/>
                    <a:pt x="11405" y="51603"/>
                  </a:cubicBezTo>
                  <a:cubicBezTo>
                    <a:pt x="5161" y="61317"/>
                    <a:pt x="5962" y="74268"/>
                    <a:pt x="5962" y="85815"/>
                  </a:cubicBezTo>
                </a:path>
              </a:pathLst>
            </a:custGeom>
            <a:noFill/>
            <a:ln w="228600" cap="flat" cmpd="sng">
              <a:solidFill>
                <a:srgbClr val="93C47D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4" name="Google Shape;884;p88"/>
            <p:cNvSpPr/>
            <p:nvPr/>
          </p:nvSpPr>
          <p:spPr>
            <a:xfrm>
              <a:off x="3316488" y="3427700"/>
              <a:ext cx="120625" cy="118750"/>
            </a:xfrm>
            <a:custGeom>
              <a:avLst/>
              <a:gdLst/>
              <a:ahLst/>
              <a:cxnLst/>
              <a:rect l="l" t="t" r="r" b="b"/>
              <a:pathLst>
                <a:path w="4825" h="4750" extrusionOk="0">
                  <a:moveTo>
                    <a:pt x="301" y="0"/>
                  </a:moveTo>
                  <a:cubicBezTo>
                    <a:pt x="-852" y="1732"/>
                    <a:pt x="2396" y="5007"/>
                    <a:pt x="4448" y="4665"/>
                  </a:cubicBezTo>
                  <a:cubicBezTo>
                    <a:pt x="6272" y="4361"/>
                    <a:pt x="627" y="-458"/>
                    <a:pt x="42" y="1296"/>
                  </a:cubicBezTo>
                </a:path>
              </a:pathLst>
            </a:custGeom>
            <a:noFill/>
            <a:ln w="228600" cap="flat" cmpd="sng">
              <a:solidFill>
                <a:srgbClr val="93C47D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" name="Google Shape;890;p89"/>
          <p:cNvSpPr txBox="1">
            <a:spLocks noGrp="1"/>
          </p:cNvSpPr>
          <p:nvPr>
            <p:ph type="body" idx="1"/>
          </p:nvPr>
        </p:nvSpPr>
        <p:spPr>
          <a:xfrm>
            <a:off x="403622" y="665164"/>
            <a:ext cx="931500" cy="931500"/>
          </a:xfrm>
          <a:prstGeom prst="rect">
            <a:avLst/>
          </a:prstGeom>
        </p:spPr>
        <p:txBody>
          <a:bodyPr spcFirstLastPara="1" wrap="square" lIns="0" tIns="0" rIns="91425" bIns="45700" anchor="ctr" anchorCtr="0">
            <a:noAutofit/>
          </a:bodyPr>
          <a:lstStyle/>
          <a:p>
            <a:pPr marL="0" lvl="0" indent="0" algn="ctr" rtl="0">
              <a:spcBef>
                <a:spcPts val="750"/>
              </a:spcBef>
              <a:spcAft>
                <a:spcPts val="0"/>
              </a:spcAft>
              <a:buNone/>
            </a:pPr>
            <a:r>
              <a:rPr lang="en-GB"/>
              <a:t> </a:t>
            </a:r>
            <a:endParaRPr/>
          </a:p>
        </p:txBody>
      </p:sp>
      <p:sp>
        <p:nvSpPr>
          <p:cNvPr id="891" name="Google Shape;891;p89"/>
          <p:cNvSpPr txBox="1">
            <a:spLocks noGrp="1"/>
          </p:cNvSpPr>
          <p:nvPr>
            <p:ph type="body" idx="2"/>
          </p:nvPr>
        </p:nvSpPr>
        <p:spPr>
          <a:xfrm>
            <a:off x="1335122" y="665164"/>
            <a:ext cx="2808000" cy="931500"/>
          </a:xfrm>
          <a:prstGeom prst="rect">
            <a:avLst/>
          </a:prstGeom>
        </p:spPr>
        <p:txBody>
          <a:bodyPr spcFirstLastPara="1" wrap="square" lIns="288000" tIns="0" rIns="91425" bIns="45700" anchor="ctr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GB"/>
              <a:t>Hands-on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6" name="Google Shape;896;p90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Ensembl Regulation</a:t>
            </a:r>
            <a:endParaRPr/>
          </a:p>
        </p:txBody>
      </p:sp>
      <p:sp>
        <p:nvSpPr>
          <p:cNvPr id="897" name="Google Shape;897;p90"/>
          <p:cNvSpPr txBox="1">
            <a:spLocks noGrp="1"/>
          </p:cNvSpPr>
          <p:nvPr>
            <p:ph type="body" idx="1"/>
          </p:nvPr>
        </p:nvSpPr>
        <p:spPr>
          <a:xfrm>
            <a:off x="338138" y="878365"/>
            <a:ext cx="8452200" cy="3711600"/>
          </a:xfrm>
          <a:prstGeom prst="rect">
            <a:avLst/>
          </a:prstGeom>
        </p:spPr>
        <p:txBody>
          <a:bodyPr spcFirstLastPara="1" wrap="square" lIns="0" tIns="45700" rIns="91425" bIns="45700" anchor="t" anchorCtr="0">
            <a:noAutofit/>
          </a:bodyPr>
          <a:lstStyle/>
          <a:p>
            <a:pPr marL="0" lvl="0" indent="0" algn="l" rtl="0">
              <a:spcBef>
                <a:spcPts val="750"/>
              </a:spcBef>
              <a:spcAft>
                <a:spcPts val="0"/>
              </a:spcAft>
              <a:buNone/>
            </a:pPr>
            <a:r>
              <a:rPr lang="en-GB"/>
              <a:t>Answer the following questions:</a:t>
            </a:r>
            <a:endParaRPr/>
          </a:p>
          <a:p>
            <a:pPr marL="457200" lvl="0" indent="-330200" algn="l" rtl="0">
              <a:lnSpc>
                <a:spcPct val="150000"/>
              </a:lnSpc>
              <a:spcBef>
                <a:spcPts val="750"/>
              </a:spcBef>
              <a:spcAft>
                <a:spcPts val="0"/>
              </a:spcAft>
              <a:buSzPts val="1600"/>
              <a:buChar char="✓"/>
            </a:pPr>
            <a:r>
              <a:rPr lang="en-GB"/>
              <a:t>Explore the </a:t>
            </a:r>
            <a:r>
              <a:rPr lang="en-GB" b="1"/>
              <a:t>indicated locus</a:t>
            </a:r>
            <a:r>
              <a:rPr lang="en-GB"/>
              <a:t> on the Genome View tab:</a:t>
            </a:r>
            <a:endParaRPr/>
          </a:p>
          <a:p>
            <a:pPr marL="914400" lvl="1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-GB"/>
              <a:t>GRCh38, chr8:127,682,026-127,744,101</a:t>
            </a:r>
            <a:endParaRPr/>
          </a:p>
          <a:p>
            <a:pPr marL="914400" lvl="1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-GB"/>
              <a:t>GRCm39/mm39, chr6:6,740,753-6,891,103</a:t>
            </a:r>
            <a:endParaRPr/>
          </a:p>
          <a:p>
            <a:pPr marL="457200" lvl="0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Char char="✓"/>
            </a:pPr>
            <a:r>
              <a:rPr lang="en-GB"/>
              <a:t>Display and explore regulatory features using the Regulation card.</a:t>
            </a:r>
            <a:endParaRPr/>
          </a:p>
          <a:p>
            <a:pPr marL="457200" lvl="0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Char char="✓"/>
            </a:pPr>
            <a:r>
              <a:rPr lang="en-GB"/>
              <a:t>Filter epigenomes based on the given criteria</a:t>
            </a:r>
            <a:endParaRPr/>
          </a:p>
          <a:p>
            <a:pPr marL="457200" lvl="0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Char char="✓"/>
            </a:pPr>
            <a:r>
              <a:rPr lang="en-GB"/>
              <a:t>Compare regulatory activity across the group of selected epigenemes:</a:t>
            </a:r>
            <a:endParaRPr/>
          </a:p>
          <a:p>
            <a:pPr marL="914400" lvl="1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-GB" sz="1400"/>
              <a:t>GRCh38: Caco-2 and HCT116 cell lines</a:t>
            </a:r>
            <a:endParaRPr sz="1400"/>
          </a:p>
          <a:p>
            <a:pPr marL="914400" lvl="1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-GB" sz="1400"/>
              <a:t>GRCm39: Forebrain epigenomes</a:t>
            </a:r>
            <a:endParaRPr/>
          </a:p>
          <a:p>
            <a:pPr marL="457200" lvl="0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Char char="✓"/>
            </a:pPr>
            <a:r>
              <a:rPr lang="en-GB"/>
              <a:t>Inspect supporting epigenomic evidence in the indicated epigenome</a:t>
            </a:r>
            <a:endParaRPr/>
          </a:p>
          <a:p>
            <a:pPr marL="457200" lvl="0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Char char="✓"/>
            </a:pPr>
            <a:r>
              <a:rPr lang="en-GB"/>
              <a:t>Identify at least one context-dependent example.</a:t>
            </a:r>
            <a:endParaRPr/>
          </a:p>
          <a:p>
            <a:pPr marL="457200" lvl="0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Char char="✓"/>
            </a:pPr>
            <a:r>
              <a:rPr lang="en-GB"/>
              <a:t>Compare the results with the ones obtained in the previous session. </a:t>
            </a:r>
            <a:endParaRPr/>
          </a:p>
          <a:p>
            <a:pPr marL="0" lvl="0" indent="0" algn="l" rtl="0">
              <a:spcBef>
                <a:spcPts val="75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EMBL template">
      <a:dk1>
        <a:srgbClr val="000000"/>
      </a:dk1>
      <a:lt1>
        <a:srgbClr val="FFFFFF"/>
      </a:lt1>
      <a:dk2>
        <a:srgbClr val="007B53"/>
      </a:dk2>
      <a:lt2>
        <a:srgbClr val="707372"/>
      </a:lt2>
      <a:accent1>
        <a:srgbClr val="18974C"/>
      </a:accent1>
      <a:accent2>
        <a:srgbClr val="A1BE1F"/>
      </a:accent2>
      <a:accent3>
        <a:srgbClr val="F49E17"/>
      </a:accent3>
      <a:accent4>
        <a:srgbClr val="F4C61F"/>
      </a:accent4>
      <a:accent5>
        <a:srgbClr val="D41645"/>
      </a:accent5>
      <a:accent6>
        <a:srgbClr val="3B6FB6"/>
      </a:accent6>
      <a:hlink>
        <a:srgbClr val="2A57A3"/>
      </a:hlink>
      <a:folHlink>
        <a:srgbClr val="73459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954</Words>
  <Application>Microsoft Macintosh PowerPoint</Application>
  <PresentationFormat>On-screen Show (16:9)</PresentationFormat>
  <Paragraphs>184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6" baseType="lpstr">
      <vt:lpstr>Inter</vt:lpstr>
      <vt:lpstr>Libre Franklin Thin</vt:lpstr>
      <vt:lpstr>Arial</vt:lpstr>
      <vt:lpstr>Libre Franklin</vt:lpstr>
      <vt:lpstr>Arial Black</vt:lpstr>
      <vt:lpstr>Roboto</vt:lpstr>
      <vt:lpstr>Libre Franklin Medium</vt:lpstr>
      <vt:lpstr>Roboto Medium</vt:lpstr>
      <vt:lpstr>Franklin Gothic</vt:lpstr>
      <vt:lpstr>Roboto Thin</vt:lpstr>
      <vt:lpstr>Courier New</vt:lpstr>
      <vt:lpstr>Custom Design</vt:lpstr>
      <vt:lpstr>Multi-species Catalogues of Regulatory Elements: Ensembl</vt:lpstr>
      <vt:lpstr>Session map</vt:lpstr>
      <vt:lpstr>The Ensembl Project</vt:lpstr>
      <vt:lpstr>PowerPoint Presentation</vt:lpstr>
      <vt:lpstr>Using genome browsers to visualise annotation</vt:lpstr>
      <vt:lpstr>Ensembl enables genome analyses</vt:lpstr>
      <vt:lpstr>Ensembl Regulation</vt:lpstr>
      <vt:lpstr>The Ensembl Regulatory Build</vt:lpstr>
      <vt:lpstr>Primary analysis pipeline</vt:lpstr>
      <vt:lpstr>Regulatory annotation pipeline</vt:lpstr>
      <vt:lpstr>The Ensembl Regulation Subsite</vt:lpstr>
      <vt:lpstr>The Ensembl Regulation Subsite: Epigenomes tab</vt:lpstr>
      <vt:lpstr>Epigenomes tab</vt:lpstr>
      <vt:lpstr>Regulatory Features tab</vt:lpstr>
      <vt:lpstr>Regulatory Features tab</vt:lpstr>
      <vt:lpstr>Genome view tab</vt:lpstr>
      <vt:lpstr>Genome view tab: zoomed out</vt:lpstr>
      <vt:lpstr>Genome view tab: chromosome change</vt:lpstr>
      <vt:lpstr>Genome view tab: Gene search</vt:lpstr>
      <vt:lpstr>Genome view tab: Gene page link</vt:lpstr>
      <vt:lpstr>Genes tab</vt:lpstr>
      <vt:lpstr>Genome view tab: Regulatory feature selection</vt:lpstr>
      <vt:lpstr>Genome view tab: Regulatory activity</vt:lpstr>
      <vt:lpstr>Genes tab</vt:lpstr>
      <vt:lpstr>Differences between regulatory annotation frameworks</vt:lpstr>
      <vt:lpstr>Differences between regulatory annotation frameworks: GRCh38</vt:lpstr>
      <vt:lpstr>Differences between regulatory annotation frameworks: GRCh38</vt:lpstr>
      <vt:lpstr>Differences between regulatory annotation frameworks: GRCh38</vt:lpstr>
      <vt:lpstr>Differences between regulatory annotation frameworks: GRCh38</vt:lpstr>
      <vt:lpstr>Differences between regulatory annotation frameworks: GRCh38</vt:lpstr>
      <vt:lpstr>Differences between regulatory annotation frameworks: GRCh38</vt:lpstr>
      <vt:lpstr>Questions?</vt:lpstr>
      <vt:lpstr>PowerPoint Presentation</vt:lpstr>
      <vt:lpstr>Ensembl Regulation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Gabriela Merino</cp:lastModifiedBy>
  <cp:revision>1</cp:revision>
  <dcterms:modified xsi:type="dcterms:W3CDTF">2026-09-02T07:34:22Z</dcterms:modified>
</cp:coreProperties>
</file>