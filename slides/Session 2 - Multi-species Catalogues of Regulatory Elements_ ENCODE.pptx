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1" r:id="rId45"/>
    <p:sldId id="299" r:id="rId46"/>
    <p:sldId id="300" r:id="rId47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49"/>
    </p:embeddedFont>
    <p:embeddedFont>
      <p:font typeface="Franklin Gothic" panose="020B0603020102020204" pitchFamily="34" charset="0"/>
      <p:regular r:id="rId50"/>
      <p:bold r:id="rId51"/>
      <p:italic r:id="rId52"/>
      <p:boldItalic r:id="rId53"/>
    </p:embeddedFont>
    <p:embeddedFont>
      <p:font typeface="Inter" panose="02000503000000020004" pitchFamily="2" charset="0"/>
      <p:regular r:id="rId54"/>
      <p:bold r:id="rId55"/>
      <p:italic r:id="rId56"/>
      <p:boldItalic r:id="rId57"/>
    </p:embeddedFont>
    <p:embeddedFont>
      <p:font typeface="Libre Franklin" pitchFamily="2" charset="77"/>
      <p:regular r:id="rId58"/>
      <p:bold r:id="rId59"/>
      <p:italic r:id="rId60"/>
      <p:boldItalic r:id="rId61"/>
    </p:embeddedFont>
    <p:embeddedFont>
      <p:font typeface="Libre Franklin Medium" pitchFamily="2" charset="77"/>
      <p:regular r:id="rId62"/>
      <p:italic r:id="rId63"/>
    </p:embeddedFont>
    <p:embeddedFont>
      <p:font typeface="Libre Franklin Thin" pitchFamily="2" charset="77"/>
      <p:regular r:id="rId64"/>
      <p:italic r:id="rId65"/>
    </p:embeddedFont>
    <p:embeddedFont>
      <p:font typeface="Lobster" panose="00000500000000000000"/>
      <p:regular r:id="rId66"/>
    </p:embeddedFont>
    <p:embeddedFont>
      <p:font typeface="Roboto" panose="02000000000000000000" pitchFamily="2" charset="0"/>
      <p:regular r:id="rId67"/>
      <p:bold r:id="rId68"/>
      <p:italic r:id="rId69"/>
      <p:boldItalic r:id="rId70"/>
    </p:embeddedFont>
    <p:embeddedFont>
      <p:font typeface="Roboto Medium" panose="02000000000000000000" pitchFamily="2" charset="0"/>
      <p:regular r:id="rId71"/>
      <p:italic r:id="rId72"/>
    </p:embeddedFont>
    <p:embeddedFont>
      <p:font typeface="Roboto Thin" panose="02000000000000000000"/>
      <p:regular r:id="rId73"/>
      <p: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5"/>
    <p:restoredTop sz="96301"/>
  </p:normalViewPr>
  <p:slideViewPr>
    <p:cSldViewPr snapToGrid="0">
      <p:cViewPr varScale="1">
        <p:scale>
          <a:sx n="135" d="100"/>
          <a:sy n="135" d="100"/>
        </p:scale>
        <p:origin x="192" y="6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74" Type="http://schemas.openxmlformats.org/officeDocument/2006/relationships/font" Target="fonts/font26.fntdata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72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font" Target="fonts/font25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2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search/?type=Experiment&amp;control_type!=*&amp;status=released&amp;perturbed=false&amp;biosample_ontology.classification=tissue&amp;assay_title=DNase-seq&amp;replicates.library.biosample.donor.organism.scientific_name=Homo+sapiens&amp;biosample_ontology.term_name=cerebellum&amp;replicates.library.biosample.sex=female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search/?type=Experiment&amp;control_type!=*&amp;related_series.@type=ReferenceEpigenome&amp;replicates.library.biosample.donor.organism.scientific_name=Homo+sapiens&amp;status=released&amp;biosample_ontology.classification=in+vitro+differentiated+cells&amp;biosample_ontology.term_name=hepatocyte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reference-epigenomes/ENCSR654ORD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reference-epigenomes/ENCSR654ORD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fd665e69d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efd665e69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0e1ed9864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d0e1ed9864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SLIDES_API9289981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SLIDES_API9289981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7315547b1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g3e7315547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73a76170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g3e73a76170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7315547b1_0_14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3e7315547b1_0_1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0e1ed9864_0_1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d0e1ed9864_0_1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8b8fe491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8b8fe491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8b8fe491c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8b8fe491c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8b8fe491c3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8b8fe491c3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8b8fe491c3_0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8b8fe491c3_0_1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8b8fe491c3_0_1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8b8fe491c3_0_1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8b8fe491c3_0_2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8b8fe491c3_0_2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8b8fe491c3_0_2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8b8fe491c3_0_2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8b8fe491c3_0_3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8b8fe491c3_0_3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3bc9d6ad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f3bc9d6ad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SLIDES_API21455670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SLIDES_API21455670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abb56aef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fabb56aef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d0e1ed9864_0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d0e1ed9864_0_10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g3d0e1ed9864_0_10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SLIDES_API130426060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SLIDES_API130426060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1- 24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encodeproject.org/search/?type=Experiment&amp;control_type!=*&amp;status=released&amp;perturbed=false&amp;biosample_ontology.classification=tissue&amp;assay_title=DNase-seq&amp;replicates.library.biosample.donor.organism.scientific_name=Homo+sapiens&amp;biosample_ontology.term_name=cerebellum&amp;replicates.library.biosample.sex=fema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SLIDES_API130426060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SLIDES_API130426060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2- 1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encodeproject.org/search/?type=Experiment&amp;control_type!=*&amp;related_series.@type=ReferenceEpigenome&amp;replicates.library.biosample.donor.organism.scientific_name=Homo+sapiens&amp;status=released&amp;biosample_ontology.classification=in+vitro+differentiated+cells&amp;biosample_ontology.term_name=hepatocy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SLIDES_API130426060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SLIDES_API130426060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12: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https://www.encodeproject.org/reference-epigenomes/ENCSR654ORD/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SLIDES_API130426060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SLIDES_API130426060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yes ATAC-seq and DNase-seq::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https://www.encodeproject.org/reference-epigenomes/ENCSR654ORD/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e7315547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e7315547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ea0fdf18e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g3ea0fdf18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d0e1ed9864_0_1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d0e1ed9864_0_1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ea0fdf18e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ea0fdf18e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ea0fdf18e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ea0fdf18e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8b8fe491c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8b8fe491c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d0e1ed9864_0_1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d0e1ed9864_0_1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ea0fdf18e5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ea0fdf18e5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f3ee8873b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f3ee8873b8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f3ee8873b8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f3ee8873b8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f3ee8873b8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f3ee8873b8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3ee8873b8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f3ee8873b8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f3ee8873b8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f3ee8873b8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f3ee8873b8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f3ee8873b8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f3ee8873b8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f3ee8873b8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ea0fdf18e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ea0fdf18e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ea0fdf18e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ea0fdf18e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ea0fdf18e5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ea0fdf18e5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ea0fdf18e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ea0fdf18e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8CE05FBF-69A8-7B60-935B-3CF02E40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abb56aef7_0_8:notes">
            <a:extLst>
              <a:ext uri="{FF2B5EF4-FFF2-40B4-BE49-F238E27FC236}">
                <a16:creationId xmlns:a16="http://schemas.microsoft.com/office/drawing/2014/main" id="{4D526CF7-B5E7-5A71-F835-0724CE953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fabb56aef7_0_8:notes">
            <a:extLst>
              <a:ext uri="{FF2B5EF4-FFF2-40B4-BE49-F238E27FC236}">
                <a16:creationId xmlns:a16="http://schemas.microsoft.com/office/drawing/2014/main" id="{033D8223-09A1-C81C-B359-8D50880EC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8394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ea0fdf18e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ea0fdf18e5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g3ea0fdf18e5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ea0fdf18e5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ea0fdf18e5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g3ea0fdf18e5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mFmM2RiOGViLTJkMTEtNDIzMy04Y2QzLTRkZGVlYTc0YmQwNyIsInByZXNlbnRhdGlvbklkIjoiMTdOLXU1MVNHWWZyMGN5QnFKOVFXX1E4LUJBYjZfY1RHRzNLeGp0WllicVUiLCJzbGlkZUlkIjoiU0xJREVTX0FQSTkyODk5ODExNV8wIiwidGltZWxpbmUiOlt7InNob3dSZXN1bHRzIjp0cnVlLCJwb2xsUXVlc3Rpb25VdWlkIjoiMmUxYTAzZDQtNGNlNC00MTQ1LThlN2EtZWJhZDcwYTExMzJjIn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www.sli.do/features-google-slides?interaction-type=TXVsdGlwbGVDaG9pY2U%3D" TargetMode="External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hyperlink" Target="https://www.encodeproject.org/matrix/?type=Experiment&amp;control_type!=*&amp;status=released&amp;perturbed=fals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hyperlink" Target="https://www.encodeproject.org/search/?type=Experiment&amp;control_type!=*&amp;status=released&amp;perturbed=false&amp;assay_title=ATAC-seq&amp;replicates.library.biosample.donor.organism.scientific_name=Mus+musculus&amp;biosample_ontology.term_name=liv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hyperlink" Target="https://www.encodeproject.org/experiments/ENCSR465PYP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hyperlink" Target="https://www.encodeproject.org/experiments/ENCSR465PYP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hyperlink" Target="https://www.encodeproject.org/experiments/ENCSR465PYP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hyperlink" Target="https://www.encodeproject.org/reference-epigenome-matrix/?type=Experiment&amp;control_type!=*&amp;related_series.@type=ReferenceEpigenome&amp;status=released&amp;replicates.library.biosample.donor.organism.scientific_name=Mus+musculus" TargetMode="Externa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hyperlink" Target="https://www.encodeproject.org/search/?type=Experiment&amp;control_type!=*&amp;related_series.@type=ReferenceEpigenome&amp;status=released&amp;replicates.library.biosample.donor.organism.scientific_name=Mus+musculus&amp;biosample_ontology.classification=tissue&amp;biosample_ontology.term_name=liver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hyperlink" Target="https://www.encodeproject.org/reference-epigenomes/ENCSR871WIE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JhZWE5OTU3LWNmN2EtNDZmMC1hYmIzLTg0OWVjYTg0NGU3OSIsInByZXNlbnRhdGlvbklkIjoiMTdOLXU1MVNHWWZyMGN5QnFKOVFXX1E4LUJBYjZfY1RHRzNLeGp0WllicVUiLCJzbGlkZUlkIjoiU0xJREVTX0FQSTIxNDU1NjcwMjJfMCIsInRpbWVsaW5lIjpbeyJwb2xsUXVlc3Rpb25VdWlkIjoiMGQwZmRjNzAtMmU0MS00OGM5LWFhODctNDZiOTkwZjZjYTA2Iiwic2hvd1Jlc3VsdHMiOnRydWV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www.sli.do/features-google-slides?interaction-type=TXVsdGlwbGVDaG9pY2U%3D" TargetMode="External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ZDY2YmQ0YTItY2EzYy00ZmYxLWI5ZGYtYmU3NTFlZDhjZjlmIiwicG9sbFV1aWQiOiIyNTEyZDA2ZS1hZjUzLTQ0MDAtOWZhMS1kYTc4ZjJmMTYyNjkiLCJwcmVzZW50YXRpb25JZCI6IjE3Ti11NTFTR1lmcjBjeUJxSjlRV19ROC1CQWI2X2NUR0czS3hqdFpZYnFVIiwic2xpZGVJZCI6IlNMSURFU19BUEkxMzA0MjYwNjAxXzAiLCJ0aW1lbGluZSI6W3sic2NyZWVuIjoiUXVpekpvaW5pbmcifSx7InNob3dDb3JyZWN0QW5zd2VycyI6ZmFsc2UsInBvbGxRdWVzdGlvblV1aWQiOiJkNjZiZDRhMi1jYTNjLTRmZjEtYjlkZi1iZTc1MWVkOGNmOWYiLCJzaG93UmVzdWx0cyI6ZmFsc2UsInZvdGluZ0xvY2tlZCI6ZmFsc2V9LHsic2hvd0NvcnJlY3RBbnN3ZXJzIjpmYWxzZSwic2hvd1Jlc3VsdHMiOnRydWUsInZvdGluZ0xvY2tlZCI6dHJ1ZSwicG9sbFF1ZXN0aW9uVXVpZCI6ImQ2NmJkNGEyLWNhM2MtNGZmMS1iOWRmLWJlNzUxZWQ4Y2Y5ZiJ9LHsicG9sbFF1ZXN0aW9uVXVpZCI6ImQ2NmJkNGEyLWNhM2MtNGZmMS1iOWRmLWJlNzUxZWQ4Y2Y5ZiIsInNob3dSZXN1bHRzIjp0cnVlLCJzaG93Q29ycmVjdEFuc3dlcnMiOnRydWUsInZvdGluZ0xvY2tlZC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7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ODU0YmUyNDQtMGUxYi00YjAzLThjMTgtNjU0MzgxOGZkYjgxIiwicG9sbFV1aWQiOiIyNTEyZDA2ZS1hZjUzLTQ0MDAtOWZhMS1kYTc4ZjJmMTYyNjkiLCJwcmVzZW50YXRpb25JZCI6IjE3Ti11NTFTR1lmcjBjeUJxSjlRV19ROC1CQWI2X2NUR0czS3hqdFpZYnFVIiwic2xpZGVJZCI6IlNMSURFU19BUEkxMzA0MjYwNjAxXzExIiwidGltZWxpbmUiOlt7InNob3dSZXN1bHRzIjpmYWxzZSwic2hvd0NvcnJlY3RBbnN3ZXJzIjpmYWxzZSwidm90aW5nTG9ja2VkIjpmYWxzZSwicG9sbFF1ZXN0aW9uVXVpZCI6Ijg1NGJlMjQ0LTBlMWItNGIwMy04YzE4LTY1NDM4MThmZGI4MSJ9LHsic2hvd1Jlc3VsdHMiOnRydWUsInZvdGluZ0xvY2tlZCI6dHJ1ZSwic2hvd0NvcnJlY3RBbnN3ZXJzIjpmYWxzZSwicG9sbFF1ZXN0aW9uVXVpZCI6Ijg1NGJlMjQ0LTBlMWItNGIwMy04YzE4LTY1NDM4MThmZGI4MSJ9LHsic2hvd1Jlc3VsdHMiOnRydWUsInZvdGluZ0xvY2tlZCI6dHJ1ZSwicG9sbFF1ZXN0aW9uVXVpZCI6Ijg1NGJlMjQ0LTBlMWItNGIwMy04YzE4LTY1NDM4MThmZGI4MSIsInNob3dDb3JyZWN0QW5zd2Vycy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7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ODEwNDY4MDMtZTE3NC00YWQ0LTgwZGUtY2NkN2NiYzIwMjQ4IiwicG9sbFV1aWQiOiIyNTEyZDA2ZS1hZjUzLTQ0MDAtOWZhMS1kYTc4ZjJmMTYyNjkiLCJwcmVzZW50YXRpb25JZCI6IjE3Ti11NTFTR1lmcjBjeUJxSjlRV19ROC1CQWI2X2NUR0czS3hqdFpZYnFVIiwic2xpZGVJZCI6IlNMSURFU19BUEkxMzA0MjYwNjAxXzIyIiwidGltZWxpbmUiOlt7InBvbGxRdWVzdGlvblV1aWQiOiI4MTA0NjgwMy1lMTc0LTRhZDQtODBkZS1jY2Q3Y2JjMjAyNDgiLCJzaG93Q29ycmVjdEFuc3dlcnMiOmZhbHNlLCJ2b3RpbmdMb2NrZWQiOmZhbHNlLCJzaG93UmVzdWx0cyI6ZmFsc2V9LHsicG9sbFF1ZXN0aW9uVXVpZCI6IjgxMDQ2ODAzLWUxNzQtNGFkNC04MGRlLWNjZDdjYmMyMDI0OCIsInNob3dDb3JyZWN0QW5zd2VycyI6ZmFsc2UsInZvdGluZ0xvY2tlZCI6dHJ1ZSwic2hvd1Jlc3VsdHMiOnRydWV9LHsidm90aW5nTG9ja2VkIjp0cnVlLCJzaG93UmVzdWx0cyI6dHJ1ZSwic2hvd0NvcnJlY3RBbnN3ZXJzIjp0cnVlLCJwb2xsUXVlc3Rpb25VdWlkIjoiODEwNDY4MDMtZTE3NC00YWQ0LTgwZGUtY2NkN2NiYzIwMjQ4In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7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MDY5NGFhMzEtYzAyYS00ODQyLWE2ZTEtMzdjNGQzNzllYTdmIiwicG9sbFV1aWQiOiIyNTEyZDA2ZS1hZjUzLTQ0MDAtOWZhMS1kYTc4ZjJmMTYyNjkiLCJwcmVzZW50YXRpb25JZCI6IjE3Ti11NTFTR1lmcjBjeUJxSjlRV19ROC1CQWI2X2NUR0czS3hqdFpZYnFVIiwic2xpZGVJZCI6IlNMSURFU19BUEkxMzA0MjYwNjAxXzMzIiwidGltZWxpbmUiOlt7InZvdGluZ0xvY2tlZCI6ZmFsc2UsInNob3dSZXN1bHRzIjpmYWxzZSwic2hvd0NvcnJlY3RBbnN3ZXJzIjpmYWxzZSwicG9sbFF1ZXN0aW9uVXVpZCI6IjA2OTRhYTMxLWMwMmEtNDg0Mi1hNmUxLTM3YzRkMzc5ZWE3ZiJ9LHsidm90aW5nTG9ja2VkIjp0cnVlLCJzaG93UmVzdWx0cyI6dHJ1ZSwic2hvd0NvcnJlY3RBbnN3ZXJzIjpmYWxzZSwicG9sbFF1ZXN0aW9uVXVpZCI6IjA2OTRhYTMxLWMwMmEtNDg0Mi1hNmUxLTM3YzRkMzc5ZWE3ZiJ9LHsicG9sbFF1ZXN0aW9uVXVpZCI6IjA2OTRhYTMxLWMwMmEtNDg0Mi1hNmUxLTM3YzRkMzc5ZWE3ZiIsInNob3dSZXN1bHRzIjp0cnVlLCJzaG93Q29ycmVjdEFuc3dlcnMiOnRydWUsInZvdGluZ0xvY2tlZCI6dHJ1ZX0seyJwb2xsUXVlc3Rpb25VdWlkIjoiMDY5NGFhMzEtYzAyYS00ODQyLWE2ZTEtMzdjNGQzNzllYTdmIiwidm90aW5nTG9ja2VkIjp0cnVlLCJzaG93Q29ycmVjdEFuc3dlcnMiOnRydWUsInNjcmVlbiI6IlF1aXpMZWFkZXJib2FyZCIsInNob3dSZXN1bHRzIjp0cnVl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7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ccre/EH38E3314260?open=BYegDCCiASDMAclawIwBYBMA2CYg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Multi-species Catalogues of Regulatory Elements: ENCODE</a:t>
            </a:r>
            <a:endParaRPr/>
          </a:p>
        </p:txBody>
      </p:sp>
      <p:sp>
        <p:nvSpPr>
          <p:cNvPr id="501" name="Google Shape;501;p5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2</a:t>
            </a:r>
            <a:endParaRPr/>
          </a:p>
        </p:txBody>
      </p:sp>
      <p:sp>
        <p:nvSpPr>
          <p:cNvPr id="502" name="Google Shape;502;p56"/>
          <p:cNvSpPr txBox="1"/>
          <p:nvPr/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007B53"/>
                </a:solidFill>
              </a:rPr>
              <a:t>Gabriela A. Merino</a:t>
            </a:r>
            <a:endParaRPr sz="1800" b="1" i="0" u="none" strike="noStrike" cap="non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6"/>
          <p:cNvSpPr txBox="1"/>
          <p:nvPr/>
        </p:nvSpPr>
        <p:spPr>
          <a:xfrm>
            <a:off x="640546" y="3896000"/>
            <a:ext cx="47130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 b="1">
                <a:solidFill>
                  <a:srgbClr val="000000"/>
                </a:solidFill>
              </a:rPr>
              <a:t>Senior Bioinformatician, Ensembl Regulation, EMBL-EBI</a:t>
            </a:r>
            <a:endParaRPr/>
          </a:p>
        </p:txBody>
      </p:sp>
      <p:sp>
        <p:nvSpPr>
          <p:cNvPr id="504" name="Google Shape;504;p56"/>
          <p:cNvSpPr txBox="1"/>
          <p:nvPr/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6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T6: Making the most of cis-regulatory annotations for genome-scale analysis</a:t>
            </a:r>
            <a:endParaRPr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"/>
          <p:cNvSpPr/>
          <p:nvPr/>
        </p:nvSpPr>
        <p:spPr>
          <a:xfrm>
            <a:off x="3728375" y="4082255"/>
            <a:ext cx="3822600" cy="6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5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Session map</a:t>
            </a:r>
            <a:endParaRPr/>
          </a:p>
        </p:txBody>
      </p:sp>
      <p:grpSp>
        <p:nvGrpSpPr>
          <p:cNvPr id="512" name="Google Shape;512;p57"/>
          <p:cNvGrpSpPr/>
          <p:nvPr/>
        </p:nvGrpSpPr>
        <p:grpSpPr>
          <a:xfrm>
            <a:off x="1593000" y="2115295"/>
            <a:ext cx="5957975" cy="643500"/>
            <a:chOff x="1593000" y="2322568"/>
            <a:chExt cx="5957975" cy="643500"/>
          </a:xfrm>
        </p:grpSpPr>
        <p:sp>
          <p:nvSpPr>
            <p:cNvPr id="513" name="Google Shape;513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Hands-on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" name="Google Shape;517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19" name="Google Shape;519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0" name="Google Shape;520;p57"/>
          <p:cNvGrpSpPr/>
          <p:nvPr/>
        </p:nvGrpSpPr>
        <p:grpSpPr>
          <a:xfrm>
            <a:off x="1593000" y="1460436"/>
            <a:ext cx="5957975" cy="643500"/>
            <a:chOff x="1593000" y="2322568"/>
            <a:chExt cx="5957975" cy="643500"/>
          </a:xfrm>
        </p:grpSpPr>
        <p:sp>
          <p:nvSpPr>
            <p:cNvPr id="521" name="Google Shape;521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ENCODE Data Portal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5" name="Google Shape;525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27" name="Google Shape;527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Navigation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Accessing experimental data and metadata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Defining and accessing reference epigenome data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8" name="Google Shape;528;p57"/>
          <p:cNvGrpSpPr/>
          <p:nvPr/>
        </p:nvGrpSpPr>
        <p:grpSpPr>
          <a:xfrm>
            <a:off x="1593000" y="805561"/>
            <a:ext cx="5957975" cy="643500"/>
            <a:chOff x="1593000" y="2322568"/>
            <a:chExt cx="5957975" cy="643500"/>
          </a:xfrm>
        </p:grpSpPr>
        <p:sp>
          <p:nvSpPr>
            <p:cNvPr id="529" name="Google Shape;529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ENCODE Project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3" name="Google Shape;533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5" name="Google Shape;535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General description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Available datasets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6" name="Google Shape;536;p57"/>
          <p:cNvGrpSpPr/>
          <p:nvPr/>
        </p:nvGrpSpPr>
        <p:grpSpPr>
          <a:xfrm>
            <a:off x="1593000" y="4080849"/>
            <a:ext cx="5766050" cy="643482"/>
            <a:chOff x="1593000" y="2322568"/>
            <a:chExt cx="5766050" cy="643482"/>
          </a:xfrm>
        </p:grpSpPr>
        <p:sp>
          <p:nvSpPr>
            <p:cNvPr id="537" name="Google Shape;537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Hands-on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0" name="Google Shape;540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42" name="Google Shape;542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3" name="Google Shape;543;p57"/>
          <p:cNvGrpSpPr/>
          <p:nvPr/>
        </p:nvGrpSpPr>
        <p:grpSpPr>
          <a:xfrm>
            <a:off x="1593000" y="3426975"/>
            <a:ext cx="5957975" cy="643500"/>
            <a:chOff x="1593000" y="2322568"/>
            <a:chExt cx="5957975" cy="643500"/>
          </a:xfrm>
        </p:grpSpPr>
        <p:sp>
          <p:nvSpPr>
            <p:cNvPr id="544" name="Google Shape;544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SCREEN browser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8" name="Google Shape;548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50" name="Google Shape;550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Accessing cCREs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Accessing experimental data and metadata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1" name="Google Shape;551;p57"/>
          <p:cNvGrpSpPr/>
          <p:nvPr/>
        </p:nvGrpSpPr>
        <p:grpSpPr>
          <a:xfrm>
            <a:off x="1593000" y="2772100"/>
            <a:ext cx="5957975" cy="643500"/>
            <a:chOff x="1593000" y="2322568"/>
            <a:chExt cx="5957975" cy="643500"/>
          </a:xfrm>
        </p:grpSpPr>
        <p:sp>
          <p:nvSpPr>
            <p:cNvPr id="552" name="Google Shape;552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Registry of cCREs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6" name="Google Shape;556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58" name="Google Shape;558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cCREs definition and identification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Classification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Biosample classification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59" name="Google Shape;559;p57"/>
          <p:cNvSpPr txBox="1"/>
          <p:nvPr/>
        </p:nvSpPr>
        <p:spPr>
          <a:xfrm>
            <a:off x="7593025" y="2544300"/>
            <a:ext cx="144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Coffee break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8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565" name="Google Shape;565;p58"/>
          <p:cNvSpPr txBox="1">
            <a:spLocks noGrp="1"/>
          </p:cNvSpPr>
          <p:nvPr>
            <p:ph type="body" idx="2"/>
          </p:nvPr>
        </p:nvSpPr>
        <p:spPr>
          <a:xfrm>
            <a:off x="5870575" y="3225500"/>
            <a:ext cx="30978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ENCODE: Experimental 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5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2" name="Google Shape;572;p59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Have you used ENCODE data?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Google Shape;574;p5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6" name="Google Shape;576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9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</a:t>
            </a:r>
            <a:endParaRPr/>
          </a:p>
        </p:txBody>
      </p:sp>
      <p:sp>
        <p:nvSpPr>
          <p:cNvPr id="583" name="Google Shape;583;p60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175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The Encyclopedia of DNA Elements (ENCODE) Consortium is an ongoing international collaboration of research groups launched on 2003.</a:t>
            </a:r>
            <a:endParaRPr sz="1400"/>
          </a:p>
          <a:p>
            <a:pPr marL="457200" lvl="0" indent="-3175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It aims to build a comprehensive parts list of </a:t>
            </a:r>
            <a:r>
              <a:rPr lang="en-GB" sz="1400" b="1"/>
              <a:t>functional elements</a:t>
            </a:r>
            <a:r>
              <a:rPr lang="en-GB" sz="1400"/>
              <a:t> in the </a:t>
            </a:r>
            <a:r>
              <a:rPr lang="en-GB" sz="1400" b="1"/>
              <a:t>human </a:t>
            </a:r>
            <a:r>
              <a:rPr lang="en-GB" sz="1400"/>
              <a:t>and </a:t>
            </a:r>
            <a:r>
              <a:rPr lang="en-GB" sz="1400" b="1"/>
              <a:t>mouse</a:t>
            </a:r>
            <a:r>
              <a:rPr lang="en-GB" sz="1400"/>
              <a:t> </a:t>
            </a:r>
            <a:r>
              <a:rPr lang="en-GB" sz="1400" b="1"/>
              <a:t>genomes</a:t>
            </a:r>
            <a:r>
              <a:rPr lang="en-GB" sz="1400"/>
              <a:t>.</a:t>
            </a:r>
            <a:endParaRPr sz="1400"/>
          </a:p>
          <a:p>
            <a:pPr marL="457200" lvl="0" indent="-3175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It maps genomic activity across tissues, cell types, developmental stages, and experimental conditions.</a:t>
            </a:r>
            <a:endParaRPr sz="1400"/>
          </a:p>
          <a:p>
            <a:pPr marL="457200" lvl="0" indent="-3175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ENCODE data help interpret non-coding regions by connecting genomic coordinates to regulatory evidence such as chromatin accessibility, histone marks, transcription factor binding, RNA expression, methylation, and 3D chromatin structure.</a:t>
            </a:r>
            <a:endParaRPr sz="1400"/>
          </a:p>
          <a:p>
            <a:pPr marL="457200" lvl="0" indent="-3175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By the end of 2024, it includes results from 23,000+ functional genomics experiments, 800+ functional elements characterization experiments and 60,000+ results from integrative computational analyses, available on an open-access data-portal.</a:t>
            </a:r>
            <a:endParaRPr sz="1400"/>
          </a:p>
          <a:p>
            <a:pPr marL="4572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just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400"/>
          </a:p>
        </p:txBody>
      </p:sp>
      <p:sp>
        <p:nvSpPr>
          <p:cNvPr id="584" name="Google Shape;584;p60"/>
          <p:cNvSpPr txBox="1"/>
          <p:nvPr/>
        </p:nvSpPr>
        <p:spPr>
          <a:xfrm>
            <a:off x="1331125" y="4427900"/>
            <a:ext cx="3157500" cy="4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Standardised data analysis pipelines</a:t>
            </a:r>
            <a:endParaRPr sz="1600" dirty="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85" name="Google Shape;585;p60"/>
          <p:cNvSpPr txBox="1"/>
          <p:nvPr/>
        </p:nvSpPr>
        <p:spPr>
          <a:xfrm>
            <a:off x="5072050" y="4427900"/>
            <a:ext cx="2353200" cy="4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Standardised metadata</a:t>
            </a:r>
            <a:endParaRPr sz="16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pic>
        <p:nvPicPr>
          <p:cNvPr id="591" name="Google Shape;59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950" y="933301"/>
            <a:ext cx="4762601" cy="3401851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1"/>
          <p:cNvSpPr txBox="1"/>
          <p:nvPr/>
        </p:nvSpPr>
        <p:spPr>
          <a:xfrm>
            <a:off x="0" y="4739325"/>
            <a:ext cx="783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aseline="30000"/>
              <a:t>1</a:t>
            </a:r>
            <a:r>
              <a:rPr lang="en-GB" sz="800"/>
              <a:t>The ENCODE Project Consortium., Moore, J.E., Purcaro, M.J. et al. Expanded encyclopaedias of DNA elements in the human and mouse genomes. Nature 583, 699–710 (2020). https://doi.org/10.1038/s41586-020-2493-4</a:t>
            </a:r>
            <a:endParaRPr sz="800"/>
          </a:p>
        </p:txBody>
      </p:sp>
      <p:sp>
        <p:nvSpPr>
          <p:cNvPr id="593" name="Google Shape;593;p61"/>
          <p:cNvSpPr txBox="1"/>
          <p:nvPr/>
        </p:nvSpPr>
        <p:spPr>
          <a:xfrm>
            <a:off x="1797050" y="4431525"/>
            <a:ext cx="579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Figure extracted from </a:t>
            </a:r>
            <a:r>
              <a:rPr lang="en-GB" sz="800" i="1">
                <a:solidFill>
                  <a:schemeClr val="dk1"/>
                </a:solidFill>
              </a:rPr>
              <a:t>Expanded encyclopaedias of DNA elements in the human and mouse genomes</a:t>
            </a:r>
            <a:r>
              <a:rPr lang="en-GB" sz="800" baseline="30000"/>
              <a:t>1</a:t>
            </a:r>
            <a:endParaRPr sz="80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pic>
        <p:nvPicPr>
          <p:cNvPr id="599" name="Google Shape;5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751" y="848125"/>
            <a:ext cx="4527025" cy="36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2"/>
          <p:cNvSpPr txBox="1"/>
          <p:nvPr/>
        </p:nvSpPr>
        <p:spPr>
          <a:xfrm>
            <a:off x="0" y="4835700"/>
            <a:ext cx="865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aseline="30000"/>
              <a:t>2</a:t>
            </a:r>
            <a:r>
              <a:rPr lang="en-GB" sz="800"/>
              <a:t>Kagda, M.S., Lam, B., Litton, C. et al. Data navigation on the ENCODE portal. Nat Commun 16, 9592 (2025). https://doi.org/10.1038/s41467-025-64343-9</a:t>
            </a:r>
            <a:endParaRPr sz="800"/>
          </a:p>
        </p:txBody>
      </p:sp>
      <p:sp>
        <p:nvSpPr>
          <p:cNvPr id="601" name="Google Shape;601;p62"/>
          <p:cNvSpPr txBox="1"/>
          <p:nvPr/>
        </p:nvSpPr>
        <p:spPr>
          <a:xfrm>
            <a:off x="2409300" y="4489550"/>
            <a:ext cx="4217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Figure extracted from </a:t>
            </a:r>
            <a:r>
              <a:rPr lang="en-GB" sz="800" i="1">
                <a:solidFill>
                  <a:schemeClr val="dk1"/>
                </a:solidFill>
              </a:rPr>
              <a:t>Data navigation on the ENCODE portal</a:t>
            </a:r>
            <a:r>
              <a:rPr lang="en-GB" sz="800" baseline="30000"/>
              <a:t>2</a:t>
            </a:r>
            <a:endParaRPr sz="800" i="1"/>
          </a:p>
        </p:txBody>
      </p:sp>
      <p:sp>
        <p:nvSpPr>
          <p:cNvPr id="602" name="Google Shape;602;p62"/>
          <p:cNvSpPr/>
          <p:nvPr/>
        </p:nvSpPr>
        <p:spPr>
          <a:xfrm>
            <a:off x="4705900" y="1027875"/>
            <a:ext cx="900300" cy="198900"/>
          </a:xfrm>
          <a:prstGeom prst="rect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03" name="Google Shape;603;p62"/>
          <p:cNvSpPr/>
          <p:nvPr/>
        </p:nvSpPr>
        <p:spPr>
          <a:xfrm>
            <a:off x="2178750" y="2619650"/>
            <a:ext cx="3282000" cy="1320900"/>
          </a:xfrm>
          <a:prstGeom prst="rect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513" y="859594"/>
            <a:ext cx="4137776" cy="4046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3"/>
          <p:cNvSpPr txBox="1"/>
          <p:nvPr/>
        </p:nvSpPr>
        <p:spPr>
          <a:xfrm>
            <a:off x="79350" y="3044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https://www.encodeproject.org/</a:t>
            </a:r>
            <a:endParaRPr/>
          </a:p>
        </p:txBody>
      </p:sp>
      <p:sp>
        <p:nvSpPr>
          <p:cNvPr id="610" name="Google Shape;610;p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pic>
        <p:nvPicPr>
          <p:cNvPr id="611" name="Google Shape;61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75" y="1581650"/>
            <a:ext cx="1406550" cy="14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7781" y="1439512"/>
            <a:ext cx="2203024" cy="226447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63"/>
          <p:cNvSpPr/>
          <p:nvPr/>
        </p:nvSpPr>
        <p:spPr>
          <a:xfrm>
            <a:off x="2684525" y="1539100"/>
            <a:ext cx="1406700" cy="4317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pic>
        <p:nvPicPr>
          <p:cNvPr id="619" name="Google Shape;61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175" y="902844"/>
            <a:ext cx="4611078" cy="4046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4"/>
          <p:cNvSpPr txBox="1"/>
          <p:nvPr/>
        </p:nvSpPr>
        <p:spPr>
          <a:xfrm>
            <a:off x="891425" y="2528025"/>
            <a:ext cx="96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A600"/>
                </a:solidFill>
                <a:latin typeface="Lobster"/>
                <a:ea typeface="Lobster"/>
                <a:cs typeface="Lobster"/>
                <a:sym typeface="Lobster"/>
              </a:rPr>
              <a:t>Filtering sidebar</a:t>
            </a:r>
            <a:endParaRPr sz="1500">
              <a:solidFill>
                <a:srgbClr val="FFA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21" name="Google Shape;621;p64"/>
          <p:cNvSpPr txBox="1"/>
          <p:nvPr/>
        </p:nvSpPr>
        <p:spPr>
          <a:xfrm>
            <a:off x="6346475" y="3253750"/>
            <a:ext cx="1283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A600"/>
                </a:solidFill>
                <a:latin typeface="Lobster"/>
                <a:ea typeface="Lobster"/>
                <a:cs typeface="Lobster"/>
                <a:sym typeface="Lobster"/>
              </a:rPr>
              <a:t>Available experiments</a:t>
            </a:r>
            <a:endParaRPr sz="1500">
              <a:solidFill>
                <a:srgbClr val="FFA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22" name="Google Shape;622;p64"/>
          <p:cNvSpPr txBox="1"/>
          <p:nvPr/>
        </p:nvSpPr>
        <p:spPr>
          <a:xfrm>
            <a:off x="2880800" y="1106850"/>
            <a:ext cx="174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A600"/>
                </a:solidFill>
                <a:latin typeface="Lobster"/>
                <a:ea typeface="Lobster"/>
                <a:cs typeface="Lobster"/>
                <a:sym typeface="Lobster"/>
              </a:rPr>
              <a:t>Alternative views</a:t>
            </a:r>
            <a:endParaRPr sz="1500">
              <a:solidFill>
                <a:srgbClr val="FFA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23" name="Google Shape;623;p6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2676" y="0"/>
            <a:ext cx="1411325" cy="14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4"/>
          <p:cNvSpPr/>
          <p:nvPr/>
        </p:nvSpPr>
        <p:spPr>
          <a:xfrm>
            <a:off x="4382175" y="2603475"/>
            <a:ext cx="92100" cy="867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sp>
        <p:nvSpPr>
          <p:cNvPr id="630" name="Google Shape;630;p65"/>
          <p:cNvSpPr txBox="1"/>
          <p:nvPr/>
        </p:nvSpPr>
        <p:spPr>
          <a:xfrm>
            <a:off x="13200" y="2758351"/>
            <a:ext cx="15504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25" tIns="104725" rIns="104725" bIns="104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18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ATAC-seq from mouse liver filters applied</a:t>
            </a:r>
            <a:endParaRPr sz="1718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31" name="Google Shape;631;p65"/>
          <p:cNvSpPr txBox="1"/>
          <p:nvPr/>
        </p:nvSpPr>
        <p:spPr>
          <a:xfrm>
            <a:off x="7645591" y="1733727"/>
            <a:ext cx="1469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25" tIns="104725" rIns="104725" bIns="104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18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Status</a:t>
            </a:r>
            <a:endParaRPr sz="1718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32" name="Google Shape;63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261" y="944667"/>
            <a:ext cx="5738414" cy="4198837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65"/>
          <p:cNvSpPr txBox="1"/>
          <p:nvPr/>
        </p:nvSpPr>
        <p:spPr>
          <a:xfrm>
            <a:off x="7612315" y="2969243"/>
            <a:ext cx="1469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25" tIns="104725" rIns="104725" bIns="104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18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Audits</a:t>
            </a:r>
            <a:endParaRPr sz="1718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34" name="Google Shape;634;p65"/>
          <p:cNvSpPr txBox="1"/>
          <p:nvPr/>
        </p:nvSpPr>
        <p:spPr>
          <a:xfrm>
            <a:off x="4101399" y="944652"/>
            <a:ext cx="1469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25" tIns="104725" rIns="104725" bIns="104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18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Download</a:t>
            </a:r>
            <a:endParaRPr sz="1718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35" name="Google Shape;635;p65"/>
          <p:cNvSpPr txBox="1"/>
          <p:nvPr/>
        </p:nvSpPr>
        <p:spPr>
          <a:xfrm>
            <a:off x="6609368" y="987482"/>
            <a:ext cx="1469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25" tIns="104725" rIns="104725" bIns="104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18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JSON</a:t>
            </a:r>
            <a:endParaRPr sz="1718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36" name="Google Shape;636;p65"/>
          <p:cNvSpPr txBox="1"/>
          <p:nvPr/>
        </p:nvSpPr>
        <p:spPr>
          <a:xfrm>
            <a:off x="4843312" y="3022765"/>
            <a:ext cx="14697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25" tIns="104725" rIns="104725" bIns="104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18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Experiment</a:t>
            </a:r>
            <a:endParaRPr sz="1718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37" name="Google Shape;637;p6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2674" y="-2075"/>
            <a:ext cx="1411325" cy="14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6"/>
          <p:cNvSpPr/>
          <p:nvPr/>
        </p:nvSpPr>
        <p:spPr>
          <a:xfrm>
            <a:off x="7473000" y="4568700"/>
            <a:ext cx="1671000" cy="5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43" name="Google Shape;643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sp>
        <p:nvSpPr>
          <p:cNvPr id="644" name="Google Shape;644;p66"/>
          <p:cNvSpPr txBox="1"/>
          <p:nvPr/>
        </p:nvSpPr>
        <p:spPr>
          <a:xfrm>
            <a:off x="1036338" y="2527073"/>
            <a:ext cx="10287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325" tIns="97325" rIns="97325" bIns="973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97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Metadata</a:t>
            </a:r>
            <a:endParaRPr sz="1597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45" name="Google Shape;64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232" y="1014476"/>
            <a:ext cx="5919425" cy="412902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6"/>
          <p:cNvSpPr txBox="1"/>
          <p:nvPr/>
        </p:nvSpPr>
        <p:spPr>
          <a:xfrm>
            <a:off x="1117036" y="3942327"/>
            <a:ext cx="10287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325" tIns="97325" rIns="97325" bIns="973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97">
                <a:solidFill>
                  <a:schemeClr val="accent3"/>
                </a:solidFill>
                <a:latin typeface="Lobster"/>
                <a:ea typeface="Lobster"/>
                <a:cs typeface="Lobster"/>
                <a:sym typeface="Lobster"/>
              </a:rPr>
              <a:t>Replicates summary</a:t>
            </a:r>
            <a:endParaRPr sz="1597">
              <a:solidFill>
                <a:schemeClr val="accent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47" name="Google Shape;647;p6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400" y="35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179" y="944651"/>
            <a:ext cx="6703696" cy="41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6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sp>
        <p:nvSpPr>
          <p:cNvPr id="654" name="Google Shape;654;p67"/>
          <p:cNvSpPr txBox="1"/>
          <p:nvPr/>
        </p:nvSpPr>
        <p:spPr>
          <a:xfrm>
            <a:off x="145612" y="1969013"/>
            <a:ext cx="10986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950" tIns="103950" rIns="103950" bIns="1039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6">
                <a:solidFill>
                  <a:srgbClr val="FFA600"/>
                </a:solidFill>
                <a:latin typeface="Lobster"/>
                <a:ea typeface="Lobster"/>
                <a:cs typeface="Lobster"/>
                <a:sym typeface="Lobster"/>
              </a:rPr>
              <a:t>Sidebar filtering</a:t>
            </a:r>
            <a:endParaRPr sz="1706">
              <a:solidFill>
                <a:srgbClr val="FFA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55" name="Google Shape;655;p67"/>
          <p:cNvSpPr txBox="1"/>
          <p:nvPr/>
        </p:nvSpPr>
        <p:spPr>
          <a:xfrm>
            <a:off x="1244361" y="4050726"/>
            <a:ext cx="10986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950" tIns="103950" rIns="103950" bIns="1039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6">
                <a:solidFill>
                  <a:srgbClr val="FFA600"/>
                </a:solidFill>
                <a:latin typeface="Lobster"/>
                <a:ea typeface="Lobster"/>
                <a:cs typeface="Lobster"/>
                <a:sym typeface="Lobster"/>
              </a:rPr>
              <a:t>Processed files</a:t>
            </a:r>
            <a:endParaRPr sz="1706">
              <a:solidFill>
                <a:srgbClr val="FFA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56" name="Google Shape;656;p67"/>
          <p:cNvSpPr txBox="1"/>
          <p:nvPr/>
        </p:nvSpPr>
        <p:spPr>
          <a:xfrm>
            <a:off x="7899789" y="1938369"/>
            <a:ext cx="1098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950" tIns="103950" rIns="103950" bIns="1039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6">
                <a:solidFill>
                  <a:srgbClr val="FFA600"/>
                </a:solidFill>
                <a:latin typeface="Lobster"/>
                <a:ea typeface="Lobster"/>
                <a:cs typeface="Lobster"/>
                <a:sym typeface="Lobster"/>
              </a:rPr>
              <a:t>Raw files</a:t>
            </a:r>
            <a:endParaRPr sz="1706">
              <a:solidFill>
                <a:srgbClr val="FFA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57" name="Google Shape;657;p6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400" y="35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68"/>
          <p:cNvPicPr preferRelativeResize="0"/>
          <p:nvPr/>
        </p:nvPicPr>
        <p:blipFill rotWithShape="1">
          <a:blip r:embed="rId3">
            <a:alphaModFix/>
          </a:blip>
          <a:srcRect b="31044"/>
          <a:stretch/>
        </p:blipFill>
        <p:spPr>
          <a:xfrm>
            <a:off x="1328900" y="1011863"/>
            <a:ext cx="6486193" cy="3119763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6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project and the ENCODE portal</a:t>
            </a:r>
            <a:endParaRPr/>
          </a:p>
        </p:txBody>
      </p:sp>
      <p:sp>
        <p:nvSpPr>
          <p:cNvPr id="664" name="Google Shape;664;p68"/>
          <p:cNvSpPr txBox="1"/>
          <p:nvPr/>
        </p:nvSpPr>
        <p:spPr>
          <a:xfrm>
            <a:off x="917500" y="4051875"/>
            <a:ext cx="7308900" cy="923400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</a:rPr>
              <a:t>Reference epigenomes: </a:t>
            </a:r>
            <a:r>
              <a:rPr lang="en-GB" sz="1600">
                <a:solidFill>
                  <a:schemeClr val="lt1"/>
                </a:solidFill>
              </a:rPr>
              <a:t>grouped data from a particular tissue, cell line, primary cell, in vitro differentiated cell biosamples organized following guidelines set out by IHEC (https://ihec-epigenomes.org/)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665" name="Google Shape;665;p6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400" y="375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9"/>
          <p:cNvSpPr/>
          <p:nvPr/>
        </p:nvSpPr>
        <p:spPr>
          <a:xfrm>
            <a:off x="7473000" y="4568700"/>
            <a:ext cx="1671000" cy="5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71" name="Google Shape;671;p6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Reference Epigenomes</a:t>
            </a:r>
            <a:endParaRPr/>
          </a:p>
        </p:txBody>
      </p:sp>
      <p:pic>
        <p:nvPicPr>
          <p:cNvPr id="672" name="Google Shape;67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050" y="861100"/>
            <a:ext cx="7042104" cy="42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585" y="1729244"/>
            <a:ext cx="3647364" cy="3414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6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0400" y="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Reference Epigenomes</a:t>
            </a:r>
            <a:endParaRPr/>
          </a:p>
        </p:txBody>
      </p:sp>
      <p:pic>
        <p:nvPicPr>
          <p:cNvPr id="680" name="Google Shape;68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670" y="868050"/>
            <a:ext cx="6070645" cy="427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7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400" y="0"/>
            <a:ext cx="1353600" cy="13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70"/>
          <p:cNvSpPr/>
          <p:nvPr/>
        </p:nvSpPr>
        <p:spPr>
          <a:xfrm>
            <a:off x="3064950" y="3388750"/>
            <a:ext cx="4542300" cy="625500"/>
          </a:xfrm>
          <a:prstGeom prst="rect">
            <a:avLst/>
          </a:prstGeom>
          <a:noFill/>
          <a:ln w="30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Reference Epigenomes</a:t>
            </a:r>
            <a:endParaRPr/>
          </a:p>
        </p:txBody>
      </p:sp>
      <p:pic>
        <p:nvPicPr>
          <p:cNvPr id="688" name="Google Shape;68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292" y="792250"/>
            <a:ext cx="5927407" cy="435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400" y="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The ENCODE Reference Epigenomes</a:t>
            </a:r>
            <a:endParaRPr/>
          </a:p>
        </p:txBody>
      </p:sp>
      <p:pic>
        <p:nvPicPr>
          <p:cNvPr id="695" name="Google Shape;695;p72"/>
          <p:cNvPicPr preferRelativeResize="0"/>
          <p:nvPr/>
        </p:nvPicPr>
        <p:blipFill rotWithShape="1">
          <a:blip r:embed="rId3">
            <a:alphaModFix/>
          </a:blip>
          <a:srcRect r="13427"/>
          <a:stretch/>
        </p:blipFill>
        <p:spPr>
          <a:xfrm>
            <a:off x="95725" y="1210250"/>
            <a:ext cx="4362598" cy="272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8100" y="793675"/>
            <a:ext cx="3971800" cy="380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72"/>
          <p:cNvSpPr/>
          <p:nvPr/>
        </p:nvSpPr>
        <p:spPr>
          <a:xfrm>
            <a:off x="287425" y="2003925"/>
            <a:ext cx="864000" cy="103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98" name="Google Shape;698;p72"/>
          <p:cNvSpPr/>
          <p:nvPr/>
        </p:nvSpPr>
        <p:spPr>
          <a:xfrm>
            <a:off x="4572000" y="2779650"/>
            <a:ext cx="405000" cy="103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99" name="Google Shape;699;p72"/>
          <p:cNvSpPr/>
          <p:nvPr/>
        </p:nvSpPr>
        <p:spPr>
          <a:xfrm>
            <a:off x="5476175" y="1609300"/>
            <a:ext cx="2959800" cy="6699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7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6" name="Google Shape;706;p7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7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these statements are true about ENCODE?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8" name="Google Shape;708;p7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7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0" name="Google Shape;710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7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grpSp>
        <p:nvGrpSpPr>
          <p:cNvPr id="717" name="Google Shape;717;p74"/>
          <p:cNvGrpSpPr/>
          <p:nvPr/>
        </p:nvGrpSpPr>
        <p:grpSpPr>
          <a:xfrm>
            <a:off x="1788346" y="1314725"/>
            <a:ext cx="776475" cy="2406685"/>
            <a:chOff x="3226825" y="1139765"/>
            <a:chExt cx="776475" cy="2406685"/>
          </a:xfrm>
        </p:grpSpPr>
        <p:sp>
          <p:nvSpPr>
            <p:cNvPr id="718" name="Google Shape;718;p7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" name="Google Shape;719;p7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0" name="Google Shape;720;p74"/>
          <p:cNvGrpSpPr/>
          <p:nvPr/>
        </p:nvGrpSpPr>
        <p:grpSpPr>
          <a:xfrm>
            <a:off x="6367779" y="1366550"/>
            <a:ext cx="776475" cy="2406685"/>
            <a:chOff x="3226825" y="1139765"/>
            <a:chExt cx="776475" cy="2406685"/>
          </a:xfrm>
        </p:grpSpPr>
        <p:sp>
          <p:nvSpPr>
            <p:cNvPr id="721" name="Google Shape;721;p7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" name="Google Shape;722;p7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3" name="Google Shape;723;p74"/>
          <p:cNvGrpSpPr/>
          <p:nvPr/>
        </p:nvGrpSpPr>
        <p:grpSpPr>
          <a:xfrm>
            <a:off x="2933204" y="1366550"/>
            <a:ext cx="776475" cy="2406685"/>
            <a:chOff x="3226825" y="1139765"/>
            <a:chExt cx="776475" cy="2406685"/>
          </a:xfrm>
        </p:grpSpPr>
        <p:sp>
          <p:nvSpPr>
            <p:cNvPr id="724" name="Google Shape;724;p7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" name="Google Shape;725;p7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6" name="Google Shape;726;p74"/>
          <p:cNvGrpSpPr/>
          <p:nvPr/>
        </p:nvGrpSpPr>
        <p:grpSpPr>
          <a:xfrm>
            <a:off x="4078063" y="1366550"/>
            <a:ext cx="776475" cy="2406685"/>
            <a:chOff x="3226825" y="1139765"/>
            <a:chExt cx="776475" cy="2406685"/>
          </a:xfrm>
        </p:grpSpPr>
        <p:sp>
          <p:nvSpPr>
            <p:cNvPr id="727" name="Google Shape;727;p7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8" name="Google Shape;728;p7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9" name="Google Shape;729;p74"/>
          <p:cNvGrpSpPr/>
          <p:nvPr/>
        </p:nvGrpSpPr>
        <p:grpSpPr>
          <a:xfrm>
            <a:off x="5222921" y="1366550"/>
            <a:ext cx="776475" cy="2406685"/>
            <a:chOff x="3226825" y="1139765"/>
            <a:chExt cx="776475" cy="2406685"/>
          </a:xfrm>
        </p:grpSpPr>
        <p:sp>
          <p:nvSpPr>
            <p:cNvPr id="730" name="Google Shape;730;p7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1" name="Google Shape;731;p7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5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38" name="Google Shape;738;p75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7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5" name="Google Shape;745;p76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7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many DNase-seq experiments from female human cerebellum tissue donors are available?</a:t>
            </a:r>
            <a:endParaRPr sz="28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7" name="Google Shape;747;p7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7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9" name="Google Shape;749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76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7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57" name="Google Shape;757;p77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77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many reference epigenomes for human hepatocytes are available?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9" name="Google Shape;759;p7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7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1" name="Google Shape;761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77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7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9" name="Google Shape;769;p78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many ENCODE experiments are linked to forebrain E13.5?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1" name="Google Shape;771;p7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7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3" name="Google Shape;773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78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7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1" name="Google Shape;781;p79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7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Are there any open chromatin experiments available that are linked to forebrain E13.5?</a:t>
            </a:r>
            <a:endParaRPr sz="29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3" name="Google Shape;783;p7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7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5" name="Google Shape;78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79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792" name="Google Shape;792;p80"/>
          <p:cNvSpPr txBox="1">
            <a:spLocks noGrp="1"/>
          </p:cNvSpPr>
          <p:nvPr>
            <p:ph type="body" idx="2"/>
          </p:nvPr>
        </p:nvSpPr>
        <p:spPr>
          <a:xfrm>
            <a:off x="5870575" y="3225500"/>
            <a:ext cx="31146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ENCODE cCREs and SCREEN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950" y="933301"/>
            <a:ext cx="4762601" cy="3401851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81"/>
          <p:cNvSpPr txBox="1"/>
          <p:nvPr/>
        </p:nvSpPr>
        <p:spPr>
          <a:xfrm>
            <a:off x="0" y="4739325"/>
            <a:ext cx="720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aseline="30000"/>
              <a:t>1</a:t>
            </a:r>
            <a:r>
              <a:rPr lang="en-GB" sz="800"/>
              <a:t>The ENCODE Project Consortium., Moore, J.E., Purcaro, M.J. et al. Expanded encyclopaedias of DNA elements in the human and mouse genomes. Nature 583, 699–710 (2020). https://doi.org/10.1038/s41586-020-2493-4</a:t>
            </a:r>
            <a:endParaRPr sz="800"/>
          </a:p>
        </p:txBody>
      </p:sp>
      <p:sp>
        <p:nvSpPr>
          <p:cNvPr id="799" name="Google Shape;799;p81"/>
          <p:cNvSpPr txBox="1"/>
          <p:nvPr/>
        </p:nvSpPr>
        <p:spPr>
          <a:xfrm>
            <a:off x="1797050" y="4431525"/>
            <a:ext cx="579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Figure extracted from </a:t>
            </a:r>
            <a:r>
              <a:rPr lang="en-GB" sz="800" i="1">
                <a:solidFill>
                  <a:schemeClr val="dk1"/>
                </a:solidFill>
              </a:rPr>
              <a:t>Expanded encyclopaedias of DNA elements in the human and mouse genomes</a:t>
            </a:r>
            <a:r>
              <a:rPr lang="en-GB" sz="800" baseline="30000"/>
              <a:t>1</a:t>
            </a:r>
            <a:endParaRPr sz="800" i="1"/>
          </a:p>
        </p:txBody>
      </p:sp>
      <p:sp>
        <p:nvSpPr>
          <p:cNvPr id="800" name="Google Shape;800;p8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Registry of cCREs and SCREEN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8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Registry of cCREs</a:t>
            </a:r>
            <a:endParaRPr/>
          </a:p>
        </p:txBody>
      </p:sp>
      <p:pic>
        <p:nvPicPr>
          <p:cNvPr id="806" name="Google Shape;806;p82"/>
          <p:cNvPicPr preferRelativeResize="0"/>
          <p:nvPr/>
        </p:nvPicPr>
        <p:blipFill rotWithShape="1">
          <a:blip r:embed="rId3">
            <a:alphaModFix/>
          </a:blip>
          <a:srcRect r="62970"/>
          <a:stretch/>
        </p:blipFill>
        <p:spPr>
          <a:xfrm>
            <a:off x="6309475" y="914725"/>
            <a:ext cx="2347023" cy="28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82"/>
          <p:cNvSpPr txBox="1"/>
          <p:nvPr/>
        </p:nvSpPr>
        <p:spPr>
          <a:xfrm>
            <a:off x="6309475" y="3862800"/>
            <a:ext cx="262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Figure extracted from </a:t>
            </a:r>
            <a:r>
              <a:rPr lang="en-GB" sz="800" i="1">
                <a:solidFill>
                  <a:schemeClr val="dk1"/>
                </a:solidFill>
              </a:rPr>
              <a:t>Expanded encyclopaedias of DNA elements in the human and mouse genomes</a:t>
            </a:r>
            <a:r>
              <a:rPr lang="en-GB" sz="800" baseline="30000"/>
              <a:t>3</a:t>
            </a:r>
            <a:endParaRPr sz="800" i="1"/>
          </a:p>
        </p:txBody>
      </p:sp>
      <p:sp>
        <p:nvSpPr>
          <p:cNvPr id="808" name="Google Shape;808;p82"/>
          <p:cNvSpPr txBox="1"/>
          <p:nvPr/>
        </p:nvSpPr>
        <p:spPr>
          <a:xfrm>
            <a:off x="0" y="4739325"/>
            <a:ext cx="865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aseline="30000"/>
              <a:t>3</a:t>
            </a:r>
            <a:r>
              <a:rPr lang="en-GB" sz="800"/>
              <a:t>Moore, J.E., Pratt, H.E., Fan, K. et al. An expanded registry of candidate cis-regulatory elements. Nature (2026). https://doi.org/10.1038/s41586-025-09909-9</a:t>
            </a:r>
            <a:endParaRPr sz="800"/>
          </a:p>
        </p:txBody>
      </p:sp>
      <p:sp>
        <p:nvSpPr>
          <p:cNvPr id="809" name="Google Shape;809;p82"/>
          <p:cNvSpPr txBox="1"/>
          <p:nvPr/>
        </p:nvSpPr>
        <p:spPr>
          <a:xfrm>
            <a:off x="338150" y="1401625"/>
            <a:ext cx="5932800" cy="22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A candidate cis-regulatory element is a </a:t>
            </a:r>
            <a:r>
              <a:rPr lang="en-GB" sz="1600" b="1">
                <a:solidFill>
                  <a:schemeClr val="dk1"/>
                </a:solidFill>
              </a:rPr>
              <a:t>genomic interval</a:t>
            </a:r>
            <a:r>
              <a:rPr lang="en-GB" sz="1600">
                <a:solidFill>
                  <a:schemeClr val="dk1"/>
                </a:solidFill>
              </a:rPr>
              <a:t> with ENCODE biochemical evidence for regulatory activity.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rgbClr val="0C8148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The registry gives each interval a stable coordinate, cell-type agnostic class, and evidence trail.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rgbClr val="0C8148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Context-aware: one registry element can have different activity calls across biosamples.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Registry of cCREs</a:t>
            </a:r>
            <a:endParaRPr/>
          </a:p>
        </p:txBody>
      </p:sp>
      <p:pic>
        <p:nvPicPr>
          <p:cNvPr id="815" name="Google Shape;815;p83"/>
          <p:cNvPicPr preferRelativeResize="0"/>
          <p:nvPr/>
        </p:nvPicPr>
        <p:blipFill rotWithShape="1">
          <a:blip r:embed="rId3">
            <a:alphaModFix/>
          </a:blip>
          <a:srcRect r="62970"/>
          <a:stretch/>
        </p:blipFill>
        <p:spPr>
          <a:xfrm>
            <a:off x="6309475" y="914725"/>
            <a:ext cx="2347023" cy="28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3"/>
          <p:cNvSpPr txBox="1"/>
          <p:nvPr/>
        </p:nvSpPr>
        <p:spPr>
          <a:xfrm>
            <a:off x="6309475" y="3862800"/>
            <a:ext cx="262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Figure extracted from </a:t>
            </a:r>
            <a:r>
              <a:rPr lang="en-GB" sz="800" i="1">
                <a:solidFill>
                  <a:schemeClr val="dk1"/>
                </a:solidFill>
              </a:rPr>
              <a:t>Expanded encyclopaedias of DNA elements in the human and mouse genomes</a:t>
            </a:r>
            <a:r>
              <a:rPr lang="en-GB" sz="800" baseline="30000"/>
              <a:t>3</a:t>
            </a:r>
            <a:endParaRPr sz="800" i="1"/>
          </a:p>
        </p:txBody>
      </p:sp>
      <p:sp>
        <p:nvSpPr>
          <p:cNvPr id="817" name="Google Shape;817;p83"/>
          <p:cNvSpPr txBox="1"/>
          <p:nvPr/>
        </p:nvSpPr>
        <p:spPr>
          <a:xfrm>
            <a:off x="0" y="4739325"/>
            <a:ext cx="865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aseline="30000"/>
              <a:t>3</a:t>
            </a:r>
            <a:r>
              <a:rPr lang="en-GB" sz="800"/>
              <a:t>Moore, J.E., Pratt, H.E., Fan, K. et al. An expanded registry of candidate cis-regulatory elements. Nature (2026). https://doi.org/10.1038/s41586-025-09909-9</a:t>
            </a:r>
            <a:endParaRPr sz="800"/>
          </a:p>
        </p:txBody>
      </p:sp>
      <p:sp>
        <p:nvSpPr>
          <p:cNvPr id="818" name="Google Shape;818;p83"/>
          <p:cNvSpPr txBox="1"/>
          <p:nvPr/>
        </p:nvSpPr>
        <p:spPr>
          <a:xfrm>
            <a:off x="303250" y="1284000"/>
            <a:ext cx="5932800" cy="25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cCREs are anchored by using complementary strategies:</a:t>
            </a:r>
            <a:endParaRPr sz="16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1000"/>
              </a:spcBef>
              <a:spcAft>
                <a:spcPts val="0"/>
              </a:spcAft>
              <a:buClr>
                <a:srgbClr val="0C8148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Representative DNase hypersensitivity sites (rDHSs): Cluster DNase-seq peaks across biosamples.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1000"/>
              </a:spcBef>
              <a:spcAft>
                <a:spcPts val="0"/>
              </a:spcAft>
              <a:buClr>
                <a:srgbClr val="0C8148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Reproducible TF binding (TF rClusters): Recover protein-binding sites that may lack strong accessibility.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1000"/>
              </a:spcBef>
              <a:spcAft>
                <a:spcPts val="0"/>
              </a:spcAft>
              <a:buClr>
                <a:srgbClr val="0C8148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Multi-mapper rDHSs: Improve coverage in duplicated and repetitive regions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8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Registry of cCREs</a:t>
            </a:r>
            <a:endParaRPr/>
          </a:p>
        </p:txBody>
      </p:sp>
      <p:pic>
        <p:nvPicPr>
          <p:cNvPr id="824" name="Google Shape;824;p84"/>
          <p:cNvPicPr preferRelativeResize="0"/>
          <p:nvPr/>
        </p:nvPicPr>
        <p:blipFill rotWithShape="1">
          <a:blip r:embed="rId3">
            <a:alphaModFix/>
          </a:blip>
          <a:srcRect l="39222" t="1458" r="566"/>
          <a:stretch/>
        </p:blipFill>
        <p:spPr>
          <a:xfrm>
            <a:off x="5263925" y="1284000"/>
            <a:ext cx="3816402" cy="2851399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84"/>
          <p:cNvSpPr txBox="1"/>
          <p:nvPr/>
        </p:nvSpPr>
        <p:spPr>
          <a:xfrm>
            <a:off x="5203375" y="4147175"/>
            <a:ext cx="39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Figure extracted from </a:t>
            </a:r>
            <a:r>
              <a:rPr lang="en-GB" sz="800" i="1">
                <a:solidFill>
                  <a:schemeClr val="dk1"/>
                </a:solidFill>
              </a:rPr>
              <a:t>Expanded encyclopaedias of DNA elements in the human and mouse genomes</a:t>
            </a:r>
            <a:r>
              <a:rPr lang="en-GB" sz="800" baseline="30000"/>
              <a:t>3</a:t>
            </a:r>
            <a:endParaRPr sz="800" i="1"/>
          </a:p>
        </p:txBody>
      </p:sp>
      <p:sp>
        <p:nvSpPr>
          <p:cNvPr id="826" name="Google Shape;826;p84"/>
          <p:cNvSpPr txBox="1"/>
          <p:nvPr/>
        </p:nvSpPr>
        <p:spPr>
          <a:xfrm>
            <a:off x="0" y="4737000"/>
            <a:ext cx="865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aseline="30000"/>
              <a:t>3</a:t>
            </a:r>
            <a:r>
              <a:rPr lang="en-GB" sz="800"/>
              <a:t>Moore, J.E., Pratt, H.E., Fan, K. et al. An expanded registry of candidate cis-regulatory elements. Nature (2026). https://doi.org/10.1038/s41586-025-09909-9</a:t>
            </a:r>
            <a:endParaRPr sz="800"/>
          </a:p>
        </p:txBody>
      </p:sp>
      <p:sp>
        <p:nvSpPr>
          <p:cNvPr id="827" name="Google Shape;827;p84"/>
          <p:cNvSpPr txBox="1"/>
          <p:nvPr/>
        </p:nvSpPr>
        <p:spPr>
          <a:xfrm>
            <a:off x="164175" y="1063775"/>
            <a:ext cx="4937100" cy="36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cCREs are classified based on epigenomic evidence across surveyed biosamples:</a:t>
            </a:r>
            <a:endParaRPr sz="1600">
              <a:solidFill>
                <a:schemeClr val="dk1"/>
              </a:solidFill>
            </a:endParaRPr>
          </a:p>
          <a:p>
            <a:pPr marL="630000" lvl="0" indent="-1587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C8148"/>
              </a:buClr>
              <a:buSzPts val="1000"/>
              <a:buChar char="●"/>
            </a:pPr>
            <a:r>
              <a:rPr lang="en-GB" sz="1000" b="1">
                <a:solidFill>
                  <a:srgbClr val="FF0000"/>
                </a:solidFill>
              </a:rPr>
              <a:t>Promoter-like cCREs</a:t>
            </a:r>
            <a:r>
              <a:rPr lang="en-GB" sz="1000">
                <a:solidFill>
                  <a:schemeClr val="dk1"/>
                </a:solidFill>
              </a:rPr>
              <a:t>: Near a TSSs with high chromatin accessibility (CA) and H3K4me3 signal.</a:t>
            </a:r>
            <a:endParaRPr sz="1000">
              <a:solidFill>
                <a:schemeClr val="dk1"/>
              </a:solidFill>
            </a:endParaRPr>
          </a:p>
          <a:p>
            <a:pPr marL="630000" lvl="0" indent="-158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000"/>
              <a:buChar char="●"/>
            </a:pPr>
            <a:r>
              <a:rPr lang="en-GB" sz="1000" b="1">
                <a:solidFill>
                  <a:srgbClr val="FFA600"/>
                </a:solidFill>
              </a:rPr>
              <a:t>Enhancer-like cCREs</a:t>
            </a:r>
            <a:r>
              <a:rPr lang="en-GB" sz="1000">
                <a:solidFill>
                  <a:schemeClr val="dk1"/>
                </a:solidFill>
              </a:rPr>
              <a:t>: Accessible elements with high H3K27ac signal, subdivided into TSS-proximal and TSS-distal enhancers.</a:t>
            </a:r>
            <a:endParaRPr sz="1000">
              <a:solidFill>
                <a:schemeClr val="dk1"/>
              </a:solidFill>
            </a:endParaRPr>
          </a:p>
          <a:p>
            <a:pPr marL="630000" lvl="0" indent="-158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000"/>
              <a:buChar char="●"/>
            </a:pPr>
            <a:r>
              <a:rPr lang="en-GB" sz="1000" b="1">
                <a:solidFill>
                  <a:srgbClr val="EA9999"/>
                </a:solidFill>
              </a:rPr>
              <a:t>Chromatin accessibility + H3K4me3 (CA–H3K4me3) cCREs</a:t>
            </a:r>
            <a:r>
              <a:rPr lang="en-GB" sz="1000">
                <a:solidFill>
                  <a:schemeClr val="dk1"/>
                </a:solidFill>
              </a:rPr>
              <a:t>: Accessible elements with H3K4me3 but lacking strong H3K27ac and located away from TSSs.</a:t>
            </a:r>
            <a:endParaRPr sz="1000">
              <a:solidFill>
                <a:schemeClr val="dk1"/>
              </a:solidFill>
            </a:endParaRPr>
          </a:p>
          <a:p>
            <a:pPr marL="630000" lvl="0" indent="-158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000"/>
              <a:buChar char="●"/>
            </a:pPr>
            <a:r>
              <a:rPr lang="en-GB" sz="1000" b="1">
                <a:solidFill>
                  <a:srgbClr val="01B0EF"/>
                </a:solidFill>
              </a:rPr>
              <a:t>Chromatin accessibility + CTCF (CA–CTCF) cCREs</a:t>
            </a:r>
            <a:r>
              <a:rPr lang="en-GB" sz="1000">
                <a:solidFill>
                  <a:schemeClr val="dk1"/>
                </a:solidFill>
              </a:rPr>
              <a:t>: Accessible elements with strong CTCF binding and low histone acetylation.</a:t>
            </a:r>
            <a:endParaRPr sz="1000">
              <a:solidFill>
                <a:schemeClr val="dk1"/>
              </a:solidFill>
            </a:endParaRPr>
          </a:p>
          <a:p>
            <a:pPr marL="630000" lvl="0" indent="-158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000"/>
              <a:buChar char="●"/>
            </a:pPr>
            <a:r>
              <a:rPr lang="en-GB" sz="1000" b="1">
                <a:solidFill>
                  <a:srgbClr val="B33AF0"/>
                </a:solidFill>
              </a:rPr>
              <a:t>Chromatin accessibility + transcription factor (CA–TF) cCREs</a:t>
            </a:r>
            <a:r>
              <a:rPr lang="en-GB" sz="1000">
                <a:solidFill>
                  <a:schemeClr val="dk1"/>
                </a:solidFill>
              </a:rPr>
              <a:t>: Accessible elements overlapping transcription factor clusters but lacking strong histone modification signals.ster.</a:t>
            </a:r>
            <a:endParaRPr sz="1000">
              <a:solidFill>
                <a:schemeClr val="dk1"/>
              </a:solidFill>
            </a:endParaRPr>
          </a:p>
          <a:p>
            <a:pPr marL="630000" lvl="0" indent="-158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000"/>
              <a:buChar char="●"/>
            </a:pPr>
            <a:r>
              <a:rPr lang="en-GB" sz="1000" b="1">
                <a:solidFill>
                  <a:srgbClr val="09DA93"/>
                </a:solidFill>
              </a:rPr>
              <a:t>Chromatin accessibility (CA) cCREs</a:t>
            </a:r>
            <a:r>
              <a:rPr lang="en-GB" sz="1000">
                <a:solidFill>
                  <a:schemeClr val="dk1"/>
                </a:solidFill>
              </a:rPr>
              <a:t>: Accessible elements lacking strong H3K4me3, H3K27ac, or CTCF signals.</a:t>
            </a:r>
            <a:endParaRPr sz="1000">
              <a:solidFill>
                <a:schemeClr val="dk1"/>
              </a:solidFill>
            </a:endParaRPr>
          </a:p>
          <a:p>
            <a:pPr marL="630000" lvl="0" indent="-158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000"/>
              <a:buChar char="●"/>
            </a:pPr>
            <a:r>
              <a:rPr lang="en-GB" sz="1000" b="1">
                <a:solidFill>
                  <a:srgbClr val="D975EB"/>
                </a:solidFill>
              </a:rPr>
              <a:t>Transcription factor (TF) cCREs</a:t>
            </a:r>
            <a:r>
              <a:rPr lang="en-GB" sz="1000">
                <a:solidFill>
                  <a:schemeClr val="dk1"/>
                </a:solidFill>
              </a:rPr>
              <a:t>: TF binding in the absence of detectable chromatin accessibility or histone modification signals.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Registry of cCREs</a:t>
            </a:r>
            <a:endParaRPr/>
          </a:p>
        </p:txBody>
      </p:sp>
      <p:pic>
        <p:nvPicPr>
          <p:cNvPr id="833" name="Google Shape;833;p85"/>
          <p:cNvPicPr preferRelativeResize="0"/>
          <p:nvPr/>
        </p:nvPicPr>
        <p:blipFill rotWithShape="1">
          <a:blip r:embed="rId3">
            <a:alphaModFix/>
          </a:blip>
          <a:srcRect r="62970"/>
          <a:stretch/>
        </p:blipFill>
        <p:spPr>
          <a:xfrm>
            <a:off x="6309475" y="914725"/>
            <a:ext cx="2347023" cy="28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85"/>
          <p:cNvSpPr txBox="1"/>
          <p:nvPr/>
        </p:nvSpPr>
        <p:spPr>
          <a:xfrm>
            <a:off x="6309475" y="3862800"/>
            <a:ext cx="262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</a:rPr>
              <a:t>Figure extracted from </a:t>
            </a:r>
            <a:r>
              <a:rPr lang="en-GB" sz="800" i="1">
                <a:solidFill>
                  <a:schemeClr val="dk1"/>
                </a:solidFill>
              </a:rPr>
              <a:t>Expanded encyclopaedias of DNA elements in the human and mouse genomes</a:t>
            </a:r>
            <a:r>
              <a:rPr lang="en-GB" sz="800" baseline="30000"/>
              <a:t>3</a:t>
            </a:r>
            <a:endParaRPr sz="800" i="1"/>
          </a:p>
        </p:txBody>
      </p:sp>
      <p:sp>
        <p:nvSpPr>
          <p:cNvPr id="835" name="Google Shape;835;p85"/>
          <p:cNvSpPr txBox="1"/>
          <p:nvPr/>
        </p:nvSpPr>
        <p:spPr>
          <a:xfrm>
            <a:off x="0" y="4739325"/>
            <a:ext cx="865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aseline="30000"/>
              <a:t>3</a:t>
            </a:r>
            <a:r>
              <a:rPr lang="en-GB" sz="800"/>
              <a:t>Moore, J.E., Pratt, H.E., Fan, K. et al. An expanded registry of candidate cis-regulatory elements. Nature (2026). https://doi.org/10.1038/s41586-025-09909-9</a:t>
            </a:r>
            <a:endParaRPr sz="800"/>
          </a:p>
        </p:txBody>
      </p:sp>
      <p:sp>
        <p:nvSpPr>
          <p:cNvPr id="836" name="Google Shape;836;p85"/>
          <p:cNvSpPr txBox="1"/>
          <p:nvPr/>
        </p:nvSpPr>
        <p:spPr>
          <a:xfrm>
            <a:off x="303250" y="1284000"/>
            <a:ext cx="5932800" cy="25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cCREs are anchored by using complementary strategies:</a:t>
            </a:r>
            <a:endParaRPr sz="16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Representative DNase hypersensitivity sites (rDHSs): Cluster DNase-seq peaks across biosamples.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Reproducible TF binding (TF rClusters): Recover protein-binding sites that may lack strong accessibility.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Multi-mapper rDHSs: Improve coverage in duplicated and repetitive regions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6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232600" cy="1933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Web-based visualization and discovery platform for exploring the ENCODE Registry cCREs and other ENCODE Encyclopedia annotations. 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Enables users to query, visualize, and download regulatory annotations across hundreds of human and mouse cell and tissue types</a:t>
            </a:r>
            <a:endParaRPr/>
          </a:p>
          <a:p>
            <a:pPr marL="457200" lvl="0" indent="-330200" algn="l" rtl="0">
              <a:spcBef>
                <a:spcPts val="1000"/>
              </a:spcBef>
              <a:spcAft>
                <a:spcPts val="1000"/>
              </a:spcAft>
              <a:buSzPts val="1600"/>
              <a:buChar char="✓"/>
            </a:pPr>
            <a:r>
              <a:rPr lang="en-GB"/>
              <a:t>Turns the catalog into analysis: Examine cCREs relationships to genes, TF binding, chromatin state, and three-dimensional genome organization.</a:t>
            </a:r>
            <a:endParaRPr/>
          </a:p>
        </p:txBody>
      </p:sp>
      <p:sp>
        <p:nvSpPr>
          <p:cNvPr id="842" name="Google Shape;842;p8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</a:t>
            </a:r>
            <a:endParaRPr/>
          </a:p>
        </p:txBody>
      </p:sp>
      <p:pic>
        <p:nvPicPr>
          <p:cNvPr id="843" name="Google Shape;84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800" y="2694375"/>
            <a:ext cx="3247725" cy="232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3100" y="305960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850" name="Google Shape;850;p8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4625" y="868250"/>
            <a:ext cx="6262099" cy="3775201"/>
          </a:xfrm>
          <a:prstGeom prst="rect">
            <a:avLst/>
          </a:prstGeom>
          <a:solidFill>
            <a:srgbClr val="3D85C6"/>
          </a:solidFill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856" name="Google Shape;85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350" y="792244"/>
            <a:ext cx="5839951" cy="4046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0400" y="3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8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863" name="Google Shape;86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0400" y="3"/>
            <a:ext cx="1353600" cy="1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725" y="862294"/>
            <a:ext cx="6459642" cy="404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870" name="Google Shape;87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644"/>
            <a:ext cx="7338477" cy="3502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0400" y="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9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877" name="Google Shape;87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841" y="914075"/>
            <a:ext cx="5421152" cy="2092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2004" y="1295268"/>
            <a:ext cx="1329888" cy="132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6841" y="3097575"/>
            <a:ext cx="5459373" cy="194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2005" y="3403500"/>
            <a:ext cx="1329900" cy="132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9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886" name="Google Shape;88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75" y="871200"/>
            <a:ext cx="4957677" cy="2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013" y="3233525"/>
            <a:ext cx="1353600" cy="1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0702" y="2281125"/>
            <a:ext cx="3673523" cy="236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9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894" name="Google Shape;89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50" y="917075"/>
            <a:ext cx="7224951" cy="37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5800" y="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9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browser</a:t>
            </a:r>
            <a:endParaRPr/>
          </a:p>
        </p:txBody>
      </p:sp>
      <p:pic>
        <p:nvPicPr>
          <p:cNvPr id="901" name="Google Shape;90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50" y="846275"/>
            <a:ext cx="3487448" cy="202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650" y="2929349"/>
            <a:ext cx="3487450" cy="20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4175" y="1087300"/>
            <a:ext cx="4550099" cy="309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9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Downloads</a:t>
            </a:r>
            <a:endParaRPr/>
          </a:p>
        </p:txBody>
      </p:sp>
      <p:pic>
        <p:nvPicPr>
          <p:cNvPr id="909" name="Google Shape;90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25" y="911025"/>
            <a:ext cx="7424374" cy="345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3700" y="0"/>
            <a:ext cx="1353600" cy="1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9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Downloads</a:t>
            </a:r>
            <a:endParaRPr/>
          </a:p>
        </p:txBody>
      </p:sp>
      <p:pic>
        <p:nvPicPr>
          <p:cNvPr id="916" name="Google Shape;91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900" y="884150"/>
            <a:ext cx="7816999" cy="38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9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Downloads</a:t>
            </a:r>
            <a:endParaRPr/>
          </a:p>
        </p:txBody>
      </p:sp>
      <p:pic>
        <p:nvPicPr>
          <p:cNvPr id="922" name="Google Shape;92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50" y="925925"/>
            <a:ext cx="6553401" cy="19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2700" y="2899925"/>
            <a:ext cx="6553401" cy="18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cCREs: SCREEN Downloads</a:t>
            </a:r>
            <a:endParaRPr/>
          </a:p>
        </p:txBody>
      </p:sp>
      <p:pic>
        <p:nvPicPr>
          <p:cNvPr id="929" name="Google Shape;92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50" y="968875"/>
            <a:ext cx="8241807" cy="36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>
          <a:extLst>
            <a:ext uri="{FF2B5EF4-FFF2-40B4-BE49-F238E27FC236}">
              <a16:creationId xmlns:a16="http://schemas.microsoft.com/office/drawing/2014/main" id="{A90D4511-F740-5267-86DD-87DE3676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4">
            <a:extLst>
              <a:ext uri="{FF2B5EF4-FFF2-40B4-BE49-F238E27FC236}">
                <a16:creationId xmlns:a16="http://schemas.microsoft.com/office/drawing/2014/main" id="{02EAF678-FA94-9A5E-6CAD-B64425095F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grpSp>
        <p:nvGrpSpPr>
          <p:cNvPr id="717" name="Google Shape;717;p74">
            <a:extLst>
              <a:ext uri="{FF2B5EF4-FFF2-40B4-BE49-F238E27FC236}">
                <a16:creationId xmlns:a16="http://schemas.microsoft.com/office/drawing/2014/main" id="{B97A25C1-4065-EF79-FA76-54E3C4160685}"/>
              </a:ext>
            </a:extLst>
          </p:cNvPr>
          <p:cNvGrpSpPr/>
          <p:nvPr/>
        </p:nvGrpSpPr>
        <p:grpSpPr>
          <a:xfrm>
            <a:off x="1788346" y="1314725"/>
            <a:ext cx="776475" cy="2406685"/>
            <a:chOff x="3226825" y="1139765"/>
            <a:chExt cx="776475" cy="2406685"/>
          </a:xfrm>
        </p:grpSpPr>
        <p:sp>
          <p:nvSpPr>
            <p:cNvPr id="718" name="Google Shape;718;p74">
              <a:extLst>
                <a:ext uri="{FF2B5EF4-FFF2-40B4-BE49-F238E27FC236}">
                  <a16:creationId xmlns:a16="http://schemas.microsoft.com/office/drawing/2014/main" id="{2E5B3018-3851-27A1-167B-2169FC9680DC}"/>
                </a:ext>
              </a:extLst>
            </p:cNvPr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" name="Google Shape;719;p74">
              <a:extLst>
                <a:ext uri="{FF2B5EF4-FFF2-40B4-BE49-F238E27FC236}">
                  <a16:creationId xmlns:a16="http://schemas.microsoft.com/office/drawing/2014/main" id="{7218C0E4-5AD2-B7B8-FFDE-5C10344E47D3}"/>
                </a:ext>
              </a:extLst>
            </p:cNvPr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0" name="Google Shape;720;p74">
            <a:extLst>
              <a:ext uri="{FF2B5EF4-FFF2-40B4-BE49-F238E27FC236}">
                <a16:creationId xmlns:a16="http://schemas.microsoft.com/office/drawing/2014/main" id="{7E3D5FD2-3F14-D08D-E85D-E715987B4155}"/>
              </a:ext>
            </a:extLst>
          </p:cNvPr>
          <p:cNvGrpSpPr/>
          <p:nvPr/>
        </p:nvGrpSpPr>
        <p:grpSpPr>
          <a:xfrm>
            <a:off x="6367779" y="1366550"/>
            <a:ext cx="776475" cy="2406685"/>
            <a:chOff x="3226825" y="1139765"/>
            <a:chExt cx="776475" cy="2406685"/>
          </a:xfrm>
        </p:grpSpPr>
        <p:sp>
          <p:nvSpPr>
            <p:cNvPr id="721" name="Google Shape;721;p74">
              <a:extLst>
                <a:ext uri="{FF2B5EF4-FFF2-40B4-BE49-F238E27FC236}">
                  <a16:creationId xmlns:a16="http://schemas.microsoft.com/office/drawing/2014/main" id="{9E54B0B2-8CB0-279E-E290-910B6E1EBF4A}"/>
                </a:ext>
              </a:extLst>
            </p:cNvPr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" name="Google Shape;722;p74">
              <a:extLst>
                <a:ext uri="{FF2B5EF4-FFF2-40B4-BE49-F238E27FC236}">
                  <a16:creationId xmlns:a16="http://schemas.microsoft.com/office/drawing/2014/main" id="{F9F60F34-ABF3-05E8-AAA2-31CEC6A5B97D}"/>
                </a:ext>
              </a:extLst>
            </p:cNvPr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3" name="Google Shape;723;p74">
            <a:extLst>
              <a:ext uri="{FF2B5EF4-FFF2-40B4-BE49-F238E27FC236}">
                <a16:creationId xmlns:a16="http://schemas.microsoft.com/office/drawing/2014/main" id="{B84A6414-A9C2-BB36-02DB-495D9FD73F5F}"/>
              </a:ext>
            </a:extLst>
          </p:cNvPr>
          <p:cNvGrpSpPr/>
          <p:nvPr/>
        </p:nvGrpSpPr>
        <p:grpSpPr>
          <a:xfrm>
            <a:off x="2933204" y="1366550"/>
            <a:ext cx="776475" cy="2406685"/>
            <a:chOff x="3226825" y="1139765"/>
            <a:chExt cx="776475" cy="2406685"/>
          </a:xfrm>
        </p:grpSpPr>
        <p:sp>
          <p:nvSpPr>
            <p:cNvPr id="724" name="Google Shape;724;p74">
              <a:extLst>
                <a:ext uri="{FF2B5EF4-FFF2-40B4-BE49-F238E27FC236}">
                  <a16:creationId xmlns:a16="http://schemas.microsoft.com/office/drawing/2014/main" id="{45462F6F-D0A7-3B13-EF23-5AB2517CB317}"/>
                </a:ext>
              </a:extLst>
            </p:cNvPr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" name="Google Shape;725;p74">
              <a:extLst>
                <a:ext uri="{FF2B5EF4-FFF2-40B4-BE49-F238E27FC236}">
                  <a16:creationId xmlns:a16="http://schemas.microsoft.com/office/drawing/2014/main" id="{DC9E99DF-EFEF-5F21-6327-BE1F8CF56C3C}"/>
                </a:ext>
              </a:extLst>
            </p:cNvPr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6" name="Google Shape;726;p74">
            <a:extLst>
              <a:ext uri="{FF2B5EF4-FFF2-40B4-BE49-F238E27FC236}">
                <a16:creationId xmlns:a16="http://schemas.microsoft.com/office/drawing/2014/main" id="{BF7A1D32-DAA3-86A5-8028-449669A76CC1}"/>
              </a:ext>
            </a:extLst>
          </p:cNvPr>
          <p:cNvGrpSpPr/>
          <p:nvPr/>
        </p:nvGrpSpPr>
        <p:grpSpPr>
          <a:xfrm>
            <a:off x="4078063" y="1366550"/>
            <a:ext cx="776475" cy="2406685"/>
            <a:chOff x="3226825" y="1139765"/>
            <a:chExt cx="776475" cy="2406685"/>
          </a:xfrm>
        </p:grpSpPr>
        <p:sp>
          <p:nvSpPr>
            <p:cNvPr id="727" name="Google Shape;727;p74">
              <a:extLst>
                <a:ext uri="{FF2B5EF4-FFF2-40B4-BE49-F238E27FC236}">
                  <a16:creationId xmlns:a16="http://schemas.microsoft.com/office/drawing/2014/main" id="{A58C5D35-2B96-19DA-058B-F405BC7EEC3C}"/>
                </a:ext>
              </a:extLst>
            </p:cNvPr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8" name="Google Shape;728;p74">
              <a:extLst>
                <a:ext uri="{FF2B5EF4-FFF2-40B4-BE49-F238E27FC236}">
                  <a16:creationId xmlns:a16="http://schemas.microsoft.com/office/drawing/2014/main" id="{B6D8EB1F-9A14-154E-3053-791A29CB931C}"/>
                </a:ext>
              </a:extLst>
            </p:cNvPr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9" name="Google Shape;729;p74">
            <a:extLst>
              <a:ext uri="{FF2B5EF4-FFF2-40B4-BE49-F238E27FC236}">
                <a16:creationId xmlns:a16="http://schemas.microsoft.com/office/drawing/2014/main" id="{B30B4175-DE15-32C6-65D5-6F0C4B1D627C}"/>
              </a:ext>
            </a:extLst>
          </p:cNvPr>
          <p:cNvGrpSpPr/>
          <p:nvPr/>
        </p:nvGrpSpPr>
        <p:grpSpPr>
          <a:xfrm>
            <a:off x="5222921" y="1366550"/>
            <a:ext cx="776475" cy="2406685"/>
            <a:chOff x="3226825" y="1139765"/>
            <a:chExt cx="776475" cy="2406685"/>
          </a:xfrm>
        </p:grpSpPr>
        <p:sp>
          <p:nvSpPr>
            <p:cNvPr id="730" name="Google Shape;730;p74">
              <a:extLst>
                <a:ext uri="{FF2B5EF4-FFF2-40B4-BE49-F238E27FC236}">
                  <a16:creationId xmlns:a16="http://schemas.microsoft.com/office/drawing/2014/main" id="{8A010790-A1F2-38CA-B61F-87FF574EF1BA}"/>
                </a:ext>
              </a:extLst>
            </p:cNvPr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1" name="Google Shape;731;p74">
              <a:extLst>
                <a:ext uri="{FF2B5EF4-FFF2-40B4-BE49-F238E27FC236}">
                  <a16:creationId xmlns:a16="http://schemas.microsoft.com/office/drawing/2014/main" id="{642C77DB-695D-1DEC-BA4A-FEA8BECA6AF9}"/>
                </a:ext>
              </a:extLst>
            </p:cNvPr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45717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99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936" name="Google Shape;936;p99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0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</a:t>
            </a:r>
            <a:endParaRPr/>
          </a:p>
        </p:txBody>
      </p:sp>
      <p:sp>
        <p:nvSpPr>
          <p:cNvPr id="943" name="Google Shape;943;p100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>
                <a:solidFill>
                  <a:srgbClr val="000000"/>
                </a:solidFill>
              </a:rPr>
              <a:t>Explore the indicated locus on SCREEN:</a:t>
            </a:r>
            <a:endParaRPr>
              <a:solidFill>
                <a:srgbClr val="000000"/>
              </a:solidFill>
            </a:endParaRPr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>
                <a:solidFill>
                  <a:srgbClr val="000000"/>
                </a:solidFill>
              </a:rPr>
              <a:t>GRCh38, chr8:127,682,026-127,744,101</a:t>
            </a:r>
            <a:endParaRPr>
              <a:solidFill>
                <a:srgbClr val="000000"/>
              </a:solidFill>
            </a:endParaRPr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>
                <a:solidFill>
                  <a:srgbClr val="000000"/>
                </a:solidFill>
              </a:rPr>
              <a:t>GRCm39/mm39, chr6:6,740,753-6,891,103; GRCm38/mm10 chr6:6,740,753-6,891,103</a:t>
            </a:r>
            <a:endParaRPr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>
                <a:solidFill>
                  <a:srgbClr val="000000"/>
                </a:solidFill>
              </a:rPr>
              <a:t>Inspect cCREs overlapping or near the indicated gene:</a:t>
            </a:r>
            <a:endParaRPr>
              <a:solidFill>
                <a:srgbClr val="000000"/>
              </a:solidFill>
            </a:endParaRPr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>
                <a:solidFill>
                  <a:srgbClr val="000000"/>
                </a:solidFill>
              </a:rPr>
              <a:t>Human, MYC</a:t>
            </a:r>
            <a:endParaRPr>
              <a:solidFill>
                <a:srgbClr val="000000"/>
              </a:solidFill>
            </a:endParaRPr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>
                <a:solidFill>
                  <a:srgbClr val="000000"/>
                </a:solidFill>
              </a:rPr>
              <a:t>Mouse, Dlx6</a:t>
            </a:r>
            <a:endParaRPr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>
                <a:solidFill>
                  <a:srgbClr val="000000"/>
                </a:solidFill>
              </a:rPr>
              <a:t>Review cCRE class, biosample support, and linked evidence for:</a:t>
            </a:r>
            <a:endParaRPr>
              <a:solidFill>
                <a:srgbClr val="000000"/>
              </a:solidFill>
            </a:endParaRPr>
          </a:p>
          <a:p>
            <a:pPr marL="765000" marR="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>
                <a:solidFill>
                  <a:srgbClr val="000000"/>
                </a:solidFill>
              </a:rPr>
              <a:t>Human, HCT116 core collection</a:t>
            </a:r>
            <a:endParaRPr>
              <a:solidFill>
                <a:srgbClr val="000000"/>
              </a:solidFill>
            </a:endParaRPr>
          </a:p>
          <a:p>
            <a:pPr marL="765000" marR="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>
                <a:solidFill>
                  <a:srgbClr val="000000"/>
                </a:solidFill>
              </a:rPr>
              <a:t>Mouse, Forebrain E13.5 ancillary collection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1856</Words>
  <Application>Microsoft Macintosh PowerPoint</Application>
  <PresentationFormat>On-screen Show (16:9)</PresentationFormat>
  <Paragraphs>185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Lobster</vt:lpstr>
      <vt:lpstr>Arial Black</vt:lpstr>
      <vt:lpstr>Roboto</vt:lpstr>
      <vt:lpstr>Roboto Thin</vt:lpstr>
      <vt:lpstr>Libre Franklin Thin</vt:lpstr>
      <vt:lpstr>Libre Franklin Medium</vt:lpstr>
      <vt:lpstr>Arial</vt:lpstr>
      <vt:lpstr>Franklin Gothic</vt:lpstr>
      <vt:lpstr>Inter</vt:lpstr>
      <vt:lpstr>Libre Franklin</vt:lpstr>
      <vt:lpstr>Roboto Medium</vt:lpstr>
      <vt:lpstr>Custom Design</vt:lpstr>
      <vt:lpstr>Multi-species Catalogues of Regulatory Elements: ENCODE</vt:lpstr>
      <vt:lpstr>Session map</vt:lpstr>
      <vt:lpstr>PowerPoint Presentation</vt:lpstr>
      <vt:lpstr>PowerPoint Presentation</vt:lpstr>
      <vt:lpstr>The ENCODE project</vt:lpstr>
      <vt:lpstr>The ENCODE project and the ENCODE portal</vt:lpstr>
      <vt:lpstr>The ENCODE project and the ENCODE portal</vt:lpstr>
      <vt:lpstr>The ENCODE project and the ENCODE portal</vt:lpstr>
      <vt:lpstr>The ENCODE project and the ENCODE portal</vt:lpstr>
      <vt:lpstr>The ENCODE project and the ENCODE portal</vt:lpstr>
      <vt:lpstr>The ENCODE project and the ENCODE portal</vt:lpstr>
      <vt:lpstr>The ENCODE project and the ENCODE portal</vt:lpstr>
      <vt:lpstr>The ENCODE project and the ENCODE portal</vt:lpstr>
      <vt:lpstr>The ENCODE Reference Epigenomes</vt:lpstr>
      <vt:lpstr>The ENCODE Reference Epigenomes</vt:lpstr>
      <vt:lpstr>The ENCODE Reference Epigenomes</vt:lpstr>
      <vt:lpstr>The ENCODE Reference Epigenomes</vt:lpstr>
      <vt:lpstr>PowerPoint Presentation</vt:lpstr>
      <vt:lpstr>Questions?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ENCODE Registry of cCREs and SCREEN</vt:lpstr>
      <vt:lpstr>The ENCODE Registry of cCREs</vt:lpstr>
      <vt:lpstr>The ENCODE Registry of cCREs</vt:lpstr>
      <vt:lpstr>The ENCODE Registry of cCREs</vt:lpstr>
      <vt:lpstr>The ENCODE Registry of cCREs</vt:lpstr>
      <vt:lpstr>SCREEN</vt:lpstr>
      <vt:lpstr>Accessing cCREs: SCREEN browser</vt:lpstr>
      <vt:lpstr>Accessing cCREs: SCREEN browser</vt:lpstr>
      <vt:lpstr>Accessing cCREs: SCREEN browser</vt:lpstr>
      <vt:lpstr>Accessing cCREs: SCREEN browser</vt:lpstr>
      <vt:lpstr>Accessing cCREs: SCREEN browser</vt:lpstr>
      <vt:lpstr>Accessing cCREs: SCREEN browser</vt:lpstr>
      <vt:lpstr>Accessing cCREs: SCREEN browser</vt:lpstr>
      <vt:lpstr>Accessing cCREs: SCREEN browser</vt:lpstr>
      <vt:lpstr>Accessing cCREs: SCREEN Downloads</vt:lpstr>
      <vt:lpstr>Accessing cCREs: SCREEN Downloads</vt:lpstr>
      <vt:lpstr>Accessing cCREs: SCREEN Downloads</vt:lpstr>
      <vt:lpstr>Accessing cCREs: SCREEN Downloads</vt:lpstr>
      <vt:lpstr>Questions?</vt:lpstr>
      <vt:lpstr>PowerPoint Presentation</vt:lpstr>
      <vt:lpstr>The ENCODE cCREs and SCREEN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Louisse Paola Mirabueno</cp:lastModifiedBy>
  <cp:revision>2</cp:revision>
  <dcterms:modified xsi:type="dcterms:W3CDTF">2026-09-02T23:13:19Z</dcterms:modified>
</cp:coreProperties>
</file>