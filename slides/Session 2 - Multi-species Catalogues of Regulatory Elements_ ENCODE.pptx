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2" r:id="rId1"/>
  </p:sldMasterIdLst>
  <p:notesMasterIdLst>
    <p:notesMasterId r:id="rId4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301" r:id="rId45"/>
    <p:sldId id="299" r:id="rId46"/>
    <p:sldId id="300" r:id="rId47"/>
  </p:sldIdLst>
  <p:sldSz cx="9144000" cy="5143500" type="screen16x9"/>
  <p:notesSz cx="6858000" cy="9144000"/>
  <p:embeddedFontLst>
    <p:embeddedFont>
      <p:font typeface="Arial Black" panose="020B0604020202020204" pitchFamily="34" charset="0"/>
      <p:bold r:id="rId49"/>
    </p:embeddedFont>
    <p:embeddedFont>
      <p:font typeface="Franklin Gothic" panose="020B0603020102020204" pitchFamily="34" charset="0"/>
      <p:regular r:id="rId50"/>
      <p:bold r:id="rId51"/>
      <p:italic r:id="rId52"/>
      <p:boldItalic r:id="rId53"/>
    </p:embeddedFont>
    <p:embeddedFont>
      <p:font typeface="Inter" panose="02000503000000020004" pitchFamily="2" charset="0"/>
      <p:regular r:id="rId54"/>
      <p:bold r:id="rId55"/>
      <p:italic r:id="rId56"/>
      <p:boldItalic r:id="rId57"/>
    </p:embeddedFont>
    <p:embeddedFont>
      <p:font typeface="Libre Franklin" pitchFamily="2" charset="77"/>
      <p:regular r:id="rId58"/>
      <p:bold r:id="rId59"/>
      <p:italic r:id="rId60"/>
      <p:boldItalic r:id="rId61"/>
    </p:embeddedFont>
    <p:embeddedFont>
      <p:font typeface="Libre Franklin Medium" pitchFamily="2" charset="77"/>
      <p:regular r:id="rId62"/>
      <p:italic r:id="rId63"/>
    </p:embeddedFont>
    <p:embeddedFont>
      <p:font typeface="Libre Franklin Thin" pitchFamily="2" charset="77"/>
      <p:regular r:id="rId64"/>
      <p:italic r:id="rId65"/>
    </p:embeddedFont>
    <p:embeddedFont>
      <p:font typeface="Lobster" pitchFamily="2" charset="77"/>
      <p:regular r:id="rId66"/>
    </p:embeddedFont>
    <p:embeddedFont>
      <p:font typeface="Roboto" panose="02000000000000000000" pitchFamily="2" charset="0"/>
      <p:regular r:id="rId67"/>
      <p:bold r:id="rId68"/>
      <p:italic r:id="rId69"/>
      <p:boldItalic r:id="rId70"/>
    </p:embeddedFont>
    <p:embeddedFont>
      <p:font typeface="Roboto Medium" panose="02000000000000000000" pitchFamily="2" charset="0"/>
      <p:regular r:id="rId71"/>
      <p:italic r:id="rId72"/>
    </p:embeddedFont>
    <p:embeddedFont>
      <p:font typeface="Roboto Thin" panose="02000000000000000000" pitchFamily="2" charset="0"/>
      <p:regular r:id="rId73"/>
      <p:italic r:id="rId7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89"/>
    <p:restoredTop sz="94652"/>
  </p:normalViewPr>
  <p:slideViewPr>
    <p:cSldViewPr snapToGrid="0">
      <p:cViewPr varScale="1">
        <p:scale>
          <a:sx n="212" d="100"/>
          <a:sy n="212" d="100"/>
        </p:scale>
        <p:origin x="200" y="33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5.fntdata"/><Relationship Id="rId68" Type="http://schemas.openxmlformats.org/officeDocument/2006/relationships/font" Target="fonts/font20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8" Type="http://schemas.openxmlformats.org/officeDocument/2006/relationships/font" Target="fonts/font10.fntdata"/><Relationship Id="rId66" Type="http://schemas.openxmlformats.org/officeDocument/2006/relationships/font" Target="fonts/font18.fntdata"/><Relationship Id="rId74" Type="http://schemas.openxmlformats.org/officeDocument/2006/relationships/font" Target="fonts/font26.fntdata"/><Relationship Id="rId5" Type="http://schemas.openxmlformats.org/officeDocument/2006/relationships/slide" Target="slides/slide4.xml"/><Relationship Id="rId61" Type="http://schemas.openxmlformats.org/officeDocument/2006/relationships/font" Target="fonts/font13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openxmlformats.org/officeDocument/2006/relationships/font" Target="fonts/font8.fntdata"/><Relationship Id="rId64" Type="http://schemas.openxmlformats.org/officeDocument/2006/relationships/font" Target="fonts/font16.fntdata"/><Relationship Id="rId69" Type="http://schemas.openxmlformats.org/officeDocument/2006/relationships/font" Target="fonts/font21.fntdata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72" Type="http://schemas.openxmlformats.org/officeDocument/2006/relationships/font" Target="fonts/font2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11.fntdata"/><Relationship Id="rId67" Type="http://schemas.openxmlformats.org/officeDocument/2006/relationships/font" Target="fonts/font19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6.fntdata"/><Relationship Id="rId62" Type="http://schemas.openxmlformats.org/officeDocument/2006/relationships/font" Target="fonts/font14.fntdata"/><Relationship Id="rId70" Type="http://schemas.openxmlformats.org/officeDocument/2006/relationships/font" Target="fonts/font22.fntdata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font" Target="fonts/font9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Relationship Id="rId60" Type="http://schemas.openxmlformats.org/officeDocument/2006/relationships/font" Target="fonts/font12.fntdata"/><Relationship Id="rId65" Type="http://schemas.openxmlformats.org/officeDocument/2006/relationships/font" Target="fonts/font17.fntdata"/><Relationship Id="rId73" Type="http://schemas.openxmlformats.org/officeDocument/2006/relationships/font" Target="fonts/font25.fntdata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font" Target="fonts/font2.fntdata"/><Relationship Id="rId55" Type="http://schemas.openxmlformats.org/officeDocument/2006/relationships/font" Target="fonts/font7.fntdata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font" Target="fonts/font23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ncodeproject.org/search/?type=Experiment&amp;control_type!=*&amp;status=released&amp;perturbed=false&amp;biosample_ontology.classification=tissue&amp;assay_title=DNase-seq&amp;replicates.library.biosample.donor.organism.scientific_name=Homo+sapiens&amp;biosample_ontology.term_name=cerebellum&amp;replicates.library.biosample.sex=female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ncodeproject.org/search/?type=Experiment&amp;control_type!=*&amp;related_series.@type=ReferenceEpigenome&amp;replicates.library.biosample.donor.organism.scientific_name=Homo+sapiens&amp;status=released&amp;biosample_ontology.classification=in+vitro+differentiated+cells&amp;biosample_ontology.term_name=hepatocyte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ncodeproject.org/reference-epigenomes/ENCSR654ORD/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ncodeproject.org/reference-epigenomes/ENCSR654ORD/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8" name="Google Shape;49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efd665e69d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g3efd665e69d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g3d0e1ed9864_0_5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2" name="Google Shape;562;g3d0e1ed9864_0_5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SLIDES_API92899811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8" name="Google Shape;568;SLIDES_API92899811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3e7315547b1_0_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0" name="Google Shape;580;g3e7315547b1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g3e73a761706_0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8" name="Google Shape;588;g3e73a761706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3e7315547b1_0_148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g3e7315547b1_0_14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d0e1ed9864_0_15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6" name="Google Shape;606;g3d0e1ed9864_0_15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g38b8fe491c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6" name="Google Shape;616;g38b8fe491c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38b8fe491c3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7" name="Google Shape;627;g38b8fe491c3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38b8fe491c3_0_5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38b8fe491c3_0_5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38b8fe491c3_0_10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0" name="Google Shape;650;g38b8fe491c3_0_10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g38b8fe491c3_0_15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0" name="Google Shape;660;g38b8fe491c3_0_15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38b8fe491c3_0_20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38b8fe491c3_0_20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8b8fe491c3_0_25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7" name="Google Shape;677;g38b8fe491c3_0_25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g38b8fe491c3_0_30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5" name="Google Shape;685;g38b8fe491c3_0_30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f3bc9d6ad5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3f3bc9d6ad5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SLIDES_API214556702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SLIDES_API214556702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g3fabb56aef7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4" name="Google Shape;714;g3fabb56aef7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3d0e1ed9864_0_10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4" name="Google Shape;734;g3d0e1ed9864_0_10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5" name="Google Shape;735;g3d0e1ed9864_0_10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SLIDES_API130426060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SLIDES_API130426060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1- 24 </a:t>
            </a:r>
            <a:r>
              <a:rPr lang="en-GB" u="sng">
                <a:solidFill>
                  <a:schemeClr val="hlink"/>
                </a:solidFill>
                <a:hlinkClick r:id="rId3"/>
              </a:rPr>
              <a:t>https://www.encodeproject.org/search/?type=Experiment&amp;control_type!=*&amp;status=released&amp;perturbed=false&amp;biosample_ontology.classification=tissue&amp;assay_title=DNase-seq&amp;replicates.library.biosample.donor.organism.scientific_name=Homo+sapiens&amp;biosample_ontology.term_name=cerebellum&amp;replicates.library.biosample.sex=fema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SLIDES_API130426060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SLIDES_API130426060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2- 1 </a:t>
            </a:r>
            <a:r>
              <a:rPr lang="en-GB" u="sng">
                <a:solidFill>
                  <a:schemeClr val="hlink"/>
                </a:solidFill>
                <a:hlinkClick r:id="rId3"/>
              </a:rPr>
              <a:t>https://www.encodeproject.org/search/?type=Experiment&amp;control_type!=*&amp;related_series.@type=ReferenceEpigenome&amp;replicates.library.biosample.donor.organism.scientific_name=Homo+sapiens&amp;status=released&amp;biosample_ontology.classification=in+vitro+differentiated+cells&amp;biosample_ontology.term_name=hepatocy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SLIDES_API1304260601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5" name="Google Shape;765;SLIDES_API1304260601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12: </a:t>
            </a:r>
            <a:r>
              <a:rPr lang="en-GB" u="sng">
                <a:solidFill>
                  <a:schemeClr val="hlink"/>
                </a:solidFill>
                <a:hlinkClick r:id="rId3"/>
              </a:rPr>
              <a:t>https://www.encodeproject.org/reference-epigenomes/ENCSR654ORD/</a:t>
            </a:r>
            <a:r>
              <a:rPr lang="en-GB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SLIDES_API130426060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7" name="Google Shape;777;SLIDES_API130426060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</a:rPr>
              <a:t>yes ATAC-seq and DNase-seq:: </a:t>
            </a:r>
            <a:r>
              <a:rPr lang="en-GB" u="sng">
                <a:solidFill>
                  <a:schemeClr val="hlink"/>
                </a:solidFill>
                <a:hlinkClick r:id="rId3"/>
              </a:rPr>
              <a:t>https://www.encodeproject.org/reference-epigenomes/ENCSR654ORD/</a:t>
            </a:r>
            <a:r>
              <a:rPr lang="en-GB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g3e7315547b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9" name="Google Shape;789;g3e7315547b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g3ea0fdf18e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5" name="Google Shape;795;g3ea0fdf18e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3d0e1ed9864_0_15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3" name="Google Shape;803;g3d0e1ed9864_0_15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3ea0fdf18e5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3ea0fdf18e5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g3ea0fdf18e5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1" name="Google Shape;821;g3ea0fdf18e5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8b8fe491c3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38b8fe491c3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g3d0e1ed9864_0_15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9" name="Google Shape;839;g3d0e1ed9864_0_15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g3ea0fdf18e5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7" name="Google Shape;847;g3ea0fdf18e5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Google Shape;852;g3f3ee8873b8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3" name="Google Shape;853;g3f3ee8873b8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g3f3ee8873b8_1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0" name="Google Shape;860;g3f3ee8873b8_1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Google Shape;866;g3f3ee8873b8_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7" name="Google Shape;867;g3f3ee8873b8_1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g3f3ee8873b8_1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4" name="Google Shape;874;g3f3ee8873b8_1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3f3ee8873b8_1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g3f3ee8873b8_1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g3f3ee8873b8_1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1" name="Google Shape;891;g3f3ee8873b8_1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g3f3ee8873b8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8" name="Google Shape;898;g3f3ee8873b8_1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3ea0fdf18e5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3ea0fdf18e5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Google Shape;912;g3ea0fdf18e5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3" name="Google Shape;913;g3ea0fdf18e5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g3ea0fdf18e5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9" name="Google Shape;919;g3ea0fdf18e5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g3ea0fdf18e5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6" name="Google Shape;926;g3ea0fdf18e5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2">
          <a:extLst>
            <a:ext uri="{FF2B5EF4-FFF2-40B4-BE49-F238E27FC236}">
              <a16:creationId xmlns:a16="http://schemas.microsoft.com/office/drawing/2014/main" id="{8CE05FBF-69A8-7B60-935B-3CF02E407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g3fabb56aef7_0_8:notes">
            <a:extLst>
              <a:ext uri="{FF2B5EF4-FFF2-40B4-BE49-F238E27FC236}">
                <a16:creationId xmlns:a16="http://schemas.microsoft.com/office/drawing/2014/main" id="{4D526CF7-B5E7-5A71-F835-0724CE9533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4" name="Google Shape;714;g3fabb56aef7_0_8:notes">
            <a:extLst>
              <a:ext uri="{FF2B5EF4-FFF2-40B4-BE49-F238E27FC236}">
                <a16:creationId xmlns:a16="http://schemas.microsoft.com/office/drawing/2014/main" id="{033D8223-09A1-C81C-B359-8D50880EC0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8083944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3ea0fdf18e5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Google Shape;932;g3ea0fdf18e5_0_9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3" name="Google Shape;933;g3ea0fdf18e5_0_9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45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Google Shape;938;g3ea0fdf18e5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9" name="Google Shape;939;g3ea0fdf18e5_0_9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0" name="Google Shape;940;g3ea0fdf18e5_0_9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9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9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0.png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Elements_grey">
  <p:cSld name="Title_And_Elements_grey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12" name="Google Shape;12;p2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7793831" y="4557712"/>
            <a:ext cx="1143000" cy="528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13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elements_white">
  <p:cSld name="Title_and_elements_whit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Title - South Building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853567" y="0"/>
            <a:ext cx="4275376" cy="328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Cell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6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7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8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8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3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9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3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4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0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0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5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1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1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6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2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2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7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3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3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8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4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14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8" name="Google Shape;108;p14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14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9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5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7" y="-5821"/>
            <a:ext cx="4281508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7" name="Google Shape;117;p15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15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10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6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7" y="-5821"/>
            <a:ext cx="4281508" cy="328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16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16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16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7" name="Google Shape;127;p16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11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17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7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17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17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17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17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1_Title_Slide_TRAINING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8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7" y="-5821"/>
            <a:ext cx="4281508" cy="328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8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2" name="Google Shape;142;p18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3" name="Google Shape;143;p18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4" name="Google Shape;144;p18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18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1_Title_Slide_INDUSTRY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19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7" y="-5821"/>
            <a:ext cx="4281506" cy="3289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9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19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19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19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19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_NoImage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9143998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0"/>
          <p:cNvSpPr txBox="1">
            <a:spLocks noGrp="1"/>
          </p:cNvSpPr>
          <p:nvPr>
            <p:ph type="body" idx="1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8" name="Google Shape;158;p20"/>
          <p:cNvSpPr txBox="1">
            <a:spLocks noGrp="1"/>
          </p:cNvSpPr>
          <p:nvPr>
            <p:ph type="body" idx="2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9" name="Google Shape;159;p20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20"/>
          <p:cNvSpPr txBox="1">
            <a:spLocks noGrp="1"/>
          </p:cNvSpPr>
          <p:nvPr>
            <p:ph type="body" idx="3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20"/>
          <p:cNvSpPr txBox="1">
            <a:spLocks noGrp="1"/>
          </p:cNvSpPr>
          <p:nvPr>
            <p:ph type="body" idx="4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62" name="Google Shape;162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1_Title_Slide_noImage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9144000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1"/>
          <p:cNvSpPr txBox="1">
            <a:spLocks noGrp="1"/>
          </p:cNvSpPr>
          <p:nvPr>
            <p:ph type="body" idx="1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6" name="Google Shape;166;p21"/>
          <p:cNvSpPr txBox="1">
            <a:spLocks noGrp="1"/>
          </p:cNvSpPr>
          <p:nvPr>
            <p:ph type="body" idx="2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7" name="Google Shape;167;p21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21"/>
          <p:cNvSpPr txBox="1">
            <a:spLocks noGrp="1"/>
          </p:cNvSpPr>
          <p:nvPr>
            <p:ph type="body" idx="3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21"/>
          <p:cNvSpPr txBox="1">
            <a:spLocks noGrp="1"/>
          </p:cNvSpPr>
          <p:nvPr>
            <p:ph type="body" idx="4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70" name="Google Shape;170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1_Title_Slide_Staff_Association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9144000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2"/>
          <p:cNvSpPr txBox="1">
            <a:spLocks noGrp="1"/>
          </p:cNvSpPr>
          <p:nvPr>
            <p:ph type="body" idx="1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22"/>
          <p:cNvSpPr txBox="1">
            <a:spLocks noGrp="1"/>
          </p:cNvSpPr>
          <p:nvPr>
            <p:ph type="body" idx="2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22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22"/>
          <p:cNvSpPr txBox="1">
            <a:spLocks noGrp="1"/>
          </p:cNvSpPr>
          <p:nvPr>
            <p:ph type="body" idx="3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7" name="Google Shape;177;p22"/>
          <p:cNvSpPr txBox="1">
            <a:spLocks noGrp="1"/>
          </p:cNvSpPr>
          <p:nvPr>
            <p:ph type="body" idx="4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78" name="Google Shape;178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16925" y="4118125"/>
            <a:ext cx="2091450" cy="7276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ff Association grey ">
  <p:cSld name="Staff Association grey 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23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183" name="Google Shape;183;p23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23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85" name="Google Shape;185;p23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6" name="Google Shape;186;p2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524368" y="4628593"/>
            <a:ext cx="1202725" cy="418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ff Association white">
  <p:cSld name="Staff Association white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24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0" name="Google Shape;190;p24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91" name="Google Shape;191;p24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92" name="Google Shape;192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524368" y="4628593"/>
            <a:ext cx="1202725" cy="418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Elements_grey">
  <p:cSld name="Two Elements_grey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5" name="Google Shape;195;p25"/>
          <p:cNvSpPr/>
          <p:nvPr/>
        </p:nvSpPr>
        <p:spPr>
          <a:xfrm>
            <a:off x="0" y="869951"/>
            <a:ext cx="9144000" cy="3754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>
            <a:spLocks noGrp="1"/>
          </p:cNvSpPr>
          <p:nvPr>
            <p:ph type="body" idx="1"/>
          </p:nvPr>
        </p:nvSpPr>
        <p:spPr>
          <a:xfrm>
            <a:off x="330994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7" name="Google Shape;197;p25"/>
          <p:cNvSpPr txBox="1">
            <a:spLocks noGrp="1"/>
          </p:cNvSpPr>
          <p:nvPr>
            <p:ph type="body" idx="2"/>
          </p:nvPr>
        </p:nvSpPr>
        <p:spPr>
          <a:xfrm>
            <a:off x="4572000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8" name="Google Shape;198;p25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99" name="Google Shape;199;p25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25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Elements_white">
  <p:cSld name="Two Elements_white"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26"/>
          <p:cNvSpPr txBox="1">
            <a:spLocks noGrp="1"/>
          </p:cNvSpPr>
          <p:nvPr>
            <p:ph type="body" idx="1"/>
          </p:nvPr>
        </p:nvSpPr>
        <p:spPr>
          <a:xfrm>
            <a:off x="330994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4" name="Google Shape;204;p26"/>
          <p:cNvSpPr txBox="1">
            <a:spLocks noGrp="1"/>
          </p:cNvSpPr>
          <p:nvPr>
            <p:ph type="body" idx="2"/>
          </p:nvPr>
        </p:nvSpPr>
        <p:spPr>
          <a:xfrm>
            <a:off x="4572000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5" name="Google Shape;205;p26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06" name="Google Shape;206;p26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7" name="Google Shape;207;p26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_Elements_grey_green">
  <p:cSld name="Two_Elements_grey_green"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0" name="Google Shape;210;p27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11" name="Google Shape;211;p27"/>
          <p:cNvSpPr txBox="1">
            <a:spLocks noGrp="1"/>
          </p:cNvSpPr>
          <p:nvPr>
            <p:ph type="body" idx="1"/>
          </p:nvPr>
        </p:nvSpPr>
        <p:spPr>
          <a:xfrm>
            <a:off x="1" y="887016"/>
            <a:ext cx="3155100" cy="3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2" name="Google Shape;212;p27"/>
          <p:cNvSpPr txBox="1">
            <a:spLocks noGrp="1"/>
          </p:cNvSpPr>
          <p:nvPr>
            <p:ph type="body" idx="2"/>
          </p:nvPr>
        </p:nvSpPr>
        <p:spPr>
          <a:xfrm>
            <a:off x="3146611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3" name="Google Shape;213;p27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14" name="Google Shape;214;p27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27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Elements_grey_green_right">
  <p:cSld name="Two Elements_grey_green_right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28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19" name="Google Shape;219;p28"/>
          <p:cNvSpPr txBox="1">
            <a:spLocks noGrp="1"/>
          </p:cNvSpPr>
          <p:nvPr>
            <p:ph type="body" idx="1"/>
          </p:nvPr>
        </p:nvSpPr>
        <p:spPr>
          <a:xfrm>
            <a:off x="5988844" y="887016"/>
            <a:ext cx="3155100" cy="3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0" name="Google Shape;220;p28"/>
          <p:cNvSpPr txBox="1">
            <a:spLocks noGrp="1"/>
          </p:cNvSpPr>
          <p:nvPr>
            <p:ph type="body" idx="2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1" name="Google Shape;221;p28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2" name="Google Shape;222;p28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3" name="Google Shape;223;p28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Elements_grey_green_right">
  <p:cSld name="Three Elements_grey_green_right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9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27" name="Google Shape;227;p29"/>
          <p:cNvSpPr txBox="1">
            <a:spLocks noGrp="1"/>
          </p:cNvSpPr>
          <p:nvPr>
            <p:ph type="body" idx="1"/>
          </p:nvPr>
        </p:nvSpPr>
        <p:spPr>
          <a:xfrm>
            <a:off x="5988844" y="880036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8" name="Google Shape;228;p29"/>
          <p:cNvSpPr txBox="1">
            <a:spLocks noGrp="1"/>
          </p:cNvSpPr>
          <p:nvPr>
            <p:ph type="body" idx="2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9" name="Google Shape;229;p29"/>
          <p:cNvSpPr txBox="1">
            <a:spLocks noGrp="1"/>
          </p:cNvSpPr>
          <p:nvPr>
            <p:ph type="body" idx="3"/>
          </p:nvPr>
        </p:nvSpPr>
        <p:spPr>
          <a:xfrm>
            <a:off x="5988844" y="2757758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0" name="Google Shape;230;p29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31" name="Google Shape;231;p29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2" name="Google Shape;232;p29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Elements_dark_grey">
  <p:cSld name="Three Elements_dark_grey"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0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5" name="Google Shape;235;p30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36" name="Google Shape;236;p30"/>
          <p:cNvSpPr txBox="1">
            <a:spLocks noGrp="1"/>
          </p:cNvSpPr>
          <p:nvPr>
            <p:ph type="body" idx="1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body" idx="2"/>
          </p:nvPr>
        </p:nvSpPr>
        <p:spPr>
          <a:xfrm>
            <a:off x="5988844" y="880036"/>
            <a:ext cx="3155100" cy="1856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body" idx="3"/>
          </p:nvPr>
        </p:nvSpPr>
        <p:spPr>
          <a:xfrm>
            <a:off x="5988844" y="2757758"/>
            <a:ext cx="3155100" cy="1856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Elements_green_left_grey">
  <p:cSld name="Three Elements_green_left_grey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4" name="Google Shape;244;p31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45" name="Google Shape;245;p31"/>
          <p:cNvSpPr txBox="1">
            <a:spLocks noGrp="1"/>
          </p:cNvSpPr>
          <p:nvPr>
            <p:ph type="body" idx="1"/>
          </p:nvPr>
        </p:nvSpPr>
        <p:spPr>
          <a:xfrm>
            <a:off x="3146611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body" idx="2"/>
          </p:nvPr>
        </p:nvSpPr>
        <p:spPr>
          <a:xfrm>
            <a:off x="794" y="880036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body" idx="3"/>
          </p:nvPr>
        </p:nvSpPr>
        <p:spPr>
          <a:xfrm>
            <a:off x="794" y="2757758"/>
            <a:ext cx="3155100" cy="1856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x Elements_green">
  <p:cSld name="Six Elements_green"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2"/>
          <p:cNvSpPr>
            <a:spLocks noGrp="1"/>
          </p:cNvSpPr>
          <p:nvPr>
            <p:ph type="pic" idx="2"/>
          </p:nvPr>
        </p:nvSpPr>
        <p:spPr>
          <a:xfrm>
            <a:off x="610380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3" name="Google Shape;253;p32"/>
          <p:cNvSpPr>
            <a:spLocks noGrp="1"/>
          </p:cNvSpPr>
          <p:nvPr>
            <p:ph type="pic" idx="3"/>
          </p:nvPr>
        </p:nvSpPr>
        <p:spPr>
          <a:xfrm>
            <a:off x="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4" name="Google Shape;254;p32"/>
          <p:cNvSpPr>
            <a:spLocks noGrp="1"/>
          </p:cNvSpPr>
          <p:nvPr>
            <p:ph type="pic" idx="4"/>
          </p:nvPr>
        </p:nvSpPr>
        <p:spPr>
          <a:xfrm>
            <a:off x="305190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5" name="Google Shape;255;p32"/>
          <p:cNvSpPr txBox="1">
            <a:spLocks noGrp="1"/>
          </p:cNvSpPr>
          <p:nvPr>
            <p:ph type="body" idx="1"/>
          </p:nvPr>
        </p:nvSpPr>
        <p:spPr>
          <a:xfrm>
            <a:off x="6103144" y="2746675"/>
            <a:ext cx="3040800" cy="186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6" name="Google Shape;256;p3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7" name="Google Shape;257;p32"/>
          <p:cNvSpPr txBox="1">
            <a:spLocks noGrp="1"/>
          </p:cNvSpPr>
          <p:nvPr>
            <p:ph type="body" idx="5"/>
          </p:nvPr>
        </p:nvSpPr>
        <p:spPr>
          <a:xfrm>
            <a:off x="1" y="2746675"/>
            <a:ext cx="3040800" cy="186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8" name="Google Shape;258;p32"/>
          <p:cNvSpPr txBox="1">
            <a:spLocks noGrp="1"/>
          </p:cNvSpPr>
          <p:nvPr>
            <p:ph type="body" idx="6"/>
          </p:nvPr>
        </p:nvSpPr>
        <p:spPr>
          <a:xfrm>
            <a:off x="3051573" y="2746675"/>
            <a:ext cx="3040800" cy="1864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59" name="Google Shape;259;p32"/>
          <p:cNvCxnSpPr/>
          <p:nvPr/>
        </p:nvCxnSpPr>
        <p:spPr>
          <a:xfrm>
            <a:off x="3051573" y="2736057"/>
            <a:ext cx="0" cy="19074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60" name="Google Shape;260;p32"/>
          <p:cNvCxnSpPr/>
          <p:nvPr/>
        </p:nvCxnSpPr>
        <p:spPr>
          <a:xfrm>
            <a:off x="6097513" y="2736057"/>
            <a:ext cx="0" cy="19074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ight Elements_green">
  <p:cSld name="Eight Elements_green"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3"/>
          <p:cNvSpPr>
            <a:spLocks noGrp="1"/>
          </p:cNvSpPr>
          <p:nvPr>
            <p:ph type="pic" idx="2"/>
          </p:nvPr>
        </p:nvSpPr>
        <p:spPr>
          <a:xfrm>
            <a:off x="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6" name="Google Shape;266;p33"/>
          <p:cNvSpPr>
            <a:spLocks noGrp="1"/>
          </p:cNvSpPr>
          <p:nvPr>
            <p:ph type="pic" idx="3"/>
          </p:nvPr>
        </p:nvSpPr>
        <p:spPr>
          <a:xfrm>
            <a:off x="22893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7" name="Google Shape;267;p33"/>
          <p:cNvSpPr>
            <a:spLocks noGrp="1"/>
          </p:cNvSpPr>
          <p:nvPr>
            <p:ph type="pic" idx="4"/>
          </p:nvPr>
        </p:nvSpPr>
        <p:spPr>
          <a:xfrm>
            <a:off x="4578599" y="879477"/>
            <a:ext cx="22797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8" name="Google Shape;268;p33"/>
          <p:cNvSpPr>
            <a:spLocks noGrp="1"/>
          </p:cNvSpPr>
          <p:nvPr>
            <p:ph type="pic" idx="5"/>
          </p:nvPr>
        </p:nvSpPr>
        <p:spPr>
          <a:xfrm>
            <a:off x="68679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9" name="Google Shape;269;p3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0" name="Google Shape;270;p33"/>
          <p:cNvSpPr txBox="1">
            <a:spLocks noGrp="1"/>
          </p:cNvSpPr>
          <p:nvPr>
            <p:ph type="body" idx="1"/>
          </p:nvPr>
        </p:nvSpPr>
        <p:spPr>
          <a:xfrm>
            <a:off x="1" y="2761060"/>
            <a:ext cx="2279700" cy="185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1" name="Google Shape;271;p33"/>
          <p:cNvSpPr txBox="1">
            <a:spLocks noGrp="1"/>
          </p:cNvSpPr>
          <p:nvPr>
            <p:ph type="body" idx="6"/>
          </p:nvPr>
        </p:nvSpPr>
        <p:spPr>
          <a:xfrm>
            <a:off x="2288060" y="2761060"/>
            <a:ext cx="2279700" cy="1850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2" name="Google Shape;272;p33"/>
          <p:cNvSpPr txBox="1">
            <a:spLocks noGrp="1"/>
          </p:cNvSpPr>
          <p:nvPr>
            <p:ph type="body" idx="7"/>
          </p:nvPr>
        </p:nvSpPr>
        <p:spPr>
          <a:xfrm>
            <a:off x="4576119" y="2761060"/>
            <a:ext cx="2279700" cy="185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3" name="Google Shape;273;p33"/>
          <p:cNvSpPr txBox="1">
            <a:spLocks noGrp="1"/>
          </p:cNvSpPr>
          <p:nvPr>
            <p:ph type="body" idx="8"/>
          </p:nvPr>
        </p:nvSpPr>
        <p:spPr>
          <a:xfrm>
            <a:off x="6864178" y="2761060"/>
            <a:ext cx="2279700" cy="1850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74" name="Google Shape;274;p33"/>
          <p:cNvCxnSpPr/>
          <p:nvPr/>
        </p:nvCxnSpPr>
        <p:spPr>
          <a:xfrm>
            <a:off x="2285095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75" name="Google Shape;275;p33"/>
          <p:cNvCxnSpPr/>
          <p:nvPr/>
        </p:nvCxnSpPr>
        <p:spPr>
          <a:xfrm>
            <a:off x="4571578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76" name="Google Shape;276;p33"/>
          <p:cNvCxnSpPr/>
          <p:nvPr/>
        </p:nvCxnSpPr>
        <p:spPr>
          <a:xfrm>
            <a:off x="6869932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77" name="Google Shape;277;p33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78" name="Google Shape;278;p33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9" name="Google Shape;279;p33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ight Elements_grey">
  <p:cSld name="Eight Elements_grey"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4"/>
          <p:cNvSpPr>
            <a:spLocks noGrp="1"/>
          </p:cNvSpPr>
          <p:nvPr>
            <p:ph type="pic" idx="2"/>
          </p:nvPr>
        </p:nvSpPr>
        <p:spPr>
          <a:xfrm>
            <a:off x="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2" name="Google Shape;282;p34"/>
          <p:cNvSpPr>
            <a:spLocks noGrp="1"/>
          </p:cNvSpPr>
          <p:nvPr>
            <p:ph type="pic" idx="3"/>
          </p:nvPr>
        </p:nvSpPr>
        <p:spPr>
          <a:xfrm>
            <a:off x="22893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34"/>
          <p:cNvSpPr>
            <a:spLocks noGrp="1"/>
          </p:cNvSpPr>
          <p:nvPr>
            <p:ph type="pic" idx="4"/>
          </p:nvPr>
        </p:nvSpPr>
        <p:spPr>
          <a:xfrm>
            <a:off x="4578599" y="879477"/>
            <a:ext cx="22797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4" name="Google Shape;284;p34"/>
          <p:cNvSpPr>
            <a:spLocks noGrp="1"/>
          </p:cNvSpPr>
          <p:nvPr>
            <p:ph type="pic" idx="5"/>
          </p:nvPr>
        </p:nvSpPr>
        <p:spPr>
          <a:xfrm>
            <a:off x="68679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5" name="Google Shape;285;p3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34"/>
          <p:cNvSpPr txBox="1">
            <a:spLocks noGrp="1"/>
          </p:cNvSpPr>
          <p:nvPr>
            <p:ph type="body" idx="1"/>
          </p:nvPr>
        </p:nvSpPr>
        <p:spPr>
          <a:xfrm>
            <a:off x="1" y="2761060"/>
            <a:ext cx="2279700" cy="1850100"/>
          </a:xfrm>
          <a:prstGeom prst="rect">
            <a:avLst/>
          </a:prstGeom>
          <a:solidFill>
            <a:srgbClr val="A8ABAA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7" name="Google Shape;287;p34"/>
          <p:cNvSpPr txBox="1">
            <a:spLocks noGrp="1"/>
          </p:cNvSpPr>
          <p:nvPr>
            <p:ph type="body" idx="6"/>
          </p:nvPr>
        </p:nvSpPr>
        <p:spPr>
          <a:xfrm>
            <a:off x="2288060" y="2761060"/>
            <a:ext cx="2279700" cy="185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8" name="Google Shape;288;p34"/>
          <p:cNvSpPr txBox="1">
            <a:spLocks noGrp="1"/>
          </p:cNvSpPr>
          <p:nvPr>
            <p:ph type="body" idx="7"/>
          </p:nvPr>
        </p:nvSpPr>
        <p:spPr>
          <a:xfrm>
            <a:off x="4576119" y="2761060"/>
            <a:ext cx="2279700" cy="1850100"/>
          </a:xfrm>
          <a:prstGeom prst="rect">
            <a:avLst/>
          </a:prstGeom>
          <a:solidFill>
            <a:srgbClr val="A8ABAA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9" name="Google Shape;289;p34"/>
          <p:cNvSpPr txBox="1">
            <a:spLocks noGrp="1"/>
          </p:cNvSpPr>
          <p:nvPr>
            <p:ph type="body" idx="8"/>
          </p:nvPr>
        </p:nvSpPr>
        <p:spPr>
          <a:xfrm>
            <a:off x="6864178" y="2761060"/>
            <a:ext cx="2279700" cy="185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90" name="Google Shape;290;p34"/>
          <p:cNvCxnSpPr/>
          <p:nvPr/>
        </p:nvCxnSpPr>
        <p:spPr>
          <a:xfrm>
            <a:off x="2285095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91" name="Google Shape;291;p34"/>
          <p:cNvCxnSpPr/>
          <p:nvPr/>
        </p:nvCxnSpPr>
        <p:spPr>
          <a:xfrm>
            <a:off x="4571578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92" name="Google Shape;292;p34"/>
          <p:cNvCxnSpPr/>
          <p:nvPr/>
        </p:nvCxnSpPr>
        <p:spPr>
          <a:xfrm>
            <a:off x="6869932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_with_Footer">
  <p:cSld name="Blank_with_Footer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5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98" name="Google Shape;298;p35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9" name="Google Shape;299;p35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85">
          <p15:clr>
            <a:srgbClr val="FBAE40"/>
          </p15:clr>
        </p15:guide>
        <p15:guide id="2" pos="2160">
          <p15:clr>
            <a:srgbClr val="FBAE40"/>
          </p15:clr>
        </p15:guide>
        <p15:guide id="3" orient="horz" pos="1964">
          <p15:clr>
            <a:srgbClr val="FBAE40"/>
          </p15:clr>
        </p15:guide>
        <p15:guide id="4" orient="horz" pos="1742">
          <p15:clr>
            <a:srgbClr val="FBAE40"/>
          </p15:clr>
        </p15:guide>
        <p15:guide id="5" orient="horz" pos="1521">
          <p15:clr>
            <a:srgbClr val="FBAE40"/>
          </p15:clr>
        </p15:guide>
        <p15:guide id="6" orient="horz" pos="1300">
          <p15:clr>
            <a:srgbClr val="FBAE40"/>
          </p15:clr>
        </p15:guide>
        <p15:guide id="7" orient="horz" pos="1079">
          <p15:clr>
            <a:srgbClr val="FBAE40"/>
          </p15:clr>
        </p15:guide>
        <p15:guide id="8" orient="horz" pos="858">
          <p15:clr>
            <a:srgbClr val="FBAE40"/>
          </p15:clr>
        </p15:guide>
        <p15:guide id="9" orient="horz" pos="637">
          <p15:clr>
            <a:srgbClr val="FBAE40"/>
          </p15:clr>
        </p15:guide>
        <p15:guide id="10" orient="horz" pos="411">
          <p15:clr>
            <a:srgbClr val="FBAE40"/>
          </p15:clr>
        </p15:guide>
        <p15:guide id="11" orient="horz" pos="194">
          <p15:clr>
            <a:srgbClr val="FBAE40"/>
          </p15:clr>
        </p15:guide>
        <p15:guide id="12" pos="2381">
          <p15:clr>
            <a:srgbClr val="FBAE40"/>
          </p15:clr>
        </p15:guide>
        <p15:guide id="13" pos="2603">
          <p15:clr>
            <a:srgbClr val="FBAE40"/>
          </p15:clr>
        </p15:guide>
        <p15:guide id="14" pos="2824">
          <p15:clr>
            <a:srgbClr val="FBAE40"/>
          </p15:clr>
        </p15:guide>
        <p15:guide id="15" pos="3044">
          <p15:clr>
            <a:srgbClr val="FBAE40"/>
          </p15:clr>
        </p15:guide>
        <p15:guide id="16" pos="3266">
          <p15:clr>
            <a:srgbClr val="FBAE40"/>
          </p15:clr>
        </p15:guide>
        <p15:guide id="17" pos="3487">
          <p15:clr>
            <a:srgbClr val="FBAE40"/>
          </p15:clr>
        </p15:guide>
        <p15:guide id="18" pos="3708">
          <p15:clr>
            <a:srgbClr val="FBAE40"/>
          </p15:clr>
        </p15:guide>
        <p15:guide id="19" pos="3929">
          <p15:clr>
            <a:srgbClr val="FBAE40"/>
          </p15:clr>
        </p15:guide>
        <p15:guide id="20" pos="4151">
          <p15:clr>
            <a:srgbClr val="FBAE40"/>
          </p15:clr>
        </p15:guide>
        <p15:guide id="21" pos="1939">
          <p15:clr>
            <a:srgbClr val="FBAE40"/>
          </p15:clr>
        </p15:guide>
        <p15:guide id="22" pos="1718">
          <p15:clr>
            <a:srgbClr val="FBAE40"/>
          </p15:clr>
        </p15:guide>
        <p15:guide id="23" pos="1496">
          <p15:clr>
            <a:srgbClr val="FBAE40"/>
          </p15:clr>
        </p15:guide>
        <p15:guide id="24" pos="1276">
          <p15:clr>
            <a:srgbClr val="FBAE40"/>
          </p15:clr>
        </p15:guide>
        <p15:guide id="25" pos="1055">
          <p15:clr>
            <a:srgbClr val="FBAE40"/>
          </p15:clr>
        </p15:guide>
        <p15:guide id="26" pos="833">
          <p15:clr>
            <a:srgbClr val="FBAE40"/>
          </p15:clr>
        </p15:guide>
        <p15:guide id="27" pos="612">
          <p15:clr>
            <a:srgbClr val="FBAE40"/>
          </p15:clr>
        </p15:guide>
        <p15:guide id="28" pos="391">
          <p15:clr>
            <a:srgbClr val="FBAE40"/>
          </p15:clr>
        </p15:guide>
        <p15:guide id="29" pos="17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der_individual_image">
  <p:cSld name="Divider_individual_image"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6"/>
          <p:cNvSpPr>
            <a:spLocks noGrp="1"/>
          </p:cNvSpPr>
          <p:nvPr>
            <p:ph type="pic" idx="2"/>
          </p:nvPr>
        </p:nvSpPr>
        <p:spPr>
          <a:xfrm>
            <a:off x="0" y="2"/>
            <a:ext cx="9144000" cy="4623300"/>
          </a:xfrm>
          <a:prstGeom prst="rect">
            <a:avLst/>
          </a:prstGeom>
          <a:noFill/>
          <a:ln>
            <a:noFill/>
          </a:ln>
        </p:spPr>
      </p:sp>
      <p:sp>
        <p:nvSpPr>
          <p:cNvPr id="302" name="Google Shape;302;p36"/>
          <p:cNvSpPr txBox="1">
            <a:spLocks noGrp="1"/>
          </p:cNvSpPr>
          <p:nvPr>
            <p:ph type="title"/>
          </p:nvPr>
        </p:nvSpPr>
        <p:spPr>
          <a:xfrm>
            <a:off x="0" y="1112941"/>
            <a:ext cx="75276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Arial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3" name="Google Shape;303;p36"/>
          <p:cNvSpPr txBox="1">
            <a:spLocks noGrp="1"/>
          </p:cNvSpPr>
          <p:nvPr>
            <p:ph type="body" idx="1"/>
          </p:nvPr>
        </p:nvSpPr>
        <p:spPr>
          <a:xfrm>
            <a:off x="0" y="1638301"/>
            <a:ext cx="7535400" cy="9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4" name="Google Shape;304;p36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05" name="Google Shape;305;p36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6" name="Google Shape;306;p36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line_2">
  <p:cSld name="Section Headline_2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" name="Google Shape;308;p3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2" y="1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37"/>
          <p:cNvSpPr txBox="1">
            <a:spLocks noGrp="1"/>
          </p:cNvSpPr>
          <p:nvPr>
            <p:ph type="body" idx="1"/>
          </p:nvPr>
        </p:nvSpPr>
        <p:spPr>
          <a:xfrm>
            <a:off x="4939075" y="322549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spcFirstLastPara="1" wrap="square" lIns="0" tIns="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0" name="Google Shape;310;p37"/>
          <p:cNvSpPr txBox="1">
            <a:spLocks noGrp="1"/>
          </p:cNvSpPr>
          <p:nvPr>
            <p:ph type="body" idx="2"/>
          </p:nvPr>
        </p:nvSpPr>
        <p:spPr>
          <a:xfrm>
            <a:off x="5870575" y="322549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288000" tIns="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line_3">
  <p:cSld name="Section Headline_3"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" name="Google Shape;31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2"/>
            <a:ext cx="9143998" cy="5143498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4">
              <a:alpha val="29804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38"/>
          <p:cNvSpPr txBox="1">
            <a:spLocks noGrp="1"/>
          </p:cNvSpPr>
          <p:nvPr>
            <p:ph type="body" idx="1"/>
          </p:nvPr>
        </p:nvSpPr>
        <p:spPr>
          <a:xfrm>
            <a:off x="403622" y="665164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spcFirstLastPara="1" wrap="square" lIns="0" tIns="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5" name="Google Shape;315;p38"/>
          <p:cNvSpPr txBox="1">
            <a:spLocks noGrp="1"/>
          </p:cNvSpPr>
          <p:nvPr>
            <p:ph type="body" idx="2"/>
          </p:nvPr>
        </p:nvSpPr>
        <p:spPr>
          <a:xfrm>
            <a:off x="1335122" y="665164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288000" tIns="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line_4">
  <p:cSld name="Section Headline_4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39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9" name="Google Shape;319;p39"/>
          <p:cNvSpPr txBox="1">
            <a:spLocks noGrp="1"/>
          </p:cNvSpPr>
          <p:nvPr>
            <p:ph type="body" idx="1"/>
          </p:nvPr>
        </p:nvSpPr>
        <p:spPr>
          <a:xfrm>
            <a:off x="1298972" y="88423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spcFirstLastPara="1" wrap="square" lIns="0" tIns="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0" name="Google Shape;320;p39"/>
          <p:cNvSpPr txBox="1">
            <a:spLocks noGrp="1"/>
          </p:cNvSpPr>
          <p:nvPr>
            <p:ph type="body" idx="3"/>
          </p:nvPr>
        </p:nvSpPr>
        <p:spPr>
          <a:xfrm>
            <a:off x="2230472" y="88423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288000" tIns="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500"/>
              <a:buNone/>
              <a:defRPr sz="15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215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line_5">
  <p:cSld name="Section Headline_5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4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24" name="Google Shape;324;p40"/>
          <p:cNvSpPr txBox="1">
            <a:spLocks noGrp="1"/>
          </p:cNvSpPr>
          <p:nvPr>
            <p:ph type="body" idx="1"/>
          </p:nvPr>
        </p:nvSpPr>
        <p:spPr>
          <a:xfrm>
            <a:off x="4939075" y="322549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spcFirstLastPara="1" wrap="square" lIns="0" tIns="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5" name="Google Shape;325;p40"/>
          <p:cNvSpPr txBox="1">
            <a:spLocks noGrp="1"/>
          </p:cNvSpPr>
          <p:nvPr>
            <p:ph type="body" idx="3"/>
          </p:nvPr>
        </p:nvSpPr>
        <p:spPr>
          <a:xfrm>
            <a:off x="5870575" y="322549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288000" tIns="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7" name="Google Shape;327;p41"/>
          <p:cNvCxnSpPr/>
          <p:nvPr/>
        </p:nvCxnSpPr>
        <p:spPr>
          <a:xfrm rot="10800000">
            <a:off x="-8" y="2749548"/>
            <a:ext cx="6096000" cy="0"/>
          </a:xfrm>
          <a:prstGeom prst="straightConnector1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8" name="Google Shape;328;p4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9" name="Google Shape;329;p41"/>
          <p:cNvSpPr txBox="1">
            <a:spLocks noGrp="1"/>
          </p:cNvSpPr>
          <p:nvPr>
            <p:ph type="body" idx="1"/>
          </p:nvPr>
        </p:nvSpPr>
        <p:spPr>
          <a:xfrm>
            <a:off x="5962650" y="870348"/>
            <a:ext cx="3181200" cy="3773100"/>
          </a:xfrm>
          <a:prstGeom prst="rect">
            <a:avLst/>
          </a:prstGeom>
          <a:solidFill>
            <a:srgbClr val="C4C7C6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0" name="Google Shape;330;p41"/>
          <p:cNvSpPr txBox="1">
            <a:spLocks noGrp="1"/>
          </p:cNvSpPr>
          <p:nvPr>
            <p:ph type="body" idx="2"/>
          </p:nvPr>
        </p:nvSpPr>
        <p:spPr>
          <a:xfrm>
            <a:off x="-18510" y="2759927"/>
            <a:ext cx="5981100" cy="18834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1" name="Google Shape;331;p41"/>
          <p:cNvSpPr txBox="1">
            <a:spLocks noGrp="1"/>
          </p:cNvSpPr>
          <p:nvPr>
            <p:ph type="body" idx="3"/>
          </p:nvPr>
        </p:nvSpPr>
        <p:spPr>
          <a:xfrm>
            <a:off x="-18510" y="870348"/>
            <a:ext cx="5981100" cy="187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2" name="Google Shape;332;p41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33" name="Google Shape;333;p41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1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 layout 2"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42"/>
          <p:cNvSpPr/>
          <p:nvPr/>
        </p:nvSpPr>
        <p:spPr>
          <a:xfrm>
            <a:off x="0" y="870348"/>
            <a:ext cx="9144000" cy="3758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337" name="Google Shape;337;p42"/>
          <p:cNvSpPr txBox="1">
            <a:spLocks noGrp="1"/>
          </p:cNvSpPr>
          <p:nvPr>
            <p:ph type="body" idx="1"/>
          </p:nvPr>
        </p:nvSpPr>
        <p:spPr>
          <a:xfrm>
            <a:off x="5962650" y="870348"/>
            <a:ext cx="3181200" cy="939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8" name="Google Shape;338;p42"/>
          <p:cNvSpPr txBox="1">
            <a:spLocks noGrp="1"/>
          </p:cNvSpPr>
          <p:nvPr>
            <p:ph type="body" idx="2"/>
          </p:nvPr>
        </p:nvSpPr>
        <p:spPr>
          <a:xfrm>
            <a:off x="5962650" y="1810044"/>
            <a:ext cx="3181200" cy="939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9" name="Google Shape;339;p42"/>
          <p:cNvSpPr txBox="1">
            <a:spLocks noGrp="1"/>
          </p:cNvSpPr>
          <p:nvPr>
            <p:ph type="body" idx="3"/>
          </p:nvPr>
        </p:nvSpPr>
        <p:spPr>
          <a:xfrm>
            <a:off x="5962650" y="2749740"/>
            <a:ext cx="3181200" cy="939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40" name="Google Shape;340;p42"/>
          <p:cNvSpPr txBox="1">
            <a:spLocks noGrp="1"/>
          </p:cNvSpPr>
          <p:nvPr>
            <p:ph type="body" idx="4"/>
          </p:nvPr>
        </p:nvSpPr>
        <p:spPr>
          <a:xfrm>
            <a:off x="5962650" y="3689436"/>
            <a:ext cx="3181200" cy="939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41" name="Google Shape;341;p4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2" name="Google Shape;342;p42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43" name="Google Shape;343;p42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4" name="Google Shape;344;p42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 layout 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43"/>
          <p:cNvSpPr/>
          <p:nvPr/>
        </p:nvSpPr>
        <p:spPr>
          <a:xfrm>
            <a:off x="0" y="2764154"/>
            <a:ext cx="9144000" cy="1879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13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4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8" name="Google Shape;348;p43"/>
          <p:cNvSpPr>
            <a:spLocks noGrp="1"/>
          </p:cNvSpPr>
          <p:nvPr>
            <p:ph type="pic" idx="2"/>
          </p:nvPr>
        </p:nvSpPr>
        <p:spPr>
          <a:xfrm>
            <a:off x="-1" y="879476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49" name="Google Shape;349;p43"/>
          <p:cNvSpPr>
            <a:spLocks noGrp="1"/>
          </p:cNvSpPr>
          <p:nvPr>
            <p:ph type="pic" idx="3"/>
          </p:nvPr>
        </p:nvSpPr>
        <p:spPr>
          <a:xfrm>
            <a:off x="3048001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50" name="Google Shape;350;p43"/>
          <p:cNvSpPr>
            <a:spLocks noGrp="1"/>
          </p:cNvSpPr>
          <p:nvPr>
            <p:ph type="pic" idx="4"/>
          </p:nvPr>
        </p:nvSpPr>
        <p:spPr>
          <a:xfrm>
            <a:off x="6096004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51" name="Google Shape;351;p43"/>
          <p:cNvSpPr txBox="1">
            <a:spLocks noGrp="1"/>
          </p:cNvSpPr>
          <p:nvPr>
            <p:ph type="body" idx="1"/>
          </p:nvPr>
        </p:nvSpPr>
        <p:spPr>
          <a:xfrm>
            <a:off x="-1" y="2764154"/>
            <a:ext cx="3048000" cy="186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2" name="Google Shape;352;p43"/>
          <p:cNvSpPr txBox="1">
            <a:spLocks noGrp="1"/>
          </p:cNvSpPr>
          <p:nvPr>
            <p:ph type="body" idx="5"/>
          </p:nvPr>
        </p:nvSpPr>
        <p:spPr>
          <a:xfrm>
            <a:off x="6095976" y="2764154"/>
            <a:ext cx="3048000" cy="186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3" name="Google Shape;353;p43"/>
          <p:cNvSpPr txBox="1">
            <a:spLocks noGrp="1"/>
          </p:cNvSpPr>
          <p:nvPr>
            <p:ph type="body" idx="6"/>
          </p:nvPr>
        </p:nvSpPr>
        <p:spPr>
          <a:xfrm>
            <a:off x="-1" y="4049438"/>
            <a:ext cx="3048000" cy="594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 b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4" name="Google Shape;354;p43"/>
          <p:cNvSpPr txBox="1">
            <a:spLocks noGrp="1"/>
          </p:cNvSpPr>
          <p:nvPr>
            <p:ph type="body" idx="7"/>
          </p:nvPr>
        </p:nvSpPr>
        <p:spPr>
          <a:xfrm>
            <a:off x="3047987" y="4049438"/>
            <a:ext cx="3048000" cy="594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 b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5" name="Google Shape;355;p43"/>
          <p:cNvSpPr txBox="1">
            <a:spLocks noGrp="1"/>
          </p:cNvSpPr>
          <p:nvPr>
            <p:ph type="body" idx="8"/>
          </p:nvPr>
        </p:nvSpPr>
        <p:spPr>
          <a:xfrm>
            <a:off x="6095976" y="4049438"/>
            <a:ext cx="3048000" cy="594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 b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6" name="Google Shape;356;p43"/>
          <p:cNvSpPr txBox="1">
            <a:spLocks noGrp="1"/>
          </p:cNvSpPr>
          <p:nvPr>
            <p:ph type="body" idx="9"/>
          </p:nvPr>
        </p:nvSpPr>
        <p:spPr>
          <a:xfrm>
            <a:off x="3063239" y="2764154"/>
            <a:ext cx="3048000" cy="19800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7" name="Google Shape;357;p43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58" name="Google Shape;358;p43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9" name="Google Shape;359;p43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6">
  <p:cSld name="custom layout 6"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2" name="Google Shape;362;p44"/>
          <p:cNvSpPr>
            <a:spLocks noGrp="1"/>
          </p:cNvSpPr>
          <p:nvPr>
            <p:ph type="pic" idx="2"/>
          </p:nvPr>
        </p:nvSpPr>
        <p:spPr>
          <a:xfrm>
            <a:off x="-1" y="879476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3" name="Google Shape;363;p44"/>
          <p:cNvSpPr>
            <a:spLocks noGrp="1"/>
          </p:cNvSpPr>
          <p:nvPr>
            <p:ph type="pic" idx="3"/>
          </p:nvPr>
        </p:nvSpPr>
        <p:spPr>
          <a:xfrm>
            <a:off x="3048001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4" name="Google Shape;364;p44"/>
          <p:cNvSpPr>
            <a:spLocks noGrp="1"/>
          </p:cNvSpPr>
          <p:nvPr>
            <p:ph type="pic" idx="4"/>
          </p:nvPr>
        </p:nvSpPr>
        <p:spPr>
          <a:xfrm>
            <a:off x="6096004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5" name="Google Shape;365;p44"/>
          <p:cNvSpPr txBox="1">
            <a:spLocks noGrp="1"/>
          </p:cNvSpPr>
          <p:nvPr>
            <p:ph type="body" idx="1"/>
          </p:nvPr>
        </p:nvSpPr>
        <p:spPr>
          <a:xfrm>
            <a:off x="-1" y="2764153"/>
            <a:ext cx="3048000" cy="457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66" name="Google Shape;366;p44"/>
          <p:cNvSpPr txBox="1">
            <a:spLocks noGrp="1"/>
          </p:cNvSpPr>
          <p:nvPr>
            <p:ph type="body" idx="5"/>
          </p:nvPr>
        </p:nvSpPr>
        <p:spPr>
          <a:xfrm>
            <a:off x="3048004" y="2764153"/>
            <a:ext cx="3048000" cy="455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67" name="Google Shape;367;p44"/>
          <p:cNvSpPr txBox="1">
            <a:spLocks noGrp="1"/>
          </p:cNvSpPr>
          <p:nvPr>
            <p:ph type="body" idx="6"/>
          </p:nvPr>
        </p:nvSpPr>
        <p:spPr>
          <a:xfrm>
            <a:off x="-1" y="3219449"/>
            <a:ext cx="3048000" cy="144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68" name="Google Shape;368;p44"/>
          <p:cNvSpPr txBox="1">
            <a:spLocks noGrp="1"/>
          </p:cNvSpPr>
          <p:nvPr>
            <p:ph type="body" idx="7"/>
          </p:nvPr>
        </p:nvSpPr>
        <p:spPr>
          <a:xfrm>
            <a:off x="6095993" y="2764153"/>
            <a:ext cx="3048000" cy="455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69" name="Google Shape;369;p44"/>
          <p:cNvSpPr txBox="1">
            <a:spLocks noGrp="1"/>
          </p:cNvSpPr>
          <p:nvPr>
            <p:ph type="body" idx="8"/>
          </p:nvPr>
        </p:nvSpPr>
        <p:spPr>
          <a:xfrm>
            <a:off x="6095993" y="3219449"/>
            <a:ext cx="3048000" cy="144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0" name="Google Shape;370;p44"/>
          <p:cNvSpPr txBox="1">
            <a:spLocks noGrp="1"/>
          </p:cNvSpPr>
          <p:nvPr>
            <p:ph type="body" idx="9"/>
          </p:nvPr>
        </p:nvSpPr>
        <p:spPr>
          <a:xfrm>
            <a:off x="3048004" y="3219449"/>
            <a:ext cx="3048000" cy="144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1" name="Google Shape;371;p44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72" name="Google Shape;372;p44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3" name="Google Shape;373;p44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>
  <p:cSld name="custom layout 7"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5"/>
          <p:cNvSpPr txBox="1">
            <a:spLocks noGrp="1"/>
          </p:cNvSpPr>
          <p:nvPr>
            <p:ph type="body" idx="1"/>
          </p:nvPr>
        </p:nvSpPr>
        <p:spPr>
          <a:xfrm>
            <a:off x="5976156" y="1356109"/>
            <a:ext cx="3167700" cy="23229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216000" tIns="45700" rIns="91425" bIns="45700" anchor="ctr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6" name="Google Shape;376;p4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7" name="Google Shape;377;p45"/>
          <p:cNvSpPr txBox="1">
            <a:spLocks noGrp="1"/>
          </p:cNvSpPr>
          <p:nvPr>
            <p:ph type="body" idx="2"/>
          </p:nvPr>
        </p:nvSpPr>
        <p:spPr>
          <a:xfrm>
            <a:off x="1" y="3687365"/>
            <a:ext cx="5976900" cy="94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8" name="Google Shape;378;p45"/>
          <p:cNvSpPr txBox="1">
            <a:spLocks noGrp="1"/>
          </p:cNvSpPr>
          <p:nvPr>
            <p:ph type="body" idx="3"/>
          </p:nvPr>
        </p:nvSpPr>
        <p:spPr>
          <a:xfrm>
            <a:off x="5976902" y="3687366"/>
            <a:ext cx="3167100" cy="940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9" name="Google Shape;379;p45"/>
          <p:cNvSpPr txBox="1">
            <a:spLocks noGrp="1"/>
          </p:cNvSpPr>
          <p:nvPr>
            <p:ph type="body" idx="4"/>
          </p:nvPr>
        </p:nvSpPr>
        <p:spPr>
          <a:xfrm>
            <a:off x="0" y="1338146"/>
            <a:ext cx="5962800" cy="23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16000" tIns="45700" rIns="91425" bIns="45700" anchor="ctr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0" name="Google Shape;380;p45"/>
          <p:cNvSpPr txBox="1">
            <a:spLocks noGrp="1"/>
          </p:cNvSpPr>
          <p:nvPr>
            <p:ph type="body" idx="5"/>
          </p:nvPr>
        </p:nvSpPr>
        <p:spPr>
          <a:xfrm>
            <a:off x="-1" y="879475"/>
            <a:ext cx="91440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44000" tIns="0" rIns="5400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81" name="Google Shape;381;p45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82" name="Google Shape;382;p45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3" name="Google Shape;383;p45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8">
  <p:cSld name="custom layout 8"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4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386" name="Google Shape;386;p46"/>
          <p:cNvCxnSpPr/>
          <p:nvPr/>
        </p:nvCxnSpPr>
        <p:spPr>
          <a:xfrm>
            <a:off x="-1" y="868209"/>
            <a:ext cx="9144000" cy="0"/>
          </a:xfrm>
          <a:prstGeom prst="straightConnector1">
            <a:avLst/>
          </a:prstGeom>
          <a:noFill/>
          <a:ln w="9525" cap="flat" cmpd="sng">
            <a:solidFill>
              <a:srgbClr val="C4C7C6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87" name="Google Shape;387;p46"/>
          <p:cNvSpPr txBox="1">
            <a:spLocks noGrp="1"/>
          </p:cNvSpPr>
          <p:nvPr>
            <p:ph type="body" idx="1"/>
          </p:nvPr>
        </p:nvSpPr>
        <p:spPr>
          <a:xfrm>
            <a:off x="0" y="4156473"/>
            <a:ext cx="9144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88" name="Google Shape;388;p46"/>
          <p:cNvSpPr>
            <a:spLocks noGrp="1"/>
          </p:cNvSpPr>
          <p:nvPr>
            <p:ph type="pic" idx="2"/>
          </p:nvPr>
        </p:nvSpPr>
        <p:spPr>
          <a:xfrm>
            <a:off x="-1" y="876301"/>
            <a:ext cx="3048000" cy="3281100"/>
          </a:xfrm>
          <a:prstGeom prst="rect">
            <a:avLst/>
          </a:prstGeom>
          <a:noFill/>
          <a:ln>
            <a:noFill/>
          </a:ln>
        </p:spPr>
      </p:sp>
      <p:sp>
        <p:nvSpPr>
          <p:cNvPr id="389" name="Google Shape;389;p46"/>
          <p:cNvSpPr>
            <a:spLocks noGrp="1"/>
          </p:cNvSpPr>
          <p:nvPr>
            <p:ph type="pic" idx="3"/>
          </p:nvPr>
        </p:nvSpPr>
        <p:spPr>
          <a:xfrm>
            <a:off x="6096004" y="876301"/>
            <a:ext cx="3048000" cy="3281100"/>
          </a:xfrm>
          <a:prstGeom prst="rect">
            <a:avLst/>
          </a:prstGeom>
          <a:noFill/>
          <a:ln>
            <a:noFill/>
          </a:ln>
        </p:spPr>
      </p:sp>
      <p:sp>
        <p:nvSpPr>
          <p:cNvPr id="390" name="Google Shape;390;p46"/>
          <p:cNvSpPr txBox="1">
            <a:spLocks noGrp="1"/>
          </p:cNvSpPr>
          <p:nvPr>
            <p:ph type="body" idx="4"/>
          </p:nvPr>
        </p:nvSpPr>
        <p:spPr>
          <a:xfrm>
            <a:off x="3048004" y="876301"/>
            <a:ext cx="3048000" cy="32862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91" name="Google Shape;391;p46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92" name="Google Shape;392;p46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3" name="Google Shape;393;p46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9">
  <p:cSld name="custom layout 9"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6" name="Google Shape;396;p47"/>
          <p:cNvSpPr>
            <a:spLocks noGrp="1"/>
          </p:cNvSpPr>
          <p:nvPr>
            <p:ph type="pic" idx="2"/>
          </p:nvPr>
        </p:nvSpPr>
        <p:spPr>
          <a:xfrm>
            <a:off x="6096004" y="879475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7" name="Google Shape;397;p47"/>
          <p:cNvSpPr>
            <a:spLocks noGrp="1"/>
          </p:cNvSpPr>
          <p:nvPr>
            <p:ph type="pic" idx="3"/>
          </p:nvPr>
        </p:nvSpPr>
        <p:spPr>
          <a:xfrm>
            <a:off x="6096004" y="2756056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8" name="Google Shape;398;p47"/>
          <p:cNvSpPr>
            <a:spLocks noGrp="1"/>
          </p:cNvSpPr>
          <p:nvPr>
            <p:ph type="pic" idx="4"/>
          </p:nvPr>
        </p:nvSpPr>
        <p:spPr>
          <a:xfrm>
            <a:off x="3048008" y="879475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9" name="Google Shape;399;p47"/>
          <p:cNvSpPr>
            <a:spLocks noGrp="1"/>
          </p:cNvSpPr>
          <p:nvPr>
            <p:ph type="pic" idx="5"/>
          </p:nvPr>
        </p:nvSpPr>
        <p:spPr>
          <a:xfrm>
            <a:off x="3048008" y="2756056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400" name="Google Shape;400;p47"/>
          <p:cNvSpPr txBox="1">
            <a:spLocks noGrp="1"/>
          </p:cNvSpPr>
          <p:nvPr>
            <p:ph type="body" idx="1"/>
          </p:nvPr>
        </p:nvSpPr>
        <p:spPr>
          <a:xfrm>
            <a:off x="-12" y="2751534"/>
            <a:ext cx="1524000" cy="187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 Thin"/>
              <a:buNone/>
              <a:defRPr sz="1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1" name="Google Shape;401;p47"/>
          <p:cNvSpPr txBox="1">
            <a:spLocks noGrp="1"/>
          </p:cNvSpPr>
          <p:nvPr>
            <p:ph type="body" idx="6"/>
          </p:nvPr>
        </p:nvSpPr>
        <p:spPr>
          <a:xfrm>
            <a:off x="-1" y="879475"/>
            <a:ext cx="3048000" cy="4683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2" name="Google Shape;402;p47"/>
          <p:cNvSpPr txBox="1">
            <a:spLocks noGrp="1"/>
          </p:cNvSpPr>
          <p:nvPr>
            <p:ph type="body" idx="7"/>
          </p:nvPr>
        </p:nvSpPr>
        <p:spPr>
          <a:xfrm>
            <a:off x="-1" y="1348781"/>
            <a:ext cx="3048000" cy="700800"/>
          </a:xfrm>
          <a:prstGeom prst="rect">
            <a:avLst/>
          </a:prstGeom>
          <a:solidFill>
            <a:srgbClr val="D8D8D8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3" name="Google Shape;403;p47"/>
          <p:cNvSpPr txBox="1">
            <a:spLocks noGrp="1"/>
          </p:cNvSpPr>
          <p:nvPr>
            <p:ph type="body" idx="8"/>
          </p:nvPr>
        </p:nvSpPr>
        <p:spPr>
          <a:xfrm>
            <a:off x="-1" y="2049656"/>
            <a:ext cx="3048000" cy="697500"/>
          </a:xfrm>
          <a:prstGeom prst="rect">
            <a:avLst/>
          </a:prstGeom>
          <a:solidFill>
            <a:srgbClr val="D8D8D8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4" name="Google Shape;404;p47"/>
          <p:cNvSpPr txBox="1">
            <a:spLocks noGrp="1"/>
          </p:cNvSpPr>
          <p:nvPr>
            <p:ph type="body" idx="9"/>
          </p:nvPr>
        </p:nvSpPr>
        <p:spPr>
          <a:xfrm>
            <a:off x="1523999" y="2751534"/>
            <a:ext cx="1524000" cy="1872000"/>
          </a:xfrm>
          <a:prstGeom prst="rect">
            <a:avLst/>
          </a:prstGeom>
          <a:solidFill>
            <a:srgbClr val="D8D8D8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 Thin"/>
              <a:buNone/>
              <a:defRPr sz="1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5" name="Google Shape;405;p47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06" name="Google Shape;406;p47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7" name="Google Shape;407;p47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0">
  <p:cSld name="custom layout 10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48"/>
          <p:cNvSpPr txBox="1">
            <a:spLocks noGrp="1"/>
          </p:cNvSpPr>
          <p:nvPr>
            <p:ph type="body" idx="1"/>
          </p:nvPr>
        </p:nvSpPr>
        <p:spPr>
          <a:xfrm>
            <a:off x="6857775" y="870347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p48"/>
          <p:cNvSpPr txBox="1">
            <a:spLocks noGrp="1"/>
          </p:cNvSpPr>
          <p:nvPr>
            <p:ph type="body" idx="2"/>
          </p:nvPr>
        </p:nvSpPr>
        <p:spPr>
          <a:xfrm>
            <a:off x="6857775" y="2119209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1" name="Google Shape;411;p48"/>
          <p:cNvSpPr txBox="1">
            <a:spLocks noGrp="1"/>
          </p:cNvSpPr>
          <p:nvPr>
            <p:ph type="body" idx="3"/>
          </p:nvPr>
        </p:nvSpPr>
        <p:spPr>
          <a:xfrm>
            <a:off x="6857775" y="3368072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2" name="Google Shape;412;p4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3" name="Google Shape;413;p48"/>
          <p:cNvSpPr>
            <a:spLocks noGrp="1"/>
          </p:cNvSpPr>
          <p:nvPr>
            <p:ph type="pic" idx="4"/>
          </p:nvPr>
        </p:nvSpPr>
        <p:spPr>
          <a:xfrm>
            <a:off x="0" y="879476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4" name="Google Shape;414;p48"/>
          <p:cNvSpPr>
            <a:spLocks noGrp="1"/>
          </p:cNvSpPr>
          <p:nvPr>
            <p:ph type="pic" idx="5"/>
          </p:nvPr>
        </p:nvSpPr>
        <p:spPr>
          <a:xfrm>
            <a:off x="4571960" y="879475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48"/>
          <p:cNvSpPr txBox="1">
            <a:spLocks noGrp="1"/>
          </p:cNvSpPr>
          <p:nvPr>
            <p:ph type="body" idx="6"/>
          </p:nvPr>
        </p:nvSpPr>
        <p:spPr>
          <a:xfrm>
            <a:off x="-1" y="4156472"/>
            <a:ext cx="2286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6" name="Google Shape;416;p48"/>
          <p:cNvSpPr txBox="1">
            <a:spLocks noGrp="1"/>
          </p:cNvSpPr>
          <p:nvPr>
            <p:ph type="body" idx="7"/>
          </p:nvPr>
        </p:nvSpPr>
        <p:spPr>
          <a:xfrm>
            <a:off x="4571888" y="4156472"/>
            <a:ext cx="2286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Char char="•"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7" name="Google Shape;417;p48"/>
          <p:cNvSpPr>
            <a:spLocks noGrp="1"/>
          </p:cNvSpPr>
          <p:nvPr>
            <p:ph type="pic" idx="8"/>
          </p:nvPr>
        </p:nvSpPr>
        <p:spPr>
          <a:xfrm>
            <a:off x="2285811" y="879475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8" name="Google Shape;418;p48"/>
          <p:cNvSpPr txBox="1">
            <a:spLocks noGrp="1"/>
          </p:cNvSpPr>
          <p:nvPr>
            <p:ph type="body" idx="9"/>
          </p:nvPr>
        </p:nvSpPr>
        <p:spPr>
          <a:xfrm>
            <a:off x="2285811" y="4156472"/>
            <a:ext cx="2286000" cy="471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Char char="•"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cxnSp>
        <p:nvCxnSpPr>
          <p:cNvPr id="419" name="Google Shape;419;p48"/>
          <p:cNvCxnSpPr/>
          <p:nvPr/>
        </p:nvCxnSpPr>
        <p:spPr>
          <a:xfrm>
            <a:off x="6857775" y="2119209"/>
            <a:ext cx="2286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20" name="Google Shape;420;p48"/>
          <p:cNvCxnSpPr/>
          <p:nvPr/>
        </p:nvCxnSpPr>
        <p:spPr>
          <a:xfrm>
            <a:off x="6857775" y="3371937"/>
            <a:ext cx="2286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21" name="Google Shape;421;p48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22" name="Google Shape;422;p48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3" name="Google Shape;423;p48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1">
  <p:cSld name="custom layout 11"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49"/>
          <p:cNvSpPr txBox="1">
            <a:spLocks noGrp="1"/>
          </p:cNvSpPr>
          <p:nvPr>
            <p:ph type="body" idx="1"/>
          </p:nvPr>
        </p:nvSpPr>
        <p:spPr>
          <a:xfrm>
            <a:off x="6443663" y="870347"/>
            <a:ext cx="2700600" cy="125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6" name="Google Shape;426;p49"/>
          <p:cNvSpPr txBox="1">
            <a:spLocks noGrp="1"/>
          </p:cNvSpPr>
          <p:nvPr>
            <p:ph type="body" idx="2"/>
          </p:nvPr>
        </p:nvSpPr>
        <p:spPr>
          <a:xfrm>
            <a:off x="6443663" y="2135557"/>
            <a:ext cx="2700600" cy="1236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7" name="Google Shape;427;p49"/>
          <p:cNvSpPr txBox="1">
            <a:spLocks noGrp="1"/>
          </p:cNvSpPr>
          <p:nvPr>
            <p:ph type="body" idx="3"/>
          </p:nvPr>
        </p:nvSpPr>
        <p:spPr>
          <a:xfrm>
            <a:off x="6443663" y="3378568"/>
            <a:ext cx="2700600" cy="124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8" name="Google Shape;428;p49"/>
          <p:cNvSpPr txBox="1">
            <a:spLocks noGrp="1"/>
          </p:cNvSpPr>
          <p:nvPr>
            <p:ph type="body" idx="4"/>
          </p:nvPr>
        </p:nvSpPr>
        <p:spPr>
          <a:xfrm>
            <a:off x="0" y="870347"/>
            <a:ext cx="2700600" cy="125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9" name="Google Shape;429;p49"/>
          <p:cNvSpPr txBox="1">
            <a:spLocks noGrp="1"/>
          </p:cNvSpPr>
          <p:nvPr>
            <p:ph type="body" idx="5"/>
          </p:nvPr>
        </p:nvSpPr>
        <p:spPr>
          <a:xfrm>
            <a:off x="0" y="2135557"/>
            <a:ext cx="2700600" cy="1236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30" name="Google Shape;430;p49"/>
          <p:cNvSpPr txBox="1">
            <a:spLocks noGrp="1"/>
          </p:cNvSpPr>
          <p:nvPr>
            <p:ph type="body" idx="6"/>
          </p:nvPr>
        </p:nvSpPr>
        <p:spPr>
          <a:xfrm>
            <a:off x="0" y="3378568"/>
            <a:ext cx="2700600" cy="124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31" name="Google Shape;431;p4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2" name="Google Shape;432;p49"/>
          <p:cNvSpPr>
            <a:spLocks noGrp="1"/>
          </p:cNvSpPr>
          <p:nvPr>
            <p:ph type="pic" idx="7"/>
          </p:nvPr>
        </p:nvSpPr>
        <p:spPr>
          <a:xfrm>
            <a:off x="2700338" y="879475"/>
            <a:ext cx="3758100" cy="37449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433" name="Google Shape;433;p49"/>
          <p:cNvCxnSpPr/>
          <p:nvPr/>
        </p:nvCxnSpPr>
        <p:spPr>
          <a:xfrm>
            <a:off x="6443663" y="2119209"/>
            <a:ext cx="2700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34" name="Google Shape;434;p49"/>
          <p:cNvCxnSpPr/>
          <p:nvPr/>
        </p:nvCxnSpPr>
        <p:spPr>
          <a:xfrm>
            <a:off x="6443663" y="3371937"/>
            <a:ext cx="2700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35" name="Google Shape;435;p49"/>
          <p:cNvCxnSpPr/>
          <p:nvPr/>
        </p:nvCxnSpPr>
        <p:spPr>
          <a:xfrm>
            <a:off x="-2857" y="2119209"/>
            <a:ext cx="2700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36" name="Google Shape;436;p49"/>
          <p:cNvCxnSpPr/>
          <p:nvPr/>
        </p:nvCxnSpPr>
        <p:spPr>
          <a:xfrm>
            <a:off x="-2857" y="3371937"/>
            <a:ext cx="2700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37" name="Google Shape;437;p49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38" name="Google Shape;438;p49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9" name="Google Shape;439;p49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2">
  <p:cSld name="custom layout 12"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50"/>
          <p:cNvSpPr txBox="1">
            <a:spLocks noGrp="1"/>
          </p:cNvSpPr>
          <p:nvPr>
            <p:ph type="body" idx="1"/>
          </p:nvPr>
        </p:nvSpPr>
        <p:spPr>
          <a:xfrm>
            <a:off x="3047996" y="134778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2" name="Google Shape;442;p50"/>
          <p:cNvSpPr txBox="1">
            <a:spLocks noGrp="1"/>
          </p:cNvSpPr>
          <p:nvPr>
            <p:ph type="body" idx="2"/>
          </p:nvPr>
        </p:nvSpPr>
        <p:spPr>
          <a:xfrm>
            <a:off x="3047996" y="380523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3" name="Google Shape;443;p50"/>
          <p:cNvSpPr txBox="1">
            <a:spLocks noGrp="1"/>
          </p:cNvSpPr>
          <p:nvPr>
            <p:ph type="body" idx="3"/>
          </p:nvPr>
        </p:nvSpPr>
        <p:spPr>
          <a:xfrm>
            <a:off x="3047996" y="298608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4" name="Google Shape;444;p50"/>
          <p:cNvSpPr txBox="1">
            <a:spLocks noGrp="1"/>
          </p:cNvSpPr>
          <p:nvPr>
            <p:ph type="body" idx="4"/>
          </p:nvPr>
        </p:nvSpPr>
        <p:spPr>
          <a:xfrm>
            <a:off x="3047996" y="216693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5" name="Google Shape;445;p50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6" name="Google Shape;446;p50"/>
          <p:cNvSpPr txBox="1">
            <a:spLocks noGrp="1"/>
          </p:cNvSpPr>
          <p:nvPr>
            <p:ph type="body" idx="5"/>
          </p:nvPr>
        </p:nvSpPr>
        <p:spPr>
          <a:xfrm>
            <a:off x="-1" y="879475"/>
            <a:ext cx="91440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27000" tIns="0" rIns="5400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7" name="Google Shape;447;p50"/>
          <p:cNvSpPr>
            <a:spLocks noGrp="1"/>
          </p:cNvSpPr>
          <p:nvPr>
            <p:ph type="pic" idx="6"/>
          </p:nvPr>
        </p:nvSpPr>
        <p:spPr>
          <a:xfrm>
            <a:off x="-1" y="1347788"/>
            <a:ext cx="3048000" cy="3276600"/>
          </a:xfrm>
          <a:prstGeom prst="rect">
            <a:avLst/>
          </a:prstGeom>
          <a:noFill/>
          <a:ln>
            <a:noFill/>
          </a:ln>
        </p:spPr>
      </p:sp>
      <p:sp>
        <p:nvSpPr>
          <p:cNvPr id="448" name="Google Shape;448;p50"/>
          <p:cNvSpPr>
            <a:spLocks noGrp="1"/>
          </p:cNvSpPr>
          <p:nvPr>
            <p:ph type="pic" idx="7"/>
          </p:nvPr>
        </p:nvSpPr>
        <p:spPr>
          <a:xfrm>
            <a:off x="6096004" y="1347787"/>
            <a:ext cx="3048000" cy="32766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449" name="Google Shape;449;p50"/>
          <p:cNvCxnSpPr/>
          <p:nvPr/>
        </p:nvCxnSpPr>
        <p:spPr>
          <a:xfrm>
            <a:off x="3047996" y="2137497"/>
            <a:ext cx="30480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50" name="Google Shape;450;p50"/>
          <p:cNvCxnSpPr/>
          <p:nvPr/>
        </p:nvCxnSpPr>
        <p:spPr>
          <a:xfrm>
            <a:off x="3047996" y="2987889"/>
            <a:ext cx="30480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51" name="Google Shape;451;p50"/>
          <p:cNvCxnSpPr/>
          <p:nvPr/>
        </p:nvCxnSpPr>
        <p:spPr>
          <a:xfrm>
            <a:off x="3047996" y="3810849"/>
            <a:ext cx="30480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52" name="Google Shape;452;p50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53" name="Google Shape;453;p50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4" name="Google Shape;454;p50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3">
  <p:cSld name="custom layout 13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5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7" name="Google Shape;457;p51"/>
          <p:cNvSpPr>
            <a:spLocks noGrp="1"/>
          </p:cNvSpPr>
          <p:nvPr>
            <p:ph type="pic" idx="2"/>
          </p:nvPr>
        </p:nvSpPr>
        <p:spPr>
          <a:xfrm>
            <a:off x="5039917" y="879475"/>
            <a:ext cx="4104000" cy="3744900"/>
          </a:xfrm>
          <a:prstGeom prst="rect">
            <a:avLst/>
          </a:prstGeom>
          <a:noFill/>
          <a:ln>
            <a:noFill/>
          </a:ln>
        </p:spPr>
      </p:sp>
      <p:sp>
        <p:nvSpPr>
          <p:cNvPr id="458" name="Google Shape;458;p51"/>
          <p:cNvSpPr txBox="1">
            <a:spLocks noGrp="1"/>
          </p:cNvSpPr>
          <p:nvPr>
            <p:ph type="body" idx="1"/>
          </p:nvPr>
        </p:nvSpPr>
        <p:spPr>
          <a:xfrm>
            <a:off x="1" y="879475"/>
            <a:ext cx="2700300" cy="187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59" name="Google Shape;459;p51"/>
          <p:cNvSpPr txBox="1">
            <a:spLocks noGrp="1"/>
          </p:cNvSpPr>
          <p:nvPr>
            <p:ph type="body" idx="3"/>
          </p:nvPr>
        </p:nvSpPr>
        <p:spPr>
          <a:xfrm>
            <a:off x="0" y="2752344"/>
            <a:ext cx="2700300" cy="187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60" name="Google Shape;460;p51"/>
          <p:cNvSpPr>
            <a:spLocks noGrp="1"/>
          </p:cNvSpPr>
          <p:nvPr>
            <p:ph type="pic" idx="4"/>
          </p:nvPr>
        </p:nvSpPr>
        <p:spPr>
          <a:xfrm>
            <a:off x="2700338" y="895692"/>
            <a:ext cx="2339700" cy="1855800"/>
          </a:xfrm>
          <a:prstGeom prst="rect">
            <a:avLst/>
          </a:prstGeom>
          <a:noFill/>
          <a:ln>
            <a:noFill/>
          </a:ln>
        </p:spPr>
      </p:sp>
      <p:sp>
        <p:nvSpPr>
          <p:cNvPr id="461" name="Google Shape;461;p51"/>
          <p:cNvSpPr>
            <a:spLocks noGrp="1"/>
          </p:cNvSpPr>
          <p:nvPr>
            <p:ph type="pic" idx="5"/>
          </p:nvPr>
        </p:nvSpPr>
        <p:spPr>
          <a:xfrm>
            <a:off x="2700338" y="2768544"/>
            <a:ext cx="2339700" cy="1855800"/>
          </a:xfrm>
          <a:prstGeom prst="rect">
            <a:avLst/>
          </a:prstGeom>
          <a:noFill/>
          <a:ln>
            <a:noFill/>
          </a:ln>
        </p:spPr>
      </p:sp>
      <p:sp>
        <p:nvSpPr>
          <p:cNvPr id="462" name="Google Shape;462;p51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63" name="Google Shape;463;p51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4" name="Google Shape;464;p51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5">
  <p:cSld name="custom layout 15"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5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52"/>
          <p:cNvSpPr txBox="1">
            <a:spLocks noGrp="1"/>
          </p:cNvSpPr>
          <p:nvPr>
            <p:ph type="body" idx="1"/>
          </p:nvPr>
        </p:nvSpPr>
        <p:spPr>
          <a:xfrm>
            <a:off x="1350169" y="879480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68" name="Google Shape;468;p52"/>
          <p:cNvSpPr>
            <a:spLocks noGrp="1"/>
          </p:cNvSpPr>
          <p:nvPr>
            <p:ph type="pic" idx="2"/>
          </p:nvPr>
        </p:nvSpPr>
        <p:spPr>
          <a:xfrm>
            <a:off x="2700337" y="895696"/>
            <a:ext cx="3743400" cy="3728700"/>
          </a:xfrm>
          <a:prstGeom prst="rect">
            <a:avLst/>
          </a:prstGeom>
          <a:noFill/>
          <a:ln>
            <a:noFill/>
          </a:ln>
        </p:spPr>
      </p:sp>
      <p:sp>
        <p:nvSpPr>
          <p:cNvPr id="469" name="Google Shape;469;p52"/>
          <p:cNvSpPr txBox="1">
            <a:spLocks noGrp="1"/>
          </p:cNvSpPr>
          <p:nvPr>
            <p:ph type="body" idx="3"/>
          </p:nvPr>
        </p:nvSpPr>
        <p:spPr>
          <a:xfrm>
            <a:off x="1" y="879480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0" name="Google Shape;470;p52"/>
          <p:cNvSpPr txBox="1">
            <a:spLocks noGrp="1"/>
          </p:cNvSpPr>
          <p:nvPr>
            <p:ph type="body" idx="4"/>
          </p:nvPr>
        </p:nvSpPr>
        <p:spPr>
          <a:xfrm>
            <a:off x="1350169" y="2127784"/>
            <a:ext cx="1350300" cy="1248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1" name="Google Shape;471;p52"/>
          <p:cNvSpPr txBox="1">
            <a:spLocks noGrp="1"/>
          </p:cNvSpPr>
          <p:nvPr>
            <p:ph type="body" idx="5"/>
          </p:nvPr>
        </p:nvSpPr>
        <p:spPr>
          <a:xfrm>
            <a:off x="1" y="2127785"/>
            <a:ext cx="1350300" cy="1248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2" name="Google Shape;472;p52"/>
          <p:cNvSpPr txBox="1">
            <a:spLocks noGrp="1"/>
          </p:cNvSpPr>
          <p:nvPr>
            <p:ph type="body" idx="6"/>
          </p:nvPr>
        </p:nvSpPr>
        <p:spPr>
          <a:xfrm>
            <a:off x="1350169" y="3376088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3" name="Google Shape;473;p52"/>
          <p:cNvSpPr txBox="1">
            <a:spLocks noGrp="1"/>
          </p:cNvSpPr>
          <p:nvPr>
            <p:ph type="body" idx="7"/>
          </p:nvPr>
        </p:nvSpPr>
        <p:spPr>
          <a:xfrm>
            <a:off x="1" y="3376089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4" name="Google Shape;474;p52"/>
          <p:cNvSpPr txBox="1">
            <a:spLocks noGrp="1"/>
          </p:cNvSpPr>
          <p:nvPr>
            <p:ph type="body" idx="8"/>
          </p:nvPr>
        </p:nvSpPr>
        <p:spPr>
          <a:xfrm>
            <a:off x="7793832" y="879476"/>
            <a:ext cx="1350300" cy="18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529A43"/>
              </a:buClr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529A43"/>
              </a:buClr>
              <a:buSzPts val="1200"/>
              <a:buChar char="•"/>
              <a:defRPr sz="1200">
                <a:solidFill>
                  <a:srgbClr val="000000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2000"/>
              <a:buNone/>
              <a:defRPr sz="2000">
                <a:solidFill>
                  <a:srgbClr val="000000"/>
                </a:solidFill>
              </a:defRPr>
            </a:lvl3pPr>
            <a:lvl4pPr marL="1828800" lvl="3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1800"/>
              <a:buChar char="•"/>
              <a:defRPr sz="1800">
                <a:solidFill>
                  <a:srgbClr val="000000"/>
                </a:solidFill>
              </a:defRPr>
            </a:lvl4pPr>
            <a:lvl5pPr marL="2286000" lvl="4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1800"/>
              <a:buChar char="•"/>
              <a:defRPr sz="1800">
                <a:solidFill>
                  <a:srgbClr val="000000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75" name="Google Shape;475;p52"/>
          <p:cNvSpPr txBox="1">
            <a:spLocks noGrp="1"/>
          </p:cNvSpPr>
          <p:nvPr>
            <p:ph type="body" idx="9"/>
          </p:nvPr>
        </p:nvSpPr>
        <p:spPr>
          <a:xfrm>
            <a:off x="7793832" y="2763758"/>
            <a:ext cx="1350300" cy="1860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6" name="Google Shape;476;p52"/>
          <p:cNvSpPr txBox="1">
            <a:spLocks noGrp="1"/>
          </p:cNvSpPr>
          <p:nvPr>
            <p:ph type="body" idx="13"/>
          </p:nvPr>
        </p:nvSpPr>
        <p:spPr>
          <a:xfrm>
            <a:off x="6443662" y="879476"/>
            <a:ext cx="1350300" cy="18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7" name="Google Shape;477;p52"/>
          <p:cNvSpPr txBox="1">
            <a:spLocks noGrp="1"/>
          </p:cNvSpPr>
          <p:nvPr>
            <p:ph type="body" idx="14"/>
          </p:nvPr>
        </p:nvSpPr>
        <p:spPr>
          <a:xfrm>
            <a:off x="6443662" y="2763758"/>
            <a:ext cx="1350300" cy="1860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8" name="Google Shape;478;p52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79" name="Google Shape;479;p52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0" name="Google Shape;480;p52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6">
  <p:cSld name="custom layout 16"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3" name="Google Shape;483;p53"/>
          <p:cNvSpPr>
            <a:spLocks noGrp="1"/>
          </p:cNvSpPr>
          <p:nvPr>
            <p:ph type="pic" idx="2"/>
          </p:nvPr>
        </p:nvSpPr>
        <p:spPr>
          <a:xfrm>
            <a:off x="5962650" y="898538"/>
            <a:ext cx="3181500" cy="3744900"/>
          </a:xfrm>
          <a:prstGeom prst="rect">
            <a:avLst/>
          </a:prstGeom>
          <a:noFill/>
          <a:ln>
            <a:noFill/>
          </a:ln>
        </p:spPr>
      </p:sp>
      <p:sp>
        <p:nvSpPr>
          <p:cNvPr id="484" name="Google Shape;484;p53"/>
          <p:cNvSpPr txBox="1">
            <a:spLocks noGrp="1"/>
          </p:cNvSpPr>
          <p:nvPr>
            <p:ph type="body" idx="1"/>
          </p:nvPr>
        </p:nvSpPr>
        <p:spPr>
          <a:xfrm>
            <a:off x="0" y="898538"/>
            <a:ext cx="40851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27000" tIns="0" rIns="5400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Medium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85" name="Google Shape;485;p53"/>
          <p:cNvSpPr txBox="1">
            <a:spLocks noGrp="1"/>
          </p:cNvSpPr>
          <p:nvPr>
            <p:ph type="body" idx="3"/>
          </p:nvPr>
        </p:nvSpPr>
        <p:spPr>
          <a:xfrm>
            <a:off x="0" y="1364457"/>
            <a:ext cx="4081800" cy="32790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6" name="Google Shape;486;p53"/>
          <p:cNvSpPr txBox="1">
            <a:spLocks noGrp="1"/>
          </p:cNvSpPr>
          <p:nvPr>
            <p:ph type="body" idx="4"/>
          </p:nvPr>
        </p:nvSpPr>
        <p:spPr>
          <a:xfrm>
            <a:off x="4104252" y="898538"/>
            <a:ext cx="1856100" cy="18675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000"/>
              <a:buNone/>
              <a:defRPr sz="1000"/>
            </a:lvl1pPr>
            <a:lvl2pPr marL="914400" lvl="1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2pPr>
            <a:lvl3pPr marL="1371600" lvl="2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3pPr>
            <a:lvl4pPr marL="1828800" lvl="3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4pPr>
            <a:lvl5pPr marL="2286000" lvl="4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7" name="Google Shape;487;p53"/>
          <p:cNvSpPr txBox="1">
            <a:spLocks noGrp="1"/>
          </p:cNvSpPr>
          <p:nvPr>
            <p:ph type="body" idx="5"/>
          </p:nvPr>
        </p:nvSpPr>
        <p:spPr>
          <a:xfrm>
            <a:off x="4104252" y="2788920"/>
            <a:ext cx="1856100" cy="18546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000"/>
              <a:buNone/>
              <a:defRPr sz="1000"/>
            </a:lvl1pPr>
            <a:lvl2pPr marL="914400" lvl="1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2pPr>
            <a:lvl3pPr marL="1371600" lvl="2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3pPr>
            <a:lvl4pPr marL="1828800" lvl="3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4pPr>
            <a:lvl5pPr marL="2286000" lvl="4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8" name="Google Shape;488;p53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89" name="Google Shape;489;p53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0" name="Google Shape;490;p53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5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93" name="Google Shape;493;p5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94" name="Google Shape;494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  <a:defRPr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5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0956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0956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0956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0956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56">
            <a:alphaModFix/>
          </a:blip>
          <a:srcRect/>
          <a:stretch/>
        </p:blipFill>
        <p:spPr>
          <a:xfrm>
            <a:off x="7883544" y="4733778"/>
            <a:ext cx="928177" cy="285878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  <p:sldLayoutId id="2147483700" r:id="rId53"/>
    <p:sldLayoutId id="2147483701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  <p15:guide id="3" pos="213">
          <p15:clr>
            <a:srgbClr val="F26B43"/>
          </p15:clr>
        </p15:guide>
        <p15:guide id="4" pos="5537">
          <p15:clr>
            <a:srgbClr val="F26B43"/>
          </p15:clr>
        </p15:guide>
        <p15:guide id="5" orient="horz" pos="170">
          <p15:clr>
            <a:srgbClr val="F26B43"/>
          </p15:clr>
        </p15:guide>
        <p15:guide id="6" orient="horz" pos="2925">
          <p15:clr>
            <a:srgbClr val="F26B43"/>
          </p15:clr>
        </p15:guide>
        <p15:guide id="7" pos="1988">
          <p15:clr>
            <a:srgbClr val="F26B43"/>
          </p15:clr>
        </p15:guide>
        <p15:guide id="8" pos="375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.do/features-google-slides?payload=eyJwb2xsVXVpZCI6ImFmM2RiOGViLTJkMTEtNDIzMy04Y2QzLTRkZGVlYTc0YmQwNyIsInByZXNlbnRhdGlvbklkIjoiMTdOLXU1MVNHWWZyMGN5QnFKOVFXX1E4LUJBYjZfY1RHRzNLeGp0WllicVUiLCJzbGlkZUlkIjoiU0xJREVTX0FQSTkyODk5ODExNV8wIiwidGltZWxpbmUiOlt7InNob3dSZXN1bHRzIjp0cnVlLCJwb2xsUXVlc3Rpb25VdWlkIjoiMmUxYTAzZDQtNGNlNC00MTQ1LThlN2EtZWJhZDcwYTExMzJjIn1dLCJ0eXBlIjoiU2xpZG9Qb2xsIn0%3D" TargetMode="External"/><Relationship Id="rId3" Type="http://schemas.openxmlformats.org/officeDocument/2006/relationships/hyperlink" Target="https://www.slido.com/support/gsi/how-to-change-the-design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4.xml"/><Relationship Id="rId6" Type="http://schemas.openxmlformats.org/officeDocument/2006/relationships/hyperlink" Target="https://chrome.google.com/webstore/detail/slido/dhhclfjehmpacimcdknijodpjpmppkii" TargetMode="External"/><Relationship Id="rId5" Type="http://schemas.openxmlformats.org/officeDocument/2006/relationships/image" Target="../media/image23.png"/><Relationship Id="rId4" Type="http://schemas.openxmlformats.org/officeDocument/2006/relationships/hyperlink" Target="https://www.sli.do/features-google-slides?interaction-type=TXVsdGlwbGVDaG9pY2U%3D" TargetMode="External"/><Relationship Id="rId9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hyperlink" Target="https://www.encodeproject.org/matrix/?type=Experiment&amp;control_type!=*&amp;status=released&amp;perturbed=false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4.png"/><Relationship Id="rId4" Type="http://schemas.openxmlformats.org/officeDocument/2006/relationships/hyperlink" Target="https://www.encodeproject.org/search/?type=Experiment&amp;control_type!=*&amp;status=released&amp;perturbed=false&amp;assay_title=ATAC-seq&amp;replicates.library.biosample.donor.organism.scientific_name=Mus+musculus&amp;biosample_ontology.term_name=liver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6.png"/><Relationship Id="rId4" Type="http://schemas.openxmlformats.org/officeDocument/2006/relationships/hyperlink" Target="https://www.encodeproject.org/experiments/ENCSR465PYP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6.png"/><Relationship Id="rId4" Type="http://schemas.openxmlformats.org/officeDocument/2006/relationships/hyperlink" Target="https://www.encodeproject.org/experiments/ENCSR465PYP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6.png"/><Relationship Id="rId4" Type="http://schemas.openxmlformats.org/officeDocument/2006/relationships/hyperlink" Target="https://www.encodeproject.org/experiments/ENCSR465PYP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0.png"/><Relationship Id="rId5" Type="http://schemas.openxmlformats.org/officeDocument/2006/relationships/hyperlink" Target="https://www.encodeproject.org/reference-epigenome-matrix/?type=Experiment&amp;control_type!=*&amp;related_series.@type=ReferenceEpigenome&amp;status=released&amp;replicates.library.biosample.donor.organism.scientific_name=Mus+musculus" TargetMode="External"/><Relationship Id="rId4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2.png"/><Relationship Id="rId4" Type="http://schemas.openxmlformats.org/officeDocument/2006/relationships/hyperlink" Target="https://www.encodeproject.org/search/?type=Experiment&amp;control_type!=*&amp;related_series.@type=ReferenceEpigenome&amp;status=released&amp;replicates.library.biosample.donor.organism.scientific_name=Mus+musculus&amp;biosample_ontology.classification=tissue&amp;biosample_ontology.term_name=liver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4.png"/><Relationship Id="rId4" Type="http://schemas.openxmlformats.org/officeDocument/2006/relationships/hyperlink" Target="https://www.encodeproject.org/reference-epigenomes/ENCSR871WIE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.do/features-google-slides?payload=eyJwb2xsVXVpZCI6IjJhZWE5OTU3LWNmN2EtNDZmMC1hYmIzLTg0OWVjYTg0NGU3OSIsInByZXNlbnRhdGlvbklkIjoiMTdOLXU1MVNHWWZyMGN5QnFKOVFXX1E4LUJBYjZfY1RHRzNLeGp0WllicVUiLCJzbGlkZUlkIjoiU0xJREVTX0FQSTIxNDU1NjcwMjJfMCIsInRpbWVsaW5lIjpbeyJwb2xsUXVlc3Rpb25VdWlkIjoiMGQwZmRjNzAtMmU0MS00OGM5LWFhODctNDZiOTkwZjZjYTA2Iiwic2hvd1Jlc3VsdHMiOnRydWV9XSwidHlwZSI6IlNsaWRvUG9sbCJ9" TargetMode="External"/><Relationship Id="rId3" Type="http://schemas.openxmlformats.org/officeDocument/2006/relationships/hyperlink" Target="https://www.slido.com/support/gsi/how-to-change-the-design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4.xml"/><Relationship Id="rId6" Type="http://schemas.openxmlformats.org/officeDocument/2006/relationships/hyperlink" Target="https://chrome.google.com/webstore/detail/slido/dhhclfjehmpacimcdknijodpjpmppkii" TargetMode="External"/><Relationship Id="rId5" Type="http://schemas.openxmlformats.org/officeDocument/2006/relationships/image" Target="../media/image23.png"/><Relationship Id="rId4" Type="http://schemas.openxmlformats.org/officeDocument/2006/relationships/hyperlink" Target="https://www.sli.do/features-google-slides?interaction-type=TXVsdGlwbGVDaG9pY2U%3D" TargetMode="External"/><Relationship Id="rId9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.do/features-google-slides?payload=eyJwb2xsUXVlc3Rpb25VdWlkIjoiZDY2YmQ0YTItY2EzYy00ZmYxLWI5ZGYtYmU3NTFlZDhjZjlmIiwicG9sbFV1aWQiOiIyNTEyZDA2ZS1hZjUzLTQ0MDAtOWZhMS1kYTc4ZjJmMTYyNjkiLCJwcmVzZW50YXRpb25JZCI6IjE3Ti11NTFTR1lmcjBjeUJxSjlRV19ROC1CQWI2X2NUR0czS3hqdFpZYnFVIiwic2xpZGVJZCI6IlNMSURFU19BUEkxMzA0MjYwNjAxXzAiLCJ0aW1lbGluZSI6W3sic2NyZWVuIjoiUXVpekpvaW5pbmcifSx7InNob3dDb3JyZWN0QW5zd2VycyI6ZmFsc2UsInBvbGxRdWVzdGlvblV1aWQiOiJkNjZiZDRhMi1jYTNjLTRmZjEtYjlkZi1iZTc1MWVkOGNmOWYiLCJzaG93UmVzdWx0cyI6ZmFsc2UsInZvdGluZ0xvY2tlZCI6ZmFsc2V9LHsic2hvd0NvcnJlY3RBbnN3ZXJzIjpmYWxzZSwic2hvd1Jlc3VsdHMiOnRydWUsInZvdGluZ0xvY2tlZCI6dHJ1ZSwicG9sbFF1ZXN0aW9uVXVpZCI6ImQ2NmJkNGEyLWNhM2MtNGZmMS1iOWRmLWJlNzUxZWQ4Y2Y5ZiJ9LHsicG9sbFF1ZXN0aW9uVXVpZCI6ImQ2NmJkNGEyLWNhM2MtNGZmMS1iOWRmLWJlNzUxZWQ4Y2Y5ZiIsInNob3dSZXN1bHRzIjp0cnVlLCJzaG93Q29ycmVjdEFuc3dlcnMiOnRydWUsInZvdGluZ0xvY2tlZCI6dHJ1ZX1dLCJ0eXBlIjoiU2xpZG9Qb2xsIn0%3D" TargetMode="External"/><Relationship Id="rId3" Type="http://schemas.openxmlformats.org/officeDocument/2006/relationships/hyperlink" Target="https://www.slido.com/support/gsi/how-to-change-the-design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4.xml"/><Relationship Id="rId6" Type="http://schemas.openxmlformats.org/officeDocument/2006/relationships/hyperlink" Target="https://chrome.google.com/webstore/detail/slido/dhhclfjehmpacimcdknijodpjpmppkii" TargetMode="External"/><Relationship Id="rId5" Type="http://schemas.openxmlformats.org/officeDocument/2006/relationships/image" Target="../media/image47.png"/><Relationship Id="rId4" Type="http://schemas.openxmlformats.org/officeDocument/2006/relationships/hyperlink" Target="https://www.sli.do/features-google-slides?interaction-type=UXVpeg%3D%3D" TargetMode="External"/><Relationship Id="rId9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.do/features-google-slides?payload=eyJwb2xsUXVlc3Rpb25VdWlkIjoiODU0YmUyNDQtMGUxYi00YjAzLThjMTgtNjU0MzgxOGZkYjgxIiwicG9sbFV1aWQiOiIyNTEyZDA2ZS1hZjUzLTQ0MDAtOWZhMS1kYTc4ZjJmMTYyNjkiLCJwcmVzZW50YXRpb25JZCI6IjE3Ti11NTFTR1lmcjBjeUJxSjlRV19ROC1CQWI2X2NUR0czS3hqdFpZYnFVIiwic2xpZGVJZCI6IlNMSURFU19BUEkxMzA0MjYwNjAxXzExIiwidGltZWxpbmUiOlt7InNob3dSZXN1bHRzIjpmYWxzZSwic2hvd0NvcnJlY3RBbnN3ZXJzIjpmYWxzZSwidm90aW5nTG9ja2VkIjpmYWxzZSwicG9sbFF1ZXN0aW9uVXVpZCI6Ijg1NGJlMjQ0LTBlMWItNGIwMy04YzE4LTY1NDM4MThmZGI4MSJ9LHsic2hvd1Jlc3VsdHMiOnRydWUsInZvdGluZ0xvY2tlZCI6dHJ1ZSwic2hvd0NvcnJlY3RBbnN3ZXJzIjpmYWxzZSwicG9sbFF1ZXN0aW9uVXVpZCI6Ijg1NGJlMjQ0LTBlMWItNGIwMy04YzE4LTY1NDM4MThmZGI4MSJ9LHsic2hvd1Jlc3VsdHMiOnRydWUsInZvdGluZ0xvY2tlZCI6dHJ1ZSwicG9sbFF1ZXN0aW9uVXVpZCI6Ijg1NGJlMjQ0LTBlMWItNGIwMy04YzE4LTY1NDM4MThmZGI4MSIsInNob3dDb3JyZWN0QW5zd2VycyI6dHJ1ZX1dLCJ0eXBlIjoiU2xpZG9Qb2xsIn0%3D" TargetMode="External"/><Relationship Id="rId3" Type="http://schemas.openxmlformats.org/officeDocument/2006/relationships/hyperlink" Target="https://www.slido.com/support/gsi/how-to-change-the-design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4.xml"/><Relationship Id="rId6" Type="http://schemas.openxmlformats.org/officeDocument/2006/relationships/hyperlink" Target="https://chrome.google.com/webstore/detail/slido/dhhclfjehmpacimcdknijodpjpmppkii" TargetMode="External"/><Relationship Id="rId5" Type="http://schemas.openxmlformats.org/officeDocument/2006/relationships/image" Target="../media/image47.png"/><Relationship Id="rId4" Type="http://schemas.openxmlformats.org/officeDocument/2006/relationships/hyperlink" Target="https://www.sli.do/features-google-slides?interaction-type=UXVpeg%3D%3D" TargetMode="External"/><Relationship Id="rId9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.do/features-google-slides?payload=eyJwb2xsUXVlc3Rpb25VdWlkIjoiODEwNDY4MDMtZTE3NC00YWQ0LTgwZGUtY2NkN2NiYzIwMjQ4IiwicG9sbFV1aWQiOiIyNTEyZDA2ZS1hZjUzLTQ0MDAtOWZhMS1kYTc4ZjJmMTYyNjkiLCJwcmVzZW50YXRpb25JZCI6IjE3Ti11NTFTR1lmcjBjeUJxSjlRV19ROC1CQWI2X2NUR0czS3hqdFpZYnFVIiwic2xpZGVJZCI6IlNMSURFU19BUEkxMzA0MjYwNjAxXzIyIiwidGltZWxpbmUiOlt7InBvbGxRdWVzdGlvblV1aWQiOiI4MTA0NjgwMy1lMTc0LTRhZDQtODBkZS1jY2Q3Y2JjMjAyNDgiLCJzaG93Q29ycmVjdEFuc3dlcnMiOmZhbHNlLCJ2b3RpbmdMb2NrZWQiOmZhbHNlLCJzaG93UmVzdWx0cyI6ZmFsc2V9LHsicG9sbFF1ZXN0aW9uVXVpZCI6IjgxMDQ2ODAzLWUxNzQtNGFkNC04MGRlLWNjZDdjYmMyMDI0OCIsInNob3dDb3JyZWN0QW5zd2VycyI6ZmFsc2UsInZvdGluZ0xvY2tlZCI6dHJ1ZSwic2hvd1Jlc3VsdHMiOnRydWV9LHsidm90aW5nTG9ja2VkIjp0cnVlLCJzaG93UmVzdWx0cyI6dHJ1ZSwic2hvd0NvcnJlY3RBbnN3ZXJzIjp0cnVlLCJwb2xsUXVlc3Rpb25VdWlkIjoiODEwNDY4MDMtZTE3NC00YWQ0LTgwZGUtY2NkN2NiYzIwMjQ4In1dLCJ0eXBlIjoiU2xpZG9Qb2xsIn0%3D" TargetMode="External"/><Relationship Id="rId3" Type="http://schemas.openxmlformats.org/officeDocument/2006/relationships/hyperlink" Target="https://www.slido.com/support/gsi/how-to-change-the-design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4.xml"/><Relationship Id="rId6" Type="http://schemas.openxmlformats.org/officeDocument/2006/relationships/hyperlink" Target="https://chrome.google.com/webstore/detail/slido/dhhclfjehmpacimcdknijodpjpmppkii" TargetMode="External"/><Relationship Id="rId5" Type="http://schemas.openxmlformats.org/officeDocument/2006/relationships/image" Target="../media/image47.png"/><Relationship Id="rId4" Type="http://schemas.openxmlformats.org/officeDocument/2006/relationships/hyperlink" Target="https://www.sli.do/features-google-slides?interaction-type=UXVpeg%3D%3D" TargetMode="External"/><Relationship Id="rId9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.do/features-google-slides?payload=eyJwb2xsUXVlc3Rpb25VdWlkIjoiMDY5NGFhMzEtYzAyYS00ODQyLWE2ZTEtMzdjNGQzNzllYTdmIiwicG9sbFV1aWQiOiIyNTEyZDA2ZS1hZjUzLTQ0MDAtOWZhMS1kYTc4ZjJmMTYyNjkiLCJwcmVzZW50YXRpb25JZCI6IjE3Ti11NTFTR1lmcjBjeUJxSjlRV19ROC1CQWI2X2NUR0czS3hqdFpZYnFVIiwic2xpZGVJZCI6IlNMSURFU19BUEkxMzA0MjYwNjAxXzMzIiwidGltZWxpbmUiOlt7InZvdGluZ0xvY2tlZCI6ZmFsc2UsInNob3dSZXN1bHRzIjpmYWxzZSwic2hvd0NvcnJlY3RBbnN3ZXJzIjpmYWxzZSwicG9sbFF1ZXN0aW9uVXVpZCI6IjA2OTRhYTMxLWMwMmEtNDg0Mi1hNmUxLTM3YzRkMzc5ZWE3ZiJ9LHsidm90aW5nTG9ja2VkIjp0cnVlLCJzaG93UmVzdWx0cyI6dHJ1ZSwic2hvd0NvcnJlY3RBbnN3ZXJzIjpmYWxzZSwicG9sbFF1ZXN0aW9uVXVpZCI6IjA2OTRhYTMxLWMwMmEtNDg0Mi1hNmUxLTM3YzRkMzc5ZWE3ZiJ9LHsicG9sbFF1ZXN0aW9uVXVpZCI6IjA2OTRhYTMxLWMwMmEtNDg0Mi1hNmUxLTM3YzRkMzc5ZWE3ZiIsInNob3dSZXN1bHRzIjp0cnVlLCJzaG93Q29ycmVjdEFuc3dlcnMiOnRydWUsInZvdGluZ0xvY2tlZCI6dHJ1ZX0seyJwb2xsUXVlc3Rpb25VdWlkIjoiMDY5NGFhMzEtYzAyYS00ODQyLWE2ZTEtMzdjNGQzNzllYTdmIiwidm90aW5nTG9ja2VkIjp0cnVlLCJzaG93Q29ycmVjdEFuc3dlcnMiOnRydWUsInNjcmVlbiI6IlF1aXpMZWFkZXJib2FyZCIsInNob3dSZXN1bHRzIjp0cnVlfV0sInR5cGUiOiJTbGlkb1BvbGwifQ%3D%3D" TargetMode="External"/><Relationship Id="rId3" Type="http://schemas.openxmlformats.org/officeDocument/2006/relationships/hyperlink" Target="https://www.slido.com/support/gsi/how-to-change-the-design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4.xml"/><Relationship Id="rId6" Type="http://schemas.openxmlformats.org/officeDocument/2006/relationships/hyperlink" Target="https://chrome.google.com/webstore/detail/slido/dhhclfjehmpacimcdknijodpjpmppkii" TargetMode="External"/><Relationship Id="rId5" Type="http://schemas.openxmlformats.org/officeDocument/2006/relationships/image" Target="../media/image47.png"/><Relationship Id="rId4" Type="http://schemas.openxmlformats.org/officeDocument/2006/relationships/hyperlink" Target="https://www.sli.do/features-google-slides?interaction-type=UXVpeg%3D%3D" TargetMode="External"/><Relationship Id="rId9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screen.wenglab.org/GRCh38/ccre/EH38E3314260?open=BYegDCCiASDMAclawIwBYBMA2CYg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56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Multi-species Catalogues of Regulatory Elements: ENCODE</a:t>
            </a:r>
            <a:endParaRPr/>
          </a:p>
        </p:txBody>
      </p:sp>
      <p:sp>
        <p:nvSpPr>
          <p:cNvPr id="501" name="Google Shape;501;p56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Session 2</a:t>
            </a:r>
            <a:endParaRPr/>
          </a:p>
        </p:txBody>
      </p:sp>
      <p:sp>
        <p:nvSpPr>
          <p:cNvPr id="502" name="Google Shape;502;p56"/>
          <p:cNvSpPr txBox="1"/>
          <p:nvPr/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800"/>
              <a:buFont typeface="Arial"/>
              <a:buNone/>
            </a:pPr>
            <a:r>
              <a:rPr lang="en-GB" sz="1800" b="1">
                <a:solidFill>
                  <a:srgbClr val="007B53"/>
                </a:solidFill>
              </a:rPr>
              <a:t>Gabriela A. Merino</a:t>
            </a:r>
            <a:endParaRPr sz="1800" b="1" i="0" u="none" strike="noStrike" cap="none">
              <a:solidFill>
                <a:srgbClr val="007B5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56"/>
          <p:cNvSpPr txBox="1"/>
          <p:nvPr/>
        </p:nvSpPr>
        <p:spPr>
          <a:xfrm>
            <a:off x="640546" y="3896000"/>
            <a:ext cx="47130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200"/>
              <a:buFont typeface="Arial"/>
              <a:buNone/>
            </a:pPr>
            <a:r>
              <a:rPr lang="en-GB" sz="1200" b="1">
                <a:solidFill>
                  <a:srgbClr val="000000"/>
                </a:solidFill>
              </a:rPr>
              <a:t>Senior Bioinformatician, Ensembl Regulation, EMBL-EBI</a:t>
            </a:r>
            <a:endParaRPr/>
          </a:p>
        </p:txBody>
      </p:sp>
      <p:sp>
        <p:nvSpPr>
          <p:cNvPr id="504" name="Google Shape;504;p56"/>
          <p:cNvSpPr txBox="1"/>
          <p:nvPr/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200"/>
              <a:buFont typeface="Arial"/>
              <a:buNone/>
            </a:pPr>
            <a:r>
              <a:rPr lang="en-GB" sz="1200">
                <a:solidFill>
                  <a:srgbClr val="000000"/>
                </a:solidFill>
              </a:rPr>
              <a:t>03/09/2026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56"/>
          <p:cNvSpPr txBox="1"/>
          <p:nvPr/>
        </p:nvSpPr>
        <p:spPr>
          <a:xfrm>
            <a:off x="640550" y="2755532"/>
            <a:ext cx="53220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>
                <a:solidFill>
                  <a:srgbClr val="FFFFFF"/>
                </a:solidFill>
              </a:rPr>
              <a:t>T6: Making the most of cis-regulatory annotations for genome-scale analysis</a:t>
            </a:r>
            <a:endParaRPr sz="1000" b="1">
              <a:solidFill>
                <a:srgbClr val="FFFFFF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57"/>
          <p:cNvSpPr/>
          <p:nvPr/>
        </p:nvSpPr>
        <p:spPr>
          <a:xfrm>
            <a:off x="3728375" y="4082255"/>
            <a:ext cx="3822600" cy="6435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1" name="Google Shape;511;p5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GB"/>
              <a:t>Session map</a:t>
            </a:r>
            <a:endParaRPr/>
          </a:p>
        </p:txBody>
      </p:sp>
      <p:grpSp>
        <p:nvGrpSpPr>
          <p:cNvPr id="512" name="Google Shape;512;p57"/>
          <p:cNvGrpSpPr/>
          <p:nvPr/>
        </p:nvGrpSpPr>
        <p:grpSpPr>
          <a:xfrm>
            <a:off x="1593000" y="2115295"/>
            <a:ext cx="5957975" cy="643500"/>
            <a:chOff x="1593000" y="2322568"/>
            <a:chExt cx="5957975" cy="643500"/>
          </a:xfrm>
        </p:grpSpPr>
        <p:sp>
          <p:nvSpPr>
            <p:cNvPr id="513" name="Google Shape;513;p57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57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57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57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Hands-on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7" name="Google Shape;517;p57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57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600">
                  <a:solidFill>
                    <a:srgbClr val="FFFFFF"/>
                  </a:solidFill>
                  <a:latin typeface="Roboto Thin"/>
                  <a:ea typeface="Roboto Thin"/>
                  <a:cs typeface="Roboto Thin"/>
                  <a:sym typeface="Roboto Thin"/>
                </a:rPr>
                <a:t>1</a:t>
              </a: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19" name="Google Shape;519;p57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0" name="Google Shape;520;p57"/>
          <p:cNvGrpSpPr/>
          <p:nvPr/>
        </p:nvGrpSpPr>
        <p:grpSpPr>
          <a:xfrm>
            <a:off x="1593000" y="1460436"/>
            <a:ext cx="5957975" cy="643500"/>
            <a:chOff x="1593000" y="2322568"/>
            <a:chExt cx="5957975" cy="643500"/>
          </a:xfrm>
        </p:grpSpPr>
        <p:sp>
          <p:nvSpPr>
            <p:cNvPr id="521" name="Google Shape;521;p57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57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57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57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The ENCODE Data Portal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5" name="Google Shape;525;p57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57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600">
                  <a:solidFill>
                    <a:srgbClr val="FFFFFF"/>
                  </a:solidFill>
                  <a:latin typeface="Roboto Thin"/>
                  <a:ea typeface="Roboto Thin"/>
                  <a:cs typeface="Roboto Thin"/>
                  <a:sym typeface="Roboto Thin"/>
                </a:rPr>
                <a:t>1</a:t>
              </a: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27" name="Google Shape;527;p57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Navigation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Accessing experimental data and metadata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Defining and accessing reference epigenome data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8" name="Google Shape;528;p57"/>
          <p:cNvGrpSpPr/>
          <p:nvPr/>
        </p:nvGrpSpPr>
        <p:grpSpPr>
          <a:xfrm>
            <a:off x="1593000" y="805561"/>
            <a:ext cx="5957975" cy="643500"/>
            <a:chOff x="1593000" y="2322568"/>
            <a:chExt cx="5957975" cy="643500"/>
          </a:xfrm>
        </p:grpSpPr>
        <p:sp>
          <p:nvSpPr>
            <p:cNvPr id="529" name="Google Shape;529;p57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57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57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57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The ENCODE Project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3" name="Google Shape;533;p57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57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600">
                  <a:solidFill>
                    <a:srgbClr val="FFFFFF"/>
                  </a:solidFill>
                  <a:latin typeface="Roboto Thin"/>
                  <a:ea typeface="Roboto Thin"/>
                  <a:cs typeface="Roboto Thin"/>
                  <a:sym typeface="Roboto Thin"/>
                </a:rPr>
                <a:t>1</a:t>
              </a: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35" name="Google Shape;535;p57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General description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Available datasets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36" name="Google Shape;536;p57"/>
          <p:cNvGrpSpPr/>
          <p:nvPr/>
        </p:nvGrpSpPr>
        <p:grpSpPr>
          <a:xfrm>
            <a:off x="1593000" y="4080849"/>
            <a:ext cx="5766050" cy="643482"/>
            <a:chOff x="1593000" y="2322568"/>
            <a:chExt cx="5766050" cy="643482"/>
          </a:xfrm>
        </p:grpSpPr>
        <p:sp>
          <p:nvSpPr>
            <p:cNvPr id="537" name="Google Shape;537;p57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57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57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Hands-on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0" name="Google Shape;540;p57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57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600">
                  <a:solidFill>
                    <a:srgbClr val="FFFFFF"/>
                  </a:solidFill>
                  <a:latin typeface="Roboto Thin"/>
                  <a:ea typeface="Roboto Thin"/>
                  <a:cs typeface="Roboto Thin"/>
                  <a:sym typeface="Roboto Thin"/>
                </a:rPr>
                <a:t>2</a:t>
              </a: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42" name="Google Shape;542;p57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43" name="Google Shape;543;p57"/>
          <p:cNvGrpSpPr/>
          <p:nvPr/>
        </p:nvGrpSpPr>
        <p:grpSpPr>
          <a:xfrm>
            <a:off x="1593000" y="3426975"/>
            <a:ext cx="5957975" cy="643500"/>
            <a:chOff x="1593000" y="2322568"/>
            <a:chExt cx="5957975" cy="643500"/>
          </a:xfrm>
        </p:grpSpPr>
        <p:sp>
          <p:nvSpPr>
            <p:cNvPr id="544" name="Google Shape;544;p57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57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57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57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The SCREEN browser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8" name="Google Shape;548;p57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57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600">
                  <a:solidFill>
                    <a:srgbClr val="FFFFFF"/>
                  </a:solidFill>
                  <a:latin typeface="Roboto Thin"/>
                  <a:ea typeface="Roboto Thin"/>
                  <a:cs typeface="Roboto Thin"/>
                  <a:sym typeface="Roboto Thin"/>
                </a:rPr>
                <a:t>2</a:t>
              </a: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50" name="Google Shape;550;p57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Accessing cCREs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Accessing experimental data and metadata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51" name="Google Shape;551;p57"/>
          <p:cNvGrpSpPr/>
          <p:nvPr/>
        </p:nvGrpSpPr>
        <p:grpSpPr>
          <a:xfrm>
            <a:off x="1593000" y="2772100"/>
            <a:ext cx="5957975" cy="643500"/>
            <a:chOff x="1593000" y="2322568"/>
            <a:chExt cx="5957975" cy="643500"/>
          </a:xfrm>
        </p:grpSpPr>
        <p:sp>
          <p:nvSpPr>
            <p:cNvPr id="552" name="Google Shape;552;p57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57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57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57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Registry of cCREs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6" name="Google Shape;556;p57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57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600">
                  <a:solidFill>
                    <a:srgbClr val="FFFFFF"/>
                  </a:solidFill>
                  <a:latin typeface="Roboto Thin"/>
                  <a:ea typeface="Roboto Thin"/>
                  <a:cs typeface="Roboto Thin"/>
                  <a:sym typeface="Roboto Thin"/>
                </a:rPr>
                <a:t>2</a:t>
              </a: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58" name="Google Shape;558;p57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cCREs definition and identification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Classification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Biosample classification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59" name="Google Shape;559;p57"/>
          <p:cNvSpPr txBox="1"/>
          <p:nvPr/>
        </p:nvSpPr>
        <p:spPr>
          <a:xfrm>
            <a:off x="7593025" y="2544300"/>
            <a:ext cx="14418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Coffee break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58"/>
          <p:cNvSpPr txBox="1">
            <a:spLocks noGrp="1"/>
          </p:cNvSpPr>
          <p:nvPr>
            <p:ph type="body" idx="1"/>
          </p:nvPr>
        </p:nvSpPr>
        <p:spPr>
          <a:xfrm>
            <a:off x="4939075" y="3225498"/>
            <a:ext cx="931500" cy="931500"/>
          </a:xfrm>
          <a:prstGeom prst="rect">
            <a:avLst/>
          </a:prstGeom>
        </p:spPr>
        <p:txBody>
          <a:bodyPr spcFirstLastPara="1" wrap="square" lIns="0" tIns="0" rIns="91425" bIns="45700" anchor="ctr" anchorCtr="0">
            <a:noAutofit/>
          </a:bodyPr>
          <a:lstStyle/>
          <a:p>
            <a:pPr marL="0" lvl="0" indent="0" algn="ctr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1</a:t>
            </a:r>
            <a:endParaRPr/>
          </a:p>
        </p:txBody>
      </p:sp>
      <p:sp>
        <p:nvSpPr>
          <p:cNvPr id="565" name="Google Shape;565;p58"/>
          <p:cNvSpPr txBox="1">
            <a:spLocks noGrp="1"/>
          </p:cNvSpPr>
          <p:nvPr>
            <p:ph type="body" idx="2"/>
          </p:nvPr>
        </p:nvSpPr>
        <p:spPr>
          <a:xfrm>
            <a:off x="5870575" y="3225500"/>
            <a:ext cx="3097800" cy="931500"/>
          </a:xfrm>
          <a:prstGeom prst="rect">
            <a:avLst/>
          </a:prstGeom>
        </p:spPr>
        <p:txBody>
          <a:bodyPr spcFirstLastPara="1" wrap="square" lIns="288000" tIns="0" rIns="91425" bIns="45700" anchor="ctr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/>
              <a:t>ENCODE: Experimental 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59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name="adj" fmla="val 50000"/>
            </a:avLst>
          </a:prstGeom>
          <a:solidFill>
            <a:srgbClr val="EDFA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59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sz="1200" b="1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72" name="Google Shape;572;p59" descr="poll-type-id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59" descr="title-id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Have you used ENCODE data?</a:t>
            </a:r>
            <a:endParaRPr sz="3600" b="1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4" name="Google Shape;574;p59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5" name="Google Shape;575;p59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76" name="Google Shape;576;p5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577" name="Google Shape;577;p59" descr="logo-id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60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GB"/>
              <a:t>The ENCODE project</a:t>
            </a:r>
            <a:endParaRPr/>
          </a:p>
        </p:txBody>
      </p:sp>
      <p:sp>
        <p:nvSpPr>
          <p:cNvPr id="583" name="Google Shape;583;p60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17500" algn="just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 sz="1400"/>
              <a:t>The Encyclopedia of DNA Elements (ENCODE) Consortium is an ongoing international collaboration of research groups launched on 2003.</a:t>
            </a:r>
            <a:endParaRPr sz="1400"/>
          </a:p>
          <a:p>
            <a:pPr marL="457200" lvl="0" indent="-317500" algn="just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400"/>
              <a:buChar char="✓"/>
            </a:pPr>
            <a:r>
              <a:rPr lang="en-GB" sz="1400"/>
              <a:t>It aims to build a comprehensive parts list of </a:t>
            </a:r>
            <a:r>
              <a:rPr lang="en-GB" sz="1400" b="1"/>
              <a:t>functional elements</a:t>
            </a:r>
            <a:r>
              <a:rPr lang="en-GB" sz="1400"/>
              <a:t> in the </a:t>
            </a:r>
            <a:r>
              <a:rPr lang="en-GB" sz="1400" b="1"/>
              <a:t>human </a:t>
            </a:r>
            <a:r>
              <a:rPr lang="en-GB" sz="1400"/>
              <a:t>and </a:t>
            </a:r>
            <a:r>
              <a:rPr lang="en-GB" sz="1400" b="1"/>
              <a:t>mouse</a:t>
            </a:r>
            <a:r>
              <a:rPr lang="en-GB" sz="1400"/>
              <a:t> </a:t>
            </a:r>
            <a:r>
              <a:rPr lang="en-GB" sz="1400" b="1"/>
              <a:t>genomes</a:t>
            </a:r>
            <a:r>
              <a:rPr lang="en-GB" sz="1400"/>
              <a:t>.</a:t>
            </a:r>
            <a:endParaRPr sz="1400"/>
          </a:p>
          <a:p>
            <a:pPr marL="457200" lvl="0" indent="-317500" algn="just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400"/>
              <a:buChar char="✓"/>
            </a:pPr>
            <a:r>
              <a:rPr lang="en-GB" sz="1400"/>
              <a:t>It maps genomic activity across tissues, cell types, developmental stages, and experimental conditions.</a:t>
            </a:r>
            <a:endParaRPr sz="1400"/>
          </a:p>
          <a:p>
            <a:pPr marL="457200" lvl="0" indent="-317500" algn="just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400"/>
              <a:buChar char="✓"/>
            </a:pPr>
            <a:r>
              <a:rPr lang="en-GB" sz="1400"/>
              <a:t>ENCODE data help interpret non-coding regions by connecting genomic coordinates to regulatory evidence such as chromatin accessibility, histone marks, transcription factor binding, RNA expression, methylation, and 3D chromatin structure.</a:t>
            </a:r>
            <a:endParaRPr sz="1400"/>
          </a:p>
          <a:p>
            <a:pPr marL="457200" lvl="0" indent="-317500" algn="just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400"/>
              <a:buChar char="✓"/>
            </a:pPr>
            <a:r>
              <a:rPr lang="en-GB" sz="1400"/>
              <a:t>By the end of 2024, it includes results from 23,000+ functional genomics experiments, 800+ functional elements characterization experiments and 60,000+ results from integrative computational analyses, available on an open-access data-portal.</a:t>
            </a:r>
            <a:endParaRPr sz="1400"/>
          </a:p>
          <a:p>
            <a:pPr marL="45720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400"/>
          </a:p>
          <a:p>
            <a:pPr marL="457200" lvl="0" indent="0" algn="just" rtl="0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None/>
            </a:pPr>
            <a:endParaRPr sz="1400"/>
          </a:p>
        </p:txBody>
      </p:sp>
      <p:sp>
        <p:nvSpPr>
          <p:cNvPr id="584" name="Google Shape;584;p60"/>
          <p:cNvSpPr txBox="1"/>
          <p:nvPr/>
        </p:nvSpPr>
        <p:spPr>
          <a:xfrm>
            <a:off x="1331125" y="4427900"/>
            <a:ext cx="3157500" cy="431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lt1"/>
                </a:solidFill>
                <a:latin typeface="Lobster"/>
                <a:ea typeface="Lobster"/>
                <a:cs typeface="Lobster"/>
                <a:sym typeface="Lobster"/>
              </a:rPr>
              <a:t>Standardised data analysis pipelines</a:t>
            </a:r>
            <a:endParaRPr sz="1600">
              <a:solidFill>
                <a:schemeClr val="lt1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585" name="Google Shape;585;p60"/>
          <p:cNvSpPr txBox="1"/>
          <p:nvPr/>
        </p:nvSpPr>
        <p:spPr>
          <a:xfrm>
            <a:off x="5072050" y="4427900"/>
            <a:ext cx="2353200" cy="431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lt1"/>
                </a:solidFill>
                <a:latin typeface="Lobster"/>
                <a:ea typeface="Lobster"/>
                <a:cs typeface="Lobster"/>
                <a:sym typeface="Lobster"/>
              </a:rPr>
              <a:t>Standardised metadata</a:t>
            </a:r>
            <a:endParaRPr sz="1600">
              <a:solidFill>
                <a:schemeClr val="lt1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6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GB"/>
              <a:t>The ENCODE project and the ENCODE portal</a:t>
            </a:r>
            <a:endParaRPr/>
          </a:p>
        </p:txBody>
      </p:sp>
      <p:pic>
        <p:nvPicPr>
          <p:cNvPr id="591" name="Google Shape;591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82950" y="933301"/>
            <a:ext cx="4762601" cy="3401851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61"/>
          <p:cNvSpPr txBox="1"/>
          <p:nvPr/>
        </p:nvSpPr>
        <p:spPr>
          <a:xfrm>
            <a:off x="0" y="4739325"/>
            <a:ext cx="7832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aseline="30000"/>
              <a:t>1</a:t>
            </a:r>
            <a:r>
              <a:rPr lang="en-GB" sz="800"/>
              <a:t>The ENCODE Project Consortium., Moore, J.E., Purcaro, M.J. et al. Expanded encyclopaedias of DNA elements in the human and mouse genomes. Nature 583, 699–710 (2020). https://doi.org/10.1038/s41586-020-2493-4</a:t>
            </a:r>
            <a:endParaRPr sz="800"/>
          </a:p>
        </p:txBody>
      </p:sp>
      <p:sp>
        <p:nvSpPr>
          <p:cNvPr id="593" name="Google Shape;593;p61"/>
          <p:cNvSpPr txBox="1"/>
          <p:nvPr/>
        </p:nvSpPr>
        <p:spPr>
          <a:xfrm>
            <a:off x="1797050" y="4431525"/>
            <a:ext cx="57936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1"/>
                </a:solidFill>
              </a:rPr>
              <a:t>Figure extracted from </a:t>
            </a:r>
            <a:r>
              <a:rPr lang="en-GB" sz="800" i="1">
                <a:solidFill>
                  <a:schemeClr val="dk1"/>
                </a:solidFill>
              </a:rPr>
              <a:t>Expanded encyclopaedias of DNA elements in the human and mouse genomes</a:t>
            </a:r>
            <a:r>
              <a:rPr lang="en-GB" sz="800" baseline="30000"/>
              <a:t>1</a:t>
            </a:r>
            <a:endParaRPr sz="800" i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6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GB"/>
              <a:t>The ENCODE project and the ENCODE portal</a:t>
            </a:r>
            <a:endParaRPr/>
          </a:p>
        </p:txBody>
      </p:sp>
      <p:pic>
        <p:nvPicPr>
          <p:cNvPr id="599" name="Google Shape;59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78751" y="848125"/>
            <a:ext cx="4527025" cy="3623900"/>
          </a:xfrm>
          <a:prstGeom prst="rect">
            <a:avLst/>
          </a:prstGeom>
          <a:noFill/>
          <a:ln>
            <a:noFill/>
          </a:ln>
        </p:spPr>
      </p:pic>
      <p:sp>
        <p:nvSpPr>
          <p:cNvPr id="600" name="Google Shape;600;p62"/>
          <p:cNvSpPr txBox="1"/>
          <p:nvPr/>
        </p:nvSpPr>
        <p:spPr>
          <a:xfrm>
            <a:off x="0" y="4835700"/>
            <a:ext cx="8656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aseline="30000"/>
              <a:t>2</a:t>
            </a:r>
            <a:r>
              <a:rPr lang="en-GB" sz="800"/>
              <a:t>Kagda, M.S., Lam, B., Litton, C. et al. Data navigation on the ENCODE portal. Nat Commun 16, 9592 (2025). https://doi.org/10.1038/s41467-025-64343-9</a:t>
            </a:r>
            <a:endParaRPr sz="800"/>
          </a:p>
        </p:txBody>
      </p:sp>
      <p:sp>
        <p:nvSpPr>
          <p:cNvPr id="601" name="Google Shape;601;p62"/>
          <p:cNvSpPr txBox="1"/>
          <p:nvPr/>
        </p:nvSpPr>
        <p:spPr>
          <a:xfrm>
            <a:off x="2409300" y="4489550"/>
            <a:ext cx="4217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1"/>
                </a:solidFill>
              </a:rPr>
              <a:t>Figure extracted from </a:t>
            </a:r>
            <a:r>
              <a:rPr lang="en-GB" sz="800" i="1">
                <a:solidFill>
                  <a:schemeClr val="dk1"/>
                </a:solidFill>
              </a:rPr>
              <a:t>Data navigation on the ENCODE portal</a:t>
            </a:r>
            <a:r>
              <a:rPr lang="en-GB" sz="800" baseline="30000"/>
              <a:t>2</a:t>
            </a:r>
            <a:endParaRPr sz="800" i="1"/>
          </a:p>
        </p:txBody>
      </p:sp>
      <p:sp>
        <p:nvSpPr>
          <p:cNvPr id="602" name="Google Shape;602;p62"/>
          <p:cNvSpPr/>
          <p:nvPr/>
        </p:nvSpPr>
        <p:spPr>
          <a:xfrm>
            <a:off x="4705900" y="1027875"/>
            <a:ext cx="900300" cy="198900"/>
          </a:xfrm>
          <a:prstGeom prst="rect">
            <a:avLst/>
          </a:prstGeom>
          <a:noFill/>
          <a:ln w="19050" cap="flat" cmpd="sng">
            <a:solidFill>
              <a:srgbClr val="00F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03" name="Google Shape;603;p62"/>
          <p:cNvSpPr/>
          <p:nvPr/>
        </p:nvSpPr>
        <p:spPr>
          <a:xfrm>
            <a:off x="2178750" y="2619650"/>
            <a:ext cx="3282000" cy="1320900"/>
          </a:xfrm>
          <a:prstGeom prst="rect">
            <a:avLst/>
          </a:prstGeom>
          <a:noFill/>
          <a:ln w="19050" cap="flat" cmpd="sng">
            <a:solidFill>
              <a:srgbClr val="00F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8" name="Google Shape;608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4513" y="859594"/>
            <a:ext cx="4137776" cy="4046455"/>
          </a:xfrm>
          <a:prstGeom prst="rect">
            <a:avLst/>
          </a:prstGeom>
          <a:noFill/>
          <a:ln>
            <a:noFill/>
          </a:ln>
        </p:spPr>
      </p:pic>
      <p:sp>
        <p:nvSpPr>
          <p:cNvPr id="609" name="Google Shape;609;p63"/>
          <p:cNvSpPr txBox="1"/>
          <p:nvPr/>
        </p:nvSpPr>
        <p:spPr>
          <a:xfrm>
            <a:off x="79350" y="3044225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https://www.encodeproject.org/</a:t>
            </a:r>
            <a:endParaRPr/>
          </a:p>
        </p:txBody>
      </p:sp>
      <p:sp>
        <p:nvSpPr>
          <p:cNvPr id="610" name="Google Shape;610;p6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GB"/>
              <a:t>The ENCODE project and the ENCODE portal</a:t>
            </a:r>
            <a:endParaRPr/>
          </a:p>
        </p:txBody>
      </p:sp>
      <p:pic>
        <p:nvPicPr>
          <p:cNvPr id="611" name="Google Shape;611;p6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9275" y="1581650"/>
            <a:ext cx="1406550" cy="140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2" name="Google Shape;612;p6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887781" y="1439512"/>
            <a:ext cx="2203024" cy="2264474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613;p63"/>
          <p:cNvSpPr/>
          <p:nvPr/>
        </p:nvSpPr>
        <p:spPr>
          <a:xfrm>
            <a:off x="2684525" y="1539100"/>
            <a:ext cx="1406700" cy="431700"/>
          </a:xfrm>
          <a:prstGeom prst="rect">
            <a:avLst/>
          </a:prstGeom>
          <a:noFill/>
          <a:ln w="38100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p6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GB"/>
              <a:t>The ENCODE project and the ENCODE portal</a:t>
            </a:r>
            <a:endParaRPr/>
          </a:p>
        </p:txBody>
      </p:sp>
      <p:pic>
        <p:nvPicPr>
          <p:cNvPr id="619" name="Google Shape;619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6175" y="902844"/>
            <a:ext cx="4611078" cy="4046456"/>
          </a:xfrm>
          <a:prstGeom prst="rect">
            <a:avLst/>
          </a:prstGeom>
          <a:noFill/>
          <a:ln>
            <a:noFill/>
          </a:ln>
        </p:spPr>
      </p:pic>
      <p:sp>
        <p:nvSpPr>
          <p:cNvPr id="620" name="Google Shape;620;p64"/>
          <p:cNvSpPr txBox="1"/>
          <p:nvPr/>
        </p:nvSpPr>
        <p:spPr>
          <a:xfrm>
            <a:off x="891425" y="2528025"/>
            <a:ext cx="963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FFA600"/>
                </a:solidFill>
                <a:latin typeface="Lobster"/>
                <a:ea typeface="Lobster"/>
                <a:cs typeface="Lobster"/>
                <a:sym typeface="Lobster"/>
              </a:rPr>
              <a:t>Filtering sidebar</a:t>
            </a:r>
            <a:endParaRPr sz="1500">
              <a:solidFill>
                <a:srgbClr val="FFA600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621" name="Google Shape;621;p64"/>
          <p:cNvSpPr txBox="1"/>
          <p:nvPr/>
        </p:nvSpPr>
        <p:spPr>
          <a:xfrm>
            <a:off x="6346475" y="3253750"/>
            <a:ext cx="1283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FFA600"/>
                </a:solidFill>
                <a:latin typeface="Lobster"/>
                <a:ea typeface="Lobster"/>
                <a:cs typeface="Lobster"/>
                <a:sym typeface="Lobster"/>
              </a:rPr>
              <a:t>Available experiments</a:t>
            </a:r>
            <a:endParaRPr sz="1500">
              <a:solidFill>
                <a:srgbClr val="FFA600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622" name="Google Shape;622;p64"/>
          <p:cNvSpPr txBox="1"/>
          <p:nvPr/>
        </p:nvSpPr>
        <p:spPr>
          <a:xfrm>
            <a:off x="2880800" y="1106850"/>
            <a:ext cx="1743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FFA600"/>
                </a:solidFill>
                <a:latin typeface="Lobster"/>
                <a:ea typeface="Lobster"/>
                <a:cs typeface="Lobster"/>
                <a:sym typeface="Lobster"/>
              </a:rPr>
              <a:t>Alternative views</a:t>
            </a:r>
            <a:endParaRPr sz="1500">
              <a:solidFill>
                <a:srgbClr val="FFA600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pic>
        <p:nvPicPr>
          <p:cNvPr id="623" name="Google Shape;623;p64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732676" y="0"/>
            <a:ext cx="1411325" cy="1411325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64"/>
          <p:cNvSpPr/>
          <p:nvPr/>
        </p:nvSpPr>
        <p:spPr>
          <a:xfrm>
            <a:off x="4382175" y="2603475"/>
            <a:ext cx="92100" cy="86700"/>
          </a:xfrm>
          <a:prstGeom prst="rect">
            <a:avLst/>
          </a:prstGeom>
          <a:noFill/>
          <a:ln w="38100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6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GB"/>
              <a:t>The ENCODE project and the ENCODE portal</a:t>
            </a:r>
            <a:endParaRPr/>
          </a:p>
        </p:txBody>
      </p:sp>
      <p:sp>
        <p:nvSpPr>
          <p:cNvPr id="630" name="Google Shape;630;p65"/>
          <p:cNvSpPr txBox="1"/>
          <p:nvPr/>
        </p:nvSpPr>
        <p:spPr>
          <a:xfrm>
            <a:off x="13200" y="2758351"/>
            <a:ext cx="1550400" cy="100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25" tIns="104725" rIns="104725" bIns="1047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18">
                <a:solidFill>
                  <a:schemeClr val="accent3"/>
                </a:solidFill>
                <a:latin typeface="Lobster"/>
                <a:ea typeface="Lobster"/>
                <a:cs typeface="Lobster"/>
                <a:sym typeface="Lobster"/>
              </a:rPr>
              <a:t>ATAC-seq from mouse liver filters applied</a:t>
            </a:r>
            <a:endParaRPr sz="1718">
              <a:solidFill>
                <a:schemeClr val="accent3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631" name="Google Shape;631;p65"/>
          <p:cNvSpPr txBox="1"/>
          <p:nvPr/>
        </p:nvSpPr>
        <p:spPr>
          <a:xfrm>
            <a:off x="7645591" y="1733727"/>
            <a:ext cx="1469700" cy="4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25" tIns="104725" rIns="104725" bIns="1047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18">
                <a:solidFill>
                  <a:schemeClr val="accent3"/>
                </a:solidFill>
                <a:latin typeface="Lobster"/>
                <a:ea typeface="Lobster"/>
                <a:cs typeface="Lobster"/>
                <a:sym typeface="Lobster"/>
              </a:rPr>
              <a:t>Status</a:t>
            </a:r>
            <a:endParaRPr sz="1718">
              <a:solidFill>
                <a:schemeClr val="accent3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pic>
        <p:nvPicPr>
          <p:cNvPr id="632" name="Google Shape;632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8261" y="944667"/>
            <a:ext cx="5738414" cy="4198837"/>
          </a:xfrm>
          <a:prstGeom prst="rect">
            <a:avLst/>
          </a:prstGeom>
          <a:noFill/>
          <a:ln>
            <a:noFill/>
          </a:ln>
        </p:spPr>
      </p:pic>
      <p:sp>
        <p:nvSpPr>
          <p:cNvPr id="633" name="Google Shape;633;p65"/>
          <p:cNvSpPr txBox="1"/>
          <p:nvPr/>
        </p:nvSpPr>
        <p:spPr>
          <a:xfrm>
            <a:off x="7612315" y="2969243"/>
            <a:ext cx="1469700" cy="4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25" tIns="104725" rIns="104725" bIns="1047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18">
                <a:solidFill>
                  <a:schemeClr val="accent3"/>
                </a:solidFill>
                <a:latin typeface="Lobster"/>
                <a:ea typeface="Lobster"/>
                <a:cs typeface="Lobster"/>
                <a:sym typeface="Lobster"/>
              </a:rPr>
              <a:t>Audits</a:t>
            </a:r>
            <a:endParaRPr sz="1718">
              <a:solidFill>
                <a:schemeClr val="accent3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634" name="Google Shape;634;p65"/>
          <p:cNvSpPr txBox="1"/>
          <p:nvPr/>
        </p:nvSpPr>
        <p:spPr>
          <a:xfrm>
            <a:off x="4101399" y="944652"/>
            <a:ext cx="1469700" cy="4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25" tIns="104725" rIns="104725" bIns="1047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18">
                <a:solidFill>
                  <a:schemeClr val="accent3"/>
                </a:solidFill>
                <a:latin typeface="Lobster"/>
                <a:ea typeface="Lobster"/>
                <a:cs typeface="Lobster"/>
                <a:sym typeface="Lobster"/>
              </a:rPr>
              <a:t>Download</a:t>
            </a:r>
            <a:endParaRPr sz="1718">
              <a:solidFill>
                <a:schemeClr val="accent3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635" name="Google Shape;635;p65"/>
          <p:cNvSpPr txBox="1"/>
          <p:nvPr/>
        </p:nvSpPr>
        <p:spPr>
          <a:xfrm>
            <a:off x="6609368" y="987482"/>
            <a:ext cx="1469700" cy="4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25" tIns="104725" rIns="104725" bIns="1047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18">
                <a:solidFill>
                  <a:schemeClr val="accent3"/>
                </a:solidFill>
                <a:latin typeface="Lobster"/>
                <a:ea typeface="Lobster"/>
                <a:cs typeface="Lobster"/>
                <a:sym typeface="Lobster"/>
              </a:rPr>
              <a:t>JSON</a:t>
            </a:r>
            <a:endParaRPr sz="1718">
              <a:solidFill>
                <a:schemeClr val="accent3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636" name="Google Shape;636;p65"/>
          <p:cNvSpPr txBox="1"/>
          <p:nvPr/>
        </p:nvSpPr>
        <p:spPr>
          <a:xfrm>
            <a:off x="4843312" y="3022765"/>
            <a:ext cx="1469700" cy="4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25" tIns="104725" rIns="104725" bIns="1047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18">
                <a:solidFill>
                  <a:schemeClr val="accent3"/>
                </a:solidFill>
                <a:latin typeface="Lobster"/>
                <a:ea typeface="Lobster"/>
                <a:cs typeface="Lobster"/>
                <a:sym typeface="Lobster"/>
              </a:rPr>
              <a:t>Experiment</a:t>
            </a:r>
            <a:endParaRPr sz="1718">
              <a:solidFill>
                <a:schemeClr val="accent3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pic>
        <p:nvPicPr>
          <p:cNvPr id="637" name="Google Shape;637;p65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732674" y="-2075"/>
            <a:ext cx="1411325" cy="1411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66"/>
          <p:cNvSpPr/>
          <p:nvPr/>
        </p:nvSpPr>
        <p:spPr>
          <a:xfrm>
            <a:off x="7473000" y="4568700"/>
            <a:ext cx="1671000" cy="574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43" name="Google Shape;643;p6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GB"/>
              <a:t>The ENCODE project and the ENCODE portal</a:t>
            </a:r>
            <a:endParaRPr/>
          </a:p>
        </p:txBody>
      </p:sp>
      <p:sp>
        <p:nvSpPr>
          <p:cNvPr id="644" name="Google Shape;644;p66"/>
          <p:cNvSpPr txBox="1"/>
          <p:nvPr/>
        </p:nvSpPr>
        <p:spPr>
          <a:xfrm>
            <a:off x="1036338" y="2527073"/>
            <a:ext cx="102870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7325" tIns="97325" rIns="97325" bIns="973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97">
                <a:solidFill>
                  <a:schemeClr val="accent3"/>
                </a:solidFill>
                <a:latin typeface="Lobster"/>
                <a:ea typeface="Lobster"/>
                <a:cs typeface="Lobster"/>
                <a:sym typeface="Lobster"/>
              </a:rPr>
              <a:t>Metadata</a:t>
            </a:r>
            <a:endParaRPr sz="1597">
              <a:solidFill>
                <a:schemeClr val="accent3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pic>
        <p:nvPicPr>
          <p:cNvPr id="645" name="Google Shape;645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88232" y="1014476"/>
            <a:ext cx="5919425" cy="4129029"/>
          </a:xfrm>
          <a:prstGeom prst="rect">
            <a:avLst/>
          </a:prstGeom>
          <a:noFill/>
          <a:ln>
            <a:noFill/>
          </a:ln>
        </p:spPr>
      </p:pic>
      <p:sp>
        <p:nvSpPr>
          <p:cNvPr id="646" name="Google Shape;646;p66"/>
          <p:cNvSpPr txBox="1"/>
          <p:nvPr/>
        </p:nvSpPr>
        <p:spPr>
          <a:xfrm>
            <a:off x="1117036" y="3942327"/>
            <a:ext cx="1028700" cy="68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7325" tIns="97325" rIns="97325" bIns="973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97">
                <a:solidFill>
                  <a:schemeClr val="accent3"/>
                </a:solidFill>
                <a:latin typeface="Lobster"/>
                <a:ea typeface="Lobster"/>
                <a:cs typeface="Lobster"/>
                <a:sym typeface="Lobster"/>
              </a:rPr>
              <a:t>Replicates summary</a:t>
            </a:r>
            <a:endParaRPr sz="1597">
              <a:solidFill>
                <a:schemeClr val="accent3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pic>
        <p:nvPicPr>
          <p:cNvPr id="647" name="Google Shape;647;p66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790400" y="350"/>
            <a:ext cx="1353600" cy="135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2" name="Google Shape;652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9179" y="944651"/>
            <a:ext cx="6703696" cy="4198851"/>
          </a:xfrm>
          <a:prstGeom prst="rect">
            <a:avLst/>
          </a:prstGeom>
          <a:noFill/>
          <a:ln>
            <a:noFill/>
          </a:ln>
        </p:spPr>
      </p:pic>
      <p:sp>
        <p:nvSpPr>
          <p:cNvPr id="653" name="Google Shape;653;p6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GB"/>
              <a:t>The ENCODE project and the ENCODE portal</a:t>
            </a:r>
            <a:endParaRPr/>
          </a:p>
        </p:txBody>
      </p:sp>
      <p:sp>
        <p:nvSpPr>
          <p:cNvPr id="654" name="Google Shape;654;p67"/>
          <p:cNvSpPr txBox="1"/>
          <p:nvPr/>
        </p:nvSpPr>
        <p:spPr>
          <a:xfrm>
            <a:off x="145612" y="1969013"/>
            <a:ext cx="1098600" cy="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3950" tIns="103950" rIns="103950" bIns="1039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6">
                <a:solidFill>
                  <a:srgbClr val="FFA600"/>
                </a:solidFill>
                <a:latin typeface="Lobster"/>
                <a:ea typeface="Lobster"/>
                <a:cs typeface="Lobster"/>
                <a:sym typeface="Lobster"/>
              </a:rPr>
              <a:t>Sidebar filtering</a:t>
            </a:r>
            <a:endParaRPr sz="1706">
              <a:solidFill>
                <a:srgbClr val="FFA600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655" name="Google Shape;655;p67"/>
          <p:cNvSpPr txBox="1"/>
          <p:nvPr/>
        </p:nvSpPr>
        <p:spPr>
          <a:xfrm>
            <a:off x="1244361" y="4050726"/>
            <a:ext cx="1098600" cy="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3950" tIns="103950" rIns="103950" bIns="1039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6">
                <a:solidFill>
                  <a:srgbClr val="FFA600"/>
                </a:solidFill>
                <a:latin typeface="Lobster"/>
                <a:ea typeface="Lobster"/>
                <a:cs typeface="Lobster"/>
                <a:sym typeface="Lobster"/>
              </a:rPr>
              <a:t>Processed files</a:t>
            </a:r>
            <a:endParaRPr sz="1706">
              <a:solidFill>
                <a:srgbClr val="FFA600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sp>
        <p:nvSpPr>
          <p:cNvPr id="656" name="Google Shape;656;p67"/>
          <p:cNvSpPr txBox="1"/>
          <p:nvPr/>
        </p:nvSpPr>
        <p:spPr>
          <a:xfrm>
            <a:off x="7899789" y="1938369"/>
            <a:ext cx="1098600" cy="47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3950" tIns="103950" rIns="103950" bIns="1039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6">
                <a:solidFill>
                  <a:srgbClr val="FFA600"/>
                </a:solidFill>
                <a:latin typeface="Lobster"/>
                <a:ea typeface="Lobster"/>
                <a:cs typeface="Lobster"/>
                <a:sym typeface="Lobster"/>
              </a:rPr>
              <a:t>Raw files</a:t>
            </a:r>
            <a:endParaRPr sz="1706">
              <a:solidFill>
                <a:srgbClr val="FFA600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  <p:pic>
        <p:nvPicPr>
          <p:cNvPr id="657" name="Google Shape;657;p67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790400" y="350"/>
            <a:ext cx="1353600" cy="135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2" name="Google Shape;662;p68"/>
          <p:cNvPicPr preferRelativeResize="0"/>
          <p:nvPr/>
        </p:nvPicPr>
        <p:blipFill rotWithShape="1">
          <a:blip r:embed="rId3">
            <a:alphaModFix/>
          </a:blip>
          <a:srcRect b="31044"/>
          <a:stretch/>
        </p:blipFill>
        <p:spPr>
          <a:xfrm>
            <a:off x="1328900" y="1011863"/>
            <a:ext cx="6486193" cy="3119763"/>
          </a:xfrm>
          <a:prstGeom prst="rect">
            <a:avLst/>
          </a:prstGeom>
          <a:noFill/>
          <a:ln>
            <a:noFill/>
          </a:ln>
        </p:spPr>
      </p:pic>
      <p:sp>
        <p:nvSpPr>
          <p:cNvPr id="663" name="Google Shape;663;p6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GB"/>
              <a:t>The ENCODE project and the ENCODE portal</a:t>
            </a:r>
            <a:endParaRPr/>
          </a:p>
        </p:txBody>
      </p:sp>
      <p:sp>
        <p:nvSpPr>
          <p:cNvPr id="664" name="Google Shape;664;p68"/>
          <p:cNvSpPr txBox="1"/>
          <p:nvPr/>
        </p:nvSpPr>
        <p:spPr>
          <a:xfrm>
            <a:off x="917500" y="4051875"/>
            <a:ext cx="7308900" cy="923400"/>
          </a:xfrm>
          <a:prstGeom prst="rect">
            <a:avLst/>
          </a:prstGeom>
          <a:solidFill>
            <a:srgbClr val="FFA6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lt1"/>
                </a:solidFill>
              </a:rPr>
              <a:t>Reference epigenomes: </a:t>
            </a:r>
            <a:r>
              <a:rPr lang="en-GB" sz="1600">
                <a:solidFill>
                  <a:schemeClr val="lt1"/>
                </a:solidFill>
              </a:rPr>
              <a:t>grouped data from a particular tissue, cell line, primary cell, in vitro differentiated cell biosamples organized following guidelines set out by IHEC (https://ihec-epigenomes.org/)</a:t>
            </a:r>
            <a:endParaRPr sz="1600">
              <a:solidFill>
                <a:schemeClr val="lt1"/>
              </a:solidFill>
            </a:endParaRPr>
          </a:p>
        </p:txBody>
      </p:sp>
      <p:pic>
        <p:nvPicPr>
          <p:cNvPr id="665" name="Google Shape;665;p68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790400" y="375"/>
            <a:ext cx="1353600" cy="135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69"/>
          <p:cNvSpPr/>
          <p:nvPr/>
        </p:nvSpPr>
        <p:spPr>
          <a:xfrm>
            <a:off x="7473000" y="4568700"/>
            <a:ext cx="1671000" cy="574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71" name="Google Shape;671;p6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GB"/>
              <a:t>The ENCODE Reference Epigenomes</a:t>
            </a:r>
            <a:endParaRPr/>
          </a:p>
        </p:txBody>
      </p:sp>
      <p:pic>
        <p:nvPicPr>
          <p:cNvPr id="672" name="Google Shape;672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2050" y="861100"/>
            <a:ext cx="7042104" cy="4238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73" name="Google Shape;673;p6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64585" y="1729244"/>
            <a:ext cx="3647364" cy="3414255"/>
          </a:xfrm>
          <a:prstGeom prst="rect">
            <a:avLst/>
          </a:prstGeom>
          <a:noFill/>
          <a:ln>
            <a:noFill/>
          </a:ln>
        </p:spPr>
      </p:pic>
      <p:pic>
        <p:nvPicPr>
          <p:cNvPr id="674" name="Google Shape;674;p69">
            <a:hlinkClick r:id="rId5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0400" y="0"/>
            <a:ext cx="1353600" cy="135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70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GB"/>
              <a:t>The ENCODE Reference Epigenomes</a:t>
            </a:r>
            <a:endParaRPr/>
          </a:p>
        </p:txBody>
      </p:sp>
      <p:pic>
        <p:nvPicPr>
          <p:cNvPr id="680" name="Google Shape;68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36670" y="868050"/>
            <a:ext cx="6070645" cy="4275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681" name="Google Shape;681;p70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790400" y="0"/>
            <a:ext cx="1353600" cy="1353600"/>
          </a:xfrm>
          <a:prstGeom prst="rect">
            <a:avLst/>
          </a:prstGeom>
          <a:noFill/>
          <a:ln>
            <a:noFill/>
          </a:ln>
        </p:spPr>
      </p:pic>
      <p:sp>
        <p:nvSpPr>
          <p:cNvPr id="682" name="Google Shape;682;p70"/>
          <p:cNvSpPr/>
          <p:nvPr/>
        </p:nvSpPr>
        <p:spPr>
          <a:xfrm>
            <a:off x="3064950" y="3388750"/>
            <a:ext cx="4542300" cy="625500"/>
          </a:xfrm>
          <a:prstGeom prst="rect">
            <a:avLst/>
          </a:prstGeom>
          <a:noFill/>
          <a:ln w="30200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p7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ENCODE Reference Epigenomes</a:t>
            </a:r>
            <a:endParaRPr/>
          </a:p>
        </p:txBody>
      </p:sp>
      <p:pic>
        <p:nvPicPr>
          <p:cNvPr id="688" name="Google Shape;688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08292" y="792250"/>
            <a:ext cx="5927407" cy="4351249"/>
          </a:xfrm>
          <a:prstGeom prst="rect">
            <a:avLst/>
          </a:prstGeom>
          <a:noFill/>
          <a:ln>
            <a:noFill/>
          </a:ln>
        </p:spPr>
      </p:pic>
      <p:pic>
        <p:nvPicPr>
          <p:cNvPr id="689" name="Google Shape;689;p71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790400" y="0"/>
            <a:ext cx="1353600" cy="135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7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GB"/>
              <a:t>The ENCODE Reference Epigenomes</a:t>
            </a:r>
            <a:endParaRPr/>
          </a:p>
        </p:txBody>
      </p:sp>
      <p:pic>
        <p:nvPicPr>
          <p:cNvPr id="695" name="Google Shape;695;p72"/>
          <p:cNvPicPr preferRelativeResize="0"/>
          <p:nvPr/>
        </p:nvPicPr>
        <p:blipFill rotWithShape="1">
          <a:blip r:embed="rId3">
            <a:alphaModFix/>
          </a:blip>
          <a:srcRect r="13427"/>
          <a:stretch/>
        </p:blipFill>
        <p:spPr>
          <a:xfrm>
            <a:off x="95725" y="1210250"/>
            <a:ext cx="4362598" cy="2722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96" name="Google Shape;696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88100" y="793675"/>
            <a:ext cx="3971800" cy="3803350"/>
          </a:xfrm>
          <a:prstGeom prst="rect">
            <a:avLst/>
          </a:prstGeom>
          <a:noFill/>
          <a:ln>
            <a:noFill/>
          </a:ln>
        </p:spPr>
      </p:pic>
      <p:sp>
        <p:nvSpPr>
          <p:cNvPr id="697" name="Google Shape;697;p72"/>
          <p:cNvSpPr/>
          <p:nvPr/>
        </p:nvSpPr>
        <p:spPr>
          <a:xfrm>
            <a:off x="287425" y="2003925"/>
            <a:ext cx="864000" cy="103800"/>
          </a:xfrm>
          <a:prstGeom prst="rect">
            <a:avLst/>
          </a:prstGeom>
          <a:noFill/>
          <a:ln w="38100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98" name="Google Shape;698;p72"/>
          <p:cNvSpPr/>
          <p:nvPr/>
        </p:nvSpPr>
        <p:spPr>
          <a:xfrm>
            <a:off x="4572000" y="2779650"/>
            <a:ext cx="405000" cy="103800"/>
          </a:xfrm>
          <a:prstGeom prst="rect">
            <a:avLst/>
          </a:prstGeom>
          <a:noFill/>
          <a:ln w="38100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99" name="Google Shape;699;p72"/>
          <p:cNvSpPr/>
          <p:nvPr/>
        </p:nvSpPr>
        <p:spPr>
          <a:xfrm>
            <a:off x="5476175" y="1609300"/>
            <a:ext cx="2959800" cy="669900"/>
          </a:xfrm>
          <a:prstGeom prst="rect">
            <a:avLst/>
          </a:prstGeom>
          <a:noFill/>
          <a:ln w="38100" cap="flat" cmpd="sng">
            <a:solidFill>
              <a:srgbClr val="FF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p73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name="adj" fmla="val 50000"/>
            </a:avLst>
          </a:prstGeom>
          <a:solidFill>
            <a:srgbClr val="EDFA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5" name="Google Shape;705;p73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sz="1200" b="1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06" name="Google Shape;706;p73" descr="poll-type-id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id="707" name="Google Shape;707;p73" descr="title-id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Which of these statements are true about ENCODE?</a:t>
            </a:r>
            <a:endParaRPr sz="3600" b="1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08" name="Google Shape;708;p73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73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10" name="Google Shape;710;p7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711" name="Google Shape;711;p73" descr="logo-id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p7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Questions?</a:t>
            </a:r>
            <a:endParaRPr/>
          </a:p>
        </p:txBody>
      </p:sp>
      <p:grpSp>
        <p:nvGrpSpPr>
          <p:cNvPr id="717" name="Google Shape;717;p74"/>
          <p:cNvGrpSpPr/>
          <p:nvPr/>
        </p:nvGrpSpPr>
        <p:grpSpPr>
          <a:xfrm>
            <a:off x="1788346" y="1314725"/>
            <a:ext cx="776475" cy="2406685"/>
            <a:chOff x="3226825" y="1139765"/>
            <a:chExt cx="776475" cy="2406685"/>
          </a:xfrm>
        </p:grpSpPr>
        <p:sp>
          <p:nvSpPr>
            <p:cNvPr id="718" name="Google Shape;718;p74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274E13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9" name="Google Shape;719;p74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274E13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20" name="Google Shape;720;p74"/>
          <p:cNvGrpSpPr/>
          <p:nvPr/>
        </p:nvGrpSpPr>
        <p:grpSpPr>
          <a:xfrm>
            <a:off x="6367779" y="1366550"/>
            <a:ext cx="776475" cy="2406685"/>
            <a:chOff x="3226825" y="1139765"/>
            <a:chExt cx="776475" cy="2406685"/>
          </a:xfrm>
        </p:grpSpPr>
        <p:sp>
          <p:nvSpPr>
            <p:cNvPr id="721" name="Google Shape;721;p74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B6D7A8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2" name="Google Shape;722;p74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B6D7A8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23" name="Google Shape;723;p74"/>
          <p:cNvGrpSpPr/>
          <p:nvPr/>
        </p:nvGrpSpPr>
        <p:grpSpPr>
          <a:xfrm>
            <a:off x="2933204" y="1366550"/>
            <a:ext cx="776475" cy="2406685"/>
            <a:chOff x="3226825" y="1139765"/>
            <a:chExt cx="776475" cy="2406685"/>
          </a:xfrm>
        </p:grpSpPr>
        <p:sp>
          <p:nvSpPr>
            <p:cNvPr id="724" name="Google Shape;724;p74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38761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5" name="Google Shape;725;p74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38761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26" name="Google Shape;726;p74"/>
          <p:cNvGrpSpPr/>
          <p:nvPr/>
        </p:nvGrpSpPr>
        <p:grpSpPr>
          <a:xfrm>
            <a:off x="4078063" y="1366550"/>
            <a:ext cx="776475" cy="2406685"/>
            <a:chOff x="3226825" y="1139765"/>
            <a:chExt cx="776475" cy="2406685"/>
          </a:xfrm>
        </p:grpSpPr>
        <p:sp>
          <p:nvSpPr>
            <p:cNvPr id="727" name="Google Shape;727;p74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6AA84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8" name="Google Shape;728;p74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6AA84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29" name="Google Shape;729;p74"/>
          <p:cNvGrpSpPr/>
          <p:nvPr/>
        </p:nvGrpSpPr>
        <p:grpSpPr>
          <a:xfrm>
            <a:off x="5222921" y="1366550"/>
            <a:ext cx="776475" cy="2406685"/>
            <a:chOff x="3226825" y="1139765"/>
            <a:chExt cx="776475" cy="2406685"/>
          </a:xfrm>
        </p:grpSpPr>
        <p:sp>
          <p:nvSpPr>
            <p:cNvPr id="730" name="Google Shape;730;p74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93C47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1" name="Google Shape;731;p74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93C47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75"/>
          <p:cNvSpPr txBox="1">
            <a:spLocks noGrp="1"/>
          </p:cNvSpPr>
          <p:nvPr>
            <p:ph type="body" idx="1"/>
          </p:nvPr>
        </p:nvSpPr>
        <p:spPr>
          <a:xfrm>
            <a:off x="403622" y="665164"/>
            <a:ext cx="931500" cy="931500"/>
          </a:xfrm>
          <a:prstGeom prst="rect">
            <a:avLst/>
          </a:prstGeom>
        </p:spPr>
        <p:txBody>
          <a:bodyPr spcFirstLastPara="1" wrap="square" lIns="0" tIns="0" rIns="91425" bIns="45700" anchor="ctr" anchorCtr="0">
            <a:noAutofit/>
          </a:bodyPr>
          <a:lstStyle/>
          <a:p>
            <a:pPr marL="0" lvl="0" indent="0" algn="ctr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 </a:t>
            </a:r>
            <a:endParaRPr/>
          </a:p>
        </p:txBody>
      </p:sp>
      <p:sp>
        <p:nvSpPr>
          <p:cNvPr id="738" name="Google Shape;738;p75"/>
          <p:cNvSpPr txBox="1">
            <a:spLocks noGrp="1"/>
          </p:cNvSpPr>
          <p:nvPr>
            <p:ph type="body" idx="2"/>
          </p:nvPr>
        </p:nvSpPr>
        <p:spPr>
          <a:xfrm>
            <a:off x="1335122" y="665164"/>
            <a:ext cx="2808000" cy="931500"/>
          </a:xfrm>
          <a:prstGeom prst="rect">
            <a:avLst/>
          </a:prstGeom>
        </p:spPr>
        <p:txBody>
          <a:bodyPr spcFirstLastPara="1" wrap="square" lIns="288000" tIns="0" rIns="91425" bIns="45700" anchor="ctr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/>
              <a:t>Hands-on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76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name="adj" fmla="val 50000"/>
            </a:avLst>
          </a:prstGeom>
          <a:solidFill>
            <a:srgbClr val="EDFA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4" name="Google Shape;744;p76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sz="1200" b="1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45" name="Google Shape;745;p76" descr="poll-type-id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id="746" name="Google Shape;746;p76" descr="title-id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b="1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How many DNase-seq experiments from female human cerebellum tissue donors are available?</a:t>
            </a:r>
            <a:endParaRPr sz="2800" b="1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47" name="Google Shape;747;p76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8" name="Google Shape;748;p76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49" name="Google Shape;749;p7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750" name="Google Shape;750;p76" descr="logo-id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77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name="adj" fmla="val 50000"/>
            </a:avLst>
          </a:prstGeom>
          <a:solidFill>
            <a:srgbClr val="EDFA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6" name="Google Shape;756;p77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sz="1200" b="1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57" name="Google Shape;757;p77" descr="poll-type-id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id="758" name="Google Shape;758;p77" descr="title-id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How many reference epigenomes for human hepatocytes are available?</a:t>
            </a:r>
            <a:endParaRPr sz="3600" b="1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59" name="Google Shape;759;p77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" name="Google Shape;760;p77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61" name="Google Shape;761;p7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762" name="Google Shape;762;p77" descr="logo-id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78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name="adj" fmla="val 50000"/>
            </a:avLst>
          </a:prstGeom>
          <a:solidFill>
            <a:srgbClr val="EDFA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78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sz="1200" b="1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69" name="Google Shape;769;p78" descr="poll-type-id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id="770" name="Google Shape;770;p78" descr="title-id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How many ENCODE experiments are linked to forebrain E13.5?</a:t>
            </a:r>
            <a:endParaRPr sz="3600" b="1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71" name="Google Shape;771;p78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2" name="Google Shape;772;p78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73" name="Google Shape;773;p7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774" name="Google Shape;774;p78" descr="logo-id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79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name="adj" fmla="val 50000"/>
            </a:avLst>
          </a:prstGeom>
          <a:solidFill>
            <a:srgbClr val="EDFA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0" name="Google Shape;780;p79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sz="1200" b="1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81" name="Google Shape;781;p79" descr="poll-type-id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id="782" name="Google Shape;782;p79" descr="title-id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900" b="1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Are there any open chromatin experiments available that are linked to forebrain E13.5?</a:t>
            </a:r>
            <a:endParaRPr sz="2900" b="1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83" name="Google Shape;783;p79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4" name="Google Shape;784;p79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85" name="Google Shape;785;p7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786" name="Google Shape;786;p79" descr="logo-id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80"/>
          <p:cNvSpPr txBox="1">
            <a:spLocks noGrp="1"/>
          </p:cNvSpPr>
          <p:nvPr>
            <p:ph type="body" idx="1"/>
          </p:nvPr>
        </p:nvSpPr>
        <p:spPr>
          <a:xfrm>
            <a:off x="4939075" y="3225498"/>
            <a:ext cx="931500" cy="931500"/>
          </a:xfrm>
          <a:prstGeom prst="rect">
            <a:avLst/>
          </a:prstGeom>
        </p:spPr>
        <p:txBody>
          <a:bodyPr spcFirstLastPara="1" wrap="square" lIns="0" tIns="0" rIns="91425" bIns="45700" anchor="ctr" anchorCtr="0">
            <a:noAutofit/>
          </a:bodyPr>
          <a:lstStyle/>
          <a:p>
            <a:pPr marL="0" lvl="0" indent="0" algn="ctr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2</a:t>
            </a:r>
            <a:endParaRPr/>
          </a:p>
        </p:txBody>
      </p:sp>
      <p:sp>
        <p:nvSpPr>
          <p:cNvPr id="792" name="Google Shape;792;p80"/>
          <p:cNvSpPr txBox="1">
            <a:spLocks noGrp="1"/>
          </p:cNvSpPr>
          <p:nvPr>
            <p:ph type="body" idx="2"/>
          </p:nvPr>
        </p:nvSpPr>
        <p:spPr>
          <a:xfrm>
            <a:off x="5870575" y="3225500"/>
            <a:ext cx="3114600" cy="931500"/>
          </a:xfrm>
          <a:prstGeom prst="rect">
            <a:avLst/>
          </a:prstGeom>
        </p:spPr>
        <p:txBody>
          <a:bodyPr spcFirstLastPara="1" wrap="square" lIns="288000" tIns="0" rIns="91425" bIns="45700" anchor="ctr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/>
              <a:t>ENCODE cCREs and SCREEN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7" name="Google Shape;797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82950" y="933301"/>
            <a:ext cx="4762601" cy="3401851"/>
          </a:xfrm>
          <a:prstGeom prst="rect">
            <a:avLst/>
          </a:prstGeom>
          <a:noFill/>
          <a:ln>
            <a:noFill/>
          </a:ln>
        </p:spPr>
      </p:pic>
      <p:sp>
        <p:nvSpPr>
          <p:cNvPr id="798" name="Google Shape;798;p81"/>
          <p:cNvSpPr txBox="1"/>
          <p:nvPr/>
        </p:nvSpPr>
        <p:spPr>
          <a:xfrm>
            <a:off x="0" y="4739325"/>
            <a:ext cx="72039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aseline="30000"/>
              <a:t>1</a:t>
            </a:r>
            <a:r>
              <a:rPr lang="en-GB" sz="800"/>
              <a:t>The ENCODE Project Consortium., Moore, J.E., Purcaro, M.J. et al. Expanded encyclopaedias of DNA elements in the human and mouse genomes. Nature 583, 699–710 (2020). https://doi.org/10.1038/s41586-020-2493-4</a:t>
            </a:r>
            <a:endParaRPr sz="800"/>
          </a:p>
        </p:txBody>
      </p:sp>
      <p:sp>
        <p:nvSpPr>
          <p:cNvPr id="799" name="Google Shape;799;p81"/>
          <p:cNvSpPr txBox="1"/>
          <p:nvPr/>
        </p:nvSpPr>
        <p:spPr>
          <a:xfrm>
            <a:off x="1797050" y="4431525"/>
            <a:ext cx="57936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1"/>
                </a:solidFill>
              </a:rPr>
              <a:t>Figure extracted from </a:t>
            </a:r>
            <a:r>
              <a:rPr lang="en-GB" sz="800" i="1">
                <a:solidFill>
                  <a:schemeClr val="dk1"/>
                </a:solidFill>
              </a:rPr>
              <a:t>Expanded encyclopaedias of DNA elements in the human and mouse genomes</a:t>
            </a:r>
            <a:r>
              <a:rPr lang="en-GB" sz="800" baseline="30000"/>
              <a:t>1</a:t>
            </a:r>
            <a:endParaRPr sz="800" i="1"/>
          </a:p>
        </p:txBody>
      </p:sp>
      <p:sp>
        <p:nvSpPr>
          <p:cNvPr id="800" name="Google Shape;800;p8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ENCODE Registry of cCREs and SCREEN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8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ENCODE Registry of cCREs</a:t>
            </a:r>
            <a:endParaRPr/>
          </a:p>
        </p:txBody>
      </p:sp>
      <p:pic>
        <p:nvPicPr>
          <p:cNvPr id="806" name="Google Shape;806;p82"/>
          <p:cNvPicPr preferRelativeResize="0"/>
          <p:nvPr/>
        </p:nvPicPr>
        <p:blipFill rotWithShape="1">
          <a:blip r:embed="rId3">
            <a:alphaModFix/>
          </a:blip>
          <a:srcRect r="62970"/>
          <a:stretch/>
        </p:blipFill>
        <p:spPr>
          <a:xfrm>
            <a:off x="6309475" y="914725"/>
            <a:ext cx="2347023" cy="2893601"/>
          </a:xfrm>
          <a:prstGeom prst="rect">
            <a:avLst/>
          </a:prstGeom>
          <a:noFill/>
          <a:ln>
            <a:noFill/>
          </a:ln>
        </p:spPr>
      </p:pic>
      <p:sp>
        <p:nvSpPr>
          <p:cNvPr id="807" name="Google Shape;807;p82"/>
          <p:cNvSpPr txBox="1"/>
          <p:nvPr/>
        </p:nvSpPr>
        <p:spPr>
          <a:xfrm>
            <a:off x="6309475" y="3862800"/>
            <a:ext cx="2620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1"/>
                </a:solidFill>
              </a:rPr>
              <a:t>Figure extracted from </a:t>
            </a:r>
            <a:r>
              <a:rPr lang="en-GB" sz="800" i="1">
                <a:solidFill>
                  <a:schemeClr val="dk1"/>
                </a:solidFill>
              </a:rPr>
              <a:t>Expanded encyclopaedias of DNA elements in the human and mouse genomes</a:t>
            </a:r>
            <a:r>
              <a:rPr lang="en-GB" sz="800" baseline="30000"/>
              <a:t>3</a:t>
            </a:r>
            <a:endParaRPr sz="800" i="1"/>
          </a:p>
        </p:txBody>
      </p:sp>
      <p:sp>
        <p:nvSpPr>
          <p:cNvPr id="808" name="Google Shape;808;p82"/>
          <p:cNvSpPr txBox="1"/>
          <p:nvPr/>
        </p:nvSpPr>
        <p:spPr>
          <a:xfrm>
            <a:off x="0" y="4739325"/>
            <a:ext cx="8656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aseline="30000"/>
              <a:t>3</a:t>
            </a:r>
            <a:r>
              <a:rPr lang="en-GB" sz="800"/>
              <a:t>Moore, J.E., Pratt, H.E., Fan, K. et al. An expanded registry of candidate cis-regulatory elements. Nature (2026). https://doi.org/10.1038/s41586-025-09909-9</a:t>
            </a:r>
            <a:endParaRPr sz="800"/>
          </a:p>
        </p:txBody>
      </p:sp>
      <p:sp>
        <p:nvSpPr>
          <p:cNvPr id="809" name="Google Shape;809;p82"/>
          <p:cNvSpPr txBox="1"/>
          <p:nvPr/>
        </p:nvSpPr>
        <p:spPr>
          <a:xfrm>
            <a:off x="338150" y="1401625"/>
            <a:ext cx="5932800" cy="22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rgbClr val="0C8148"/>
              </a:buClr>
              <a:buSzPts val="1600"/>
              <a:buChar char="✓"/>
            </a:pPr>
            <a:r>
              <a:rPr lang="en-GB" sz="1600">
                <a:solidFill>
                  <a:schemeClr val="dk1"/>
                </a:solidFill>
              </a:rPr>
              <a:t>A candidate cis-regulatory element is a </a:t>
            </a:r>
            <a:r>
              <a:rPr lang="en-GB" sz="1600" b="1">
                <a:solidFill>
                  <a:schemeClr val="dk1"/>
                </a:solidFill>
              </a:rPr>
              <a:t>genomic interval</a:t>
            </a:r>
            <a:r>
              <a:rPr lang="en-GB" sz="1600">
                <a:solidFill>
                  <a:schemeClr val="dk1"/>
                </a:solidFill>
              </a:rPr>
              <a:t> with ENCODE biochemical evidence for regulatory activity. </a:t>
            </a:r>
            <a:endParaRPr sz="1600">
              <a:solidFill>
                <a:schemeClr val="dk1"/>
              </a:solidFill>
            </a:endParaRPr>
          </a:p>
          <a:p>
            <a:pPr marL="457200" lvl="0" indent="-330200" algn="l" rtl="0">
              <a:spcBef>
                <a:spcPts val="1000"/>
              </a:spcBef>
              <a:spcAft>
                <a:spcPts val="0"/>
              </a:spcAft>
              <a:buClr>
                <a:srgbClr val="0C8148"/>
              </a:buClr>
              <a:buSzPts val="1600"/>
              <a:buChar char="✓"/>
            </a:pPr>
            <a:r>
              <a:rPr lang="en-GB" sz="1600">
                <a:solidFill>
                  <a:schemeClr val="dk1"/>
                </a:solidFill>
              </a:rPr>
              <a:t>The registry gives each interval a stable coordinate, cell-type agnostic class, and evidence trail.</a:t>
            </a:r>
            <a:endParaRPr sz="1600">
              <a:solidFill>
                <a:schemeClr val="dk1"/>
              </a:solidFill>
            </a:endParaRPr>
          </a:p>
          <a:p>
            <a:pPr marL="457200" lvl="0" indent="-330200" algn="l" rtl="0">
              <a:spcBef>
                <a:spcPts val="1000"/>
              </a:spcBef>
              <a:spcAft>
                <a:spcPts val="0"/>
              </a:spcAft>
              <a:buClr>
                <a:srgbClr val="0C8148"/>
              </a:buClr>
              <a:buSzPts val="1600"/>
              <a:buChar char="✓"/>
            </a:pPr>
            <a:r>
              <a:rPr lang="en-GB" sz="1600">
                <a:solidFill>
                  <a:schemeClr val="dk1"/>
                </a:solidFill>
              </a:rPr>
              <a:t>Context-aware: one registry element can have different activity calls across biosamples.</a:t>
            </a:r>
            <a:endParaRPr sz="16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8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ENCODE Registry of cCREs</a:t>
            </a:r>
            <a:endParaRPr/>
          </a:p>
        </p:txBody>
      </p:sp>
      <p:pic>
        <p:nvPicPr>
          <p:cNvPr id="815" name="Google Shape;815;p83"/>
          <p:cNvPicPr preferRelativeResize="0"/>
          <p:nvPr/>
        </p:nvPicPr>
        <p:blipFill rotWithShape="1">
          <a:blip r:embed="rId3">
            <a:alphaModFix/>
          </a:blip>
          <a:srcRect r="62970"/>
          <a:stretch/>
        </p:blipFill>
        <p:spPr>
          <a:xfrm>
            <a:off x="6309475" y="914725"/>
            <a:ext cx="2347023" cy="2893601"/>
          </a:xfrm>
          <a:prstGeom prst="rect">
            <a:avLst/>
          </a:prstGeom>
          <a:noFill/>
          <a:ln>
            <a:noFill/>
          </a:ln>
        </p:spPr>
      </p:pic>
      <p:sp>
        <p:nvSpPr>
          <p:cNvPr id="816" name="Google Shape;816;p83"/>
          <p:cNvSpPr txBox="1"/>
          <p:nvPr/>
        </p:nvSpPr>
        <p:spPr>
          <a:xfrm>
            <a:off x="6309475" y="3862800"/>
            <a:ext cx="2620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1"/>
                </a:solidFill>
              </a:rPr>
              <a:t>Figure extracted from </a:t>
            </a:r>
            <a:r>
              <a:rPr lang="en-GB" sz="800" i="1">
                <a:solidFill>
                  <a:schemeClr val="dk1"/>
                </a:solidFill>
              </a:rPr>
              <a:t>Expanded encyclopaedias of DNA elements in the human and mouse genomes</a:t>
            </a:r>
            <a:r>
              <a:rPr lang="en-GB" sz="800" baseline="30000"/>
              <a:t>3</a:t>
            </a:r>
            <a:endParaRPr sz="800" i="1"/>
          </a:p>
        </p:txBody>
      </p:sp>
      <p:sp>
        <p:nvSpPr>
          <p:cNvPr id="817" name="Google Shape;817;p83"/>
          <p:cNvSpPr txBox="1"/>
          <p:nvPr/>
        </p:nvSpPr>
        <p:spPr>
          <a:xfrm>
            <a:off x="0" y="4739325"/>
            <a:ext cx="8656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aseline="30000"/>
              <a:t>3</a:t>
            </a:r>
            <a:r>
              <a:rPr lang="en-GB" sz="800"/>
              <a:t>Moore, J.E., Pratt, H.E., Fan, K. et al. An expanded registry of candidate cis-regulatory elements. Nature (2026). https://doi.org/10.1038/s41586-025-09909-9</a:t>
            </a:r>
            <a:endParaRPr sz="800"/>
          </a:p>
        </p:txBody>
      </p:sp>
      <p:sp>
        <p:nvSpPr>
          <p:cNvPr id="818" name="Google Shape;818;p83"/>
          <p:cNvSpPr txBox="1"/>
          <p:nvPr/>
        </p:nvSpPr>
        <p:spPr>
          <a:xfrm>
            <a:off x="303250" y="1284000"/>
            <a:ext cx="5932800" cy="25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rgbClr val="0C8148"/>
              </a:buClr>
              <a:buSzPts val="1600"/>
              <a:buChar char="✓"/>
            </a:pPr>
            <a:r>
              <a:rPr lang="en-GB" sz="1600">
                <a:solidFill>
                  <a:schemeClr val="dk1"/>
                </a:solidFill>
              </a:rPr>
              <a:t>cCREs are anchored by using complementary strategies:</a:t>
            </a:r>
            <a:endParaRPr sz="1600">
              <a:solidFill>
                <a:schemeClr val="dk1"/>
              </a:solidFill>
            </a:endParaRPr>
          </a:p>
          <a:p>
            <a:pPr marL="914400" lvl="1" indent="-323850" algn="l" rtl="0">
              <a:spcBef>
                <a:spcPts val="1000"/>
              </a:spcBef>
              <a:spcAft>
                <a:spcPts val="0"/>
              </a:spcAft>
              <a:buClr>
                <a:srgbClr val="0C8148"/>
              </a:buClr>
              <a:buSzPts val="1500"/>
              <a:buChar char="●"/>
            </a:pPr>
            <a:r>
              <a:rPr lang="en-GB" sz="1500">
                <a:solidFill>
                  <a:schemeClr val="dk1"/>
                </a:solidFill>
              </a:rPr>
              <a:t>Representative DNase hypersensitivity sites (rDHSs): Cluster DNase-seq peaks across biosamples.</a:t>
            </a:r>
            <a:endParaRPr sz="1500">
              <a:solidFill>
                <a:schemeClr val="dk1"/>
              </a:solidFill>
            </a:endParaRPr>
          </a:p>
          <a:p>
            <a:pPr marL="914400" lvl="1" indent="-323850" algn="l" rtl="0">
              <a:spcBef>
                <a:spcPts val="1000"/>
              </a:spcBef>
              <a:spcAft>
                <a:spcPts val="0"/>
              </a:spcAft>
              <a:buClr>
                <a:srgbClr val="0C8148"/>
              </a:buClr>
              <a:buSzPts val="1500"/>
              <a:buChar char="●"/>
            </a:pPr>
            <a:r>
              <a:rPr lang="en-GB" sz="1500">
                <a:solidFill>
                  <a:schemeClr val="dk1"/>
                </a:solidFill>
              </a:rPr>
              <a:t>Reproducible TF binding (TF rClusters): Recover protein-binding sites that may lack strong accessibility.</a:t>
            </a:r>
            <a:endParaRPr sz="1500">
              <a:solidFill>
                <a:schemeClr val="dk1"/>
              </a:solidFill>
            </a:endParaRPr>
          </a:p>
          <a:p>
            <a:pPr marL="914400" lvl="1" indent="-323850" algn="l" rtl="0">
              <a:spcBef>
                <a:spcPts val="1000"/>
              </a:spcBef>
              <a:spcAft>
                <a:spcPts val="0"/>
              </a:spcAft>
              <a:buClr>
                <a:srgbClr val="0C8148"/>
              </a:buClr>
              <a:buSzPts val="1500"/>
              <a:buChar char="●"/>
            </a:pPr>
            <a:r>
              <a:rPr lang="en-GB" sz="1500">
                <a:solidFill>
                  <a:schemeClr val="dk1"/>
                </a:solidFill>
              </a:rPr>
              <a:t>Multi-mapper rDHSs: Improve coverage in duplicated and repetitive regions</a:t>
            </a:r>
            <a:endParaRPr sz="15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p8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ENCODE Registry of cCREs</a:t>
            </a:r>
            <a:endParaRPr/>
          </a:p>
        </p:txBody>
      </p:sp>
      <p:pic>
        <p:nvPicPr>
          <p:cNvPr id="824" name="Google Shape;824;p84"/>
          <p:cNvPicPr preferRelativeResize="0"/>
          <p:nvPr/>
        </p:nvPicPr>
        <p:blipFill rotWithShape="1">
          <a:blip r:embed="rId3">
            <a:alphaModFix/>
          </a:blip>
          <a:srcRect l="39222" t="1458" r="566"/>
          <a:stretch/>
        </p:blipFill>
        <p:spPr>
          <a:xfrm>
            <a:off x="5263925" y="1284000"/>
            <a:ext cx="3816402" cy="2851399"/>
          </a:xfrm>
          <a:prstGeom prst="rect">
            <a:avLst/>
          </a:prstGeom>
          <a:noFill/>
          <a:ln>
            <a:noFill/>
          </a:ln>
        </p:spPr>
      </p:pic>
      <p:sp>
        <p:nvSpPr>
          <p:cNvPr id="825" name="Google Shape;825;p84"/>
          <p:cNvSpPr txBox="1"/>
          <p:nvPr/>
        </p:nvSpPr>
        <p:spPr>
          <a:xfrm>
            <a:off x="5203375" y="4147175"/>
            <a:ext cx="3937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1"/>
                </a:solidFill>
              </a:rPr>
              <a:t>Figure extracted from </a:t>
            </a:r>
            <a:r>
              <a:rPr lang="en-GB" sz="800" i="1">
                <a:solidFill>
                  <a:schemeClr val="dk1"/>
                </a:solidFill>
              </a:rPr>
              <a:t>Expanded encyclopaedias of DNA elements in the human and mouse genomes</a:t>
            </a:r>
            <a:r>
              <a:rPr lang="en-GB" sz="800" baseline="30000"/>
              <a:t>3</a:t>
            </a:r>
            <a:endParaRPr sz="800" i="1"/>
          </a:p>
        </p:txBody>
      </p:sp>
      <p:sp>
        <p:nvSpPr>
          <p:cNvPr id="826" name="Google Shape;826;p84"/>
          <p:cNvSpPr txBox="1"/>
          <p:nvPr/>
        </p:nvSpPr>
        <p:spPr>
          <a:xfrm>
            <a:off x="0" y="4737000"/>
            <a:ext cx="8656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aseline="30000"/>
              <a:t>3</a:t>
            </a:r>
            <a:r>
              <a:rPr lang="en-GB" sz="800"/>
              <a:t>Moore, J.E., Pratt, H.E., Fan, K. et al. An expanded registry of candidate cis-regulatory elements. Nature (2026). https://doi.org/10.1038/s41586-025-09909-9</a:t>
            </a:r>
            <a:endParaRPr sz="800"/>
          </a:p>
        </p:txBody>
      </p:sp>
      <p:sp>
        <p:nvSpPr>
          <p:cNvPr id="827" name="Google Shape;827;p84"/>
          <p:cNvSpPr txBox="1"/>
          <p:nvPr/>
        </p:nvSpPr>
        <p:spPr>
          <a:xfrm>
            <a:off x="164175" y="1063775"/>
            <a:ext cx="4937100" cy="361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rgbClr val="0C8148"/>
              </a:buClr>
              <a:buSzPts val="1600"/>
              <a:buChar char="✓"/>
            </a:pPr>
            <a:r>
              <a:rPr lang="en-GB" sz="1600">
                <a:solidFill>
                  <a:schemeClr val="dk1"/>
                </a:solidFill>
              </a:rPr>
              <a:t>cCREs are classified based on epigenomic evidence across surveyed biosamples:</a:t>
            </a:r>
            <a:endParaRPr sz="1600">
              <a:solidFill>
                <a:schemeClr val="dk1"/>
              </a:solidFill>
            </a:endParaRPr>
          </a:p>
          <a:p>
            <a:pPr marL="630000" lvl="0" indent="-158750" algn="just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C8148"/>
              </a:buClr>
              <a:buSzPts val="1000"/>
              <a:buChar char="●"/>
            </a:pPr>
            <a:r>
              <a:rPr lang="en-GB" sz="1000" b="1">
                <a:solidFill>
                  <a:srgbClr val="FF0000"/>
                </a:solidFill>
              </a:rPr>
              <a:t>Promoter-like cCREs</a:t>
            </a:r>
            <a:r>
              <a:rPr lang="en-GB" sz="1000">
                <a:solidFill>
                  <a:schemeClr val="dk1"/>
                </a:solidFill>
              </a:rPr>
              <a:t>: Near a TSSs with high chromatin accessibility (CA) and H3K4me3 signal.</a:t>
            </a:r>
            <a:endParaRPr sz="1000">
              <a:solidFill>
                <a:schemeClr val="dk1"/>
              </a:solidFill>
            </a:endParaRPr>
          </a:p>
          <a:p>
            <a:pPr marL="630000" lvl="0" indent="-1587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C8148"/>
              </a:buClr>
              <a:buSzPts val="1000"/>
              <a:buChar char="●"/>
            </a:pPr>
            <a:r>
              <a:rPr lang="en-GB" sz="1000" b="1">
                <a:solidFill>
                  <a:srgbClr val="FFA600"/>
                </a:solidFill>
              </a:rPr>
              <a:t>Enhancer-like cCREs</a:t>
            </a:r>
            <a:r>
              <a:rPr lang="en-GB" sz="1000">
                <a:solidFill>
                  <a:schemeClr val="dk1"/>
                </a:solidFill>
              </a:rPr>
              <a:t>: Accessible elements with high H3K27ac signal, subdivided into TSS-proximal and TSS-distal enhancers.</a:t>
            </a:r>
            <a:endParaRPr sz="1000">
              <a:solidFill>
                <a:schemeClr val="dk1"/>
              </a:solidFill>
            </a:endParaRPr>
          </a:p>
          <a:p>
            <a:pPr marL="630000" lvl="0" indent="-1587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C8148"/>
              </a:buClr>
              <a:buSzPts val="1000"/>
              <a:buChar char="●"/>
            </a:pPr>
            <a:r>
              <a:rPr lang="en-GB" sz="1000" b="1">
                <a:solidFill>
                  <a:srgbClr val="EA9999"/>
                </a:solidFill>
              </a:rPr>
              <a:t>Chromatin accessibility + H3K4me3 (CA–H3K4me3) cCREs</a:t>
            </a:r>
            <a:r>
              <a:rPr lang="en-GB" sz="1000">
                <a:solidFill>
                  <a:schemeClr val="dk1"/>
                </a:solidFill>
              </a:rPr>
              <a:t>: Accessible elements with H3K4me3 but lacking strong H3K27ac and located away from TSSs.</a:t>
            </a:r>
            <a:endParaRPr sz="1000">
              <a:solidFill>
                <a:schemeClr val="dk1"/>
              </a:solidFill>
            </a:endParaRPr>
          </a:p>
          <a:p>
            <a:pPr marL="630000" lvl="0" indent="-1587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C8148"/>
              </a:buClr>
              <a:buSzPts val="1000"/>
              <a:buChar char="●"/>
            </a:pPr>
            <a:r>
              <a:rPr lang="en-GB" sz="1000" b="1">
                <a:solidFill>
                  <a:srgbClr val="01B0EF"/>
                </a:solidFill>
              </a:rPr>
              <a:t>Chromatin accessibility + CTCF (CA–CTCF) cCREs</a:t>
            </a:r>
            <a:r>
              <a:rPr lang="en-GB" sz="1000">
                <a:solidFill>
                  <a:schemeClr val="dk1"/>
                </a:solidFill>
              </a:rPr>
              <a:t>: Accessible elements with strong CTCF binding and low histone acetylation.</a:t>
            </a:r>
            <a:endParaRPr sz="1000">
              <a:solidFill>
                <a:schemeClr val="dk1"/>
              </a:solidFill>
            </a:endParaRPr>
          </a:p>
          <a:p>
            <a:pPr marL="630000" lvl="0" indent="-1587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C8148"/>
              </a:buClr>
              <a:buSzPts val="1000"/>
              <a:buChar char="●"/>
            </a:pPr>
            <a:r>
              <a:rPr lang="en-GB" sz="1000" b="1">
                <a:solidFill>
                  <a:srgbClr val="B33AF0"/>
                </a:solidFill>
              </a:rPr>
              <a:t>Chromatin accessibility + transcription factor (CA–TF) cCREs</a:t>
            </a:r>
            <a:r>
              <a:rPr lang="en-GB" sz="1000">
                <a:solidFill>
                  <a:schemeClr val="dk1"/>
                </a:solidFill>
              </a:rPr>
              <a:t>: Accessible elements overlapping transcription factor clusters but lacking strong histone modification signals.ster.</a:t>
            </a:r>
            <a:endParaRPr sz="1000">
              <a:solidFill>
                <a:schemeClr val="dk1"/>
              </a:solidFill>
            </a:endParaRPr>
          </a:p>
          <a:p>
            <a:pPr marL="630000" lvl="0" indent="-1587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C8148"/>
              </a:buClr>
              <a:buSzPts val="1000"/>
              <a:buChar char="●"/>
            </a:pPr>
            <a:r>
              <a:rPr lang="en-GB" sz="1000" b="1">
                <a:solidFill>
                  <a:srgbClr val="09DA93"/>
                </a:solidFill>
              </a:rPr>
              <a:t>Chromatin accessibility (CA) cCREs</a:t>
            </a:r>
            <a:r>
              <a:rPr lang="en-GB" sz="1000">
                <a:solidFill>
                  <a:schemeClr val="dk1"/>
                </a:solidFill>
              </a:rPr>
              <a:t>: Accessible elements lacking strong H3K4me3, H3K27ac, or CTCF signals.</a:t>
            </a:r>
            <a:endParaRPr sz="1000">
              <a:solidFill>
                <a:schemeClr val="dk1"/>
              </a:solidFill>
            </a:endParaRPr>
          </a:p>
          <a:p>
            <a:pPr marL="630000" lvl="0" indent="-1587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C8148"/>
              </a:buClr>
              <a:buSzPts val="1000"/>
              <a:buChar char="●"/>
            </a:pPr>
            <a:r>
              <a:rPr lang="en-GB" sz="1000" b="1">
                <a:solidFill>
                  <a:srgbClr val="D975EB"/>
                </a:solidFill>
              </a:rPr>
              <a:t>Transcription factor (TF) cCREs</a:t>
            </a:r>
            <a:r>
              <a:rPr lang="en-GB" sz="1000">
                <a:solidFill>
                  <a:schemeClr val="dk1"/>
                </a:solidFill>
              </a:rPr>
              <a:t>: TF binding in the absence of detectable chromatin accessibility or histone modification signals.</a:t>
            </a:r>
            <a:endParaRPr sz="100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8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ENCODE Registry of cCREs</a:t>
            </a:r>
            <a:endParaRPr/>
          </a:p>
        </p:txBody>
      </p:sp>
      <p:pic>
        <p:nvPicPr>
          <p:cNvPr id="833" name="Google Shape;833;p85"/>
          <p:cNvPicPr preferRelativeResize="0"/>
          <p:nvPr/>
        </p:nvPicPr>
        <p:blipFill rotWithShape="1">
          <a:blip r:embed="rId3">
            <a:alphaModFix/>
          </a:blip>
          <a:srcRect r="62970"/>
          <a:stretch/>
        </p:blipFill>
        <p:spPr>
          <a:xfrm>
            <a:off x="6309475" y="914725"/>
            <a:ext cx="2347023" cy="2893601"/>
          </a:xfrm>
          <a:prstGeom prst="rect">
            <a:avLst/>
          </a:prstGeom>
          <a:noFill/>
          <a:ln>
            <a:noFill/>
          </a:ln>
        </p:spPr>
      </p:pic>
      <p:sp>
        <p:nvSpPr>
          <p:cNvPr id="834" name="Google Shape;834;p85"/>
          <p:cNvSpPr txBox="1"/>
          <p:nvPr/>
        </p:nvSpPr>
        <p:spPr>
          <a:xfrm>
            <a:off x="6309475" y="3862800"/>
            <a:ext cx="2620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1"/>
                </a:solidFill>
              </a:rPr>
              <a:t>Figure extracted from </a:t>
            </a:r>
            <a:r>
              <a:rPr lang="en-GB" sz="800" i="1">
                <a:solidFill>
                  <a:schemeClr val="dk1"/>
                </a:solidFill>
              </a:rPr>
              <a:t>Expanded encyclopaedias of DNA elements in the human and mouse genomes</a:t>
            </a:r>
            <a:r>
              <a:rPr lang="en-GB" sz="800" baseline="30000"/>
              <a:t>3</a:t>
            </a:r>
            <a:endParaRPr sz="800" i="1"/>
          </a:p>
        </p:txBody>
      </p:sp>
      <p:sp>
        <p:nvSpPr>
          <p:cNvPr id="835" name="Google Shape;835;p85"/>
          <p:cNvSpPr txBox="1"/>
          <p:nvPr/>
        </p:nvSpPr>
        <p:spPr>
          <a:xfrm>
            <a:off x="0" y="4739325"/>
            <a:ext cx="8656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aseline="30000"/>
              <a:t>3</a:t>
            </a:r>
            <a:r>
              <a:rPr lang="en-GB" sz="800"/>
              <a:t>Moore, J.E., Pratt, H.E., Fan, K. et al. An expanded registry of candidate cis-regulatory elements. Nature (2026). https://doi.org/10.1038/s41586-025-09909-9</a:t>
            </a:r>
            <a:endParaRPr sz="800"/>
          </a:p>
        </p:txBody>
      </p:sp>
      <p:sp>
        <p:nvSpPr>
          <p:cNvPr id="836" name="Google Shape;836;p85"/>
          <p:cNvSpPr txBox="1"/>
          <p:nvPr/>
        </p:nvSpPr>
        <p:spPr>
          <a:xfrm>
            <a:off x="303250" y="1284000"/>
            <a:ext cx="5932800" cy="25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-GB" sz="1600">
                <a:solidFill>
                  <a:schemeClr val="dk1"/>
                </a:solidFill>
              </a:rPr>
              <a:t>cCREs are anchored by using complementary strategies:</a:t>
            </a:r>
            <a:endParaRPr sz="1600">
              <a:solidFill>
                <a:schemeClr val="dk1"/>
              </a:solidFill>
            </a:endParaRPr>
          </a:p>
          <a:p>
            <a:pPr marL="914400" lvl="1" indent="-3238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</a:pPr>
            <a:r>
              <a:rPr lang="en-GB" sz="1500">
                <a:solidFill>
                  <a:schemeClr val="dk1"/>
                </a:solidFill>
              </a:rPr>
              <a:t>Representative DNase hypersensitivity sites (rDHSs): Cluster DNase-seq peaks across biosamples.</a:t>
            </a:r>
            <a:endParaRPr sz="1500">
              <a:solidFill>
                <a:schemeClr val="dk1"/>
              </a:solidFill>
            </a:endParaRPr>
          </a:p>
          <a:p>
            <a:pPr marL="914400" lvl="1" indent="-3238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</a:pPr>
            <a:r>
              <a:rPr lang="en-GB" sz="1500">
                <a:solidFill>
                  <a:schemeClr val="dk1"/>
                </a:solidFill>
              </a:rPr>
              <a:t>Reproducible TF binding (TF rClusters): Recover protein-binding sites that may lack strong accessibility.</a:t>
            </a:r>
            <a:endParaRPr sz="1500">
              <a:solidFill>
                <a:schemeClr val="dk1"/>
              </a:solidFill>
            </a:endParaRPr>
          </a:p>
          <a:p>
            <a:pPr marL="914400" lvl="1" indent="-3238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500"/>
              <a:buChar char="○"/>
            </a:pPr>
            <a:r>
              <a:rPr lang="en-GB" sz="1500">
                <a:solidFill>
                  <a:schemeClr val="dk1"/>
                </a:solidFill>
              </a:rPr>
              <a:t>Multi-mapper rDHSs: Improve coverage in duplicated and repetitive regions</a:t>
            </a:r>
            <a:endParaRPr sz="15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p86"/>
          <p:cNvSpPr txBox="1">
            <a:spLocks noGrp="1"/>
          </p:cNvSpPr>
          <p:nvPr>
            <p:ph type="body" idx="1"/>
          </p:nvPr>
        </p:nvSpPr>
        <p:spPr>
          <a:xfrm>
            <a:off x="338150" y="889825"/>
            <a:ext cx="8232600" cy="19338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l" rtl="0"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Web-based visualization and discovery platform for exploring the ENCODE Registry cCREs and other ENCODE Encyclopedia annotations. </a:t>
            </a:r>
            <a:endParaRPr/>
          </a:p>
          <a:p>
            <a:pPr marL="457200" lvl="0" indent="-330200" algn="l" rtl="0">
              <a:spcBef>
                <a:spcPts val="1000"/>
              </a:spcBef>
              <a:spcAft>
                <a:spcPts val="0"/>
              </a:spcAft>
              <a:buSzPts val="1600"/>
              <a:buChar char="✓"/>
            </a:pPr>
            <a:r>
              <a:rPr lang="en-GB"/>
              <a:t>Enables users to query, visualize, and download regulatory annotations across hundreds of human and mouse cell and tissue types</a:t>
            </a:r>
            <a:endParaRPr/>
          </a:p>
          <a:p>
            <a:pPr marL="457200" lvl="0" indent="-330200" algn="l" rtl="0">
              <a:spcBef>
                <a:spcPts val="1000"/>
              </a:spcBef>
              <a:spcAft>
                <a:spcPts val="1000"/>
              </a:spcAft>
              <a:buSzPts val="1600"/>
              <a:buChar char="✓"/>
            </a:pPr>
            <a:r>
              <a:rPr lang="en-GB"/>
              <a:t>Turns the catalog into analysis: Examine cCREs relationships to genes, TF binding, chromatin state, and three-dimensional genome organization.</a:t>
            </a:r>
            <a:endParaRPr/>
          </a:p>
        </p:txBody>
      </p:sp>
      <p:sp>
        <p:nvSpPr>
          <p:cNvPr id="842" name="Google Shape;842;p8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SCREEN</a:t>
            </a:r>
            <a:endParaRPr/>
          </a:p>
        </p:txBody>
      </p:sp>
      <p:pic>
        <p:nvPicPr>
          <p:cNvPr id="843" name="Google Shape;843;p8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3800" y="2694375"/>
            <a:ext cx="3247725" cy="2324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844" name="Google Shape;844;p8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53100" y="3059600"/>
            <a:ext cx="1353600" cy="135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Google Shape;849;p8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Accessing cCREs: SCREEN browser</a:t>
            </a:r>
            <a:endParaRPr/>
          </a:p>
        </p:txBody>
      </p:sp>
      <p:pic>
        <p:nvPicPr>
          <p:cNvPr id="850" name="Google Shape;850;p87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4625" y="868250"/>
            <a:ext cx="6262099" cy="3775201"/>
          </a:xfrm>
          <a:prstGeom prst="rect">
            <a:avLst/>
          </a:prstGeom>
          <a:solidFill>
            <a:srgbClr val="3D85C6"/>
          </a:solidFill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Google Shape;855;p8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Accessing cCREs: SCREEN browser</a:t>
            </a:r>
            <a:endParaRPr/>
          </a:p>
        </p:txBody>
      </p:sp>
      <p:pic>
        <p:nvPicPr>
          <p:cNvPr id="856" name="Google Shape;856;p8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3350" y="792244"/>
            <a:ext cx="5839951" cy="404645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7" name="Google Shape;857;p8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90400" y="3"/>
            <a:ext cx="1353600" cy="135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p8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Accessing cCREs: SCREEN browser</a:t>
            </a:r>
            <a:endParaRPr/>
          </a:p>
        </p:txBody>
      </p:sp>
      <p:pic>
        <p:nvPicPr>
          <p:cNvPr id="863" name="Google Shape;863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90400" y="3"/>
            <a:ext cx="1353600" cy="135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4" name="Google Shape;864;p8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8725" y="862294"/>
            <a:ext cx="6459642" cy="40464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p90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Accessing cCREs: SCREEN browser</a:t>
            </a:r>
            <a:endParaRPr/>
          </a:p>
        </p:txBody>
      </p:sp>
      <p:pic>
        <p:nvPicPr>
          <p:cNvPr id="870" name="Google Shape;870;p9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944644"/>
            <a:ext cx="7338477" cy="350245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1" name="Google Shape;871;p9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90400" y="0"/>
            <a:ext cx="1353600" cy="135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p9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Accessing cCREs: SCREEN browser</a:t>
            </a:r>
            <a:endParaRPr/>
          </a:p>
        </p:txBody>
      </p:sp>
      <p:pic>
        <p:nvPicPr>
          <p:cNvPr id="877" name="Google Shape;877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36841" y="914075"/>
            <a:ext cx="5421152" cy="20922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78" name="Google Shape;878;p9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92004" y="1295268"/>
            <a:ext cx="1329888" cy="1329888"/>
          </a:xfrm>
          <a:prstGeom prst="rect">
            <a:avLst/>
          </a:prstGeom>
          <a:noFill/>
          <a:ln>
            <a:noFill/>
          </a:ln>
        </p:spPr>
      </p:pic>
      <p:pic>
        <p:nvPicPr>
          <p:cNvPr id="879" name="Google Shape;879;p9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36841" y="3097575"/>
            <a:ext cx="5459373" cy="1941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0" name="Google Shape;880;p9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392005" y="3403500"/>
            <a:ext cx="1329900" cy="1329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9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Accessing cCREs: SCREEN browser</a:t>
            </a:r>
            <a:endParaRPr/>
          </a:p>
        </p:txBody>
      </p:sp>
      <p:pic>
        <p:nvPicPr>
          <p:cNvPr id="886" name="Google Shape;886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2975" y="871200"/>
            <a:ext cx="4957677" cy="236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87" name="Google Shape;887;p9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15013" y="3233525"/>
            <a:ext cx="1353600" cy="135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8" name="Google Shape;888;p9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70702" y="2281125"/>
            <a:ext cx="3673523" cy="2362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Google Shape;893;p9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Accessing cCREs: SCREEN browser</a:t>
            </a:r>
            <a:endParaRPr/>
          </a:p>
        </p:txBody>
      </p:sp>
      <p:pic>
        <p:nvPicPr>
          <p:cNvPr id="894" name="Google Shape;894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0850" y="917075"/>
            <a:ext cx="7224951" cy="3726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5" name="Google Shape;895;p9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05800" y="0"/>
            <a:ext cx="1353600" cy="135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Google Shape;900;p9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Accessing cCREs: SCREEN browser</a:t>
            </a:r>
            <a:endParaRPr/>
          </a:p>
        </p:txBody>
      </p:sp>
      <p:pic>
        <p:nvPicPr>
          <p:cNvPr id="901" name="Google Shape;901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650" y="846275"/>
            <a:ext cx="3487448" cy="20290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02" name="Google Shape;902;p9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0650" y="2929349"/>
            <a:ext cx="3487450" cy="202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3" name="Google Shape;903;p9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4175" y="1087300"/>
            <a:ext cx="4550099" cy="30940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9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Accessing cCREs: SCREEN Downloads</a:t>
            </a:r>
            <a:endParaRPr/>
          </a:p>
        </p:txBody>
      </p:sp>
      <p:pic>
        <p:nvPicPr>
          <p:cNvPr id="909" name="Google Shape;909;p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325" y="911025"/>
            <a:ext cx="7424374" cy="34584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10" name="Google Shape;910;p9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93700" y="0"/>
            <a:ext cx="1353600" cy="135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p9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Accessing cCREs: SCREEN Downloads</a:t>
            </a:r>
            <a:endParaRPr/>
          </a:p>
        </p:txBody>
      </p:sp>
      <p:pic>
        <p:nvPicPr>
          <p:cNvPr id="916" name="Google Shape;916;p9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3900" y="884150"/>
            <a:ext cx="7816999" cy="3871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9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Accessing cCREs: SCREEN Downloads</a:t>
            </a:r>
            <a:endParaRPr/>
          </a:p>
        </p:txBody>
      </p:sp>
      <p:pic>
        <p:nvPicPr>
          <p:cNvPr id="922" name="Google Shape;922;p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3350" y="925925"/>
            <a:ext cx="6553401" cy="1907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9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72700" y="2899925"/>
            <a:ext cx="6553401" cy="181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9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Accessing cCREs: SCREEN Downloads</a:t>
            </a:r>
            <a:endParaRPr/>
          </a:p>
        </p:txBody>
      </p:sp>
      <p:pic>
        <p:nvPicPr>
          <p:cNvPr id="929" name="Google Shape;929;p9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150" y="968875"/>
            <a:ext cx="8241807" cy="3698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5">
          <a:extLst>
            <a:ext uri="{FF2B5EF4-FFF2-40B4-BE49-F238E27FC236}">
              <a16:creationId xmlns:a16="http://schemas.microsoft.com/office/drawing/2014/main" id="{A90D4511-F740-5267-86DD-87DE36767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p74">
            <a:extLst>
              <a:ext uri="{FF2B5EF4-FFF2-40B4-BE49-F238E27FC236}">
                <a16:creationId xmlns:a16="http://schemas.microsoft.com/office/drawing/2014/main" id="{02EAF678-FA94-9A5E-6CAD-B64425095F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Questions?</a:t>
            </a:r>
            <a:endParaRPr/>
          </a:p>
        </p:txBody>
      </p:sp>
      <p:grpSp>
        <p:nvGrpSpPr>
          <p:cNvPr id="717" name="Google Shape;717;p74">
            <a:extLst>
              <a:ext uri="{FF2B5EF4-FFF2-40B4-BE49-F238E27FC236}">
                <a16:creationId xmlns:a16="http://schemas.microsoft.com/office/drawing/2014/main" id="{B97A25C1-4065-EF79-FA76-54E3C4160685}"/>
              </a:ext>
            </a:extLst>
          </p:cNvPr>
          <p:cNvGrpSpPr/>
          <p:nvPr/>
        </p:nvGrpSpPr>
        <p:grpSpPr>
          <a:xfrm>
            <a:off x="1788346" y="1314725"/>
            <a:ext cx="776475" cy="2406685"/>
            <a:chOff x="3226825" y="1139765"/>
            <a:chExt cx="776475" cy="2406685"/>
          </a:xfrm>
        </p:grpSpPr>
        <p:sp>
          <p:nvSpPr>
            <p:cNvPr id="718" name="Google Shape;718;p74">
              <a:extLst>
                <a:ext uri="{FF2B5EF4-FFF2-40B4-BE49-F238E27FC236}">
                  <a16:creationId xmlns:a16="http://schemas.microsoft.com/office/drawing/2014/main" id="{2E5B3018-3851-27A1-167B-2169FC9680DC}"/>
                </a:ext>
              </a:extLst>
            </p:cNvPr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274E13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9" name="Google Shape;719;p74">
              <a:extLst>
                <a:ext uri="{FF2B5EF4-FFF2-40B4-BE49-F238E27FC236}">
                  <a16:creationId xmlns:a16="http://schemas.microsoft.com/office/drawing/2014/main" id="{7218C0E4-5AD2-B7B8-FFDE-5C10344E47D3}"/>
                </a:ext>
              </a:extLst>
            </p:cNvPr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274E13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20" name="Google Shape;720;p74">
            <a:extLst>
              <a:ext uri="{FF2B5EF4-FFF2-40B4-BE49-F238E27FC236}">
                <a16:creationId xmlns:a16="http://schemas.microsoft.com/office/drawing/2014/main" id="{7E3D5FD2-3F14-D08D-E85D-E715987B4155}"/>
              </a:ext>
            </a:extLst>
          </p:cNvPr>
          <p:cNvGrpSpPr/>
          <p:nvPr/>
        </p:nvGrpSpPr>
        <p:grpSpPr>
          <a:xfrm>
            <a:off x="6367779" y="1366550"/>
            <a:ext cx="776475" cy="2406685"/>
            <a:chOff x="3226825" y="1139765"/>
            <a:chExt cx="776475" cy="2406685"/>
          </a:xfrm>
        </p:grpSpPr>
        <p:sp>
          <p:nvSpPr>
            <p:cNvPr id="721" name="Google Shape;721;p74">
              <a:extLst>
                <a:ext uri="{FF2B5EF4-FFF2-40B4-BE49-F238E27FC236}">
                  <a16:creationId xmlns:a16="http://schemas.microsoft.com/office/drawing/2014/main" id="{9E54B0B2-8CB0-279E-E290-910B6E1EBF4A}"/>
                </a:ext>
              </a:extLst>
            </p:cNvPr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B6D7A8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2" name="Google Shape;722;p74">
              <a:extLst>
                <a:ext uri="{FF2B5EF4-FFF2-40B4-BE49-F238E27FC236}">
                  <a16:creationId xmlns:a16="http://schemas.microsoft.com/office/drawing/2014/main" id="{F9F60F34-ABF3-05E8-AAA2-31CEC6A5B97D}"/>
                </a:ext>
              </a:extLst>
            </p:cNvPr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B6D7A8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23" name="Google Shape;723;p74">
            <a:extLst>
              <a:ext uri="{FF2B5EF4-FFF2-40B4-BE49-F238E27FC236}">
                <a16:creationId xmlns:a16="http://schemas.microsoft.com/office/drawing/2014/main" id="{B84A6414-A9C2-BB36-02DB-495D9FD73F5F}"/>
              </a:ext>
            </a:extLst>
          </p:cNvPr>
          <p:cNvGrpSpPr/>
          <p:nvPr/>
        </p:nvGrpSpPr>
        <p:grpSpPr>
          <a:xfrm>
            <a:off x="2933204" y="1366550"/>
            <a:ext cx="776475" cy="2406685"/>
            <a:chOff x="3226825" y="1139765"/>
            <a:chExt cx="776475" cy="2406685"/>
          </a:xfrm>
        </p:grpSpPr>
        <p:sp>
          <p:nvSpPr>
            <p:cNvPr id="724" name="Google Shape;724;p74">
              <a:extLst>
                <a:ext uri="{FF2B5EF4-FFF2-40B4-BE49-F238E27FC236}">
                  <a16:creationId xmlns:a16="http://schemas.microsoft.com/office/drawing/2014/main" id="{45462F6F-D0A7-3B13-EF23-5AB2517CB317}"/>
                </a:ext>
              </a:extLst>
            </p:cNvPr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38761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5" name="Google Shape;725;p74">
              <a:extLst>
                <a:ext uri="{FF2B5EF4-FFF2-40B4-BE49-F238E27FC236}">
                  <a16:creationId xmlns:a16="http://schemas.microsoft.com/office/drawing/2014/main" id="{DC9E99DF-EFEF-5F21-6327-BE1F8CF56C3C}"/>
                </a:ext>
              </a:extLst>
            </p:cNvPr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38761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26" name="Google Shape;726;p74">
            <a:extLst>
              <a:ext uri="{FF2B5EF4-FFF2-40B4-BE49-F238E27FC236}">
                <a16:creationId xmlns:a16="http://schemas.microsoft.com/office/drawing/2014/main" id="{BF7A1D32-DAA3-86A5-8028-449669A76CC1}"/>
              </a:ext>
            </a:extLst>
          </p:cNvPr>
          <p:cNvGrpSpPr/>
          <p:nvPr/>
        </p:nvGrpSpPr>
        <p:grpSpPr>
          <a:xfrm>
            <a:off x="4078063" y="1366550"/>
            <a:ext cx="776475" cy="2406685"/>
            <a:chOff x="3226825" y="1139765"/>
            <a:chExt cx="776475" cy="2406685"/>
          </a:xfrm>
        </p:grpSpPr>
        <p:sp>
          <p:nvSpPr>
            <p:cNvPr id="727" name="Google Shape;727;p74">
              <a:extLst>
                <a:ext uri="{FF2B5EF4-FFF2-40B4-BE49-F238E27FC236}">
                  <a16:creationId xmlns:a16="http://schemas.microsoft.com/office/drawing/2014/main" id="{A58C5D35-2B96-19DA-058B-F405BC7EEC3C}"/>
                </a:ext>
              </a:extLst>
            </p:cNvPr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6AA84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8" name="Google Shape;728;p74">
              <a:extLst>
                <a:ext uri="{FF2B5EF4-FFF2-40B4-BE49-F238E27FC236}">
                  <a16:creationId xmlns:a16="http://schemas.microsoft.com/office/drawing/2014/main" id="{B6D8EB1F-9A14-154E-3053-791A29CB931C}"/>
                </a:ext>
              </a:extLst>
            </p:cNvPr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6AA84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29" name="Google Shape;729;p74">
            <a:extLst>
              <a:ext uri="{FF2B5EF4-FFF2-40B4-BE49-F238E27FC236}">
                <a16:creationId xmlns:a16="http://schemas.microsoft.com/office/drawing/2014/main" id="{B30B4175-DE15-32C6-65D5-6F0C4B1D627C}"/>
              </a:ext>
            </a:extLst>
          </p:cNvPr>
          <p:cNvGrpSpPr/>
          <p:nvPr/>
        </p:nvGrpSpPr>
        <p:grpSpPr>
          <a:xfrm>
            <a:off x="5222921" y="1366550"/>
            <a:ext cx="776475" cy="2406685"/>
            <a:chOff x="3226825" y="1139765"/>
            <a:chExt cx="776475" cy="2406685"/>
          </a:xfrm>
        </p:grpSpPr>
        <p:sp>
          <p:nvSpPr>
            <p:cNvPr id="730" name="Google Shape;730;p74">
              <a:extLst>
                <a:ext uri="{FF2B5EF4-FFF2-40B4-BE49-F238E27FC236}">
                  <a16:creationId xmlns:a16="http://schemas.microsoft.com/office/drawing/2014/main" id="{8A010790-A1F2-38CA-B61F-87FF574EF1BA}"/>
                </a:ext>
              </a:extLst>
            </p:cNvPr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93C47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1" name="Google Shape;731;p74">
              <a:extLst>
                <a:ext uri="{FF2B5EF4-FFF2-40B4-BE49-F238E27FC236}">
                  <a16:creationId xmlns:a16="http://schemas.microsoft.com/office/drawing/2014/main" id="{642C77DB-695D-1DEC-BA4A-FEA8BECA6AF9}"/>
                </a:ext>
              </a:extLst>
            </p:cNvPr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93C47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45717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99"/>
          <p:cNvSpPr txBox="1">
            <a:spLocks noGrp="1"/>
          </p:cNvSpPr>
          <p:nvPr>
            <p:ph type="body" idx="1"/>
          </p:nvPr>
        </p:nvSpPr>
        <p:spPr>
          <a:xfrm>
            <a:off x="403622" y="665164"/>
            <a:ext cx="931500" cy="931500"/>
          </a:xfrm>
          <a:prstGeom prst="rect">
            <a:avLst/>
          </a:prstGeom>
        </p:spPr>
        <p:txBody>
          <a:bodyPr spcFirstLastPara="1" wrap="square" lIns="0" tIns="0" rIns="91425" bIns="45700" anchor="ctr" anchorCtr="0">
            <a:noAutofit/>
          </a:bodyPr>
          <a:lstStyle/>
          <a:p>
            <a:pPr marL="0" lvl="0" indent="0" algn="ctr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 </a:t>
            </a:r>
            <a:endParaRPr/>
          </a:p>
        </p:txBody>
      </p:sp>
      <p:sp>
        <p:nvSpPr>
          <p:cNvPr id="936" name="Google Shape;936;p99"/>
          <p:cNvSpPr txBox="1">
            <a:spLocks noGrp="1"/>
          </p:cNvSpPr>
          <p:nvPr>
            <p:ph type="body" idx="2"/>
          </p:nvPr>
        </p:nvSpPr>
        <p:spPr>
          <a:xfrm>
            <a:off x="1335122" y="665164"/>
            <a:ext cx="2808000" cy="931500"/>
          </a:xfrm>
          <a:prstGeom prst="rect">
            <a:avLst/>
          </a:prstGeom>
        </p:spPr>
        <p:txBody>
          <a:bodyPr spcFirstLastPara="1" wrap="square" lIns="288000" tIns="0" rIns="91425" bIns="45700" anchor="ctr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/>
              <a:t>Hands-on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00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ENCODE cCREs and SCREEN</a:t>
            </a:r>
            <a:endParaRPr/>
          </a:p>
        </p:txBody>
      </p:sp>
      <p:sp>
        <p:nvSpPr>
          <p:cNvPr id="943" name="Google Shape;943;p100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endParaRPr sz="800">
              <a:solidFill>
                <a:srgbClr val="000000"/>
              </a:solidFill>
            </a:endParaRPr>
          </a:p>
          <a:p>
            <a:pPr marL="457200" lvl="0" indent="-330200" algn="l" rtl="0">
              <a:spcBef>
                <a:spcPts val="750"/>
              </a:spcBef>
              <a:spcAft>
                <a:spcPts val="0"/>
              </a:spcAft>
              <a:buClr>
                <a:srgbClr val="18974C"/>
              </a:buClr>
              <a:buSzPts val="1600"/>
              <a:buChar char="-"/>
            </a:pPr>
            <a:r>
              <a:rPr lang="en-GB">
                <a:solidFill>
                  <a:srgbClr val="000000"/>
                </a:solidFill>
              </a:rPr>
              <a:t>Explore the indicated locus on SCREEN:</a:t>
            </a:r>
            <a:endParaRPr>
              <a:solidFill>
                <a:srgbClr val="000000"/>
              </a:solidFill>
            </a:endParaRPr>
          </a:p>
          <a:p>
            <a:pPr marL="765000" lvl="1" indent="-3175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8974C"/>
              </a:buClr>
              <a:buSzPts val="1400"/>
              <a:buChar char="-"/>
            </a:pPr>
            <a:r>
              <a:rPr lang="en-GB">
                <a:solidFill>
                  <a:srgbClr val="000000"/>
                </a:solidFill>
              </a:rPr>
              <a:t>GRCh38, chr8:127,682,026-127,744,101</a:t>
            </a:r>
            <a:endParaRPr>
              <a:solidFill>
                <a:srgbClr val="000000"/>
              </a:solidFill>
            </a:endParaRPr>
          </a:p>
          <a:p>
            <a:pPr marL="7650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400"/>
              <a:buChar char="-"/>
            </a:pPr>
            <a:r>
              <a:rPr lang="en-GB">
                <a:solidFill>
                  <a:srgbClr val="000000"/>
                </a:solidFill>
              </a:rPr>
              <a:t>GRCm39/mm39, chr6:6,740,753-6,891,103; GRCm38/mm10 chr6:6,740,753-6,891,103</a:t>
            </a:r>
            <a:endParaRPr>
              <a:solidFill>
                <a:srgbClr val="000000"/>
              </a:solidFill>
            </a:endParaRPr>
          </a:p>
          <a:p>
            <a:pPr marL="457200" lvl="0" indent="-330200" algn="l" rtl="0">
              <a:spcBef>
                <a:spcPts val="750"/>
              </a:spcBef>
              <a:spcAft>
                <a:spcPts val="0"/>
              </a:spcAft>
              <a:buClr>
                <a:srgbClr val="18974C"/>
              </a:buClr>
              <a:buSzPts val="1600"/>
              <a:buChar char="-"/>
            </a:pPr>
            <a:r>
              <a:rPr lang="en-GB">
                <a:solidFill>
                  <a:srgbClr val="000000"/>
                </a:solidFill>
              </a:rPr>
              <a:t>Inspect cCREs overlapping or near the indicated gene:</a:t>
            </a:r>
            <a:endParaRPr>
              <a:solidFill>
                <a:srgbClr val="000000"/>
              </a:solidFill>
            </a:endParaRPr>
          </a:p>
          <a:p>
            <a:pPr marL="765000" lvl="1" indent="-3175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8974C"/>
              </a:buClr>
              <a:buSzPts val="1400"/>
              <a:buChar char="-"/>
            </a:pPr>
            <a:r>
              <a:rPr lang="en-GB">
                <a:solidFill>
                  <a:srgbClr val="000000"/>
                </a:solidFill>
              </a:rPr>
              <a:t>Human, MYC</a:t>
            </a:r>
            <a:endParaRPr>
              <a:solidFill>
                <a:srgbClr val="000000"/>
              </a:solidFill>
            </a:endParaRPr>
          </a:p>
          <a:p>
            <a:pPr marL="7650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400"/>
              <a:buChar char="-"/>
            </a:pPr>
            <a:r>
              <a:rPr lang="en-GB">
                <a:solidFill>
                  <a:srgbClr val="000000"/>
                </a:solidFill>
              </a:rPr>
              <a:t>Mouse, Dlx6</a:t>
            </a:r>
            <a:endParaRPr>
              <a:solidFill>
                <a:srgbClr val="000000"/>
              </a:solidFill>
            </a:endParaRPr>
          </a:p>
          <a:p>
            <a:pPr marL="457200" lvl="0" indent="-330200" algn="l" rtl="0">
              <a:spcBef>
                <a:spcPts val="750"/>
              </a:spcBef>
              <a:spcAft>
                <a:spcPts val="0"/>
              </a:spcAft>
              <a:buClr>
                <a:srgbClr val="18974C"/>
              </a:buClr>
              <a:buSzPts val="1600"/>
              <a:buChar char="-"/>
            </a:pPr>
            <a:r>
              <a:rPr lang="en-GB">
                <a:solidFill>
                  <a:srgbClr val="000000"/>
                </a:solidFill>
              </a:rPr>
              <a:t>Review cCRE class, biosample support, and linked evidence for:</a:t>
            </a:r>
            <a:endParaRPr>
              <a:solidFill>
                <a:srgbClr val="000000"/>
              </a:solidFill>
            </a:endParaRPr>
          </a:p>
          <a:p>
            <a:pPr marL="765000" marR="0" lvl="1" indent="-3175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18974C"/>
              </a:buClr>
              <a:buSzPts val="1400"/>
              <a:buChar char="-"/>
            </a:pPr>
            <a:r>
              <a:rPr lang="en-GB">
                <a:solidFill>
                  <a:srgbClr val="000000"/>
                </a:solidFill>
              </a:rPr>
              <a:t>Human, HCT116 core collection</a:t>
            </a:r>
            <a:endParaRPr>
              <a:solidFill>
                <a:srgbClr val="000000"/>
              </a:solidFill>
            </a:endParaRPr>
          </a:p>
          <a:p>
            <a:pPr marL="765000" marR="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400"/>
              <a:buChar char="-"/>
            </a:pPr>
            <a:r>
              <a:rPr lang="en-GB">
                <a:solidFill>
                  <a:srgbClr val="000000"/>
                </a:solidFill>
              </a:rPr>
              <a:t>Mouse, Forebrain E13.5 ancillary collection</a:t>
            </a:r>
            <a:endParaRPr sz="160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EMBL template">
      <a:dk1>
        <a:srgbClr val="000000"/>
      </a:dk1>
      <a:lt1>
        <a:srgbClr val="FFFFFF"/>
      </a:lt1>
      <a:dk2>
        <a:srgbClr val="007B53"/>
      </a:dk2>
      <a:lt2>
        <a:srgbClr val="707372"/>
      </a:lt2>
      <a:accent1>
        <a:srgbClr val="18974C"/>
      </a:accent1>
      <a:accent2>
        <a:srgbClr val="A1BE1F"/>
      </a:accent2>
      <a:accent3>
        <a:srgbClr val="F49E17"/>
      </a:accent3>
      <a:accent4>
        <a:srgbClr val="F4C61F"/>
      </a:accent4>
      <a:accent5>
        <a:srgbClr val="D41645"/>
      </a:accent5>
      <a:accent6>
        <a:srgbClr val="3B6FB6"/>
      </a:accent6>
      <a:hlink>
        <a:srgbClr val="2A57A3"/>
      </a:hlink>
      <a:folHlink>
        <a:srgbClr val="73459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1856</Words>
  <Application>Microsoft Macintosh PowerPoint</Application>
  <PresentationFormat>On-screen Show (16:9)</PresentationFormat>
  <Paragraphs>185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8" baseType="lpstr">
      <vt:lpstr>Roboto Thin</vt:lpstr>
      <vt:lpstr>Libre Franklin Medium</vt:lpstr>
      <vt:lpstr>Lobster</vt:lpstr>
      <vt:lpstr>Arial</vt:lpstr>
      <vt:lpstr>Arial Black</vt:lpstr>
      <vt:lpstr>Roboto</vt:lpstr>
      <vt:lpstr>Inter</vt:lpstr>
      <vt:lpstr>Franklin Gothic</vt:lpstr>
      <vt:lpstr>Libre Franklin Thin</vt:lpstr>
      <vt:lpstr>Roboto Medium</vt:lpstr>
      <vt:lpstr>Libre Franklin</vt:lpstr>
      <vt:lpstr>Custom Design</vt:lpstr>
      <vt:lpstr>Multi-species Catalogues of Regulatory Elements: ENCODE</vt:lpstr>
      <vt:lpstr>Session map</vt:lpstr>
      <vt:lpstr>PowerPoint Presentation</vt:lpstr>
      <vt:lpstr>PowerPoint Presentation</vt:lpstr>
      <vt:lpstr>The ENCODE project</vt:lpstr>
      <vt:lpstr>The ENCODE project and the ENCODE portal</vt:lpstr>
      <vt:lpstr>The ENCODE project and the ENCODE portal</vt:lpstr>
      <vt:lpstr>The ENCODE project and the ENCODE portal</vt:lpstr>
      <vt:lpstr>The ENCODE project and the ENCODE portal</vt:lpstr>
      <vt:lpstr>The ENCODE project and the ENCODE portal</vt:lpstr>
      <vt:lpstr>The ENCODE project and the ENCODE portal</vt:lpstr>
      <vt:lpstr>The ENCODE project and the ENCODE portal</vt:lpstr>
      <vt:lpstr>The ENCODE project and the ENCODE portal</vt:lpstr>
      <vt:lpstr>The ENCODE Reference Epigenomes</vt:lpstr>
      <vt:lpstr>The ENCODE Reference Epigenomes</vt:lpstr>
      <vt:lpstr>The ENCODE Reference Epigenomes</vt:lpstr>
      <vt:lpstr>The ENCODE Reference Epigenomes</vt:lpstr>
      <vt:lpstr>PowerPoint Presentation</vt:lpstr>
      <vt:lpstr>Questions?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ENCODE Registry of cCREs and SCREEN</vt:lpstr>
      <vt:lpstr>The ENCODE Registry of cCREs</vt:lpstr>
      <vt:lpstr>The ENCODE Registry of cCREs</vt:lpstr>
      <vt:lpstr>The ENCODE Registry of cCREs</vt:lpstr>
      <vt:lpstr>The ENCODE Registry of cCREs</vt:lpstr>
      <vt:lpstr>SCREEN</vt:lpstr>
      <vt:lpstr>Accessing cCREs: SCREEN browser</vt:lpstr>
      <vt:lpstr>Accessing cCREs: SCREEN browser</vt:lpstr>
      <vt:lpstr>Accessing cCREs: SCREEN browser</vt:lpstr>
      <vt:lpstr>Accessing cCREs: SCREEN browser</vt:lpstr>
      <vt:lpstr>Accessing cCREs: SCREEN browser</vt:lpstr>
      <vt:lpstr>Accessing cCREs: SCREEN browser</vt:lpstr>
      <vt:lpstr>Accessing cCREs: SCREEN browser</vt:lpstr>
      <vt:lpstr>Accessing cCREs: SCREEN browser</vt:lpstr>
      <vt:lpstr>Accessing cCREs: SCREEN Downloads</vt:lpstr>
      <vt:lpstr>Accessing cCREs: SCREEN Downloads</vt:lpstr>
      <vt:lpstr>Accessing cCREs: SCREEN Downloads</vt:lpstr>
      <vt:lpstr>Accessing cCREs: SCREEN Downloads</vt:lpstr>
      <vt:lpstr>Questions?</vt:lpstr>
      <vt:lpstr>PowerPoint Presentation</vt:lpstr>
      <vt:lpstr>The ENCODE cCREs and SCREEN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Gabriela Merino</cp:lastModifiedBy>
  <cp:revision>1</cp:revision>
  <dcterms:modified xsi:type="dcterms:W3CDTF">2026-08-20T13:31:42Z</dcterms:modified>
</cp:coreProperties>
</file>